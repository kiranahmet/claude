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Günaydın hocalarım, değerli arkadaşlarım. Ben Asistan Dr. Ahmet Kıran.</a:t>
            </a:r>
          </a:p>
          <a:p>
            <a:r>
              <a:t>Bugün sizlere Turkish Journal of Family Practice dergisinin 2026 yılı 30. cilt 2. sayısında yayımlanan, Uzm. Dr. Emre Cenberlitaş ve hocalarımızdan Aksanur ve Onur hocamızın “Bir üniversite hastanesine bağlı sigara bırakma polikliniğine başvuran hastaların demografik ve klinik özellikleri ile sigara bırakma durumlarını etkileyen faktörler” başlıklı makalesini sunacağım.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Sunum 26 slayttan oluşmakta ve yaklaşık yirmi dk sürecektir.</a:t>
            </a:r>
          </a:p>
          <a:p>
            <a:r>
              <a:t>Makalenin künyesi ve giriş bölümüyle başlayıp gereç ve yöntemi aktaracağım. Bulgular bölümünde makaledeki tabloyu özgün halleriyle göstereceğim. Ardından hocalarımızın tartışma ve sonuçlarını aktaracağım.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Solda makalenin ilk sayfasını görüyorsunuz. Makale Türkiye Aile Hekimleri Uzmanlık Derneği'nin yayın organı olan Turkish Journal of Family Practice'te 2026 yılında yayımlanmıştır.</a:t>
            </a:r>
          </a:p>
          <a:p>
            <a:r>
              <a:t>Çalışma retrospektif, kesitsel bir araştırmadır. Veriler Samsun Eğitim ve Araştırma Hastanesi Sigara Bırakma Polikliniği'nden elde edilmiştir.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Giriş bölümünde tütün bağımlılığının önlenebilir ölüm nedenlerinin başında geldiği vurgulanmaktadır. Küresel Yetişkin Tütün Araştırması 2016 verilerine göre Türkiye'de sigara içme sıklığı erkeklerde yüzde 44,1, kadınlarda yüzde 19,2'dir.</a:t>
            </a:r>
          </a:p>
          <a:p>
            <a:r>
              <a:t>Ülkemizde 500'ün üzerinde sigara bırakma polikliniği bulunmakta, bu polikliniklere 2,5 milyondan fazla kişi başvurmuş bulunmaktadır. Polikliniklerde bırakma oranları yüzde 20 ile 50 arasında değişmektedir.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Sigara bırakma tedavisi Onur hocamızın da dersinde anlattığı gibi davranışsal yaklaşımlar ve farmakoterapiden oluşmakta. Davranışsal tarafta Sağlık İnanç Modeli, Sağlık Kontrol Odağı, Yeniliklerin Yayılımı Modeli, Pender'in Sağlığı Geliştirme Modeli ve Transteorik Model gibi davranış değişikliği modelleri kullanılmaktadır.</a:t>
            </a:r>
          </a:p>
          <a:p>
            <a:r>
              <a:t>Farmakoterapi nikotin replasman tedavisi, bupropion ve vareniklinden oluşmaktadır. Sitizin de yine Onur hocamızın bahsettiği gibi son yıllarda ek bir seçenek olarak kullanıma girmiştir. Farmakoterapinin davranışsal destekle birlikte verilmesi ve gerektiğinde kombinasyonların düşünülmesi önerilmektedir.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Çalışmanın amacı, kombine tedavinin ve yakın takibin sigara bırakma başarısı üzerindeki etkisini değerlendirmek ve bırakmayı etkileyen hasta özelliklerini belirlemektir.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Çalışma 1 Ağustos 2020 ile 31 Ağustos 2024 arasını kapsamaktadır. Polikliniğe başvuran, 18 yaş ve üzeri, sigara içen 432 hastanın dosyası taranmıştır.</a:t>
            </a:r>
          </a:p>
          <a:p>
            <a:r>
              <a:t>Verilerine eksiksiz ulaşılan 399 hasta analize alınmıştır. Tüm kayıtlar kullanıldığından örneklem büyüklüğü hesaplanmamıştır. Yıllık kontrolüne gelmeyen hastaların takip bilgileri asistan hekimlerin yaptığı uzaktan görüşmelerle tamamlanmıştır.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Hasta dosyalarından yaş, cinsiyet, meslek, alkol kullanımı, kronik hastalık, sigara öyküsü ve uygulanan tedaviler kaydedilmiştir.</a:t>
            </a:r>
          </a:p>
          <a:p>
            <a:r>
              <a:t>Nikotin bağımlılığı ilk vizitte Fagerström Nikotin Bağımlılık Testi ile değerlendirilmiştir. 0–2 puan düşük, 3–7 puan orta, 8–10 puan yüksek bağımlılık olarak sınıflanmıştır. Testin Türkçe geçerlik ve güvenilirlik çalışması 2004 yılında Uysal ve arkadaşları tarafından yapılmıştır.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Tedavi FNBT puanı, kronik hastalıklar, kullanılan ilaçlar, kontrendikasyonlar ve hasta uyumuna göre bireyselleştirilmiştir.</a:t>
            </a:r>
          </a:p>
          <a:p>
            <a:r>
              <a:t>Hastalara yalnızca davranışsal tedavi, monoterapi ya da kombine tedavi uygulanmıştır. Kombine tedavi seçenekleri bupropion ile NRT, vareniklin ile NRT, sitizin ile NRT ve üçlü tedavidir. Sağlık Bakanlığı politikaları doğrultusunda NRT ve sitizin belirli dönemlerde ücretsiz sağlanmıştır.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Analizler SPSS 25 ile yapılmıştır. Normallik histogram ve Kolmogorov–Smirnov testiyle değerlendirilmiştir.</a:t>
            </a:r>
          </a:p>
          <a:p>
            <a:r>
              <a:t>Kategorik değişkenler ki-kare testiyle, iki grup karşılaştırmaları Mann–Whitney U, ikiden fazla grup karşılaştırmaları Kruskal–Wallis testiyle yapılmıştır. Post-hoc karşılaştırmalarda Duncan testi kullanılmıştır.</a:t>
            </a:r>
          </a:p>
          <a:p>
            <a:r>
              <a:t>Tedavi yöntemlerinin bırakma üzerindeki etkisi ikili lojistik regresyonla değerlendirilmiş ve Bonferroni düzeltmesi uygulanmıştır.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Bulgulara geçiyorum. Analize 399 hasta alınmıştır. Yaş ortalaması 44,7 yıldır ve hastaların yüzde 63,7'si erkektir.</a:t>
            </a:r>
          </a:p>
          <a:p>
            <a:r>
              <a:t>Ortalama FNBT puanı 5,66, ortalama tüketim 27,4 paket-yıl, hasta başına ortalama görüşme sayısı 2,21'dir. Hastaların yüzde 34,1'i, yani yaklaşık üçte biri sigarayı bırakmıştır.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FNBT puanlarına göre hastaların yüzde 13,2'si düşük, yüzde 61,3'ü orta, yüzde 25,5'i yüksek bağımlılık düzeyindedir.</a:t>
            </a:r>
          </a:p>
          <a:p>
            <a:r>
              <a:t>Hastaların yüzde 75,7'si daha önce sigarayı bırakmayı denemiş ve bunların yaklaşık yarısı bu denemede profesyonel destek almıştır. Yüzde 7,2'si sigara dışında elektronik sigara, nargile veya puro gibi tütün ürünleri kullanmaktadır.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Tablo 1'de katılımcıların sosyodemografik özellikleri yer almaktadır. En kalabalık yaş grubu yüzde 45,6 ile 26–44 yaş grubudur. Hastaların yüzde 82'si evlidir ve yüzde 43'ü yükseköğretim mezunudur.</a:t>
            </a:r>
          </a:p>
          <a:p>
            <a:r>
              <a:t>Hastaların yüzde 86'sı il merkezinde yaşamaktadır. Yüzde 39,6'sının hanesinde sigara içen başka biri bulunmaktadır.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Tablo 2'de sosyodemografik özelliklere göre bırakma durumu karşılaştırılmıştır. Bu tablo aslında uzun bir tablo ikiye böldüm yarısı diğer slaytta. Tablonun ilk bölümünde cinsiyet, yaş grubu, medeni durum ve eğitim durumu yer almaktadır.</a:t>
            </a:r>
          </a:p>
          <a:p>
            <a:r>
              <a:t>Bu değişkenlerin hiçbirinde başarılı ve başarısız gruplar arasında anlamlı fark bulunmamıştır.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Tablonun ikinci bölümünde yerleşim yeri, çalışma durumu, hanede başka sigara içen varlığı ve alkol kullanımı yer almaktadır.</a:t>
            </a:r>
          </a:p>
          <a:p>
            <a:r>
              <a:t>Anlamlı fark yalnızca hanede başka sigara içen varlığında bulunmuştur. Hanesinde sigara içen olmayanların yüzde 39,8'i, olanların yüzde 25,3'ü sigarayı bırakmıştır; p değeri 0,003'tür.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Tablo 3'te uygulanan tedaviler görülmektedir. En sık uygulanan yöntem 141 hasta ile kombine tedavidir. Bunu 109 hasta ile bupropion ve 80 hasta ile NRT monoterapisi izlemektedir.</a:t>
            </a:r>
          </a:p>
          <a:p>
            <a:r>
              <a:t>Kombine tedavi alan hastaların 125'i bupropion ile NRT almıştır. Vareniklin 18, sitizin 34 hastada tek başına kullanılmış; 17 hastaya yalnızca farmakolojik olmayan tedavi uygulanmıştır.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Tablo 4'te sürekli değişkenler bırakma durumuna göre karşılaştırılmıştır. Sigarayı bırakanlar ortalama 2,83 kez, bırakamayanlar 1,96 kez görüşmeye gelmiştir; fark anlamlıdır, p&lt;0,001.</a:t>
            </a:r>
          </a:p>
          <a:p>
            <a:r>
              <a:t>Bırakanların FNBT puanı daha düşüktür: 5,26'ya karşı 5,85; p değeri 0,024'tür. Paket-yıl açısından iki grup arasında anlamlı fark bulunmamıştır.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Tablo 5'te tedavi yöntemlerine göre bırakma oranları yer almaktadır. Makalede en yüksek bırakma oranının yüzde 44,0 ile kombine tedavi grubunda olduğu ve kombine tedavinin diğer tüm seçeneklerden anlamlı derecede üstün olduğu bildirilmektedir.</a:t>
            </a:r>
          </a:p>
          <a:p>
            <a:r>
              <a:t>NRT grubunda oran yüzde 37,5, sitizin ve yalnızca davranışsal tedavi gruplarında yüzde 35,3'tür. En düşük oran yüzde 16,5 ile bupropion monoterapisindedir. Gruplar arasındaki fark anlamlıdır, p&lt;0,001.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Tablo 6'da lojistik regresyon sonuçları görülmektedir. Referans grup bupropion monoterapisidir ve Exp(B) sütunu odds oranını vermektedir.</a:t>
            </a:r>
          </a:p>
          <a:p>
            <a:r>
              <a:t>Bupropiona göre bırakma olasılığı vareniklinde 4,0, kombine tedavide 4,0, NRT'de 3,0, sitizinde 2,8 kat yüksektir. Farmakolojik tedavi almayanlarda görülen 2,8 katlık fark anlamlı değildir.</a:t>
            </a:r>
          </a:p>
          <a:p>
            <a:r>
              <a:t>Hanede sigara içen olmaması bırakma olasılığını yaklaşık iki katına, sigaraya bağlı yakınma olmaması 1,6 katına çıkarmaktadır. Ayrıca FNBT puanının bırakma başarısının negatif bir öngörücüsü olduğu bildirilmektedir.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Makalede bulgular literatürle karşılaştırılmaktadır. Vareniklinin bupropiona üstünlüğü büyük ölçekli meta-analizler ve randomize kontrollü çalışmalarla uyumludur. Bu üstünlüğün, vareniklinin α4β2 nikotinik reseptördeki parsiyel agonist etkisiyle ilişkili olduğu düşünülmektedir.</a:t>
            </a:r>
          </a:p>
          <a:p>
            <a:r>
              <a:t>Sitizin vareniklinle benzer mekanizmaya sahip, maliyet-etkin bir seçenektir; plaseboya üstün ve NRT ile benzer etkinlikte bulunmuştur. Kombine tedavinin üstünlüğü, monoterapi yetersiz kaldığında kombinasyon öneren kılavuzlarla uyumludur.</a:t>
            </a:r>
          </a:p>
          <a:p>
            <a:r>
              <a:t>Benli ve arkadaşlarının çalışmasında da vareniklin ilk altı ayda bupropiondan daha yüksek bırakma oranı sağlamıştır.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Makalede davranışsal desteğin önemi vurgulanmaktadır: Daha fazla görüşmeye gelen hastalarda bırakma oranı daha yüksektir.</a:t>
            </a:r>
          </a:p>
          <a:p>
            <a:r>
              <a:t>Hanede sigara içen olmaması bırakma olasılığını neredeyse iki katına çıkarmaktadır. Literatürde eşin veya aile bireylerinin sigara içmesi hem tetikleyici hem de motivasyon engeli olarak tanımlanmaktadır.</a:t>
            </a:r>
          </a:p>
          <a:p>
            <a:r>
              <a:t>Hastaların ortalama FNBT puanı, tedavi arayan sigara içicilerinde bildirilen yaklaşık 5 puanla uyumludur ve yüksek puan düşük başarıyla ilişkilidir. Yakınması olmayan hastalarda başarının daha yüksek olması uzun vadeli sağlığı korumaya yönelik içsel motivasyonla açıklanmaktadır. İkinci bir olasılık olarak, kronik hastalığı veya semptomu olan bireylerin sigarayı bir baş etme aracı olarak kullanıyor olabileceği ve bunun bırakmayı zorlaştırabileceği belirtilmektedir.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Makalede kısıtlılık olarak asistan rotasyonlarının takip sürekliliğini etkileyebileceği, eksik verilerin telefonla ve hasta beyanıyla tamamlandığı ve vareniklinin piyasadan çekilmesinin ilaç seçimini etkilediği belirtilmektedir.</a:t>
            </a:r>
          </a:p>
          <a:p>
            <a:r>
              <a:t>Güçlü yön olarak, bu çalışmanın bilinen kadarıyla sitizin ile sigara bırakma tedavisini ele alan erişilebilir ilk tez çalışması olduğu ve birçok tedavi seçeneğini bir arada değerlendirdiği vurgulanmaktadır.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Çalışmanın sonucuna göre hastaların yaklaşık üçte biri sigarayı bırakmıştır. Kombine tedavi alanlarda bırakma oranı diğer seçeneklere göre daha yüksektir ve tedaviye uyum arttıkça başarı da artmaktadır.</a:t>
            </a:r>
          </a:p>
          <a:p>
            <a:r>
              <a:t>Makalede tedavi seanslarında hastaların bırakma motivasyonunu artırmaya yönelik çabaların yoğunlaştırılması önerilmektedir.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Sunumu beş mesajla özetlemek istiyorum.</a:t>
            </a:r>
          </a:p>
          <a:p>
            <a:r>
              <a:t>Hastaların yaklaşık üçte biri sigarayı bırakmıştır. Kombine tedavide başarı daha yüksektir. Bupropion monoterapisi en düşük başarının görüldüğü seçenektir. Hanede sigara içen olması başarıyı azaltmaktadır. Sık takip başarıyla ilişkilidir.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064240" y="6400800"/>
            <a:ext cx="548640" cy="274320"/>
          </a:xfrm>
          <a:prstGeom prst="rect">
            <a:avLst/>
          </a:prstGeom>
          <a:noFill/>
        </p:spPr>
        <p:txBody>
          <a:bodyPr wrap="square" anchor="t" lIns="0" rIns="0" tIns="0" bIns="0">
            <a:spAutoFit/>
          </a:bodyPr>
          <a:lstStyle/>
          <a:p>
            <a:pPr algn="r">
              <a:spcAft>
                <a:spcPts val="800"/>
              </a:spcAft>
            </a:pPr>
            <a:r>
              <a:rPr sz="1200" b="0">
                <a:solidFill>
                  <a:srgbClr val="000000"/>
                </a:solidFill>
                <a:latin typeface="Calibri"/>
              </a:rPr>
              <a:t>1</a:t>
            </a:r>
          </a:p>
        </p:txBody>
      </p:sp>
      <p:sp>
        <p:nvSpPr>
          <p:cNvPr id="3" name="TextBox 2"/>
          <p:cNvSpPr txBox="1"/>
          <p:nvPr/>
        </p:nvSpPr>
        <p:spPr>
          <a:xfrm>
            <a:off x="731520" y="640080"/>
            <a:ext cx="10698480" cy="457200"/>
          </a:xfrm>
          <a:prstGeom prst="rect">
            <a:avLst/>
          </a:prstGeom>
          <a:noFill/>
        </p:spPr>
        <p:txBody>
          <a:bodyPr wrap="square" anchor="t" lIns="0" rIns="0" tIns="0" bIns="0">
            <a:spAutoFit/>
          </a:bodyPr>
          <a:lstStyle/>
          <a:p>
            <a:pPr algn="l">
              <a:spcAft>
                <a:spcPts val="800"/>
              </a:spcAft>
            </a:pPr>
            <a:r>
              <a:rPr sz="2000" b="1">
                <a:solidFill>
                  <a:srgbClr val="000000"/>
                </a:solidFill>
                <a:latin typeface="Calibri"/>
              </a:rPr>
              <a:t>TASLAK</a:t>
            </a:r>
          </a:p>
        </p:txBody>
      </p:sp>
      <p:sp>
        <p:nvSpPr>
          <p:cNvPr id="4" name="TextBox 3"/>
          <p:cNvSpPr txBox="1"/>
          <p:nvPr/>
        </p:nvSpPr>
        <p:spPr>
          <a:xfrm>
            <a:off x="731520" y="1371600"/>
            <a:ext cx="10698480" cy="2560320"/>
          </a:xfrm>
          <a:prstGeom prst="rect">
            <a:avLst/>
          </a:prstGeom>
          <a:noFill/>
        </p:spPr>
        <p:txBody>
          <a:bodyPr wrap="square" anchor="t" lIns="0" rIns="0" tIns="0" bIns="0">
            <a:spAutoFit/>
          </a:bodyPr>
          <a:lstStyle/>
          <a:p>
            <a:pPr algn="l">
              <a:spcAft>
                <a:spcPts val="800"/>
              </a:spcAft>
            </a:pPr>
            <a:r>
              <a:rPr sz="3400" b="1">
                <a:solidFill>
                  <a:srgbClr val="000000"/>
                </a:solidFill>
                <a:latin typeface="Calibri"/>
              </a:rPr>
              <a:t>Bir üniversite hastanesine bağlı sigara bırakma polikliniğine başvuran hastaların demografik ve klinik özellikleri ile sigara bırakma durumlarını etkileyen faktörler</a:t>
            </a:r>
          </a:p>
        </p:txBody>
      </p:sp>
      <p:sp>
        <p:nvSpPr>
          <p:cNvPr id="5" name="TextBox 4"/>
          <p:cNvSpPr txBox="1"/>
          <p:nvPr/>
        </p:nvSpPr>
        <p:spPr>
          <a:xfrm>
            <a:off x="731520" y="4297680"/>
            <a:ext cx="10698480" cy="1645920"/>
          </a:xfrm>
          <a:prstGeom prst="rect">
            <a:avLst/>
          </a:prstGeom>
          <a:noFill/>
        </p:spPr>
        <p:txBody>
          <a:bodyPr wrap="square" anchor="t" lIns="0" rIns="0" tIns="0" bIns="0">
            <a:spAutoFit/>
          </a:bodyPr>
          <a:lstStyle/>
          <a:p>
            <a:pPr algn="l">
              <a:spcAft>
                <a:spcPts val="800"/>
              </a:spcAft>
            </a:pPr>
            <a:r>
              <a:rPr sz="2000" b="0">
                <a:solidFill>
                  <a:srgbClr val="000000"/>
                </a:solidFill>
                <a:latin typeface="Calibri"/>
              </a:rPr>
              <a:t>Cenberlitaş E, Gökçe A, Öztürk O. Turk J Fam Pract. 2026;30(2):97-106</a:t>
            </a:r>
          </a:p>
          <a:p>
            <a:pPr algn="l">
              <a:spcAft>
                <a:spcPts val="800"/>
              </a:spcAft>
            </a:pPr>
            <a:r>
              <a:rPr sz="2000" b="0">
                <a:solidFill>
                  <a:srgbClr val="000000"/>
                </a:solidFill>
                <a:latin typeface="Calibri"/>
              </a:rPr>
              <a:t>Sunan: Dr. Ahmet KIRAN</a:t>
            </a:r>
          </a:p>
          <a:p>
            <a:pPr algn="l">
              <a:spcAft>
                <a:spcPts val="800"/>
              </a:spcAft>
            </a:pPr>
            <a:r>
              <a:rPr sz="2000" b="0">
                <a:solidFill>
                  <a:srgbClr val="000000"/>
                </a:solidFill>
                <a:latin typeface="Calibri"/>
              </a:rPr>
              <a:t>Danışman: Prof. Dr. Onur ÖZTÜRK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822960"/>
          </a:xfrm>
          <a:prstGeom prst="rect">
            <a:avLst/>
          </a:prstGeom>
          <a:noFill/>
        </p:spPr>
        <p:txBody>
          <a:bodyPr wrap="square" anchor="ctr" lIns="0" rIns="0" tIns="0" bIns="0">
            <a:spAutoFit/>
          </a:bodyPr>
          <a:lstStyle/>
          <a:p>
            <a:pPr algn="l">
              <a:spcAft>
                <a:spcPts val="800"/>
              </a:spcAft>
            </a:pPr>
            <a:r>
              <a:rPr sz="3400" b="1">
                <a:solidFill>
                  <a:srgbClr val="000000"/>
                </a:solidFill>
                <a:latin typeface="Calibri"/>
              </a:rPr>
              <a:t>İçerik</a:t>
            </a:r>
          </a:p>
        </p:txBody>
      </p:sp>
      <p:sp>
        <p:nvSpPr>
          <p:cNvPr id="3" name="TextBox 2"/>
          <p:cNvSpPr txBox="1"/>
          <p:nvPr/>
        </p:nvSpPr>
        <p:spPr>
          <a:xfrm>
            <a:off x="11064240" y="6400800"/>
            <a:ext cx="548640" cy="274320"/>
          </a:xfrm>
          <a:prstGeom prst="rect">
            <a:avLst/>
          </a:prstGeom>
          <a:noFill/>
        </p:spPr>
        <p:txBody>
          <a:bodyPr wrap="square" anchor="t" lIns="0" rIns="0" tIns="0" bIns="0">
            <a:spAutoFit/>
          </a:bodyPr>
          <a:lstStyle/>
          <a:p>
            <a:pPr algn="r">
              <a:spcAft>
                <a:spcPts val="800"/>
              </a:spcAft>
            </a:pPr>
            <a:r>
              <a:rPr sz="1200" b="0">
                <a:solidFill>
                  <a:srgbClr val="000000"/>
                </a:solidFill>
                <a:latin typeface="Calibri"/>
              </a:rPr>
              <a:t>2</a:t>
            </a:r>
          </a:p>
        </p:txBody>
      </p:sp>
      <p:sp>
        <p:nvSpPr>
          <p:cNvPr id="4" name="TextBox 3"/>
          <p:cNvSpPr txBox="1"/>
          <p:nvPr/>
        </p:nvSpPr>
        <p:spPr>
          <a:xfrm>
            <a:off x="548640" y="1417320"/>
            <a:ext cx="11064240" cy="4754880"/>
          </a:xfrm>
          <a:prstGeom prst="rect">
            <a:avLst/>
          </a:prstGeom>
          <a:noFill/>
        </p:spPr>
        <p:txBody>
          <a:bodyPr wrap="square" anchor="t" lIns="0" rIns="0" tIns="0" bIns="0">
            <a:spAutoFit/>
          </a:bodyPr>
          <a:lstStyle/>
          <a:p>
            <a:pPr algn="l">
              <a:spcAft>
                <a:spcPts val="1600"/>
              </a:spcAft>
            </a:pPr>
            <a:r>
              <a:rPr sz="2600" b="0">
                <a:solidFill>
                  <a:srgbClr val="000000"/>
                </a:solidFill>
                <a:latin typeface="Calibri"/>
              </a:rPr>
              <a:t>1. Künye ve giriş</a:t>
            </a:r>
          </a:p>
          <a:p>
            <a:pPr algn="l">
              <a:spcAft>
                <a:spcPts val="1600"/>
              </a:spcAft>
            </a:pPr>
            <a:r>
              <a:rPr sz="2600" b="0">
                <a:solidFill>
                  <a:srgbClr val="000000"/>
                </a:solidFill>
                <a:latin typeface="Calibri"/>
              </a:rPr>
              <a:t>2. Gereç ve yöntem</a:t>
            </a:r>
          </a:p>
          <a:p>
            <a:pPr algn="l">
              <a:spcAft>
                <a:spcPts val="1600"/>
              </a:spcAft>
            </a:pPr>
            <a:r>
              <a:rPr sz="2600" b="0">
                <a:solidFill>
                  <a:srgbClr val="000000"/>
                </a:solidFill>
                <a:latin typeface="Calibri"/>
              </a:rPr>
              <a:t>3. Bulgular</a:t>
            </a:r>
          </a:p>
          <a:p>
            <a:pPr algn="l">
              <a:spcAft>
                <a:spcPts val="1600"/>
              </a:spcAft>
            </a:pPr>
            <a:r>
              <a:rPr sz="2600" b="0">
                <a:solidFill>
                  <a:srgbClr val="000000"/>
                </a:solidFill>
                <a:latin typeface="Calibri"/>
              </a:rPr>
              <a:t>4. Tartışma</a:t>
            </a:r>
          </a:p>
          <a:p>
            <a:pPr algn="l">
              <a:spcAft>
                <a:spcPts val="1600"/>
              </a:spcAft>
            </a:pPr>
            <a:r>
              <a:rPr sz="2600" b="0">
                <a:solidFill>
                  <a:srgbClr val="000000"/>
                </a:solidFill>
                <a:latin typeface="Calibri"/>
              </a:rPr>
              <a:t>5. Sonuç ve öneriler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822960"/>
          </a:xfrm>
          <a:prstGeom prst="rect">
            <a:avLst/>
          </a:prstGeom>
          <a:noFill/>
        </p:spPr>
        <p:txBody>
          <a:bodyPr wrap="square" anchor="ctr" lIns="0" rIns="0" tIns="0" bIns="0">
            <a:spAutoFit/>
          </a:bodyPr>
          <a:lstStyle/>
          <a:p>
            <a:pPr algn="l">
              <a:spcAft>
                <a:spcPts val="800"/>
              </a:spcAft>
            </a:pPr>
            <a:r>
              <a:rPr sz="3400" b="1">
                <a:solidFill>
                  <a:srgbClr val="000000"/>
                </a:solidFill>
                <a:latin typeface="Calibri"/>
              </a:rPr>
              <a:t>Makale künyesi</a:t>
            </a:r>
          </a:p>
        </p:txBody>
      </p:sp>
      <p:sp>
        <p:nvSpPr>
          <p:cNvPr id="3" name="TextBox 2"/>
          <p:cNvSpPr txBox="1"/>
          <p:nvPr/>
        </p:nvSpPr>
        <p:spPr>
          <a:xfrm>
            <a:off x="11064240" y="6400800"/>
            <a:ext cx="548640" cy="274320"/>
          </a:xfrm>
          <a:prstGeom prst="rect">
            <a:avLst/>
          </a:prstGeom>
          <a:noFill/>
        </p:spPr>
        <p:txBody>
          <a:bodyPr wrap="square" anchor="t" lIns="0" rIns="0" tIns="0" bIns="0">
            <a:spAutoFit/>
          </a:bodyPr>
          <a:lstStyle/>
          <a:p>
            <a:pPr algn="r">
              <a:spcAft>
                <a:spcPts val="800"/>
              </a:spcAft>
            </a:pPr>
            <a:r>
              <a:rPr sz="1200" b="0">
                <a:solidFill>
                  <a:srgbClr val="000000"/>
                </a:solidFill>
                <a:latin typeface="Calibri"/>
              </a:rPr>
              <a:t>3</a:t>
            </a:r>
          </a:p>
        </p:txBody>
      </p:sp>
      <p:sp>
        <p:nvSpPr>
          <p:cNvPr id="4" name="TextBox 3"/>
          <p:cNvSpPr txBox="1"/>
          <p:nvPr/>
        </p:nvSpPr>
        <p:spPr>
          <a:xfrm>
            <a:off x="548640" y="1417320"/>
            <a:ext cx="11064240" cy="4754880"/>
          </a:xfrm>
          <a:prstGeom prst="rect">
            <a:avLst/>
          </a:prstGeom>
          <a:noFill/>
        </p:spPr>
        <p:txBody>
          <a:bodyPr wrap="square" anchor="t" lIns="0" rIns="0" tIns="0" bIns="0">
            <a:spAutoFit/>
          </a:bodyPr>
          <a:lstStyle/>
          <a:p>
            <a:pPr algn="l">
              <a:spcAft>
                <a:spcPts val="1600"/>
              </a:spcAft>
            </a:pPr>
            <a:r>
              <a:rPr sz="2400" b="0">
                <a:solidFill>
                  <a:srgbClr val="000000"/>
                </a:solidFill>
                <a:latin typeface="Calibri"/>
              </a:rPr>
              <a:t>Dergi: Turk J Fam Pract</a:t>
            </a:r>
          </a:p>
          <a:p>
            <a:pPr algn="l">
              <a:spcAft>
                <a:spcPts val="1600"/>
              </a:spcAft>
            </a:pPr>
            <a:r>
              <a:rPr sz="2400" b="0">
                <a:solidFill>
                  <a:srgbClr val="000000"/>
                </a:solidFill>
                <a:latin typeface="Calibri"/>
              </a:rPr>
              <a:t>Künye: 2026;30(2):97-106</a:t>
            </a:r>
          </a:p>
          <a:p>
            <a:pPr algn="l">
              <a:spcAft>
                <a:spcPts val="1600"/>
              </a:spcAft>
            </a:pPr>
            <a:r>
              <a:rPr sz="2400" b="0">
                <a:solidFill>
                  <a:srgbClr val="000000"/>
                </a:solidFill>
                <a:latin typeface="Calibri"/>
              </a:rPr>
              <a:t>Tasarım: Retrospektif, kesitsel</a:t>
            </a:r>
          </a:p>
          <a:p>
            <a:pPr algn="l">
              <a:spcAft>
                <a:spcPts val="1600"/>
              </a:spcAft>
            </a:pPr>
            <a:r>
              <a:rPr sz="2400" b="0">
                <a:solidFill>
                  <a:srgbClr val="000000"/>
                </a:solidFill>
                <a:latin typeface="Calibri"/>
              </a:rPr>
              <a:t>Merkez: Samsun EAH Sigara Bırakma Polikliniği</a:t>
            </a:r>
          </a:p>
          <a:p>
            <a:pPr algn="l">
              <a:spcAft>
                <a:spcPts val="1600"/>
              </a:spcAft>
            </a:pPr>
            <a:r>
              <a:rPr sz="2400" b="0">
                <a:solidFill>
                  <a:srgbClr val="000000"/>
                </a:solidFill>
                <a:latin typeface="Calibri"/>
              </a:rPr>
              <a:t>DOI: 10.54308/TJFP.2026.912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822960"/>
          </a:xfrm>
          <a:prstGeom prst="rect">
            <a:avLst/>
          </a:prstGeom>
          <a:noFill/>
        </p:spPr>
        <p:txBody>
          <a:bodyPr wrap="square" anchor="ctr" lIns="0" rIns="0" tIns="0" bIns="0">
            <a:spAutoFit/>
          </a:bodyPr>
          <a:lstStyle/>
          <a:p>
            <a:pPr algn="l">
              <a:spcAft>
                <a:spcPts val="800"/>
              </a:spcAft>
            </a:pPr>
            <a:r>
              <a:rPr sz="3400" b="1">
                <a:solidFill>
                  <a:srgbClr val="000000"/>
                </a:solidFill>
                <a:latin typeface="Calibri"/>
              </a:rPr>
              <a:t>Sorunun büyüklüğü</a:t>
            </a:r>
          </a:p>
        </p:txBody>
      </p:sp>
      <p:sp>
        <p:nvSpPr>
          <p:cNvPr id="3" name="TextBox 2"/>
          <p:cNvSpPr txBox="1"/>
          <p:nvPr/>
        </p:nvSpPr>
        <p:spPr>
          <a:xfrm>
            <a:off x="548640" y="6400800"/>
            <a:ext cx="10058400" cy="274320"/>
          </a:xfrm>
          <a:prstGeom prst="rect">
            <a:avLst/>
          </a:prstGeom>
          <a:noFill/>
        </p:spPr>
        <p:txBody>
          <a:bodyPr wrap="square" anchor="t" lIns="0" rIns="0" tIns="0" bIns="0">
            <a:spAutoFit/>
          </a:bodyPr>
          <a:lstStyle/>
          <a:p>
            <a:pPr algn="l">
              <a:spcAft>
                <a:spcPts val="800"/>
              </a:spcAft>
            </a:pPr>
            <a:r>
              <a:rPr sz="1100" b="0">
                <a:solidFill>
                  <a:srgbClr val="000000"/>
                </a:solidFill>
                <a:latin typeface="Calibri"/>
              </a:rPr>
              <a:t>Kaynak: 2, 3, 4 (Küresel Yetişkin Tütün Araştırması Türkiye 2016 verisi)</a:t>
            </a:r>
          </a:p>
        </p:txBody>
      </p:sp>
      <p:sp>
        <p:nvSpPr>
          <p:cNvPr id="4" name="TextBox 3"/>
          <p:cNvSpPr txBox="1"/>
          <p:nvPr/>
        </p:nvSpPr>
        <p:spPr>
          <a:xfrm>
            <a:off x="11064240" y="6400800"/>
            <a:ext cx="548640" cy="274320"/>
          </a:xfrm>
          <a:prstGeom prst="rect">
            <a:avLst/>
          </a:prstGeom>
          <a:noFill/>
        </p:spPr>
        <p:txBody>
          <a:bodyPr wrap="square" anchor="t" lIns="0" rIns="0" tIns="0" bIns="0">
            <a:spAutoFit/>
          </a:bodyPr>
          <a:lstStyle/>
          <a:p>
            <a:pPr algn="r">
              <a:spcAft>
                <a:spcPts val="800"/>
              </a:spcAft>
            </a:pPr>
            <a:r>
              <a:rPr sz="1200" b="0">
                <a:solidFill>
                  <a:srgbClr val="000000"/>
                </a:solidFill>
                <a:latin typeface="Calibri"/>
              </a:rPr>
              <a:t>4</a:t>
            </a:r>
          </a:p>
        </p:txBody>
      </p:sp>
      <p:sp>
        <p:nvSpPr>
          <p:cNvPr id="5" name="TextBox 4"/>
          <p:cNvSpPr txBox="1"/>
          <p:nvPr/>
        </p:nvSpPr>
        <p:spPr>
          <a:xfrm>
            <a:off x="548640" y="1417320"/>
            <a:ext cx="11064240" cy="4754880"/>
          </a:xfrm>
          <a:prstGeom prst="rect">
            <a:avLst/>
          </a:prstGeom>
          <a:noFill/>
        </p:spPr>
        <p:txBody>
          <a:bodyPr wrap="square" anchor="t" lIns="0" rIns="0" tIns="0" bIns="0">
            <a:spAutoFit/>
          </a:bodyPr>
          <a:lstStyle/>
          <a:p>
            <a:pPr algn="l" marL="285750" indent="-285750">
              <a:spcAft>
                <a:spcPts val="1200"/>
              </a:spcAft>
              <a:buFont typeface="Arial"/>
              <a:buChar char="•"/>
            </a:pPr>
            <a:r>
              <a:rPr sz="2400" b="0">
                <a:solidFill>
                  <a:srgbClr val="000000"/>
                </a:solidFill>
                <a:latin typeface="Calibri"/>
              </a:rPr>
              <a:t>Erkeklerde sigara içme sıklığı: %44,1</a:t>
            </a:r>
          </a:p>
          <a:p>
            <a:pPr algn="l" marL="285750" indent="-285750">
              <a:spcAft>
                <a:spcPts val="1200"/>
              </a:spcAft>
              <a:buFont typeface="Arial"/>
              <a:buChar char="•"/>
            </a:pPr>
            <a:r>
              <a:rPr sz="2400" b="0">
                <a:solidFill>
                  <a:srgbClr val="000000"/>
                </a:solidFill>
                <a:latin typeface="Calibri"/>
              </a:rPr>
              <a:t>Kadınlarda sigara içme sıklığı: %19,2</a:t>
            </a:r>
          </a:p>
          <a:p>
            <a:pPr algn="l" marL="285750" indent="-285750">
              <a:spcAft>
                <a:spcPts val="1200"/>
              </a:spcAft>
              <a:buFont typeface="Arial"/>
              <a:buChar char="•"/>
            </a:pPr>
            <a:r>
              <a:rPr sz="2400" b="0">
                <a:solidFill>
                  <a:srgbClr val="000000"/>
                </a:solidFill>
                <a:latin typeface="Calibri"/>
              </a:rPr>
              <a:t>Sigara bırakma polikliniği sayısı: 500'ün üzerinde</a:t>
            </a:r>
          </a:p>
          <a:p>
            <a:pPr algn="l" marL="285750" indent="-285750">
              <a:spcAft>
                <a:spcPts val="1200"/>
              </a:spcAft>
              <a:buFont typeface="Arial"/>
              <a:buChar char="•"/>
            </a:pPr>
            <a:r>
              <a:rPr sz="2400" b="0">
                <a:solidFill>
                  <a:srgbClr val="000000"/>
                </a:solidFill>
                <a:latin typeface="Calibri"/>
              </a:rPr>
              <a:t>Polikliniklerde bırakma oranı: %20–50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822960"/>
          </a:xfrm>
          <a:prstGeom prst="rect">
            <a:avLst/>
          </a:prstGeom>
          <a:noFill/>
        </p:spPr>
        <p:txBody>
          <a:bodyPr wrap="square" anchor="ctr" lIns="0" rIns="0" tIns="0" bIns="0">
            <a:spAutoFit/>
          </a:bodyPr>
          <a:lstStyle/>
          <a:p>
            <a:pPr algn="l">
              <a:spcAft>
                <a:spcPts val="800"/>
              </a:spcAft>
            </a:pPr>
            <a:r>
              <a:rPr sz="3400" b="1">
                <a:solidFill>
                  <a:srgbClr val="000000"/>
                </a:solidFill>
                <a:latin typeface="Calibri"/>
              </a:rPr>
              <a:t>Tedavi seçenekleri</a:t>
            </a:r>
          </a:p>
        </p:txBody>
      </p:sp>
      <p:sp>
        <p:nvSpPr>
          <p:cNvPr id="3" name="TextBox 2"/>
          <p:cNvSpPr txBox="1"/>
          <p:nvPr/>
        </p:nvSpPr>
        <p:spPr>
          <a:xfrm>
            <a:off x="548640" y="6400800"/>
            <a:ext cx="10058400" cy="274320"/>
          </a:xfrm>
          <a:prstGeom prst="rect">
            <a:avLst/>
          </a:prstGeom>
          <a:noFill/>
        </p:spPr>
        <p:txBody>
          <a:bodyPr wrap="square" anchor="t" lIns="0" rIns="0" tIns="0" bIns="0">
            <a:spAutoFit/>
          </a:bodyPr>
          <a:lstStyle/>
          <a:p>
            <a:pPr algn="l">
              <a:spcAft>
                <a:spcPts val="800"/>
              </a:spcAft>
            </a:pPr>
            <a:r>
              <a:rPr sz="1100" b="0">
                <a:solidFill>
                  <a:srgbClr val="000000"/>
                </a:solidFill>
                <a:latin typeface="Calibri"/>
              </a:rPr>
              <a:t>Kaynak: 1, 5</a:t>
            </a:r>
          </a:p>
        </p:txBody>
      </p:sp>
      <p:sp>
        <p:nvSpPr>
          <p:cNvPr id="4" name="TextBox 3"/>
          <p:cNvSpPr txBox="1"/>
          <p:nvPr/>
        </p:nvSpPr>
        <p:spPr>
          <a:xfrm>
            <a:off x="11064240" y="6400800"/>
            <a:ext cx="548640" cy="274320"/>
          </a:xfrm>
          <a:prstGeom prst="rect">
            <a:avLst/>
          </a:prstGeom>
          <a:noFill/>
        </p:spPr>
        <p:txBody>
          <a:bodyPr wrap="square" anchor="t" lIns="0" rIns="0" tIns="0" bIns="0">
            <a:spAutoFit/>
          </a:bodyPr>
          <a:lstStyle/>
          <a:p>
            <a:pPr algn="r">
              <a:spcAft>
                <a:spcPts val="800"/>
              </a:spcAft>
            </a:pPr>
            <a:r>
              <a:rPr sz="1200" b="0">
                <a:solidFill>
                  <a:srgbClr val="000000"/>
                </a:solidFill>
                <a:latin typeface="Calibri"/>
              </a:rPr>
              <a:t>5</a:t>
            </a:r>
          </a:p>
        </p:txBody>
      </p:sp>
      <p:sp>
        <p:nvSpPr>
          <p:cNvPr id="5" name="TextBox 4"/>
          <p:cNvSpPr txBox="1"/>
          <p:nvPr/>
        </p:nvSpPr>
        <p:spPr>
          <a:xfrm>
            <a:off x="548640" y="1417320"/>
            <a:ext cx="5394960" cy="457200"/>
          </a:xfrm>
          <a:prstGeom prst="rect">
            <a:avLst/>
          </a:prstGeom>
          <a:noFill/>
        </p:spPr>
        <p:txBody>
          <a:bodyPr wrap="square" anchor="t" lIns="0" rIns="0" tIns="0" bIns="0">
            <a:spAutoFit/>
          </a:bodyPr>
          <a:lstStyle/>
          <a:p>
            <a:pPr algn="l">
              <a:spcAft>
                <a:spcPts val="800"/>
              </a:spcAft>
            </a:pPr>
            <a:r>
              <a:rPr sz="2400" b="1">
                <a:solidFill>
                  <a:srgbClr val="000000"/>
                </a:solidFill>
                <a:latin typeface="Calibri"/>
              </a:rPr>
              <a:t>Davranışsal</a:t>
            </a:r>
          </a:p>
        </p:txBody>
      </p:sp>
      <p:sp>
        <p:nvSpPr>
          <p:cNvPr id="6" name="TextBox 5"/>
          <p:cNvSpPr txBox="1"/>
          <p:nvPr/>
        </p:nvSpPr>
        <p:spPr>
          <a:xfrm>
            <a:off x="548640" y="1965960"/>
            <a:ext cx="5394960" cy="3291840"/>
          </a:xfrm>
          <a:prstGeom prst="rect">
            <a:avLst/>
          </a:prstGeom>
          <a:noFill/>
        </p:spPr>
        <p:txBody>
          <a:bodyPr wrap="square" anchor="t" lIns="0" rIns="0" tIns="0" bIns="0">
            <a:spAutoFit/>
          </a:bodyPr>
          <a:lstStyle/>
          <a:p>
            <a:pPr algn="l" marL="285750" indent="-285750">
              <a:spcAft>
                <a:spcPts val="1200"/>
              </a:spcAft>
              <a:buFont typeface="Arial"/>
              <a:buChar char="•"/>
            </a:pPr>
            <a:r>
              <a:rPr sz="2000" b="0">
                <a:solidFill>
                  <a:srgbClr val="000000"/>
                </a:solidFill>
                <a:latin typeface="Calibri"/>
              </a:rPr>
              <a:t>Sağlık İnanç Modeli</a:t>
            </a:r>
          </a:p>
          <a:p>
            <a:pPr algn="l" marL="285750" indent="-285750">
              <a:spcAft>
                <a:spcPts val="1200"/>
              </a:spcAft>
              <a:buFont typeface="Arial"/>
              <a:buChar char="•"/>
            </a:pPr>
            <a:r>
              <a:rPr sz="2000" b="0">
                <a:solidFill>
                  <a:srgbClr val="000000"/>
                </a:solidFill>
                <a:latin typeface="Calibri"/>
              </a:rPr>
              <a:t>Sağlık Kontrol Odağı</a:t>
            </a:r>
          </a:p>
          <a:p>
            <a:pPr algn="l" marL="285750" indent="-285750">
              <a:spcAft>
                <a:spcPts val="1200"/>
              </a:spcAft>
              <a:buFont typeface="Arial"/>
              <a:buChar char="•"/>
            </a:pPr>
            <a:r>
              <a:rPr sz="2000" b="0">
                <a:solidFill>
                  <a:srgbClr val="000000"/>
                </a:solidFill>
                <a:latin typeface="Calibri"/>
              </a:rPr>
              <a:t>Yeniliklerin Yayılımı Modeli</a:t>
            </a:r>
          </a:p>
          <a:p>
            <a:pPr algn="l" marL="285750" indent="-285750">
              <a:spcAft>
                <a:spcPts val="1200"/>
              </a:spcAft>
              <a:buFont typeface="Arial"/>
              <a:buChar char="•"/>
            </a:pPr>
            <a:r>
              <a:rPr sz="2000" b="0">
                <a:solidFill>
                  <a:srgbClr val="000000"/>
                </a:solidFill>
                <a:latin typeface="Calibri"/>
              </a:rPr>
              <a:t>Pender'in Sağlığı Geliştirme Modeli</a:t>
            </a:r>
          </a:p>
          <a:p>
            <a:pPr algn="l" marL="285750" indent="-285750">
              <a:spcAft>
                <a:spcPts val="1200"/>
              </a:spcAft>
              <a:buFont typeface="Arial"/>
              <a:buChar char="•"/>
            </a:pPr>
            <a:r>
              <a:rPr sz="2000" b="0">
                <a:solidFill>
                  <a:srgbClr val="000000"/>
                </a:solidFill>
                <a:latin typeface="Calibri"/>
              </a:rPr>
              <a:t>Transteorik Model</a:t>
            </a:r>
          </a:p>
        </p:txBody>
      </p:sp>
      <p:sp>
        <p:nvSpPr>
          <p:cNvPr id="7" name="TextBox 6"/>
          <p:cNvSpPr txBox="1"/>
          <p:nvPr/>
        </p:nvSpPr>
        <p:spPr>
          <a:xfrm>
            <a:off x="6263640" y="1417320"/>
            <a:ext cx="5349240" cy="457200"/>
          </a:xfrm>
          <a:prstGeom prst="rect">
            <a:avLst/>
          </a:prstGeom>
          <a:noFill/>
        </p:spPr>
        <p:txBody>
          <a:bodyPr wrap="square" anchor="t" lIns="0" rIns="0" tIns="0" bIns="0">
            <a:spAutoFit/>
          </a:bodyPr>
          <a:lstStyle/>
          <a:p>
            <a:pPr algn="l">
              <a:spcAft>
                <a:spcPts val="800"/>
              </a:spcAft>
            </a:pPr>
            <a:r>
              <a:rPr sz="2400" b="1">
                <a:solidFill>
                  <a:srgbClr val="000000"/>
                </a:solidFill>
                <a:latin typeface="Calibri"/>
              </a:rPr>
              <a:t>Farmakolojik</a:t>
            </a:r>
          </a:p>
        </p:txBody>
      </p:sp>
      <p:sp>
        <p:nvSpPr>
          <p:cNvPr id="8" name="TextBox 7"/>
          <p:cNvSpPr txBox="1"/>
          <p:nvPr/>
        </p:nvSpPr>
        <p:spPr>
          <a:xfrm>
            <a:off x="6263640" y="1965960"/>
            <a:ext cx="5349240" cy="3291840"/>
          </a:xfrm>
          <a:prstGeom prst="rect">
            <a:avLst/>
          </a:prstGeom>
          <a:noFill/>
        </p:spPr>
        <p:txBody>
          <a:bodyPr wrap="square" anchor="t" lIns="0" rIns="0" tIns="0" bIns="0">
            <a:spAutoFit/>
          </a:bodyPr>
          <a:lstStyle/>
          <a:p>
            <a:pPr algn="l" marL="285750" indent="-285750">
              <a:spcAft>
                <a:spcPts val="1200"/>
              </a:spcAft>
              <a:buFont typeface="Arial"/>
              <a:buChar char="•"/>
            </a:pPr>
            <a:r>
              <a:rPr sz="2000" b="0">
                <a:solidFill>
                  <a:srgbClr val="000000"/>
                </a:solidFill>
                <a:latin typeface="Calibri"/>
              </a:rPr>
              <a:t>NRT (nikotin replasman)</a:t>
            </a:r>
          </a:p>
          <a:p>
            <a:pPr algn="l" marL="285750" indent="-285750">
              <a:spcAft>
                <a:spcPts val="1200"/>
              </a:spcAft>
              <a:buFont typeface="Arial"/>
              <a:buChar char="•"/>
            </a:pPr>
            <a:r>
              <a:rPr sz="2000" b="0">
                <a:solidFill>
                  <a:srgbClr val="000000"/>
                </a:solidFill>
                <a:latin typeface="Calibri"/>
              </a:rPr>
              <a:t>Bupropion</a:t>
            </a:r>
          </a:p>
          <a:p>
            <a:pPr algn="l" marL="285750" indent="-285750">
              <a:spcAft>
                <a:spcPts val="1200"/>
              </a:spcAft>
              <a:buFont typeface="Arial"/>
              <a:buChar char="•"/>
            </a:pPr>
            <a:r>
              <a:rPr sz="2000" b="0">
                <a:solidFill>
                  <a:srgbClr val="000000"/>
                </a:solidFill>
                <a:latin typeface="Calibri"/>
              </a:rPr>
              <a:t>Vareniklin</a:t>
            </a:r>
          </a:p>
          <a:p>
            <a:pPr algn="l" marL="285750" indent="-285750">
              <a:spcAft>
                <a:spcPts val="1200"/>
              </a:spcAft>
              <a:buFont typeface="Arial"/>
              <a:buChar char="•"/>
            </a:pPr>
            <a:r>
              <a:rPr sz="2000" b="0">
                <a:solidFill>
                  <a:srgbClr val="000000"/>
                </a:solidFill>
                <a:latin typeface="Calibri"/>
              </a:rPr>
              <a:t>Sitizin</a:t>
            </a:r>
          </a:p>
        </p:txBody>
      </p:sp>
      <p:sp>
        <p:nvSpPr>
          <p:cNvPr id="9" name="TextBox 8"/>
          <p:cNvSpPr txBox="1"/>
          <p:nvPr/>
        </p:nvSpPr>
        <p:spPr>
          <a:xfrm>
            <a:off x="548640" y="5486400"/>
            <a:ext cx="11064240" cy="457200"/>
          </a:xfrm>
          <a:prstGeom prst="rect">
            <a:avLst/>
          </a:prstGeom>
          <a:noFill/>
        </p:spPr>
        <p:txBody>
          <a:bodyPr wrap="square" anchor="t" lIns="0" rIns="0" tIns="0" bIns="0">
            <a:spAutoFit/>
          </a:bodyPr>
          <a:lstStyle/>
          <a:p>
            <a:pPr algn="l">
              <a:spcAft>
                <a:spcPts val="800"/>
              </a:spcAft>
            </a:pPr>
            <a:r>
              <a:rPr sz="2000" b="0">
                <a:solidFill>
                  <a:srgbClr val="000000"/>
                </a:solidFill>
                <a:latin typeface="Calibri"/>
              </a:rPr>
              <a:t>Farmakoterapi davranışsal destekle birlikte önerilmektedir.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822960"/>
          </a:xfrm>
          <a:prstGeom prst="rect">
            <a:avLst/>
          </a:prstGeom>
          <a:noFill/>
        </p:spPr>
        <p:txBody>
          <a:bodyPr wrap="square" anchor="ctr" lIns="0" rIns="0" tIns="0" bIns="0">
            <a:spAutoFit/>
          </a:bodyPr>
          <a:lstStyle/>
          <a:p>
            <a:pPr algn="l">
              <a:spcAft>
                <a:spcPts val="800"/>
              </a:spcAft>
            </a:pPr>
            <a:r>
              <a:rPr sz="3400" b="1">
                <a:solidFill>
                  <a:srgbClr val="000000"/>
                </a:solidFill>
                <a:latin typeface="Calibri"/>
              </a:rPr>
              <a:t>Çalışmanın amacı</a:t>
            </a:r>
          </a:p>
        </p:txBody>
      </p:sp>
      <p:sp>
        <p:nvSpPr>
          <p:cNvPr id="3" name="TextBox 2"/>
          <p:cNvSpPr txBox="1"/>
          <p:nvPr/>
        </p:nvSpPr>
        <p:spPr>
          <a:xfrm>
            <a:off x="548640" y="6400800"/>
            <a:ext cx="10058400" cy="274320"/>
          </a:xfrm>
          <a:prstGeom prst="rect">
            <a:avLst/>
          </a:prstGeom>
          <a:noFill/>
        </p:spPr>
        <p:txBody>
          <a:bodyPr wrap="square" anchor="t" lIns="0" rIns="0" tIns="0" bIns="0">
            <a:spAutoFit/>
          </a:bodyPr>
          <a:lstStyle/>
          <a:p>
            <a:pPr algn="l">
              <a:spcAft>
                <a:spcPts val="800"/>
              </a:spcAft>
            </a:pPr>
            <a:r>
              <a:rPr sz="1100" b="0">
                <a:solidFill>
                  <a:srgbClr val="000000"/>
                </a:solidFill>
                <a:latin typeface="Calibri"/>
              </a:rPr>
              <a:t>Kaynak: Cenberlitaş E, Gökçe A, Öztürk O. Turk J Fam Pract. 2026;30(2):97-106.</a:t>
            </a:r>
          </a:p>
        </p:txBody>
      </p:sp>
      <p:sp>
        <p:nvSpPr>
          <p:cNvPr id="4" name="TextBox 3"/>
          <p:cNvSpPr txBox="1"/>
          <p:nvPr/>
        </p:nvSpPr>
        <p:spPr>
          <a:xfrm>
            <a:off x="11064240" y="6400800"/>
            <a:ext cx="548640" cy="274320"/>
          </a:xfrm>
          <a:prstGeom prst="rect">
            <a:avLst/>
          </a:prstGeom>
          <a:noFill/>
        </p:spPr>
        <p:txBody>
          <a:bodyPr wrap="square" anchor="t" lIns="0" rIns="0" tIns="0" bIns="0">
            <a:spAutoFit/>
          </a:bodyPr>
          <a:lstStyle/>
          <a:p>
            <a:pPr algn="r">
              <a:spcAft>
                <a:spcPts val="800"/>
              </a:spcAft>
            </a:pPr>
            <a:r>
              <a:rPr sz="1200" b="0">
                <a:solidFill>
                  <a:srgbClr val="000000"/>
                </a:solidFill>
                <a:latin typeface="Calibri"/>
              </a:rPr>
              <a:t>6</a:t>
            </a:r>
          </a:p>
        </p:txBody>
      </p:sp>
      <p:sp>
        <p:nvSpPr>
          <p:cNvPr id="5" name="TextBox 4"/>
          <p:cNvSpPr txBox="1"/>
          <p:nvPr/>
        </p:nvSpPr>
        <p:spPr>
          <a:xfrm>
            <a:off x="548640" y="1417320"/>
            <a:ext cx="11064240" cy="4754880"/>
          </a:xfrm>
          <a:prstGeom prst="rect">
            <a:avLst/>
          </a:prstGeom>
          <a:noFill/>
        </p:spPr>
        <p:txBody>
          <a:bodyPr wrap="square" anchor="t" lIns="0" rIns="0" tIns="0" bIns="0">
            <a:spAutoFit/>
          </a:bodyPr>
          <a:lstStyle/>
          <a:p>
            <a:pPr algn="l" marL="285750" indent="-285750">
              <a:spcAft>
                <a:spcPts val="1200"/>
              </a:spcAft>
              <a:buFont typeface="Arial"/>
              <a:buChar char="•"/>
            </a:pPr>
            <a:r>
              <a:rPr sz="2400" b="0">
                <a:solidFill>
                  <a:srgbClr val="000000"/>
                </a:solidFill>
                <a:latin typeface="Calibri"/>
              </a:rPr>
              <a:t>Kombine tedavi ve yakın takibin bırakma başarısına etkisini değerlendirmek</a:t>
            </a:r>
          </a:p>
          <a:p>
            <a:pPr algn="l" marL="285750" indent="-285750">
              <a:spcAft>
                <a:spcPts val="1200"/>
              </a:spcAft>
              <a:buFont typeface="Arial"/>
              <a:buChar char="•"/>
            </a:pPr>
            <a:r>
              <a:rPr sz="2400" b="0">
                <a:solidFill>
                  <a:srgbClr val="000000"/>
                </a:solidFill>
                <a:latin typeface="Calibri"/>
              </a:rPr>
              <a:t>Bırakmayı etkileyen hasta özelliklerini belirlemek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822960"/>
          </a:xfrm>
          <a:prstGeom prst="rect">
            <a:avLst/>
          </a:prstGeom>
          <a:noFill/>
        </p:spPr>
        <p:txBody>
          <a:bodyPr wrap="square" anchor="ctr" lIns="0" rIns="0" tIns="0" bIns="0">
            <a:spAutoFit/>
          </a:bodyPr>
          <a:lstStyle/>
          <a:p>
            <a:pPr algn="l">
              <a:spcAft>
                <a:spcPts val="800"/>
              </a:spcAft>
            </a:pPr>
            <a:r>
              <a:rPr sz="3400" b="1">
                <a:solidFill>
                  <a:srgbClr val="000000"/>
                </a:solidFill>
                <a:latin typeface="Calibri"/>
              </a:rPr>
              <a:t>Tasarım ve örneklem</a:t>
            </a:r>
          </a:p>
        </p:txBody>
      </p:sp>
      <p:sp>
        <p:nvSpPr>
          <p:cNvPr id="3" name="TextBox 2"/>
          <p:cNvSpPr txBox="1"/>
          <p:nvPr/>
        </p:nvSpPr>
        <p:spPr>
          <a:xfrm>
            <a:off x="548640" y="6400800"/>
            <a:ext cx="10058400" cy="274320"/>
          </a:xfrm>
          <a:prstGeom prst="rect">
            <a:avLst/>
          </a:prstGeom>
          <a:noFill/>
        </p:spPr>
        <p:txBody>
          <a:bodyPr wrap="square" anchor="t" lIns="0" rIns="0" tIns="0" bIns="0">
            <a:spAutoFit/>
          </a:bodyPr>
          <a:lstStyle/>
          <a:p>
            <a:pPr algn="l">
              <a:spcAft>
                <a:spcPts val="800"/>
              </a:spcAft>
            </a:pPr>
            <a:r>
              <a:rPr sz="1100" b="0">
                <a:solidFill>
                  <a:srgbClr val="000000"/>
                </a:solidFill>
                <a:latin typeface="Calibri"/>
              </a:rPr>
              <a:t>Kaynak: Cenberlitaş E, Gökçe A, Öztürk O. Turk J Fam Pract. 2026;30(2):97-106.</a:t>
            </a:r>
          </a:p>
        </p:txBody>
      </p:sp>
      <p:sp>
        <p:nvSpPr>
          <p:cNvPr id="4" name="TextBox 3"/>
          <p:cNvSpPr txBox="1"/>
          <p:nvPr/>
        </p:nvSpPr>
        <p:spPr>
          <a:xfrm>
            <a:off x="11064240" y="6400800"/>
            <a:ext cx="548640" cy="274320"/>
          </a:xfrm>
          <a:prstGeom prst="rect">
            <a:avLst/>
          </a:prstGeom>
          <a:noFill/>
        </p:spPr>
        <p:txBody>
          <a:bodyPr wrap="square" anchor="t" lIns="0" rIns="0" tIns="0" bIns="0">
            <a:spAutoFit/>
          </a:bodyPr>
          <a:lstStyle/>
          <a:p>
            <a:pPr algn="r">
              <a:spcAft>
                <a:spcPts val="800"/>
              </a:spcAft>
            </a:pPr>
            <a:r>
              <a:rPr sz="1200" b="0">
                <a:solidFill>
                  <a:srgbClr val="000000"/>
                </a:solidFill>
                <a:latin typeface="Calibri"/>
              </a:rPr>
              <a:t>7</a:t>
            </a:r>
          </a:p>
        </p:txBody>
      </p:sp>
      <p:sp>
        <p:nvSpPr>
          <p:cNvPr id="5" name="TextBox 4"/>
          <p:cNvSpPr txBox="1"/>
          <p:nvPr/>
        </p:nvSpPr>
        <p:spPr>
          <a:xfrm>
            <a:off x="548640" y="1417320"/>
            <a:ext cx="11064240" cy="4754880"/>
          </a:xfrm>
          <a:prstGeom prst="rect">
            <a:avLst/>
          </a:prstGeom>
          <a:noFill/>
        </p:spPr>
        <p:txBody>
          <a:bodyPr wrap="square" anchor="t" lIns="0" rIns="0" tIns="0" bIns="0">
            <a:spAutoFit/>
          </a:bodyPr>
          <a:lstStyle/>
          <a:p>
            <a:pPr algn="l" marL="285750" indent="-285750">
              <a:spcAft>
                <a:spcPts val="1200"/>
              </a:spcAft>
              <a:buFont typeface="Arial"/>
              <a:buChar char="•"/>
            </a:pPr>
            <a:r>
              <a:rPr sz="2200" b="0">
                <a:solidFill>
                  <a:srgbClr val="000000"/>
                </a:solidFill>
                <a:latin typeface="Calibri"/>
              </a:rPr>
              <a:t>432 hasta dosyası (18 yaş ve üzeri) taranmıştır</a:t>
            </a:r>
          </a:p>
          <a:p>
            <a:pPr algn="l" marL="285750" indent="-285750">
              <a:spcAft>
                <a:spcPts val="1200"/>
              </a:spcAft>
              <a:buFont typeface="Arial"/>
              <a:buChar char="•"/>
            </a:pPr>
            <a:r>
              <a:rPr sz="2200" b="0">
                <a:solidFill>
                  <a:srgbClr val="000000"/>
                </a:solidFill>
                <a:latin typeface="Calibri"/>
              </a:rPr>
              <a:t>399 hastanın verisi eksiksizdir</a:t>
            </a:r>
          </a:p>
          <a:p>
            <a:pPr algn="l" marL="285750" indent="-285750">
              <a:spcAft>
                <a:spcPts val="1200"/>
              </a:spcAft>
              <a:buFont typeface="Arial"/>
              <a:buChar char="•"/>
            </a:pPr>
            <a:r>
              <a:rPr sz="2200" b="0">
                <a:solidFill>
                  <a:srgbClr val="000000"/>
                </a:solidFill>
                <a:latin typeface="Calibri"/>
              </a:rPr>
              <a:t>Dönem: 01.08.2020 – 31.08.2024</a:t>
            </a:r>
          </a:p>
          <a:p>
            <a:pPr algn="l" marL="285750" indent="-285750">
              <a:spcAft>
                <a:spcPts val="1200"/>
              </a:spcAft>
              <a:buFont typeface="Arial"/>
              <a:buChar char="•"/>
            </a:pPr>
            <a:r>
              <a:rPr sz="2200" b="0">
                <a:solidFill>
                  <a:srgbClr val="000000"/>
                </a:solidFill>
                <a:latin typeface="Calibri"/>
              </a:rPr>
              <a:t>Veri kaynağı: hastane otomasyon sistemi</a:t>
            </a:r>
          </a:p>
          <a:p>
            <a:pPr algn="l" marL="285750" indent="-285750">
              <a:spcAft>
                <a:spcPts val="1200"/>
              </a:spcAft>
              <a:buFont typeface="Arial"/>
              <a:buChar char="•"/>
            </a:pPr>
            <a:r>
              <a:rPr sz="2200" b="0">
                <a:solidFill>
                  <a:srgbClr val="000000"/>
                </a:solidFill>
                <a:latin typeface="Calibri"/>
              </a:rPr>
              <a:t>Retrospektif, kesitsel tasarım; en az bir yıllık takip</a:t>
            </a:r>
          </a:p>
          <a:p>
            <a:pPr algn="l" marL="285750" indent="-285750">
              <a:spcAft>
                <a:spcPts val="1200"/>
              </a:spcAft>
              <a:buFont typeface="Arial"/>
              <a:buChar char="•"/>
            </a:pPr>
            <a:r>
              <a:rPr sz="2200" b="0">
                <a:solidFill>
                  <a:srgbClr val="000000"/>
                </a:solidFill>
                <a:latin typeface="Calibri"/>
              </a:rPr>
              <a:t>Tüm kayıtlar alındığı için örneklem hesabı yapılmamıştır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822960"/>
          </a:xfrm>
          <a:prstGeom prst="rect">
            <a:avLst/>
          </a:prstGeom>
          <a:noFill/>
        </p:spPr>
        <p:txBody>
          <a:bodyPr wrap="square" anchor="ctr" lIns="0" rIns="0" tIns="0" bIns="0">
            <a:spAutoFit/>
          </a:bodyPr>
          <a:lstStyle/>
          <a:p>
            <a:pPr algn="l">
              <a:spcAft>
                <a:spcPts val="800"/>
              </a:spcAft>
            </a:pPr>
            <a:r>
              <a:rPr sz="3400" b="1">
                <a:solidFill>
                  <a:srgbClr val="000000"/>
                </a:solidFill>
                <a:latin typeface="Calibri"/>
              </a:rPr>
              <a:t>Veri toplama ve bağımlılık ölçümü</a:t>
            </a:r>
          </a:p>
        </p:txBody>
      </p:sp>
      <p:sp>
        <p:nvSpPr>
          <p:cNvPr id="3" name="TextBox 2"/>
          <p:cNvSpPr txBox="1"/>
          <p:nvPr/>
        </p:nvSpPr>
        <p:spPr>
          <a:xfrm>
            <a:off x="548640" y="6400800"/>
            <a:ext cx="10058400" cy="274320"/>
          </a:xfrm>
          <a:prstGeom prst="rect">
            <a:avLst/>
          </a:prstGeom>
          <a:noFill/>
        </p:spPr>
        <p:txBody>
          <a:bodyPr wrap="square" anchor="t" lIns="0" rIns="0" tIns="0" bIns="0">
            <a:spAutoFit/>
          </a:bodyPr>
          <a:lstStyle/>
          <a:p>
            <a:pPr algn="l">
              <a:spcAft>
                <a:spcPts val="800"/>
              </a:spcAft>
            </a:pPr>
            <a:r>
              <a:rPr sz="1100" b="0">
                <a:solidFill>
                  <a:srgbClr val="000000"/>
                </a:solidFill>
                <a:latin typeface="Calibri"/>
              </a:rPr>
              <a:t>Kaynak: 1, 6, 7</a:t>
            </a:r>
          </a:p>
        </p:txBody>
      </p:sp>
      <p:sp>
        <p:nvSpPr>
          <p:cNvPr id="4" name="TextBox 3"/>
          <p:cNvSpPr txBox="1"/>
          <p:nvPr/>
        </p:nvSpPr>
        <p:spPr>
          <a:xfrm>
            <a:off x="11064240" y="6400800"/>
            <a:ext cx="548640" cy="274320"/>
          </a:xfrm>
          <a:prstGeom prst="rect">
            <a:avLst/>
          </a:prstGeom>
          <a:noFill/>
        </p:spPr>
        <p:txBody>
          <a:bodyPr wrap="square" anchor="t" lIns="0" rIns="0" tIns="0" bIns="0">
            <a:spAutoFit/>
          </a:bodyPr>
          <a:lstStyle/>
          <a:p>
            <a:pPr algn="r">
              <a:spcAft>
                <a:spcPts val="800"/>
              </a:spcAft>
            </a:pPr>
            <a:r>
              <a:rPr sz="1200" b="0">
                <a:solidFill>
                  <a:srgbClr val="000000"/>
                </a:solidFill>
                <a:latin typeface="Calibri"/>
              </a:rPr>
              <a:t>8</a:t>
            </a:r>
          </a:p>
        </p:txBody>
      </p:sp>
      <p:sp>
        <p:nvSpPr>
          <p:cNvPr id="5" name="TextBox 4"/>
          <p:cNvSpPr txBox="1"/>
          <p:nvPr/>
        </p:nvSpPr>
        <p:spPr>
          <a:xfrm>
            <a:off x="548640" y="1417320"/>
            <a:ext cx="11064240" cy="4754880"/>
          </a:xfrm>
          <a:prstGeom prst="rect">
            <a:avLst/>
          </a:prstGeom>
          <a:noFill/>
        </p:spPr>
        <p:txBody>
          <a:bodyPr wrap="square" anchor="t" lIns="0" rIns="0" tIns="0" bIns="0">
            <a:spAutoFit/>
          </a:bodyPr>
          <a:lstStyle/>
          <a:p>
            <a:pPr algn="l" marL="285750" indent="-285750">
              <a:spcAft>
                <a:spcPts val="1200"/>
              </a:spcAft>
              <a:buFont typeface="Arial"/>
              <a:buChar char="•"/>
            </a:pPr>
            <a:r>
              <a:rPr sz="2200" b="0">
                <a:solidFill>
                  <a:srgbClr val="000000"/>
                </a:solidFill>
                <a:latin typeface="Calibri"/>
              </a:rPr>
              <a:t>Toplanan veriler: yaş, cinsiyet, meslek, alkol kullanımı, kronik hastalık, paket-yıl, uygulanan tedavi</a:t>
            </a:r>
          </a:p>
          <a:p>
            <a:pPr algn="l" marL="285750" indent="-285750">
              <a:spcAft>
                <a:spcPts val="1200"/>
              </a:spcAft>
              <a:buFont typeface="Arial"/>
              <a:buChar char="•"/>
            </a:pPr>
            <a:r>
              <a:rPr sz="2200" b="0">
                <a:solidFill>
                  <a:srgbClr val="000000"/>
                </a:solidFill>
                <a:latin typeface="Calibri"/>
              </a:rPr>
              <a:t>Fagerström Nikotin Bağımlılık Testi (FNBT): 6 soru, 0–10 puan</a:t>
            </a:r>
          </a:p>
          <a:p>
            <a:pPr algn="l" marL="285750" indent="-285750">
              <a:spcAft>
                <a:spcPts val="1200"/>
              </a:spcAft>
              <a:buFont typeface="Arial"/>
              <a:buChar char="•"/>
            </a:pPr>
            <a:r>
              <a:rPr sz="2200" b="0">
                <a:solidFill>
                  <a:srgbClr val="000000"/>
                </a:solidFill>
                <a:latin typeface="Calibri"/>
              </a:rPr>
              <a:t>Sınıflama: 0–2 düşük, 3–7 orta, 8–10 yüksek bağımlılık</a:t>
            </a:r>
          </a:p>
          <a:p>
            <a:pPr algn="l" marL="285750" indent="-285750">
              <a:spcAft>
                <a:spcPts val="1200"/>
              </a:spcAft>
              <a:buFont typeface="Arial"/>
              <a:buChar char="•"/>
            </a:pPr>
            <a:r>
              <a:rPr sz="2200" b="0">
                <a:solidFill>
                  <a:srgbClr val="000000"/>
                </a:solidFill>
                <a:latin typeface="Calibri"/>
              </a:rPr>
              <a:t>Türkçe geçerlik ve güvenilirlik: Uysal ve ark., 2004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822960"/>
          </a:xfrm>
          <a:prstGeom prst="rect">
            <a:avLst/>
          </a:prstGeom>
          <a:noFill/>
        </p:spPr>
        <p:txBody>
          <a:bodyPr wrap="square" anchor="ctr" lIns="0" rIns="0" tIns="0" bIns="0">
            <a:spAutoFit/>
          </a:bodyPr>
          <a:lstStyle/>
          <a:p>
            <a:pPr algn="l">
              <a:spcAft>
                <a:spcPts val="800"/>
              </a:spcAft>
            </a:pPr>
            <a:r>
              <a:rPr sz="3400" b="1">
                <a:solidFill>
                  <a:srgbClr val="000000"/>
                </a:solidFill>
                <a:latin typeface="Calibri"/>
              </a:rPr>
              <a:t>Tedavi yaklaşımı</a:t>
            </a:r>
          </a:p>
        </p:txBody>
      </p:sp>
      <p:sp>
        <p:nvSpPr>
          <p:cNvPr id="3" name="TextBox 2"/>
          <p:cNvSpPr txBox="1"/>
          <p:nvPr/>
        </p:nvSpPr>
        <p:spPr>
          <a:xfrm>
            <a:off x="548640" y="6400800"/>
            <a:ext cx="10058400" cy="274320"/>
          </a:xfrm>
          <a:prstGeom prst="rect">
            <a:avLst/>
          </a:prstGeom>
          <a:noFill/>
        </p:spPr>
        <p:txBody>
          <a:bodyPr wrap="square" anchor="t" lIns="0" rIns="0" tIns="0" bIns="0">
            <a:spAutoFit/>
          </a:bodyPr>
          <a:lstStyle/>
          <a:p>
            <a:pPr algn="l">
              <a:spcAft>
                <a:spcPts val="800"/>
              </a:spcAft>
            </a:pPr>
            <a:r>
              <a:rPr sz="1100" b="0">
                <a:solidFill>
                  <a:srgbClr val="000000"/>
                </a:solidFill>
                <a:latin typeface="Calibri"/>
              </a:rPr>
              <a:t>Kaynak: Cenberlitaş E, Gökçe A, Öztürk O. Turk J Fam Pract. 2026;30(2):97-106.</a:t>
            </a:r>
          </a:p>
        </p:txBody>
      </p:sp>
      <p:sp>
        <p:nvSpPr>
          <p:cNvPr id="4" name="TextBox 3"/>
          <p:cNvSpPr txBox="1"/>
          <p:nvPr/>
        </p:nvSpPr>
        <p:spPr>
          <a:xfrm>
            <a:off x="11064240" y="6400800"/>
            <a:ext cx="548640" cy="274320"/>
          </a:xfrm>
          <a:prstGeom prst="rect">
            <a:avLst/>
          </a:prstGeom>
          <a:noFill/>
        </p:spPr>
        <p:txBody>
          <a:bodyPr wrap="square" anchor="t" lIns="0" rIns="0" tIns="0" bIns="0">
            <a:spAutoFit/>
          </a:bodyPr>
          <a:lstStyle/>
          <a:p>
            <a:pPr algn="r">
              <a:spcAft>
                <a:spcPts val="800"/>
              </a:spcAft>
            </a:pPr>
            <a:r>
              <a:rPr sz="1200" b="0">
                <a:solidFill>
                  <a:srgbClr val="000000"/>
                </a:solidFill>
                <a:latin typeface="Calibri"/>
              </a:rPr>
              <a:t>9</a:t>
            </a:r>
          </a:p>
        </p:txBody>
      </p:sp>
      <p:sp>
        <p:nvSpPr>
          <p:cNvPr id="5" name="TextBox 4"/>
          <p:cNvSpPr txBox="1"/>
          <p:nvPr/>
        </p:nvSpPr>
        <p:spPr>
          <a:xfrm>
            <a:off x="548640" y="1417320"/>
            <a:ext cx="11064240" cy="4754880"/>
          </a:xfrm>
          <a:prstGeom prst="rect">
            <a:avLst/>
          </a:prstGeom>
          <a:noFill/>
        </p:spPr>
        <p:txBody>
          <a:bodyPr wrap="square" anchor="t" lIns="0" rIns="0" tIns="0" bIns="0">
            <a:spAutoFit/>
          </a:bodyPr>
          <a:lstStyle/>
          <a:p>
            <a:pPr algn="l" marL="285750" indent="-285750">
              <a:spcAft>
                <a:spcPts val="1200"/>
              </a:spcAft>
              <a:buFont typeface="Arial"/>
              <a:buChar char="•"/>
            </a:pPr>
            <a:r>
              <a:rPr sz="2200" b="0">
                <a:solidFill>
                  <a:srgbClr val="000000"/>
                </a:solidFill>
                <a:latin typeface="Calibri"/>
              </a:rPr>
              <a:t>Davranışsal: yalnızca danışmanlık</a:t>
            </a:r>
          </a:p>
          <a:p>
            <a:pPr algn="l" marL="285750" indent="-285750">
              <a:spcAft>
                <a:spcPts val="1200"/>
              </a:spcAft>
              <a:buFont typeface="Arial"/>
              <a:buChar char="•"/>
            </a:pPr>
            <a:r>
              <a:rPr sz="2200" b="0">
                <a:solidFill>
                  <a:srgbClr val="000000"/>
                </a:solidFill>
                <a:latin typeface="Calibri"/>
              </a:rPr>
              <a:t>Monoterapi: vareniklin, bupropion, sitizin veya NRT</a:t>
            </a:r>
          </a:p>
          <a:p>
            <a:pPr algn="l" marL="285750" indent="-285750">
              <a:spcAft>
                <a:spcPts val="1200"/>
              </a:spcAft>
              <a:buFont typeface="Arial"/>
              <a:buChar char="•"/>
            </a:pPr>
            <a:r>
              <a:rPr sz="2200" b="0">
                <a:solidFill>
                  <a:srgbClr val="000000"/>
                </a:solidFill>
                <a:latin typeface="Calibri"/>
              </a:rPr>
              <a:t>Kombine: bupropion, vareniklin veya sitizin + NRT; üçlü tedavi</a:t>
            </a:r>
          </a:p>
          <a:p>
            <a:pPr algn="l" marL="285750" indent="-285750">
              <a:spcAft>
                <a:spcPts val="1200"/>
              </a:spcAft>
              <a:buFont typeface="Arial"/>
              <a:buChar char="•"/>
            </a:pPr>
            <a:r>
              <a:rPr sz="2200" b="0">
                <a:solidFill>
                  <a:srgbClr val="000000"/>
                </a:solidFill>
                <a:latin typeface="Calibri"/>
              </a:rPr>
              <a:t>Bireyselleştirme: FNBT, komorbidite, kontrendikasyon, uyum</a:t>
            </a:r>
          </a:p>
          <a:p>
            <a:pPr algn="l" marL="285750" indent="-285750">
              <a:spcAft>
                <a:spcPts val="1200"/>
              </a:spcAft>
              <a:buFont typeface="Arial"/>
              <a:buChar char="•"/>
            </a:pPr>
            <a:r>
              <a:rPr sz="2200" b="0">
                <a:solidFill>
                  <a:srgbClr val="000000"/>
                </a:solidFill>
                <a:latin typeface="Calibri"/>
              </a:rPr>
              <a:t>NRT ve sitizin dönemsel olarak ücretsiz sağlanmıştır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822960"/>
          </a:xfrm>
          <a:prstGeom prst="rect">
            <a:avLst/>
          </a:prstGeom>
          <a:noFill/>
        </p:spPr>
        <p:txBody>
          <a:bodyPr wrap="square" anchor="ctr" lIns="0" rIns="0" tIns="0" bIns="0">
            <a:spAutoFit/>
          </a:bodyPr>
          <a:lstStyle/>
          <a:p>
            <a:pPr algn="l">
              <a:spcAft>
                <a:spcPts val="800"/>
              </a:spcAft>
            </a:pPr>
            <a:r>
              <a:rPr sz="3400" b="1">
                <a:solidFill>
                  <a:srgbClr val="000000"/>
                </a:solidFill>
                <a:latin typeface="Calibri"/>
              </a:rPr>
              <a:t>İstatistiksel analiz</a:t>
            </a:r>
          </a:p>
        </p:txBody>
      </p:sp>
      <p:sp>
        <p:nvSpPr>
          <p:cNvPr id="3" name="TextBox 2"/>
          <p:cNvSpPr txBox="1"/>
          <p:nvPr/>
        </p:nvSpPr>
        <p:spPr>
          <a:xfrm>
            <a:off x="548640" y="6400800"/>
            <a:ext cx="10058400" cy="274320"/>
          </a:xfrm>
          <a:prstGeom prst="rect">
            <a:avLst/>
          </a:prstGeom>
          <a:noFill/>
        </p:spPr>
        <p:txBody>
          <a:bodyPr wrap="square" anchor="t" lIns="0" rIns="0" tIns="0" bIns="0">
            <a:spAutoFit/>
          </a:bodyPr>
          <a:lstStyle/>
          <a:p>
            <a:pPr algn="l">
              <a:spcAft>
                <a:spcPts val="800"/>
              </a:spcAft>
            </a:pPr>
            <a:r>
              <a:rPr sz="1100" b="0">
                <a:solidFill>
                  <a:srgbClr val="000000"/>
                </a:solidFill>
                <a:latin typeface="Calibri"/>
              </a:rPr>
              <a:t>Kaynak: Cenberlitaş E, Gökçe A, Öztürk O. Turk J Fam Pract. 2026;30(2):97-106.</a:t>
            </a:r>
          </a:p>
        </p:txBody>
      </p:sp>
      <p:sp>
        <p:nvSpPr>
          <p:cNvPr id="4" name="TextBox 3"/>
          <p:cNvSpPr txBox="1"/>
          <p:nvPr/>
        </p:nvSpPr>
        <p:spPr>
          <a:xfrm>
            <a:off x="11064240" y="6400800"/>
            <a:ext cx="548640" cy="274320"/>
          </a:xfrm>
          <a:prstGeom prst="rect">
            <a:avLst/>
          </a:prstGeom>
          <a:noFill/>
        </p:spPr>
        <p:txBody>
          <a:bodyPr wrap="square" anchor="t" lIns="0" rIns="0" tIns="0" bIns="0">
            <a:spAutoFit/>
          </a:bodyPr>
          <a:lstStyle/>
          <a:p>
            <a:pPr algn="r">
              <a:spcAft>
                <a:spcPts val="800"/>
              </a:spcAft>
            </a:pPr>
            <a:r>
              <a:rPr sz="1200" b="0">
                <a:solidFill>
                  <a:srgbClr val="000000"/>
                </a:solidFill>
                <a:latin typeface="Calibri"/>
              </a:rPr>
              <a:t>10</a:t>
            </a:r>
          </a:p>
        </p:txBody>
      </p:sp>
      <p:sp>
        <p:nvSpPr>
          <p:cNvPr id="5" name="TextBox 4"/>
          <p:cNvSpPr txBox="1"/>
          <p:nvPr/>
        </p:nvSpPr>
        <p:spPr>
          <a:xfrm>
            <a:off x="548640" y="1417320"/>
            <a:ext cx="11064240" cy="4754880"/>
          </a:xfrm>
          <a:prstGeom prst="rect">
            <a:avLst/>
          </a:prstGeom>
          <a:noFill/>
        </p:spPr>
        <p:txBody>
          <a:bodyPr wrap="square" anchor="t" lIns="0" rIns="0" tIns="0" bIns="0">
            <a:spAutoFit/>
          </a:bodyPr>
          <a:lstStyle/>
          <a:p>
            <a:pPr algn="l" marL="285750" indent="-285750">
              <a:spcAft>
                <a:spcPts val="1200"/>
              </a:spcAft>
              <a:buFont typeface="Arial"/>
              <a:buChar char="•"/>
            </a:pPr>
            <a:r>
              <a:rPr sz="2200" b="0">
                <a:solidFill>
                  <a:srgbClr val="000000"/>
                </a:solidFill>
                <a:latin typeface="Calibri"/>
              </a:rPr>
              <a:t>Normallik: histogram, Kolmogorov–Smirnov</a:t>
            </a:r>
          </a:p>
          <a:p>
            <a:pPr algn="l" marL="285750" indent="-285750">
              <a:spcAft>
                <a:spcPts val="1200"/>
              </a:spcAft>
              <a:buFont typeface="Arial"/>
              <a:buChar char="•"/>
            </a:pPr>
            <a:r>
              <a:rPr sz="2200" b="0">
                <a:solidFill>
                  <a:srgbClr val="000000"/>
                </a:solidFill>
                <a:latin typeface="Calibri"/>
              </a:rPr>
              <a:t>Kategorik değişkenler: ki-kare testi</a:t>
            </a:r>
          </a:p>
          <a:p>
            <a:pPr algn="l" marL="285750" indent="-285750">
              <a:spcAft>
                <a:spcPts val="1200"/>
              </a:spcAft>
              <a:buFont typeface="Arial"/>
              <a:buChar char="•"/>
            </a:pPr>
            <a:r>
              <a:rPr sz="2200" b="0">
                <a:solidFill>
                  <a:srgbClr val="000000"/>
                </a:solidFill>
                <a:latin typeface="Calibri"/>
              </a:rPr>
              <a:t>İki grup (sürekli): Mann–Whitney U testi</a:t>
            </a:r>
          </a:p>
          <a:p>
            <a:pPr algn="l" marL="285750" indent="-285750">
              <a:spcAft>
                <a:spcPts val="1200"/>
              </a:spcAft>
              <a:buFont typeface="Arial"/>
              <a:buChar char="•"/>
            </a:pPr>
            <a:r>
              <a:rPr sz="2200" b="0">
                <a:solidFill>
                  <a:srgbClr val="000000"/>
                </a:solidFill>
                <a:latin typeface="Calibri"/>
              </a:rPr>
              <a:t>İkiden fazla grup: Kruskal–Wallis; post-hoc Duncan</a:t>
            </a:r>
          </a:p>
          <a:p>
            <a:pPr algn="l" marL="285750" indent="-285750">
              <a:spcAft>
                <a:spcPts val="1200"/>
              </a:spcAft>
              <a:buFont typeface="Arial"/>
              <a:buChar char="•"/>
            </a:pPr>
            <a:r>
              <a:rPr sz="2200" b="0">
                <a:solidFill>
                  <a:srgbClr val="000000"/>
                </a:solidFill>
                <a:latin typeface="Calibri"/>
              </a:rPr>
              <a:t>Tedavinin etkisi: ikili lojistik regresyon</a:t>
            </a:r>
          </a:p>
          <a:p>
            <a:pPr algn="l" marL="285750" indent="-285750">
              <a:spcAft>
                <a:spcPts val="1200"/>
              </a:spcAft>
              <a:buFont typeface="Arial"/>
              <a:buChar char="•"/>
            </a:pPr>
            <a:r>
              <a:rPr sz="2200" b="0">
                <a:solidFill>
                  <a:srgbClr val="000000"/>
                </a:solidFill>
                <a:latin typeface="Calibri"/>
              </a:rPr>
              <a:t>Anlamlılık: p&lt;0,05; Bonferroni düzeltmesi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822960"/>
          </a:xfrm>
          <a:prstGeom prst="rect">
            <a:avLst/>
          </a:prstGeom>
          <a:noFill/>
        </p:spPr>
        <p:txBody>
          <a:bodyPr wrap="square" anchor="ctr" lIns="0" rIns="0" tIns="0" bIns="0">
            <a:spAutoFit/>
          </a:bodyPr>
          <a:lstStyle/>
          <a:p>
            <a:pPr algn="l">
              <a:spcAft>
                <a:spcPts val="800"/>
              </a:spcAft>
            </a:pPr>
            <a:r>
              <a:rPr sz="3400" b="1">
                <a:solidFill>
                  <a:srgbClr val="000000"/>
                </a:solidFill>
                <a:latin typeface="Calibri"/>
              </a:rPr>
              <a:t>Katılımcıların genel özellikleri</a:t>
            </a:r>
          </a:p>
        </p:txBody>
      </p:sp>
      <p:sp>
        <p:nvSpPr>
          <p:cNvPr id="3" name="TextBox 2"/>
          <p:cNvSpPr txBox="1"/>
          <p:nvPr/>
        </p:nvSpPr>
        <p:spPr>
          <a:xfrm>
            <a:off x="548640" y="6400800"/>
            <a:ext cx="10058400" cy="274320"/>
          </a:xfrm>
          <a:prstGeom prst="rect">
            <a:avLst/>
          </a:prstGeom>
          <a:noFill/>
        </p:spPr>
        <p:txBody>
          <a:bodyPr wrap="square" anchor="t" lIns="0" rIns="0" tIns="0" bIns="0">
            <a:spAutoFit/>
          </a:bodyPr>
          <a:lstStyle/>
          <a:p>
            <a:pPr algn="l">
              <a:spcAft>
                <a:spcPts val="800"/>
              </a:spcAft>
            </a:pPr>
            <a:r>
              <a:rPr sz="1100" b="0">
                <a:solidFill>
                  <a:srgbClr val="000000"/>
                </a:solidFill>
                <a:latin typeface="Calibri"/>
              </a:rPr>
              <a:t>Kaynak: Cenberlitaş E, Gökçe A, Öztürk O. Turk J Fam Pract. 2026;30(2):97-106. Ortalama ± standart sapma.</a:t>
            </a:r>
          </a:p>
        </p:txBody>
      </p:sp>
      <p:sp>
        <p:nvSpPr>
          <p:cNvPr id="4" name="TextBox 3"/>
          <p:cNvSpPr txBox="1"/>
          <p:nvPr/>
        </p:nvSpPr>
        <p:spPr>
          <a:xfrm>
            <a:off x="11064240" y="6400800"/>
            <a:ext cx="548640" cy="274320"/>
          </a:xfrm>
          <a:prstGeom prst="rect">
            <a:avLst/>
          </a:prstGeom>
          <a:noFill/>
        </p:spPr>
        <p:txBody>
          <a:bodyPr wrap="square" anchor="t" lIns="0" rIns="0" tIns="0" bIns="0">
            <a:spAutoFit/>
          </a:bodyPr>
          <a:lstStyle/>
          <a:p>
            <a:pPr algn="r">
              <a:spcAft>
                <a:spcPts val="800"/>
              </a:spcAft>
            </a:pPr>
            <a:r>
              <a:rPr sz="1200" b="0">
                <a:solidFill>
                  <a:srgbClr val="000000"/>
                </a:solidFill>
                <a:latin typeface="Calibri"/>
              </a:rPr>
              <a:t>11</a:t>
            </a:r>
          </a:p>
        </p:txBody>
      </p:sp>
      <p:sp>
        <p:nvSpPr>
          <p:cNvPr id="5" name="TextBox 4"/>
          <p:cNvSpPr txBox="1"/>
          <p:nvPr/>
        </p:nvSpPr>
        <p:spPr>
          <a:xfrm>
            <a:off x="548640" y="1417320"/>
            <a:ext cx="11064240" cy="4754880"/>
          </a:xfrm>
          <a:prstGeom prst="rect">
            <a:avLst/>
          </a:prstGeom>
          <a:noFill/>
        </p:spPr>
        <p:txBody>
          <a:bodyPr wrap="square" anchor="t" lIns="0" rIns="0" tIns="0" bIns="0">
            <a:spAutoFit/>
          </a:bodyPr>
          <a:lstStyle/>
          <a:p>
            <a:pPr algn="l" marL="285750" indent="-285750">
              <a:spcAft>
                <a:spcPts val="1200"/>
              </a:spcAft>
              <a:buFont typeface="Arial"/>
              <a:buChar char="•"/>
            </a:pPr>
            <a:r>
              <a:rPr sz="2200" b="0">
                <a:solidFill>
                  <a:srgbClr val="000000"/>
                </a:solidFill>
                <a:latin typeface="Calibri"/>
              </a:rPr>
              <a:t>Hasta sayısı: 399</a:t>
            </a:r>
          </a:p>
          <a:p>
            <a:pPr algn="l" marL="285750" indent="-285750">
              <a:spcAft>
                <a:spcPts val="1200"/>
              </a:spcAft>
              <a:buFont typeface="Arial"/>
              <a:buChar char="•"/>
            </a:pPr>
            <a:r>
              <a:rPr sz="2200" b="0">
                <a:solidFill>
                  <a:srgbClr val="000000"/>
                </a:solidFill>
                <a:latin typeface="Calibri"/>
              </a:rPr>
              <a:t>Yaş ortalaması: 44,7 ± 12,1 yıl</a:t>
            </a:r>
          </a:p>
          <a:p>
            <a:pPr algn="l" marL="285750" indent="-285750">
              <a:spcAft>
                <a:spcPts val="1200"/>
              </a:spcAft>
              <a:buFont typeface="Arial"/>
              <a:buChar char="•"/>
            </a:pPr>
            <a:r>
              <a:rPr sz="2200" b="0">
                <a:solidFill>
                  <a:srgbClr val="000000"/>
                </a:solidFill>
                <a:latin typeface="Calibri"/>
              </a:rPr>
              <a:t>Erkek: %63,7</a:t>
            </a:r>
          </a:p>
          <a:p>
            <a:pPr algn="l" marL="285750" indent="-285750">
              <a:spcAft>
                <a:spcPts val="1200"/>
              </a:spcAft>
              <a:buFont typeface="Arial"/>
              <a:buChar char="•"/>
            </a:pPr>
            <a:r>
              <a:rPr sz="2200" b="0">
                <a:solidFill>
                  <a:srgbClr val="000000"/>
                </a:solidFill>
                <a:latin typeface="Calibri"/>
              </a:rPr>
              <a:t>FNBT puanı: 5,66 ± 2,43</a:t>
            </a:r>
          </a:p>
          <a:p>
            <a:pPr algn="l" marL="285750" indent="-285750">
              <a:spcAft>
                <a:spcPts val="1200"/>
              </a:spcAft>
              <a:buFont typeface="Arial"/>
              <a:buChar char="•"/>
            </a:pPr>
            <a:r>
              <a:rPr sz="2200" b="0">
                <a:solidFill>
                  <a:srgbClr val="000000"/>
                </a:solidFill>
                <a:latin typeface="Calibri"/>
              </a:rPr>
              <a:t>Paket-yıl: 27,4 ± 16,6</a:t>
            </a:r>
          </a:p>
          <a:p>
            <a:pPr algn="l" marL="285750" indent="-285750">
              <a:spcAft>
                <a:spcPts val="1200"/>
              </a:spcAft>
              <a:buFont typeface="Arial"/>
              <a:buChar char="•"/>
            </a:pPr>
            <a:r>
              <a:rPr sz="2200" b="0">
                <a:solidFill>
                  <a:srgbClr val="000000"/>
                </a:solidFill>
                <a:latin typeface="Calibri"/>
              </a:rPr>
              <a:t>Sigarayı bırakan: %34,1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822960"/>
          </a:xfrm>
          <a:prstGeom prst="rect">
            <a:avLst/>
          </a:prstGeom>
          <a:noFill/>
        </p:spPr>
        <p:txBody>
          <a:bodyPr wrap="square" anchor="ctr" lIns="0" rIns="0" tIns="0" bIns="0">
            <a:spAutoFit/>
          </a:bodyPr>
          <a:lstStyle/>
          <a:p>
            <a:pPr algn="l">
              <a:spcAft>
                <a:spcPts val="800"/>
              </a:spcAft>
            </a:pPr>
            <a:r>
              <a:rPr sz="3400" b="1">
                <a:solidFill>
                  <a:srgbClr val="000000"/>
                </a:solidFill>
                <a:latin typeface="Calibri"/>
              </a:rPr>
              <a:t>Bağımlılık düzeyi ve deneme öyküsü</a:t>
            </a:r>
          </a:p>
        </p:txBody>
      </p:sp>
      <p:sp>
        <p:nvSpPr>
          <p:cNvPr id="3" name="TextBox 2"/>
          <p:cNvSpPr txBox="1"/>
          <p:nvPr/>
        </p:nvSpPr>
        <p:spPr>
          <a:xfrm>
            <a:off x="548640" y="6400800"/>
            <a:ext cx="10058400" cy="274320"/>
          </a:xfrm>
          <a:prstGeom prst="rect">
            <a:avLst/>
          </a:prstGeom>
          <a:noFill/>
        </p:spPr>
        <p:txBody>
          <a:bodyPr wrap="square" anchor="t" lIns="0" rIns="0" tIns="0" bIns="0">
            <a:spAutoFit/>
          </a:bodyPr>
          <a:lstStyle/>
          <a:p>
            <a:pPr algn="l">
              <a:spcAft>
                <a:spcPts val="800"/>
              </a:spcAft>
            </a:pPr>
            <a:r>
              <a:rPr sz="1100" b="0">
                <a:solidFill>
                  <a:srgbClr val="000000"/>
                </a:solidFill>
                <a:latin typeface="Calibri"/>
              </a:rPr>
              <a:t>Kaynak: Cenberlitaş E, Gökçe A, Öztürk O. Turk J Fam Pract. 2026;30(2):97-106.</a:t>
            </a:r>
          </a:p>
        </p:txBody>
      </p:sp>
      <p:sp>
        <p:nvSpPr>
          <p:cNvPr id="4" name="TextBox 3"/>
          <p:cNvSpPr txBox="1"/>
          <p:nvPr/>
        </p:nvSpPr>
        <p:spPr>
          <a:xfrm>
            <a:off x="11064240" y="6400800"/>
            <a:ext cx="548640" cy="274320"/>
          </a:xfrm>
          <a:prstGeom prst="rect">
            <a:avLst/>
          </a:prstGeom>
          <a:noFill/>
        </p:spPr>
        <p:txBody>
          <a:bodyPr wrap="square" anchor="t" lIns="0" rIns="0" tIns="0" bIns="0">
            <a:spAutoFit/>
          </a:bodyPr>
          <a:lstStyle/>
          <a:p>
            <a:pPr algn="r">
              <a:spcAft>
                <a:spcPts val="800"/>
              </a:spcAft>
            </a:pPr>
            <a:r>
              <a:rPr sz="1200" b="0">
                <a:solidFill>
                  <a:srgbClr val="000000"/>
                </a:solidFill>
                <a:latin typeface="Calibri"/>
              </a:rPr>
              <a:t>12</a:t>
            </a:r>
          </a:p>
        </p:txBody>
      </p:sp>
      <p:sp>
        <p:nvSpPr>
          <p:cNvPr id="5" name="TextBox 4"/>
          <p:cNvSpPr txBox="1"/>
          <p:nvPr/>
        </p:nvSpPr>
        <p:spPr>
          <a:xfrm>
            <a:off x="548640" y="1417320"/>
            <a:ext cx="11064240" cy="4754880"/>
          </a:xfrm>
          <a:prstGeom prst="rect">
            <a:avLst/>
          </a:prstGeom>
          <a:noFill/>
        </p:spPr>
        <p:txBody>
          <a:bodyPr wrap="square" anchor="t" lIns="0" rIns="0" tIns="0" bIns="0">
            <a:spAutoFit/>
          </a:bodyPr>
          <a:lstStyle/>
          <a:p>
            <a:pPr algn="l" marL="285750" indent="-285750">
              <a:spcAft>
                <a:spcPts val="1200"/>
              </a:spcAft>
              <a:buFont typeface="Arial"/>
              <a:buChar char="•"/>
            </a:pPr>
            <a:r>
              <a:rPr sz="2200" b="0">
                <a:solidFill>
                  <a:srgbClr val="000000"/>
                </a:solidFill>
                <a:latin typeface="Calibri"/>
              </a:rPr>
              <a:t>FNBT'ye göre bağımlılık: düşük %13,2; orta %61,3; yüksek %25,5</a:t>
            </a:r>
          </a:p>
          <a:p>
            <a:pPr algn="l" marL="285750" indent="-285750">
              <a:spcAft>
                <a:spcPts val="1200"/>
              </a:spcAft>
              <a:buFont typeface="Arial"/>
              <a:buChar char="•"/>
            </a:pPr>
            <a:r>
              <a:rPr sz="2200" b="0">
                <a:solidFill>
                  <a:srgbClr val="000000"/>
                </a:solidFill>
                <a:latin typeface="Calibri"/>
              </a:rPr>
              <a:t>Daha önce bırakmayı denemiş: %75,7</a:t>
            </a:r>
          </a:p>
          <a:p>
            <a:pPr algn="l" marL="285750" indent="-285750">
              <a:spcAft>
                <a:spcPts val="1200"/>
              </a:spcAft>
              <a:buFont typeface="Arial"/>
              <a:buChar char="•"/>
            </a:pPr>
            <a:r>
              <a:rPr sz="2200" b="0">
                <a:solidFill>
                  <a:srgbClr val="000000"/>
                </a:solidFill>
                <a:latin typeface="Calibri"/>
              </a:rPr>
              <a:t>Denemede profesyonel destek almış: %49,9</a:t>
            </a:r>
          </a:p>
          <a:p>
            <a:pPr algn="l" marL="285750" indent="-285750">
              <a:spcAft>
                <a:spcPts val="1200"/>
              </a:spcAft>
              <a:buFont typeface="Arial"/>
              <a:buChar char="•"/>
            </a:pPr>
            <a:r>
              <a:rPr sz="2200" b="0">
                <a:solidFill>
                  <a:srgbClr val="000000"/>
                </a:solidFill>
                <a:latin typeface="Calibri"/>
              </a:rPr>
              <a:t>Sigara dışı tütün ürünü kullanan: %7,2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822960"/>
          </a:xfrm>
          <a:prstGeom prst="rect">
            <a:avLst/>
          </a:prstGeom>
          <a:noFill/>
        </p:spPr>
        <p:txBody>
          <a:bodyPr wrap="square" anchor="ctr" lIns="0" rIns="0" tIns="0" bIns="0">
            <a:spAutoFit/>
          </a:bodyPr>
          <a:lstStyle/>
          <a:p>
            <a:pPr algn="l">
              <a:spcAft>
                <a:spcPts val="800"/>
              </a:spcAft>
            </a:pPr>
            <a:r>
              <a:rPr sz="3400" b="1">
                <a:solidFill>
                  <a:srgbClr val="000000"/>
                </a:solidFill>
                <a:latin typeface="Calibri"/>
              </a:rPr>
              <a:t>Tablo 1: Sosyodemografik özellikler</a:t>
            </a:r>
          </a:p>
        </p:txBody>
      </p:sp>
      <p:sp>
        <p:nvSpPr>
          <p:cNvPr id="3" name="TextBox 2"/>
          <p:cNvSpPr txBox="1"/>
          <p:nvPr/>
        </p:nvSpPr>
        <p:spPr>
          <a:xfrm>
            <a:off x="548640" y="6400800"/>
            <a:ext cx="10058400" cy="274320"/>
          </a:xfrm>
          <a:prstGeom prst="rect">
            <a:avLst/>
          </a:prstGeom>
          <a:noFill/>
        </p:spPr>
        <p:txBody>
          <a:bodyPr wrap="square" anchor="t" lIns="0" rIns="0" tIns="0" bIns="0">
            <a:spAutoFit/>
          </a:bodyPr>
          <a:lstStyle/>
          <a:p>
            <a:pPr algn="l">
              <a:spcAft>
                <a:spcPts val="800"/>
              </a:spcAft>
            </a:pPr>
            <a:r>
              <a:rPr sz="1100" b="0">
                <a:solidFill>
                  <a:srgbClr val="000000"/>
                </a:solidFill>
                <a:latin typeface="Calibri"/>
              </a:rPr>
              <a:t>Görsel: Cenberlitaş E, Gökçe A, Öztürk O. Turk J Fam Pract. 2026;30(2):97-106, Tablo 1.</a:t>
            </a:r>
          </a:p>
        </p:txBody>
      </p:sp>
      <p:sp>
        <p:nvSpPr>
          <p:cNvPr id="4" name="TextBox 3"/>
          <p:cNvSpPr txBox="1"/>
          <p:nvPr/>
        </p:nvSpPr>
        <p:spPr>
          <a:xfrm>
            <a:off x="11064240" y="6400800"/>
            <a:ext cx="548640" cy="274320"/>
          </a:xfrm>
          <a:prstGeom prst="rect">
            <a:avLst/>
          </a:prstGeom>
          <a:noFill/>
        </p:spPr>
        <p:txBody>
          <a:bodyPr wrap="square" anchor="t" lIns="0" rIns="0" tIns="0" bIns="0">
            <a:spAutoFit/>
          </a:bodyPr>
          <a:lstStyle/>
          <a:p>
            <a:pPr algn="r">
              <a:spcAft>
                <a:spcPts val="800"/>
              </a:spcAft>
            </a:pPr>
            <a:r>
              <a:rPr sz="1200" b="0">
                <a:solidFill>
                  <a:srgbClr val="000000"/>
                </a:solidFill>
                <a:latin typeface="Calibri"/>
              </a:rPr>
              <a:t>13</a:t>
            </a:r>
          </a:p>
        </p:txBody>
      </p:sp>
      <p:pic>
        <p:nvPicPr>
          <p:cNvPr id="5" name="Picture 4" descr="tablo1_gri.png"/>
          <p:cNvPicPr>
            <a:picLocks noChangeAspect="1"/>
          </p:cNvPicPr>
          <p:nvPr/>
        </p:nvPicPr>
        <p:blipFill>
          <a:blip r:embed="rId3"/>
          <a:stretch>
            <a:fillRect/>
          </a:stretch>
        </p:blipFill>
        <p:spPr>
          <a:xfrm>
            <a:off x="548640" y="1325880"/>
            <a:ext cx="7187630" cy="4892040"/>
          </a:xfrm>
          <a:prstGeom prst="rect">
            <a:avLst/>
          </a:prstGeom>
        </p:spPr>
      </p:pic>
      <p:sp>
        <p:nvSpPr>
          <p:cNvPr id="6" name="TextBox 5"/>
          <p:cNvSpPr txBox="1"/>
          <p:nvPr/>
        </p:nvSpPr>
        <p:spPr>
          <a:xfrm>
            <a:off x="8056310" y="1417320"/>
            <a:ext cx="3584001" cy="4754880"/>
          </a:xfrm>
          <a:prstGeom prst="rect">
            <a:avLst/>
          </a:prstGeom>
          <a:noFill/>
        </p:spPr>
        <p:txBody>
          <a:bodyPr wrap="square" anchor="t" lIns="0" rIns="0" tIns="0" bIns="0">
            <a:spAutoFit/>
          </a:bodyPr>
          <a:lstStyle/>
          <a:p>
            <a:pPr algn="l" marL="285750" indent="-285750">
              <a:spcAft>
                <a:spcPts val="1200"/>
              </a:spcAft>
              <a:buFont typeface="Arial"/>
              <a:buChar char="•"/>
            </a:pPr>
            <a:r>
              <a:rPr sz="1800" b="0">
                <a:solidFill>
                  <a:srgbClr val="000000"/>
                </a:solidFill>
                <a:latin typeface="Calibri"/>
              </a:rPr>
              <a:t>Erkek: %63,7</a:t>
            </a:r>
          </a:p>
          <a:p>
            <a:pPr algn="l" marL="285750" indent="-285750">
              <a:spcAft>
                <a:spcPts val="1200"/>
              </a:spcAft>
              <a:buFont typeface="Arial"/>
              <a:buChar char="•"/>
            </a:pPr>
            <a:r>
              <a:rPr sz="1800" b="0">
                <a:solidFill>
                  <a:srgbClr val="000000"/>
                </a:solidFill>
                <a:latin typeface="Calibri"/>
              </a:rPr>
              <a:t>Evli: %82,0</a:t>
            </a:r>
          </a:p>
          <a:p>
            <a:pPr algn="l" marL="285750" indent="-285750">
              <a:spcAft>
                <a:spcPts val="1200"/>
              </a:spcAft>
              <a:buFont typeface="Arial"/>
              <a:buChar char="•"/>
            </a:pPr>
            <a:r>
              <a:rPr sz="1800" b="0">
                <a:solidFill>
                  <a:srgbClr val="000000"/>
                </a:solidFill>
                <a:latin typeface="Calibri"/>
              </a:rPr>
              <a:t>Yükseköğretim mezunu: %43,4</a:t>
            </a:r>
          </a:p>
          <a:p>
            <a:pPr algn="l" marL="285750" indent="-285750">
              <a:spcAft>
                <a:spcPts val="1200"/>
              </a:spcAft>
              <a:buFont typeface="Arial"/>
              <a:buChar char="•"/>
            </a:pPr>
            <a:r>
              <a:rPr sz="1800" b="0">
                <a:solidFill>
                  <a:srgbClr val="000000"/>
                </a:solidFill>
                <a:latin typeface="Calibri"/>
              </a:rPr>
              <a:t>Hanesinde sigara içen var: %39,6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822960"/>
          </a:xfrm>
          <a:prstGeom prst="rect">
            <a:avLst/>
          </a:prstGeom>
          <a:noFill/>
        </p:spPr>
        <p:txBody>
          <a:bodyPr wrap="square" anchor="ctr" lIns="0" rIns="0" tIns="0" bIns="0">
            <a:spAutoFit/>
          </a:bodyPr>
          <a:lstStyle/>
          <a:p>
            <a:pPr algn="l">
              <a:spcAft>
                <a:spcPts val="800"/>
              </a:spcAft>
            </a:pPr>
            <a:r>
              <a:rPr sz="3400" b="1">
                <a:solidFill>
                  <a:srgbClr val="000000"/>
                </a:solidFill>
                <a:latin typeface="Calibri"/>
              </a:rPr>
              <a:t>Tablo 2: Sosyodemografik özellikler ve bırakma</a:t>
            </a:r>
          </a:p>
        </p:txBody>
      </p:sp>
      <p:sp>
        <p:nvSpPr>
          <p:cNvPr id="3" name="TextBox 2"/>
          <p:cNvSpPr txBox="1"/>
          <p:nvPr/>
        </p:nvSpPr>
        <p:spPr>
          <a:xfrm>
            <a:off x="548640" y="6400800"/>
            <a:ext cx="10058400" cy="274320"/>
          </a:xfrm>
          <a:prstGeom prst="rect">
            <a:avLst/>
          </a:prstGeom>
          <a:noFill/>
        </p:spPr>
        <p:txBody>
          <a:bodyPr wrap="square" anchor="t" lIns="0" rIns="0" tIns="0" bIns="0">
            <a:spAutoFit/>
          </a:bodyPr>
          <a:lstStyle/>
          <a:p>
            <a:pPr algn="l">
              <a:spcAft>
                <a:spcPts val="800"/>
              </a:spcAft>
            </a:pPr>
            <a:r>
              <a:rPr sz="1100" b="0">
                <a:solidFill>
                  <a:srgbClr val="000000"/>
                </a:solidFill>
                <a:latin typeface="Calibri"/>
              </a:rPr>
              <a:t>Görsel: Cenberlitaş E, Gökçe A, Öztürk O. Turk J Fam Pract. 2026;30(2):97-106, Tablo 2.</a:t>
            </a:r>
          </a:p>
        </p:txBody>
      </p:sp>
      <p:sp>
        <p:nvSpPr>
          <p:cNvPr id="4" name="TextBox 3"/>
          <p:cNvSpPr txBox="1"/>
          <p:nvPr/>
        </p:nvSpPr>
        <p:spPr>
          <a:xfrm>
            <a:off x="11064240" y="6400800"/>
            <a:ext cx="548640" cy="274320"/>
          </a:xfrm>
          <a:prstGeom prst="rect">
            <a:avLst/>
          </a:prstGeom>
          <a:noFill/>
        </p:spPr>
        <p:txBody>
          <a:bodyPr wrap="square" anchor="t" lIns="0" rIns="0" tIns="0" bIns="0">
            <a:spAutoFit/>
          </a:bodyPr>
          <a:lstStyle/>
          <a:p>
            <a:pPr algn="r">
              <a:spcAft>
                <a:spcPts val="800"/>
              </a:spcAft>
            </a:pPr>
            <a:r>
              <a:rPr sz="1200" b="0">
                <a:solidFill>
                  <a:srgbClr val="000000"/>
                </a:solidFill>
                <a:latin typeface="Calibri"/>
              </a:rPr>
              <a:t>14</a:t>
            </a:r>
          </a:p>
        </p:txBody>
      </p:sp>
      <p:pic>
        <p:nvPicPr>
          <p:cNvPr id="5" name="Picture 4" descr="tablo2a_gri.png"/>
          <p:cNvPicPr>
            <a:picLocks noChangeAspect="1"/>
          </p:cNvPicPr>
          <p:nvPr/>
        </p:nvPicPr>
        <p:blipFill>
          <a:blip r:embed="rId3"/>
          <a:stretch>
            <a:fillRect/>
          </a:stretch>
        </p:blipFill>
        <p:spPr>
          <a:xfrm>
            <a:off x="548640" y="1325880"/>
            <a:ext cx="8321040" cy="4575617"/>
          </a:xfrm>
          <a:prstGeom prst="rect">
            <a:avLst/>
          </a:prstGeom>
        </p:spPr>
      </p:pic>
      <p:sp>
        <p:nvSpPr>
          <p:cNvPr id="6" name="TextBox 5"/>
          <p:cNvSpPr txBox="1"/>
          <p:nvPr/>
        </p:nvSpPr>
        <p:spPr>
          <a:xfrm>
            <a:off x="9189720" y="1417320"/>
            <a:ext cx="2450592" cy="4754880"/>
          </a:xfrm>
          <a:prstGeom prst="rect">
            <a:avLst/>
          </a:prstGeom>
          <a:noFill/>
        </p:spPr>
        <p:txBody>
          <a:bodyPr wrap="square" anchor="t" lIns="0" rIns="0" tIns="0" bIns="0">
            <a:spAutoFit/>
          </a:bodyPr>
          <a:lstStyle/>
          <a:p>
            <a:pPr algn="l" marL="285750" indent="-285750">
              <a:spcAft>
                <a:spcPts val="1200"/>
              </a:spcAft>
              <a:buFont typeface="Arial"/>
              <a:buChar char="•"/>
            </a:pPr>
            <a:r>
              <a:rPr sz="1800" b="0">
                <a:solidFill>
                  <a:srgbClr val="000000"/>
                </a:solidFill>
                <a:latin typeface="Calibri"/>
              </a:rPr>
              <a:t>Anlamlı fark yok: cinsiyet, yaş grubu, medeni durum ve eğitim durumu</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822960"/>
          </a:xfrm>
          <a:prstGeom prst="rect">
            <a:avLst/>
          </a:prstGeom>
          <a:noFill/>
        </p:spPr>
        <p:txBody>
          <a:bodyPr wrap="square" anchor="ctr" lIns="0" rIns="0" tIns="0" bIns="0">
            <a:spAutoFit/>
          </a:bodyPr>
          <a:lstStyle/>
          <a:p>
            <a:pPr algn="l">
              <a:spcAft>
                <a:spcPts val="800"/>
              </a:spcAft>
            </a:pPr>
            <a:r>
              <a:rPr sz="3400" b="1">
                <a:solidFill>
                  <a:srgbClr val="000000"/>
                </a:solidFill>
                <a:latin typeface="Calibri"/>
              </a:rPr>
              <a:t>Tablo 2 (devam)</a:t>
            </a:r>
          </a:p>
        </p:txBody>
      </p:sp>
      <p:sp>
        <p:nvSpPr>
          <p:cNvPr id="3" name="TextBox 2"/>
          <p:cNvSpPr txBox="1"/>
          <p:nvPr/>
        </p:nvSpPr>
        <p:spPr>
          <a:xfrm>
            <a:off x="548640" y="6400800"/>
            <a:ext cx="10058400" cy="274320"/>
          </a:xfrm>
          <a:prstGeom prst="rect">
            <a:avLst/>
          </a:prstGeom>
          <a:noFill/>
        </p:spPr>
        <p:txBody>
          <a:bodyPr wrap="square" anchor="t" lIns="0" rIns="0" tIns="0" bIns="0">
            <a:spAutoFit/>
          </a:bodyPr>
          <a:lstStyle/>
          <a:p>
            <a:pPr algn="l">
              <a:spcAft>
                <a:spcPts val="800"/>
              </a:spcAft>
            </a:pPr>
            <a:r>
              <a:rPr sz="1100" b="0">
                <a:solidFill>
                  <a:srgbClr val="000000"/>
                </a:solidFill>
                <a:latin typeface="Calibri"/>
              </a:rPr>
              <a:t>Görsel: Cenberlitaş E, Gökçe A, Öztürk O. Turk J Fam Pract. 2026;30(2):97-106, Tablo 2.</a:t>
            </a:r>
          </a:p>
        </p:txBody>
      </p:sp>
      <p:sp>
        <p:nvSpPr>
          <p:cNvPr id="4" name="TextBox 3"/>
          <p:cNvSpPr txBox="1"/>
          <p:nvPr/>
        </p:nvSpPr>
        <p:spPr>
          <a:xfrm>
            <a:off x="11064240" y="6400800"/>
            <a:ext cx="548640" cy="274320"/>
          </a:xfrm>
          <a:prstGeom prst="rect">
            <a:avLst/>
          </a:prstGeom>
          <a:noFill/>
        </p:spPr>
        <p:txBody>
          <a:bodyPr wrap="square" anchor="t" lIns="0" rIns="0" tIns="0" bIns="0">
            <a:spAutoFit/>
          </a:bodyPr>
          <a:lstStyle/>
          <a:p>
            <a:pPr algn="r">
              <a:spcAft>
                <a:spcPts val="800"/>
              </a:spcAft>
            </a:pPr>
            <a:r>
              <a:rPr sz="1200" b="0">
                <a:solidFill>
                  <a:srgbClr val="000000"/>
                </a:solidFill>
                <a:latin typeface="Calibri"/>
              </a:rPr>
              <a:t>15</a:t>
            </a:r>
          </a:p>
        </p:txBody>
      </p:sp>
      <p:pic>
        <p:nvPicPr>
          <p:cNvPr id="5" name="Picture 4" descr="tablo2b_gri.png"/>
          <p:cNvPicPr>
            <a:picLocks noChangeAspect="1"/>
          </p:cNvPicPr>
          <p:nvPr/>
        </p:nvPicPr>
        <p:blipFill>
          <a:blip r:embed="rId3"/>
          <a:stretch>
            <a:fillRect/>
          </a:stretch>
        </p:blipFill>
        <p:spPr>
          <a:xfrm>
            <a:off x="548640" y="1325880"/>
            <a:ext cx="8321040" cy="3688167"/>
          </a:xfrm>
          <a:prstGeom prst="rect">
            <a:avLst/>
          </a:prstGeom>
        </p:spPr>
      </p:pic>
      <p:sp>
        <p:nvSpPr>
          <p:cNvPr id="6" name="TextBox 5"/>
          <p:cNvSpPr txBox="1"/>
          <p:nvPr/>
        </p:nvSpPr>
        <p:spPr>
          <a:xfrm>
            <a:off x="9189720" y="1417320"/>
            <a:ext cx="2450592" cy="4754880"/>
          </a:xfrm>
          <a:prstGeom prst="rect">
            <a:avLst/>
          </a:prstGeom>
          <a:noFill/>
        </p:spPr>
        <p:txBody>
          <a:bodyPr wrap="square" anchor="t" lIns="0" rIns="0" tIns="0" bIns="0">
            <a:spAutoFit/>
          </a:bodyPr>
          <a:lstStyle/>
          <a:p>
            <a:pPr algn="l" marL="285750" indent="-285750">
              <a:spcAft>
                <a:spcPts val="1200"/>
              </a:spcAft>
              <a:buFont typeface="Arial"/>
              <a:buChar char="•"/>
            </a:pPr>
            <a:r>
              <a:rPr sz="1800" b="0">
                <a:solidFill>
                  <a:srgbClr val="000000"/>
                </a:solidFill>
                <a:latin typeface="Calibri"/>
              </a:rPr>
              <a:t>Tek anlamlı fark: hanede sigara içen varlığı (p = 0,003)</a:t>
            </a:r>
          </a:p>
          <a:p>
            <a:pPr algn="l" marL="285750" indent="-285750">
              <a:spcAft>
                <a:spcPts val="1200"/>
              </a:spcAft>
              <a:buFont typeface="Arial"/>
              <a:buChar char="•"/>
            </a:pPr>
            <a:r>
              <a:rPr sz="1800" b="0">
                <a:solidFill>
                  <a:srgbClr val="000000"/>
                </a:solidFill>
                <a:latin typeface="Calibri"/>
              </a:rPr>
              <a:t>Bırakma: %39,8 ve %25,3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822960"/>
          </a:xfrm>
          <a:prstGeom prst="rect">
            <a:avLst/>
          </a:prstGeom>
          <a:noFill/>
        </p:spPr>
        <p:txBody>
          <a:bodyPr wrap="square" anchor="ctr" lIns="0" rIns="0" tIns="0" bIns="0">
            <a:spAutoFit/>
          </a:bodyPr>
          <a:lstStyle/>
          <a:p>
            <a:pPr algn="l">
              <a:spcAft>
                <a:spcPts val="800"/>
              </a:spcAft>
            </a:pPr>
            <a:r>
              <a:rPr sz="3400" b="1">
                <a:solidFill>
                  <a:srgbClr val="000000"/>
                </a:solidFill>
                <a:latin typeface="Calibri"/>
              </a:rPr>
              <a:t>Tablo 3: Uygulanan tedaviler</a:t>
            </a:r>
          </a:p>
        </p:txBody>
      </p:sp>
      <p:sp>
        <p:nvSpPr>
          <p:cNvPr id="3" name="TextBox 2"/>
          <p:cNvSpPr txBox="1"/>
          <p:nvPr/>
        </p:nvSpPr>
        <p:spPr>
          <a:xfrm>
            <a:off x="548640" y="6400800"/>
            <a:ext cx="10058400" cy="274320"/>
          </a:xfrm>
          <a:prstGeom prst="rect">
            <a:avLst/>
          </a:prstGeom>
          <a:noFill/>
        </p:spPr>
        <p:txBody>
          <a:bodyPr wrap="square" anchor="t" lIns="0" rIns="0" tIns="0" bIns="0">
            <a:spAutoFit/>
          </a:bodyPr>
          <a:lstStyle/>
          <a:p>
            <a:pPr algn="l">
              <a:spcAft>
                <a:spcPts val="800"/>
              </a:spcAft>
            </a:pPr>
            <a:r>
              <a:rPr sz="1100" b="0">
                <a:solidFill>
                  <a:srgbClr val="000000"/>
                </a:solidFill>
                <a:latin typeface="Calibri"/>
              </a:rPr>
              <a:t>Görsel: Cenberlitaş E, Gökçe A, Öztürk O. Turk J Fam Pract. 2026;30(2):97-106, Tablo 3.</a:t>
            </a:r>
          </a:p>
        </p:txBody>
      </p:sp>
      <p:sp>
        <p:nvSpPr>
          <p:cNvPr id="4" name="TextBox 3"/>
          <p:cNvSpPr txBox="1"/>
          <p:nvPr/>
        </p:nvSpPr>
        <p:spPr>
          <a:xfrm>
            <a:off x="11064240" y="6400800"/>
            <a:ext cx="548640" cy="274320"/>
          </a:xfrm>
          <a:prstGeom prst="rect">
            <a:avLst/>
          </a:prstGeom>
          <a:noFill/>
        </p:spPr>
        <p:txBody>
          <a:bodyPr wrap="square" anchor="t" lIns="0" rIns="0" tIns="0" bIns="0">
            <a:spAutoFit/>
          </a:bodyPr>
          <a:lstStyle/>
          <a:p>
            <a:pPr algn="r">
              <a:spcAft>
                <a:spcPts val="800"/>
              </a:spcAft>
            </a:pPr>
            <a:r>
              <a:rPr sz="1200" b="0">
                <a:solidFill>
                  <a:srgbClr val="000000"/>
                </a:solidFill>
                <a:latin typeface="Calibri"/>
              </a:rPr>
              <a:t>16</a:t>
            </a:r>
          </a:p>
        </p:txBody>
      </p:sp>
      <p:pic>
        <p:nvPicPr>
          <p:cNvPr id="5" name="Picture 4" descr="tablo3_gri.png"/>
          <p:cNvPicPr>
            <a:picLocks noChangeAspect="1"/>
          </p:cNvPicPr>
          <p:nvPr/>
        </p:nvPicPr>
        <p:blipFill>
          <a:blip r:embed="rId3"/>
          <a:stretch>
            <a:fillRect/>
          </a:stretch>
        </p:blipFill>
        <p:spPr>
          <a:xfrm>
            <a:off x="548640" y="1325880"/>
            <a:ext cx="8321040" cy="3487775"/>
          </a:xfrm>
          <a:prstGeom prst="rect">
            <a:avLst/>
          </a:prstGeom>
        </p:spPr>
      </p:pic>
      <p:sp>
        <p:nvSpPr>
          <p:cNvPr id="6" name="TextBox 5"/>
          <p:cNvSpPr txBox="1"/>
          <p:nvPr/>
        </p:nvSpPr>
        <p:spPr>
          <a:xfrm>
            <a:off x="9189720" y="1417320"/>
            <a:ext cx="2450592" cy="4754880"/>
          </a:xfrm>
          <a:prstGeom prst="rect">
            <a:avLst/>
          </a:prstGeom>
          <a:noFill/>
        </p:spPr>
        <p:txBody>
          <a:bodyPr wrap="square" anchor="t" lIns="0" rIns="0" tIns="0" bIns="0">
            <a:spAutoFit/>
          </a:bodyPr>
          <a:lstStyle/>
          <a:p>
            <a:pPr algn="l" marL="285750" indent="-285750">
              <a:spcAft>
                <a:spcPts val="1200"/>
              </a:spcAft>
              <a:buFont typeface="Arial"/>
              <a:buChar char="•"/>
            </a:pPr>
            <a:r>
              <a:rPr sz="1800" b="0">
                <a:solidFill>
                  <a:srgbClr val="000000"/>
                </a:solidFill>
                <a:latin typeface="Calibri"/>
              </a:rPr>
              <a:t>Kombine tedavi: %35,3</a:t>
            </a:r>
          </a:p>
          <a:p>
            <a:pPr algn="l" marL="285750" indent="-285750">
              <a:spcAft>
                <a:spcPts val="1200"/>
              </a:spcAft>
              <a:buFont typeface="Arial"/>
              <a:buChar char="•"/>
            </a:pPr>
            <a:r>
              <a:rPr sz="1800" b="0">
                <a:solidFill>
                  <a:srgbClr val="000000"/>
                </a:solidFill>
                <a:latin typeface="Calibri"/>
              </a:rPr>
              <a:t>Kombine tedavide bupropion + NRT: 125 / 141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822960"/>
          </a:xfrm>
          <a:prstGeom prst="rect">
            <a:avLst/>
          </a:prstGeom>
          <a:noFill/>
        </p:spPr>
        <p:txBody>
          <a:bodyPr wrap="square" anchor="ctr" lIns="0" rIns="0" tIns="0" bIns="0">
            <a:spAutoFit/>
          </a:bodyPr>
          <a:lstStyle/>
          <a:p>
            <a:pPr algn="l">
              <a:spcAft>
                <a:spcPts val="800"/>
              </a:spcAft>
            </a:pPr>
            <a:r>
              <a:rPr sz="3400" b="1">
                <a:solidFill>
                  <a:srgbClr val="000000"/>
                </a:solidFill>
                <a:latin typeface="Calibri"/>
              </a:rPr>
              <a:t>Tablo 4: Görüşme sayısı, FNBT ve paket-yıl</a:t>
            </a:r>
          </a:p>
        </p:txBody>
      </p:sp>
      <p:sp>
        <p:nvSpPr>
          <p:cNvPr id="3" name="TextBox 2"/>
          <p:cNvSpPr txBox="1"/>
          <p:nvPr/>
        </p:nvSpPr>
        <p:spPr>
          <a:xfrm>
            <a:off x="548640" y="6400800"/>
            <a:ext cx="10058400" cy="274320"/>
          </a:xfrm>
          <a:prstGeom prst="rect">
            <a:avLst/>
          </a:prstGeom>
          <a:noFill/>
        </p:spPr>
        <p:txBody>
          <a:bodyPr wrap="square" anchor="t" lIns="0" rIns="0" tIns="0" bIns="0">
            <a:spAutoFit/>
          </a:bodyPr>
          <a:lstStyle/>
          <a:p>
            <a:pPr algn="l">
              <a:spcAft>
                <a:spcPts val="800"/>
              </a:spcAft>
            </a:pPr>
            <a:r>
              <a:rPr sz="1100" b="0">
                <a:solidFill>
                  <a:srgbClr val="000000"/>
                </a:solidFill>
                <a:latin typeface="Calibri"/>
              </a:rPr>
              <a:t>Görsel: Cenberlitaş E, Gökçe A, Öztürk O. Turk J Fam Pract. 2026;30(2):97-106, Tablo 4.</a:t>
            </a:r>
          </a:p>
        </p:txBody>
      </p:sp>
      <p:sp>
        <p:nvSpPr>
          <p:cNvPr id="4" name="TextBox 3"/>
          <p:cNvSpPr txBox="1"/>
          <p:nvPr/>
        </p:nvSpPr>
        <p:spPr>
          <a:xfrm>
            <a:off x="11064240" y="6400800"/>
            <a:ext cx="548640" cy="274320"/>
          </a:xfrm>
          <a:prstGeom prst="rect">
            <a:avLst/>
          </a:prstGeom>
          <a:noFill/>
        </p:spPr>
        <p:txBody>
          <a:bodyPr wrap="square" anchor="t" lIns="0" rIns="0" tIns="0" bIns="0">
            <a:spAutoFit/>
          </a:bodyPr>
          <a:lstStyle/>
          <a:p>
            <a:pPr algn="r">
              <a:spcAft>
                <a:spcPts val="800"/>
              </a:spcAft>
            </a:pPr>
            <a:r>
              <a:rPr sz="1200" b="0">
                <a:solidFill>
                  <a:srgbClr val="000000"/>
                </a:solidFill>
                <a:latin typeface="Calibri"/>
              </a:rPr>
              <a:t>17</a:t>
            </a:r>
          </a:p>
        </p:txBody>
      </p:sp>
      <p:pic>
        <p:nvPicPr>
          <p:cNvPr id="5" name="Picture 4" descr="tablo4_gri.png"/>
          <p:cNvPicPr>
            <a:picLocks noChangeAspect="1"/>
          </p:cNvPicPr>
          <p:nvPr/>
        </p:nvPicPr>
        <p:blipFill>
          <a:blip r:embed="rId3"/>
          <a:stretch>
            <a:fillRect/>
          </a:stretch>
        </p:blipFill>
        <p:spPr>
          <a:xfrm>
            <a:off x="548640" y="1325880"/>
            <a:ext cx="11091672" cy="2722038"/>
          </a:xfrm>
          <a:prstGeom prst="rect">
            <a:avLst/>
          </a:prstGeom>
        </p:spPr>
      </p:pic>
      <p:sp>
        <p:nvSpPr>
          <p:cNvPr id="6" name="TextBox 5"/>
          <p:cNvSpPr txBox="1"/>
          <p:nvPr/>
        </p:nvSpPr>
        <p:spPr>
          <a:xfrm>
            <a:off x="548640" y="4322238"/>
            <a:ext cx="11064240" cy="1941401"/>
          </a:xfrm>
          <a:prstGeom prst="rect">
            <a:avLst/>
          </a:prstGeom>
          <a:noFill/>
        </p:spPr>
        <p:txBody>
          <a:bodyPr wrap="square" anchor="t" lIns="0" rIns="0" tIns="0" bIns="0">
            <a:spAutoFit/>
          </a:bodyPr>
          <a:lstStyle/>
          <a:p>
            <a:pPr algn="l" marL="285750" indent="-285750">
              <a:spcAft>
                <a:spcPts val="1200"/>
              </a:spcAft>
              <a:buFont typeface="Arial"/>
              <a:buChar char="•"/>
            </a:pPr>
            <a:r>
              <a:rPr sz="2000" b="0">
                <a:solidFill>
                  <a:srgbClr val="000000"/>
                </a:solidFill>
                <a:latin typeface="Calibri"/>
              </a:rPr>
              <a:t>Görüşme sayısı: başarılı 2,83; başarısız 1,96 (p &lt; 0,001)</a:t>
            </a:r>
          </a:p>
          <a:p>
            <a:pPr algn="l" marL="285750" indent="-285750">
              <a:spcAft>
                <a:spcPts val="1200"/>
              </a:spcAft>
              <a:buFont typeface="Arial"/>
              <a:buChar char="•"/>
            </a:pPr>
            <a:r>
              <a:rPr sz="2000" b="0">
                <a:solidFill>
                  <a:srgbClr val="000000"/>
                </a:solidFill>
                <a:latin typeface="Calibri"/>
              </a:rPr>
              <a:t>FNBT puanı: başarılı 5,26; başarısız 5,85 (p = 0,024)</a:t>
            </a:r>
          </a:p>
          <a:p>
            <a:pPr algn="l" marL="285750" indent="-285750">
              <a:spcAft>
                <a:spcPts val="1200"/>
              </a:spcAft>
              <a:buFont typeface="Arial"/>
              <a:buChar char="•"/>
            </a:pPr>
            <a:r>
              <a:rPr sz="2000" b="0">
                <a:solidFill>
                  <a:srgbClr val="000000"/>
                </a:solidFill>
                <a:latin typeface="Calibri"/>
              </a:rPr>
              <a:t>Paket-yıl: iki grup arasında fark yok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822960"/>
          </a:xfrm>
          <a:prstGeom prst="rect">
            <a:avLst/>
          </a:prstGeom>
          <a:noFill/>
        </p:spPr>
        <p:txBody>
          <a:bodyPr wrap="square" anchor="ctr" lIns="0" rIns="0" tIns="0" bIns="0">
            <a:spAutoFit/>
          </a:bodyPr>
          <a:lstStyle/>
          <a:p>
            <a:pPr algn="l">
              <a:spcAft>
                <a:spcPts val="800"/>
              </a:spcAft>
            </a:pPr>
            <a:r>
              <a:rPr sz="3400" b="1">
                <a:solidFill>
                  <a:srgbClr val="000000"/>
                </a:solidFill>
                <a:latin typeface="Calibri"/>
              </a:rPr>
              <a:t>Tablo 5: Tedavi yöntemine göre bırakma</a:t>
            </a:r>
          </a:p>
        </p:txBody>
      </p:sp>
      <p:sp>
        <p:nvSpPr>
          <p:cNvPr id="3" name="TextBox 2"/>
          <p:cNvSpPr txBox="1"/>
          <p:nvPr/>
        </p:nvSpPr>
        <p:spPr>
          <a:xfrm>
            <a:off x="548640" y="6400800"/>
            <a:ext cx="10058400" cy="274320"/>
          </a:xfrm>
          <a:prstGeom prst="rect">
            <a:avLst/>
          </a:prstGeom>
          <a:noFill/>
        </p:spPr>
        <p:txBody>
          <a:bodyPr wrap="square" anchor="t" lIns="0" rIns="0" tIns="0" bIns="0">
            <a:spAutoFit/>
          </a:bodyPr>
          <a:lstStyle/>
          <a:p>
            <a:pPr algn="l">
              <a:spcAft>
                <a:spcPts val="800"/>
              </a:spcAft>
            </a:pPr>
            <a:r>
              <a:rPr sz="1100" b="0">
                <a:solidFill>
                  <a:srgbClr val="000000"/>
                </a:solidFill>
                <a:latin typeface="Calibri"/>
              </a:rPr>
              <a:t>Görsel: Cenberlitaş E, Gökçe A, Öztürk O. Turk J Fam Pract. 2026;30(2):97-106, Tablo 5.</a:t>
            </a:r>
          </a:p>
        </p:txBody>
      </p:sp>
      <p:sp>
        <p:nvSpPr>
          <p:cNvPr id="4" name="TextBox 3"/>
          <p:cNvSpPr txBox="1"/>
          <p:nvPr/>
        </p:nvSpPr>
        <p:spPr>
          <a:xfrm>
            <a:off x="11064240" y="6400800"/>
            <a:ext cx="548640" cy="274320"/>
          </a:xfrm>
          <a:prstGeom prst="rect">
            <a:avLst/>
          </a:prstGeom>
          <a:noFill/>
        </p:spPr>
        <p:txBody>
          <a:bodyPr wrap="square" anchor="t" lIns="0" rIns="0" tIns="0" bIns="0">
            <a:spAutoFit/>
          </a:bodyPr>
          <a:lstStyle/>
          <a:p>
            <a:pPr algn="r">
              <a:spcAft>
                <a:spcPts val="800"/>
              </a:spcAft>
            </a:pPr>
            <a:r>
              <a:rPr sz="1200" b="0">
                <a:solidFill>
                  <a:srgbClr val="000000"/>
                </a:solidFill>
                <a:latin typeface="Calibri"/>
              </a:rPr>
              <a:t>18</a:t>
            </a:r>
          </a:p>
        </p:txBody>
      </p:sp>
      <p:pic>
        <p:nvPicPr>
          <p:cNvPr id="5" name="Picture 4" descr="tablo5_gri.png"/>
          <p:cNvPicPr>
            <a:picLocks noChangeAspect="1"/>
          </p:cNvPicPr>
          <p:nvPr/>
        </p:nvPicPr>
        <p:blipFill>
          <a:blip r:embed="rId3"/>
          <a:stretch>
            <a:fillRect/>
          </a:stretch>
        </p:blipFill>
        <p:spPr>
          <a:xfrm>
            <a:off x="548640" y="1325880"/>
            <a:ext cx="11091672" cy="3218111"/>
          </a:xfrm>
          <a:prstGeom prst="rect">
            <a:avLst/>
          </a:prstGeom>
        </p:spPr>
      </p:pic>
      <p:sp>
        <p:nvSpPr>
          <p:cNvPr id="6" name="TextBox 5"/>
          <p:cNvSpPr txBox="1"/>
          <p:nvPr/>
        </p:nvSpPr>
        <p:spPr>
          <a:xfrm>
            <a:off x="548640" y="4818311"/>
            <a:ext cx="11064240" cy="1445328"/>
          </a:xfrm>
          <a:prstGeom prst="rect">
            <a:avLst/>
          </a:prstGeom>
          <a:noFill/>
        </p:spPr>
        <p:txBody>
          <a:bodyPr wrap="square" anchor="t" lIns="0" rIns="0" tIns="0" bIns="0">
            <a:spAutoFit/>
          </a:bodyPr>
          <a:lstStyle/>
          <a:p>
            <a:pPr algn="l" marL="285750" indent="-285750">
              <a:spcAft>
                <a:spcPts val="1200"/>
              </a:spcAft>
              <a:buFont typeface="Arial"/>
              <a:buChar char="•"/>
            </a:pPr>
            <a:r>
              <a:rPr sz="2000" b="0">
                <a:solidFill>
                  <a:srgbClr val="000000"/>
                </a:solidFill>
                <a:latin typeface="Calibri"/>
              </a:rPr>
              <a:t>En yüksek: kombine tedavi %44,0</a:t>
            </a:r>
          </a:p>
          <a:p>
            <a:pPr algn="l" marL="285750" indent="-285750">
              <a:spcAft>
                <a:spcPts val="1200"/>
              </a:spcAft>
              <a:buFont typeface="Arial"/>
              <a:buChar char="•"/>
            </a:pPr>
            <a:r>
              <a:rPr sz="2000" b="0">
                <a:solidFill>
                  <a:srgbClr val="000000"/>
                </a:solidFill>
                <a:latin typeface="Calibri"/>
              </a:rPr>
              <a:t>En düşük: bupropion %16,5</a:t>
            </a:r>
          </a:p>
          <a:p>
            <a:pPr algn="l" marL="285750" indent="-285750">
              <a:spcAft>
                <a:spcPts val="1200"/>
              </a:spcAft>
              <a:buFont typeface="Arial"/>
              <a:buChar char="•"/>
            </a:pPr>
            <a:r>
              <a:rPr sz="2000" b="0">
                <a:solidFill>
                  <a:srgbClr val="000000"/>
                </a:solidFill>
                <a:latin typeface="Calibri"/>
              </a:rPr>
              <a:t>Gruplar arası: p &lt; 0,001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822960"/>
          </a:xfrm>
          <a:prstGeom prst="rect">
            <a:avLst/>
          </a:prstGeom>
          <a:noFill/>
        </p:spPr>
        <p:txBody>
          <a:bodyPr wrap="square" anchor="ctr" lIns="0" rIns="0" tIns="0" bIns="0">
            <a:spAutoFit/>
          </a:bodyPr>
          <a:lstStyle/>
          <a:p>
            <a:pPr algn="l">
              <a:spcAft>
                <a:spcPts val="800"/>
              </a:spcAft>
            </a:pPr>
            <a:r>
              <a:rPr sz="3400" b="1">
                <a:solidFill>
                  <a:srgbClr val="000000"/>
                </a:solidFill>
                <a:latin typeface="Calibri"/>
              </a:rPr>
              <a:t>Tablo 6: Lojistik regresyon</a:t>
            </a:r>
          </a:p>
        </p:txBody>
      </p:sp>
      <p:sp>
        <p:nvSpPr>
          <p:cNvPr id="3" name="TextBox 2"/>
          <p:cNvSpPr txBox="1"/>
          <p:nvPr/>
        </p:nvSpPr>
        <p:spPr>
          <a:xfrm>
            <a:off x="548640" y="6400800"/>
            <a:ext cx="10058400" cy="274320"/>
          </a:xfrm>
          <a:prstGeom prst="rect">
            <a:avLst/>
          </a:prstGeom>
          <a:noFill/>
        </p:spPr>
        <p:txBody>
          <a:bodyPr wrap="square" anchor="t" lIns="0" rIns="0" tIns="0" bIns="0">
            <a:spAutoFit/>
          </a:bodyPr>
          <a:lstStyle/>
          <a:p>
            <a:pPr algn="l">
              <a:spcAft>
                <a:spcPts val="800"/>
              </a:spcAft>
            </a:pPr>
            <a:r>
              <a:rPr sz="1100" b="0">
                <a:solidFill>
                  <a:srgbClr val="000000"/>
                </a:solidFill>
                <a:latin typeface="Calibri"/>
              </a:rPr>
              <a:t>Görsel: Cenberlitaş E, Gökçe A, Öztürk O. Turk J Fam Pract. 2026;30(2):97-106, Tablo 6.</a:t>
            </a:r>
          </a:p>
        </p:txBody>
      </p:sp>
      <p:sp>
        <p:nvSpPr>
          <p:cNvPr id="4" name="TextBox 3"/>
          <p:cNvSpPr txBox="1"/>
          <p:nvPr/>
        </p:nvSpPr>
        <p:spPr>
          <a:xfrm>
            <a:off x="11064240" y="6400800"/>
            <a:ext cx="548640" cy="274320"/>
          </a:xfrm>
          <a:prstGeom prst="rect">
            <a:avLst/>
          </a:prstGeom>
          <a:noFill/>
        </p:spPr>
        <p:txBody>
          <a:bodyPr wrap="square" anchor="t" lIns="0" rIns="0" tIns="0" bIns="0">
            <a:spAutoFit/>
          </a:bodyPr>
          <a:lstStyle/>
          <a:p>
            <a:pPr algn="r">
              <a:spcAft>
                <a:spcPts val="800"/>
              </a:spcAft>
            </a:pPr>
            <a:r>
              <a:rPr sz="1200" b="0">
                <a:solidFill>
                  <a:srgbClr val="000000"/>
                </a:solidFill>
                <a:latin typeface="Calibri"/>
              </a:rPr>
              <a:t>19</a:t>
            </a:r>
          </a:p>
        </p:txBody>
      </p:sp>
      <p:pic>
        <p:nvPicPr>
          <p:cNvPr id="5" name="Picture 4" descr="tablo6_gri.png"/>
          <p:cNvPicPr>
            <a:picLocks noChangeAspect="1"/>
          </p:cNvPicPr>
          <p:nvPr/>
        </p:nvPicPr>
        <p:blipFill>
          <a:blip r:embed="rId3"/>
          <a:stretch>
            <a:fillRect/>
          </a:stretch>
        </p:blipFill>
        <p:spPr>
          <a:xfrm>
            <a:off x="548640" y="1325880"/>
            <a:ext cx="7841652" cy="4892040"/>
          </a:xfrm>
          <a:prstGeom prst="rect">
            <a:avLst/>
          </a:prstGeom>
        </p:spPr>
      </p:pic>
      <p:sp>
        <p:nvSpPr>
          <p:cNvPr id="6" name="TextBox 5"/>
          <p:cNvSpPr txBox="1"/>
          <p:nvPr/>
        </p:nvSpPr>
        <p:spPr>
          <a:xfrm>
            <a:off x="8710332" y="1417320"/>
            <a:ext cx="2929979" cy="4754880"/>
          </a:xfrm>
          <a:prstGeom prst="rect">
            <a:avLst/>
          </a:prstGeom>
          <a:noFill/>
        </p:spPr>
        <p:txBody>
          <a:bodyPr wrap="square" anchor="t" lIns="0" rIns="0" tIns="0" bIns="0">
            <a:spAutoFit/>
          </a:bodyPr>
          <a:lstStyle/>
          <a:p>
            <a:pPr algn="l" marL="285750" indent="-285750">
              <a:spcAft>
                <a:spcPts val="1200"/>
              </a:spcAft>
              <a:buFont typeface="Arial"/>
              <a:buChar char="•"/>
            </a:pPr>
            <a:r>
              <a:rPr sz="1800" b="0">
                <a:solidFill>
                  <a:srgbClr val="000000"/>
                </a:solidFill>
                <a:latin typeface="Calibri"/>
              </a:rPr>
              <a:t>Referans: bupropion</a:t>
            </a:r>
          </a:p>
          <a:p>
            <a:pPr algn="l" marL="285750" indent="-285750">
              <a:spcAft>
                <a:spcPts val="1200"/>
              </a:spcAft>
              <a:buFont typeface="Arial"/>
              <a:buChar char="•"/>
            </a:pPr>
            <a:r>
              <a:rPr sz="1800" b="0">
                <a:solidFill>
                  <a:srgbClr val="000000"/>
                </a:solidFill>
                <a:latin typeface="Calibri"/>
              </a:rPr>
              <a:t>Vareniklin, kombine: 4,0 kat</a:t>
            </a:r>
          </a:p>
          <a:p>
            <a:pPr algn="l" marL="285750" indent="-285750">
              <a:spcAft>
                <a:spcPts val="1200"/>
              </a:spcAft>
              <a:buFont typeface="Arial"/>
              <a:buChar char="•"/>
            </a:pPr>
            <a:r>
              <a:rPr sz="1800" b="0">
                <a:solidFill>
                  <a:srgbClr val="000000"/>
                </a:solidFill>
                <a:latin typeface="Calibri"/>
              </a:rPr>
              <a:t>Hanede sigara içen yok: 2,0 kat</a:t>
            </a:r>
          </a:p>
          <a:p>
            <a:pPr algn="l" marL="285750" indent="-285750">
              <a:spcAft>
                <a:spcPts val="1200"/>
              </a:spcAft>
              <a:buFont typeface="Arial"/>
              <a:buChar char="•"/>
            </a:pPr>
            <a:r>
              <a:rPr sz="1800" b="0">
                <a:solidFill>
                  <a:srgbClr val="000000"/>
                </a:solidFill>
                <a:latin typeface="Calibri"/>
              </a:rPr>
              <a:t>Yakınma yok: 1,6 kat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822960"/>
          </a:xfrm>
          <a:prstGeom prst="rect">
            <a:avLst/>
          </a:prstGeom>
          <a:noFill/>
        </p:spPr>
        <p:txBody>
          <a:bodyPr wrap="square" anchor="ctr" lIns="0" rIns="0" tIns="0" bIns="0">
            <a:spAutoFit/>
          </a:bodyPr>
          <a:lstStyle/>
          <a:p>
            <a:pPr algn="l">
              <a:spcAft>
                <a:spcPts val="800"/>
              </a:spcAft>
            </a:pPr>
            <a:r>
              <a:rPr sz="3400" b="1">
                <a:solidFill>
                  <a:srgbClr val="000000"/>
                </a:solidFill>
                <a:latin typeface="Calibri"/>
              </a:rPr>
              <a:t>Tartışma: tedaviler ve literatür</a:t>
            </a:r>
          </a:p>
        </p:txBody>
      </p:sp>
      <p:sp>
        <p:nvSpPr>
          <p:cNvPr id="3" name="TextBox 2"/>
          <p:cNvSpPr txBox="1"/>
          <p:nvPr/>
        </p:nvSpPr>
        <p:spPr>
          <a:xfrm>
            <a:off x="548640" y="6400800"/>
            <a:ext cx="10058400" cy="274320"/>
          </a:xfrm>
          <a:prstGeom prst="rect">
            <a:avLst/>
          </a:prstGeom>
          <a:noFill/>
        </p:spPr>
        <p:txBody>
          <a:bodyPr wrap="square" anchor="t" lIns="0" rIns="0" tIns="0" bIns="0">
            <a:spAutoFit/>
          </a:bodyPr>
          <a:lstStyle/>
          <a:p>
            <a:pPr algn="l">
              <a:spcAft>
                <a:spcPts val="800"/>
              </a:spcAft>
            </a:pPr>
            <a:r>
              <a:rPr sz="1100" b="0">
                <a:solidFill>
                  <a:srgbClr val="000000"/>
                </a:solidFill>
                <a:latin typeface="Calibri"/>
              </a:rPr>
              <a:t>Kaynak: 1, 8–13</a:t>
            </a:r>
          </a:p>
        </p:txBody>
      </p:sp>
      <p:sp>
        <p:nvSpPr>
          <p:cNvPr id="4" name="TextBox 3"/>
          <p:cNvSpPr txBox="1"/>
          <p:nvPr/>
        </p:nvSpPr>
        <p:spPr>
          <a:xfrm>
            <a:off x="11064240" y="6400800"/>
            <a:ext cx="548640" cy="274320"/>
          </a:xfrm>
          <a:prstGeom prst="rect">
            <a:avLst/>
          </a:prstGeom>
          <a:noFill/>
        </p:spPr>
        <p:txBody>
          <a:bodyPr wrap="square" anchor="t" lIns="0" rIns="0" tIns="0" bIns="0">
            <a:spAutoFit/>
          </a:bodyPr>
          <a:lstStyle/>
          <a:p>
            <a:pPr algn="r">
              <a:spcAft>
                <a:spcPts val="800"/>
              </a:spcAft>
            </a:pPr>
            <a:r>
              <a:rPr sz="1200" b="0">
                <a:solidFill>
                  <a:srgbClr val="000000"/>
                </a:solidFill>
                <a:latin typeface="Calibri"/>
              </a:rPr>
              <a:t>20</a:t>
            </a:r>
          </a:p>
        </p:txBody>
      </p:sp>
      <p:sp>
        <p:nvSpPr>
          <p:cNvPr id="5" name="TextBox 4"/>
          <p:cNvSpPr txBox="1"/>
          <p:nvPr/>
        </p:nvSpPr>
        <p:spPr>
          <a:xfrm>
            <a:off x="548640" y="1417320"/>
            <a:ext cx="11064240" cy="4754880"/>
          </a:xfrm>
          <a:prstGeom prst="rect">
            <a:avLst/>
          </a:prstGeom>
          <a:noFill/>
        </p:spPr>
        <p:txBody>
          <a:bodyPr wrap="square" anchor="t" lIns="0" rIns="0" tIns="0" bIns="0">
            <a:spAutoFit/>
          </a:bodyPr>
          <a:lstStyle/>
          <a:p>
            <a:pPr algn="l" marL="285750" indent="-285750">
              <a:spcAft>
                <a:spcPts val="1200"/>
              </a:spcAft>
              <a:buFont typeface="Arial"/>
              <a:buChar char="•"/>
            </a:pPr>
            <a:r>
              <a:rPr sz="2200" b="0">
                <a:solidFill>
                  <a:srgbClr val="000000"/>
                </a:solidFill>
                <a:latin typeface="Calibri"/>
              </a:rPr>
              <a:t>Vareniklin: bupropiona üstün; parsiyel agonist etkiyle açıklanmaktadır [8, 9]</a:t>
            </a:r>
          </a:p>
          <a:p>
            <a:pPr algn="l" marL="285750" indent="-285750">
              <a:spcAft>
                <a:spcPts val="1200"/>
              </a:spcAft>
              <a:buFont typeface="Arial"/>
              <a:buChar char="•"/>
            </a:pPr>
            <a:r>
              <a:rPr sz="2200" b="0">
                <a:solidFill>
                  <a:srgbClr val="000000"/>
                </a:solidFill>
                <a:latin typeface="Calibri"/>
              </a:rPr>
              <a:t>Sitizin: plaseboya üstün; NRT ve vareniklinle benzer [10, 11]</a:t>
            </a:r>
          </a:p>
          <a:p>
            <a:pPr algn="l" marL="285750" indent="-285750">
              <a:spcAft>
                <a:spcPts val="1200"/>
              </a:spcAft>
              <a:buFont typeface="Arial"/>
              <a:buChar char="•"/>
            </a:pPr>
            <a:r>
              <a:rPr sz="2200" b="0">
                <a:solidFill>
                  <a:srgbClr val="000000"/>
                </a:solidFill>
                <a:latin typeface="Calibri"/>
              </a:rPr>
              <a:t>Kombine tedavi: kılavuz önerileriyle uyumlu [12]</a:t>
            </a:r>
          </a:p>
          <a:p>
            <a:pPr algn="l" marL="285750" indent="-285750">
              <a:spcAft>
                <a:spcPts val="1200"/>
              </a:spcAft>
              <a:buFont typeface="Arial"/>
              <a:buChar char="•"/>
            </a:pPr>
            <a:r>
              <a:rPr sz="2200" b="0">
                <a:solidFill>
                  <a:srgbClr val="000000"/>
                </a:solidFill>
                <a:latin typeface="Calibri"/>
              </a:rPr>
              <a:t>Benli ve ark.: vareniklin ilk 6 ayda daha etkili [13]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822960"/>
          </a:xfrm>
          <a:prstGeom prst="rect">
            <a:avLst/>
          </a:prstGeom>
          <a:noFill/>
        </p:spPr>
        <p:txBody>
          <a:bodyPr wrap="square" anchor="ctr" lIns="0" rIns="0" tIns="0" bIns="0">
            <a:spAutoFit/>
          </a:bodyPr>
          <a:lstStyle/>
          <a:p>
            <a:pPr algn="l">
              <a:spcAft>
                <a:spcPts val="800"/>
              </a:spcAft>
            </a:pPr>
            <a:r>
              <a:rPr sz="3400" b="1">
                <a:solidFill>
                  <a:srgbClr val="000000"/>
                </a:solidFill>
                <a:latin typeface="Calibri"/>
              </a:rPr>
              <a:t>Tartışma: başarıyı etkileyen faktörler</a:t>
            </a:r>
          </a:p>
        </p:txBody>
      </p:sp>
      <p:sp>
        <p:nvSpPr>
          <p:cNvPr id="3" name="TextBox 2"/>
          <p:cNvSpPr txBox="1"/>
          <p:nvPr/>
        </p:nvSpPr>
        <p:spPr>
          <a:xfrm>
            <a:off x="548640" y="6400800"/>
            <a:ext cx="10058400" cy="274320"/>
          </a:xfrm>
          <a:prstGeom prst="rect">
            <a:avLst/>
          </a:prstGeom>
          <a:noFill/>
        </p:spPr>
        <p:txBody>
          <a:bodyPr wrap="square" anchor="t" lIns="0" rIns="0" tIns="0" bIns="0">
            <a:spAutoFit/>
          </a:bodyPr>
          <a:lstStyle/>
          <a:p>
            <a:pPr algn="l">
              <a:spcAft>
                <a:spcPts val="800"/>
              </a:spcAft>
            </a:pPr>
            <a:r>
              <a:rPr sz="1100" b="0">
                <a:solidFill>
                  <a:srgbClr val="000000"/>
                </a:solidFill>
                <a:latin typeface="Calibri"/>
              </a:rPr>
              <a:t>Kaynak: 1, 14–16</a:t>
            </a:r>
          </a:p>
        </p:txBody>
      </p:sp>
      <p:sp>
        <p:nvSpPr>
          <p:cNvPr id="4" name="TextBox 3"/>
          <p:cNvSpPr txBox="1"/>
          <p:nvPr/>
        </p:nvSpPr>
        <p:spPr>
          <a:xfrm>
            <a:off x="11064240" y="6400800"/>
            <a:ext cx="548640" cy="274320"/>
          </a:xfrm>
          <a:prstGeom prst="rect">
            <a:avLst/>
          </a:prstGeom>
          <a:noFill/>
        </p:spPr>
        <p:txBody>
          <a:bodyPr wrap="square" anchor="t" lIns="0" rIns="0" tIns="0" bIns="0">
            <a:spAutoFit/>
          </a:bodyPr>
          <a:lstStyle/>
          <a:p>
            <a:pPr algn="r">
              <a:spcAft>
                <a:spcPts val="800"/>
              </a:spcAft>
            </a:pPr>
            <a:r>
              <a:rPr sz="1200" b="0">
                <a:solidFill>
                  <a:srgbClr val="000000"/>
                </a:solidFill>
                <a:latin typeface="Calibri"/>
              </a:rPr>
              <a:t>21</a:t>
            </a:r>
          </a:p>
        </p:txBody>
      </p:sp>
      <p:sp>
        <p:nvSpPr>
          <p:cNvPr id="5" name="TextBox 4"/>
          <p:cNvSpPr txBox="1"/>
          <p:nvPr/>
        </p:nvSpPr>
        <p:spPr>
          <a:xfrm>
            <a:off x="548640" y="1417320"/>
            <a:ext cx="11064240" cy="4754880"/>
          </a:xfrm>
          <a:prstGeom prst="rect">
            <a:avLst/>
          </a:prstGeom>
          <a:noFill/>
        </p:spPr>
        <p:txBody>
          <a:bodyPr wrap="square" anchor="t" lIns="0" rIns="0" tIns="0" bIns="0">
            <a:spAutoFit/>
          </a:bodyPr>
          <a:lstStyle/>
          <a:p>
            <a:pPr algn="l" marL="285750" indent="-285750">
              <a:spcAft>
                <a:spcPts val="1200"/>
              </a:spcAft>
              <a:buFont typeface="Arial"/>
              <a:buChar char="•"/>
            </a:pPr>
            <a:r>
              <a:rPr sz="2200" b="0">
                <a:solidFill>
                  <a:srgbClr val="000000"/>
                </a:solidFill>
                <a:latin typeface="Calibri"/>
              </a:rPr>
              <a:t>Davranışsal destek: görüşme sayısı arttıkça başarı artmaktadır</a:t>
            </a:r>
          </a:p>
          <a:p>
            <a:pPr algn="l" marL="285750" indent="-285750">
              <a:spcAft>
                <a:spcPts val="1200"/>
              </a:spcAft>
              <a:buFont typeface="Arial"/>
              <a:buChar char="•"/>
            </a:pPr>
            <a:r>
              <a:rPr sz="2200" b="0">
                <a:solidFill>
                  <a:srgbClr val="000000"/>
                </a:solidFill>
                <a:latin typeface="Calibri"/>
              </a:rPr>
              <a:t>Hane ortamı: evde sigara içilmemesi olasılığı ikiye katlamaktadır [14]</a:t>
            </a:r>
          </a:p>
          <a:p>
            <a:pPr algn="l" marL="285750" indent="-285750">
              <a:spcAft>
                <a:spcPts val="1200"/>
              </a:spcAft>
              <a:buFont typeface="Arial"/>
              <a:buChar char="•"/>
            </a:pPr>
            <a:r>
              <a:rPr sz="2200" b="0">
                <a:solidFill>
                  <a:srgbClr val="000000"/>
                </a:solidFill>
                <a:latin typeface="Calibri"/>
              </a:rPr>
              <a:t>Bağımlılık düzeyi: ortalama puan literatürle uyumlu; yüksek puan düşük başarıyla ilişkili [15]</a:t>
            </a:r>
          </a:p>
          <a:p>
            <a:pPr algn="l" marL="285750" indent="-285750">
              <a:spcAft>
                <a:spcPts val="1200"/>
              </a:spcAft>
              <a:buFont typeface="Arial"/>
              <a:buChar char="•"/>
            </a:pPr>
            <a:r>
              <a:rPr sz="2200" b="0">
                <a:solidFill>
                  <a:srgbClr val="000000"/>
                </a:solidFill>
                <a:latin typeface="Calibri"/>
              </a:rPr>
              <a:t>İçsel motivasyon: yakınması olmayanlarda başarı daha yüksektir [16]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822960"/>
          </a:xfrm>
          <a:prstGeom prst="rect">
            <a:avLst/>
          </a:prstGeom>
          <a:noFill/>
        </p:spPr>
        <p:txBody>
          <a:bodyPr wrap="square" anchor="ctr" lIns="0" rIns="0" tIns="0" bIns="0">
            <a:spAutoFit/>
          </a:bodyPr>
          <a:lstStyle/>
          <a:p>
            <a:pPr algn="l">
              <a:spcAft>
                <a:spcPts val="800"/>
              </a:spcAft>
            </a:pPr>
            <a:r>
              <a:rPr sz="3400" b="1">
                <a:solidFill>
                  <a:srgbClr val="000000"/>
                </a:solidFill>
                <a:latin typeface="Calibri"/>
              </a:rPr>
              <a:t>Kısıtlılıklar ve güçlü yönler</a:t>
            </a:r>
          </a:p>
        </p:txBody>
      </p:sp>
      <p:sp>
        <p:nvSpPr>
          <p:cNvPr id="3" name="TextBox 2"/>
          <p:cNvSpPr txBox="1"/>
          <p:nvPr/>
        </p:nvSpPr>
        <p:spPr>
          <a:xfrm>
            <a:off x="548640" y="6400800"/>
            <a:ext cx="10058400" cy="274320"/>
          </a:xfrm>
          <a:prstGeom prst="rect">
            <a:avLst/>
          </a:prstGeom>
          <a:noFill/>
        </p:spPr>
        <p:txBody>
          <a:bodyPr wrap="square" anchor="t" lIns="0" rIns="0" tIns="0" bIns="0">
            <a:spAutoFit/>
          </a:bodyPr>
          <a:lstStyle/>
          <a:p>
            <a:pPr algn="l">
              <a:spcAft>
                <a:spcPts val="800"/>
              </a:spcAft>
            </a:pPr>
            <a:r>
              <a:rPr sz="1100" b="0">
                <a:solidFill>
                  <a:srgbClr val="000000"/>
                </a:solidFill>
                <a:latin typeface="Calibri"/>
              </a:rPr>
              <a:t>Kaynak: Cenberlitaş E, Gökçe A, Öztürk O. Turk J Fam Pract. 2026;30(2):97-106.</a:t>
            </a:r>
          </a:p>
        </p:txBody>
      </p:sp>
      <p:sp>
        <p:nvSpPr>
          <p:cNvPr id="4" name="TextBox 3"/>
          <p:cNvSpPr txBox="1"/>
          <p:nvPr/>
        </p:nvSpPr>
        <p:spPr>
          <a:xfrm>
            <a:off x="11064240" y="6400800"/>
            <a:ext cx="548640" cy="274320"/>
          </a:xfrm>
          <a:prstGeom prst="rect">
            <a:avLst/>
          </a:prstGeom>
          <a:noFill/>
        </p:spPr>
        <p:txBody>
          <a:bodyPr wrap="square" anchor="t" lIns="0" rIns="0" tIns="0" bIns="0">
            <a:spAutoFit/>
          </a:bodyPr>
          <a:lstStyle/>
          <a:p>
            <a:pPr algn="r">
              <a:spcAft>
                <a:spcPts val="800"/>
              </a:spcAft>
            </a:pPr>
            <a:r>
              <a:rPr sz="1200" b="0">
                <a:solidFill>
                  <a:srgbClr val="000000"/>
                </a:solidFill>
                <a:latin typeface="Calibri"/>
              </a:rPr>
              <a:t>22</a:t>
            </a:r>
          </a:p>
        </p:txBody>
      </p:sp>
      <p:sp>
        <p:nvSpPr>
          <p:cNvPr id="5" name="TextBox 4"/>
          <p:cNvSpPr txBox="1"/>
          <p:nvPr/>
        </p:nvSpPr>
        <p:spPr>
          <a:xfrm>
            <a:off x="548640" y="1417320"/>
            <a:ext cx="5394960" cy="457200"/>
          </a:xfrm>
          <a:prstGeom prst="rect">
            <a:avLst/>
          </a:prstGeom>
          <a:noFill/>
        </p:spPr>
        <p:txBody>
          <a:bodyPr wrap="square" anchor="t" lIns="0" rIns="0" tIns="0" bIns="0">
            <a:spAutoFit/>
          </a:bodyPr>
          <a:lstStyle/>
          <a:p>
            <a:pPr algn="l">
              <a:spcAft>
                <a:spcPts val="800"/>
              </a:spcAft>
            </a:pPr>
            <a:r>
              <a:rPr sz="2400" b="1">
                <a:solidFill>
                  <a:srgbClr val="000000"/>
                </a:solidFill>
                <a:latin typeface="Calibri"/>
              </a:rPr>
              <a:t>Kısıtlılıklar</a:t>
            </a:r>
          </a:p>
        </p:txBody>
      </p:sp>
      <p:sp>
        <p:nvSpPr>
          <p:cNvPr id="6" name="TextBox 5"/>
          <p:cNvSpPr txBox="1"/>
          <p:nvPr/>
        </p:nvSpPr>
        <p:spPr>
          <a:xfrm>
            <a:off x="548640" y="1965960"/>
            <a:ext cx="5394960" cy="4114800"/>
          </a:xfrm>
          <a:prstGeom prst="rect">
            <a:avLst/>
          </a:prstGeom>
          <a:noFill/>
        </p:spPr>
        <p:txBody>
          <a:bodyPr wrap="square" anchor="t" lIns="0" rIns="0" tIns="0" bIns="0">
            <a:spAutoFit/>
          </a:bodyPr>
          <a:lstStyle/>
          <a:p>
            <a:pPr algn="l" marL="285750" indent="-285750">
              <a:spcAft>
                <a:spcPts val="1200"/>
              </a:spcAft>
              <a:buFont typeface="Arial"/>
              <a:buChar char="•"/>
            </a:pPr>
            <a:r>
              <a:rPr sz="2200" b="0">
                <a:solidFill>
                  <a:srgbClr val="000000"/>
                </a:solidFill>
                <a:latin typeface="Calibri"/>
              </a:rPr>
              <a:t>Asistan rotasyonu</a:t>
            </a:r>
          </a:p>
          <a:p>
            <a:pPr algn="l" marL="285750" indent="-285750">
              <a:spcAft>
                <a:spcPts val="1200"/>
              </a:spcAft>
              <a:buFont typeface="Arial"/>
              <a:buChar char="•"/>
            </a:pPr>
            <a:r>
              <a:rPr sz="2200" b="0">
                <a:solidFill>
                  <a:srgbClr val="000000"/>
                </a:solidFill>
                <a:latin typeface="Calibri"/>
              </a:rPr>
              <a:t>Telefonla tamamlanan veriler</a:t>
            </a:r>
          </a:p>
          <a:p>
            <a:pPr algn="l" marL="285750" indent="-285750">
              <a:spcAft>
                <a:spcPts val="1200"/>
              </a:spcAft>
              <a:buFont typeface="Arial"/>
              <a:buChar char="•"/>
            </a:pPr>
            <a:r>
              <a:rPr sz="2200" b="0">
                <a:solidFill>
                  <a:srgbClr val="000000"/>
                </a:solidFill>
                <a:latin typeface="Calibri"/>
              </a:rPr>
              <a:t>Vareniklinin piyasadan çekilmesi</a:t>
            </a:r>
          </a:p>
        </p:txBody>
      </p:sp>
      <p:sp>
        <p:nvSpPr>
          <p:cNvPr id="7" name="TextBox 6"/>
          <p:cNvSpPr txBox="1"/>
          <p:nvPr/>
        </p:nvSpPr>
        <p:spPr>
          <a:xfrm>
            <a:off x="6263640" y="1417320"/>
            <a:ext cx="5349240" cy="457200"/>
          </a:xfrm>
          <a:prstGeom prst="rect">
            <a:avLst/>
          </a:prstGeom>
          <a:noFill/>
        </p:spPr>
        <p:txBody>
          <a:bodyPr wrap="square" anchor="t" lIns="0" rIns="0" tIns="0" bIns="0">
            <a:spAutoFit/>
          </a:bodyPr>
          <a:lstStyle/>
          <a:p>
            <a:pPr algn="l">
              <a:spcAft>
                <a:spcPts val="800"/>
              </a:spcAft>
            </a:pPr>
            <a:r>
              <a:rPr sz="2400" b="1">
                <a:solidFill>
                  <a:srgbClr val="000000"/>
                </a:solidFill>
                <a:latin typeface="Calibri"/>
              </a:rPr>
              <a:t>Güçlü yönler</a:t>
            </a:r>
          </a:p>
        </p:txBody>
      </p:sp>
      <p:sp>
        <p:nvSpPr>
          <p:cNvPr id="8" name="TextBox 7"/>
          <p:cNvSpPr txBox="1"/>
          <p:nvPr/>
        </p:nvSpPr>
        <p:spPr>
          <a:xfrm>
            <a:off x="6263640" y="1965960"/>
            <a:ext cx="5349240" cy="4114800"/>
          </a:xfrm>
          <a:prstGeom prst="rect">
            <a:avLst/>
          </a:prstGeom>
          <a:noFill/>
        </p:spPr>
        <p:txBody>
          <a:bodyPr wrap="square" anchor="t" lIns="0" rIns="0" tIns="0" bIns="0">
            <a:spAutoFit/>
          </a:bodyPr>
          <a:lstStyle/>
          <a:p>
            <a:pPr algn="l" marL="285750" indent="-285750">
              <a:spcAft>
                <a:spcPts val="1200"/>
              </a:spcAft>
              <a:buFont typeface="Arial"/>
              <a:buChar char="•"/>
            </a:pPr>
            <a:r>
              <a:rPr sz="2200" b="0">
                <a:solidFill>
                  <a:srgbClr val="000000"/>
                </a:solidFill>
                <a:latin typeface="Calibri"/>
              </a:rPr>
              <a:t>Sitizin ile ilk erişilebilir tez çalışması</a:t>
            </a:r>
          </a:p>
          <a:p>
            <a:pPr algn="l" marL="285750" indent="-285750">
              <a:spcAft>
                <a:spcPts val="1200"/>
              </a:spcAft>
              <a:buFont typeface="Arial"/>
              <a:buChar char="•"/>
            </a:pPr>
            <a:r>
              <a:rPr sz="2200" b="0">
                <a:solidFill>
                  <a:srgbClr val="000000"/>
                </a:solidFill>
                <a:latin typeface="Calibri"/>
              </a:rPr>
              <a:t>Birçok tedavi seçeneğini kapsaması</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822960"/>
          </a:xfrm>
          <a:prstGeom prst="rect">
            <a:avLst/>
          </a:prstGeom>
          <a:noFill/>
        </p:spPr>
        <p:txBody>
          <a:bodyPr wrap="square" anchor="ctr" lIns="0" rIns="0" tIns="0" bIns="0">
            <a:spAutoFit/>
          </a:bodyPr>
          <a:lstStyle/>
          <a:p>
            <a:pPr algn="l">
              <a:spcAft>
                <a:spcPts val="800"/>
              </a:spcAft>
            </a:pPr>
            <a:r>
              <a:rPr sz="3400" b="1">
                <a:solidFill>
                  <a:srgbClr val="000000"/>
                </a:solidFill>
                <a:latin typeface="Calibri"/>
              </a:rPr>
              <a:t>Sonuç ve öneriler</a:t>
            </a:r>
          </a:p>
        </p:txBody>
      </p:sp>
      <p:sp>
        <p:nvSpPr>
          <p:cNvPr id="3" name="TextBox 2"/>
          <p:cNvSpPr txBox="1"/>
          <p:nvPr/>
        </p:nvSpPr>
        <p:spPr>
          <a:xfrm>
            <a:off x="548640" y="6400800"/>
            <a:ext cx="10058400" cy="274320"/>
          </a:xfrm>
          <a:prstGeom prst="rect">
            <a:avLst/>
          </a:prstGeom>
          <a:noFill/>
        </p:spPr>
        <p:txBody>
          <a:bodyPr wrap="square" anchor="t" lIns="0" rIns="0" tIns="0" bIns="0">
            <a:spAutoFit/>
          </a:bodyPr>
          <a:lstStyle/>
          <a:p>
            <a:pPr algn="l">
              <a:spcAft>
                <a:spcPts val="800"/>
              </a:spcAft>
            </a:pPr>
            <a:r>
              <a:rPr sz="1100" b="0">
                <a:solidFill>
                  <a:srgbClr val="000000"/>
                </a:solidFill>
                <a:latin typeface="Calibri"/>
              </a:rPr>
              <a:t>Kaynak: Cenberlitaş E, Gökçe A, Öztürk O. Turk J Fam Pract. 2026;30(2):97-106.</a:t>
            </a:r>
          </a:p>
        </p:txBody>
      </p:sp>
      <p:sp>
        <p:nvSpPr>
          <p:cNvPr id="4" name="TextBox 3"/>
          <p:cNvSpPr txBox="1"/>
          <p:nvPr/>
        </p:nvSpPr>
        <p:spPr>
          <a:xfrm>
            <a:off x="11064240" y="6400800"/>
            <a:ext cx="548640" cy="274320"/>
          </a:xfrm>
          <a:prstGeom prst="rect">
            <a:avLst/>
          </a:prstGeom>
          <a:noFill/>
        </p:spPr>
        <p:txBody>
          <a:bodyPr wrap="square" anchor="t" lIns="0" rIns="0" tIns="0" bIns="0">
            <a:spAutoFit/>
          </a:bodyPr>
          <a:lstStyle/>
          <a:p>
            <a:pPr algn="r">
              <a:spcAft>
                <a:spcPts val="800"/>
              </a:spcAft>
            </a:pPr>
            <a:r>
              <a:rPr sz="1200" b="0">
                <a:solidFill>
                  <a:srgbClr val="000000"/>
                </a:solidFill>
                <a:latin typeface="Calibri"/>
              </a:rPr>
              <a:t>23</a:t>
            </a:r>
          </a:p>
        </p:txBody>
      </p:sp>
      <p:sp>
        <p:nvSpPr>
          <p:cNvPr id="5" name="TextBox 4"/>
          <p:cNvSpPr txBox="1"/>
          <p:nvPr/>
        </p:nvSpPr>
        <p:spPr>
          <a:xfrm>
            <a:off x="548640" y="1417320"/>
            <a:ext cx="11064240" cy="4754880"/>
          </a:xfrm>
          <a:prstGeom prst="rect">
            <a:avLst/>
          </a:prstGeom>
          <a:noFill/>
        </p:spPr>
        <p:txBody>
          <a:bodyPr wrap="square" anchor="t" lIns="0" rIns="0" tIns="0" bIns="0">
            <a:spAutoFit/>
          </a:bodyPr>
          <a:lstStyle/>
          <a:p>
            <a:pPr algn="l" marL="285750" indent="-285750">
              <a:spcAft>
                <a:spcPts val="1200"/>
              </a:spcAft>
              <a:buFont typeface="Arial"/>
              <a:buChar char="•"/>
            </a:pPr>
            <a:r>
              <a:rPr sz="2200" b="0">
                <a:solidFill>
                  <a:srgbClr val="000000"/>
                </a:solidFill>
                <a:latin typeface="Calibri"/>
              </a:rPr>
              <a:t>Hastaların üçte biri sigarayı bırakmıştır</a:t>
            </a:r>
          </a:p>
          <a:p>
            <a:pPr algn="l" marL="285750" indent="-285750">
              <a:spcAft>
                <a:spcPts val="1200"/>
              </a:spcAft>
              <a:buFont typeface="Arial"/>
              <a:buChar char="•"/>
            </a:pPr>
            <a:r>
              <a:rPr sz="2200" b="0">
                <a:solidFill>
                  <a:srgbClr val="000000"/>
                </a:solidFill>
                <a:latin typeface="Calibri"/>
              </a:rPr>
              <a:t>Kombine tedavide bırakma oranı daha yüksektir</a:t>
            </a:r>
          </a:p>
          <a:p>
            <a:pPr algn="l" marL="285750" indent="-285750">
              <a:spcAft>
                <a:spcPts val="1200"/>
              </a:spcAft>
              <a:buFont typeface="Arial"/>
              <a:buChar char="•"/>
            </a:pPr>
            <a:r>
              <a:rPr sz="2200" b="0">
                <a:solidFill>
                  <a:srgbClr val="000000"/>
                </a:solidFill>
                <a:latin typeface="Calibri"/>
              </a:rPr>
              <a:t>Tedaviye uyum arttıkça başarı artmaktadır</a:t>
            </a:r>
          </a:p>
          <a:p>
            <a:pPr algn="l" marL="285750" indent="-285750">
              <a:spcAft>
                <a:spcPts val="1200"/>
              </a:spcAft>
              <a:buFont typeface="Arial"/>
              <a:buChar char="•"/>
            </a:pPr>
            <a:r>
              <a:rPr sz="2200" b="0">
                <a:solidFill>
                  <a:srgbClr val="000000"/>
                </a:solidFill>
                <a:latin typeface="Calibri"/>
              </a:rPr>
              <a:t>Öneri: tedavi seanslarında motivasyonu artırmaya yönelik çabalar yoğunlaştırılmalıdır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822960"/>
          </a:xfrm>
          <a:prstGeom prst="rect">
            <a:avLst/>
          </a:prstGeom>
          <a:noFill/>
        </p:spPr>
        <p:txBody>
          <a:bodyPr wrap="square" anchor="ctr" lIns="0" rIns="0" tIns="0" bIns="0">
            <a:spAutoFit/>
          </a:bodyPr>
          <a:lstStyle/>
          <a:p>
            <a:pPr algn="l">
              <a:spcAft>
                <a:spcPts val="800"/>
              </a:spcAft>
            </a:pPr>
            <a:r>
              <a:rPr sz="3400" b="1">
                <a:solidFill>
                  <a:srgbClr val="000000"/>
                </a:solidFill>
                <a:latin typeface="Calibri"/>
              </a:rPr>
              <a:t>Akılda kalacak mesajlar</a:t>
            </a:r>
          </a:p>
        </p:txBody>
      </p:sp>
      <p:sp>
        <p:nvSpPr>
          <p:cNvPr id="3" name="TextBox 2"/>
          <p:cNvSpPr txBox="1"/>
          <p:nvPr/>
        </p:nvSpPr>
        <p:spPr>
          <a:xfrm>
            <a:off x="548640" y="6400800"/>
            <a:ext cx="10058400" cy="274320"/>
          </a:xfrm>
          <a:prstGeom prst="rect">
            <a:avLst/>
          </a:prstGeom>
          <a:noFill/>
        </p:spPr>
        <p:txBody>
          <a:bodyPr wrap="square" anchor="t" lIns="0" rIns="0" tIns="0" bIns="0">
            <a:spAutoFit/>
          </a:bodyPr>
          <a:lstStyle/>
          <a:p>
            <a:pPr algn="l">
              <a:spcAft>
                <a:spcPts val="800"/>
              </a:spcAft>
            </a:pPr>
            <a:r>
              <a:rPr sz="1100" b="0">
                <a:solidFill>
                  <a:srgbClr val="000000"/>
                </a:solidFill>
                <a:latin typeface="Calibri"/>
              </a:rPr>
              <a:t>Kaynak: Cenberlitaş E, Gökçe A, Öztürk O. Turk J Fam Pract. 2026;30(2):97-106.</a:t>
            </a:r>
          </a:p>
        </p:txBody>
      </p:sp>
      <p:sp>
        <p:nvSpPr>
          <p:cNvPr id="4" name="TextBox 3"/>
          <p:cNvSpPr txBox="1"/>
          <p:nvPr/>
        </p:nvSpPr>
        <p:spPr>
          <a:xfrm>
            <a:off x="11064240" y="6400800"/>
            <a:ext cx="548640" cy="274320"/>
          </a:xfrm>
          <a:prstGeom prst="rect">
            <a:avLst/>
          </a:prstGeom>
          <a:noFill/>
        </p:spPr>
        <p:txBody>
          <a:bodyPr wrap="square" anchor="t" lIns="0" rIns="0" tIns="0" bIns="0">
            <a:spAutoFit/>
          </a:bodyPr>
          <a:lstStyle/>
          <a:p>
            <a:pPr algn="r">
              <a:spcAft>
                <a:spcPts val="800"/>
              </a:spcAft>
            </a:pPr>
            <a:r>
              <a:rPr sz="1200" b="0">
                <a:solidFill>
                  <a:srgbClr val="000000"/>
                </a:solidFill>
                <a:latin typeface="Calibri"/>
              </a:rPr>
              <a:t>24</a:t>
            </a:r>
          </a:p>
        </p:txBody>
      </p:sp>
      <p:sp>
        <p:nvSpPr>
          <p:cNvPr id="5" name="TextBox 4"/>
          <p:cNvSpPr txBox="1"/>
          <p:nvPr/>
        </p:nvSpPr>
        <p:spPr>
          <a:xfrm>
            <a:off x="548640" y="1417320"/>
            <a:ext cx="11064240" cy="4754880"/>
          </a:xfrm>
          <a:prstGeom prst="rect">
            <a:avLst/>
          </a:prstGeom>
          <a:noFill/>
        </p:spPr>
        <p:txBody>
          <a:bodyPr wrap="square" anchor="t" lIns="0" rIns="0" tIns="0" bIns="0">
            <a:spAutoFit/>
          </a:bodyPr>
          <a:lstStyle/>
          <a:p>
            <a:pPr algn="l" marL="285750" indent="-285750">
              <a:spcAft>
                <a:spcPts val="1200"/>
              </a:spcAft>
              <a:buFont typeface="Arial"/>
              <a:buChar char="•"/>
            </a:pPr>
            <a:r>
              <a:rPr sz="2200" b="0">
                <a:solidFill>
                  <a:srgbClr val="000000"/>
                </a:solidFill>
                <a:latin typeface="Calibri"/>
              </a:rPr>
              <a:t>Hastaların üçte biri sigarayı bırakmıştır</a:t>
            </a:r>
          </a:p>
          <a:p>
            <a:pPr algn="l" marL="285750" indent="-285750">
              <a:spcAft>
                <a:spcPts val="1200"/>
              </a:spcAft>
              <a:buFont typeface="Arial"/>
              <a:buChar char="•"/>
            </a:pPr>
            <a:r>
              <a:rPr sz="2200" b="0">
                <a:solidFill>
                  <a:srgbClr val="000000"/>
                </a:solidFill>
                <a:latin typeface="Calibri"/>
              </a:rPr>
              <a:t>Kombine tedavide başarı daha yüksektir</a:t>
            </a:r>
          </a:p>
          <a:p>
            <a:pPr algn="l" marL="285750" indent="-285750">
              <a:spcAft>
                <a:spcPts val="1200"/>
              </a:spcAft>
              <a:buFont typeface="Arial"/>
              <a:buChar char="•"/>
            </a:pPr>
            <a:r>
              <a:rPr sz="2200" b="0">
                <a:solidFill>
                  <a:srgbClr val="000000"/>
                </a:solidFill>
                <a:latin typeface="Calibri"/>
              </a:rPr>
              <a:t>En düşük başarı bupropion monoterapisindedir</a:t>
            </a:r>
          </a:p>
          <a:p>
            <a:pPr algn="l" marL="285750" indent="-285750">
              <a:spcAft>
                <a:spcPts val="1200"/>
              </a:spcAft>
              <a:buFont typeface="Arial"/>
              <a:buChar char="•"/>
            </a:pPr>
            <a:r>
              <a:rPr sz="2200" b="0">
                <a:solidFill>
                  <a:srgbClr val="000000"/>
                </a:solidFill>
                <a:latin typeface="Calibri"/>
              </a:rPr>
              <a:t>Hanede sigara içen olması başarıyı azaltmaktadır</a:t>
            </a:r>
          </a:p>
          <a:p>
            <a:pPr algn="l" marL="285750" indent="-285750">
              <a:spcAft>
                <a:spcPts val="1200"/>
              </a:spcAft>
              <a:buFont typeface="Arial"/>
              <a:buChar char="•"/>
            </a:pPr>
            <a:r>
              <a:rPr sz="2200" b="0">
                <a:solidFill>
                  <a:srgbClr val="000000"/>
                </a:solidFill>
                <a:latin typeface="Calibri"/>
              </a:rPr>
              <a:t>Sık takip başarıyla ilişkilidir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822960"/>
          </a:xfrm>
          <a:prstGeom prst="rect">
            <a:avLst/>
          </a:prstGeom>
          <a:noFill/>
        </p:spPr>
        <p:txBody>
          <a:bodyPr wrap="square" anchor="ctr" lIns="0" rIns="0" tIns="0" bIns="0">
            <a:spAutoFit/>
          </a:bodyPr>
          <a:lstStyle/>
          <a:p>
            <a:pPr algn="l">
              <a:spcAft>
                <a:spcPts val="800"/>
              </a:spcAft>
            </a:pPr>
            <a:r>
              <a:rPr sz="3400" b="1">
                <a:solidFill>
                  <a:srgbClr val="000000"/>
                </a:solidFill>
                <a:latin typeface="Calibri"/>
              </a:rPr>
              <a:t>Kaynaklar</a:t>
            </a:r>
          </a:p>
        </p:txBody>
      </p:sp>
      <p:sp>
        <p:nvSpPr>
          <p:cNvPr id="3" name="TextBox 2"/>
          <p:cNvSpPr txBox="1"/>
          <p:nvPr/>
        </p:nvSpPr>
        <p:spPr>
          <a:xfrm>
            <a:off x="11064240" y="6400800"/>
            <a:ext cx="548640" cy="274320"/>
          </a:xfrm>
          <a:prstGeom prst="rect">
            <a:avLst/>
          </a:prstGeom>
          <a:noFill/>
        </p:spPr>
        <p:txBody>
          <a:bodyPr wrap="square" anchor="t" lIns="0" rIns="0" tIns="0" bIns="0">
            <a:spAutoFit/>
          </a:bodyPr>
          <a:lstStyle/>
          <a:p>
            <a:pPr algn="r">
              <a:spcAft>
                <a:spcPts val="800"/>
              </a:spcAft>
            </a:pPr>
            <a:r>
              <a:rPr sz="1200" b="0">
                <a:solidFill>
                  <a:srgbClr val="000000"/>
                </a:solidFill>
                <a:latin typeface="Calibri"/>
              </a:rPr>
              <a:t>25</a:t>
            </a:r>
          </a:p>
        </p:txBody>
      </p:sp>
      <p:sp>
        <p:nvSpPr>
          <p:cNvPr id="4" name="TextBox 3"/>
          <p:cNvSpPr txBox="1"/>
          <p:nvPr/>
        </p:nvSpPr>
        <p:spPr>
          <a:xfrm>
            <a:off x="548640" y="1280160"/>
            <a:ext cx="5440680" cy="5029200"/>
          </a:xfrm>
          <a:prstGeom prst="rect">
            <a:avLst/>
          </a:prstGeom>
          <a:noFill/>
        </p:spPr>
        <p:txBody>
          <a:bodyPr wrap="square" anchor="t" lIns="0" rIns="0" tIns="0" bIns="0">
            <a:spAutoFit/>
          </a:bodyPr>
          <a:lstStyle/>
          <a:p>
            <a:pPr algn="l">
              <a:spcAft>
                <a:spcPts val="400"/>
              </a:spcAft>
            </a:pPr>
            <a:r>
              <a:rPr sz="1100" b="0">
                <a:solidFill>
                  <a:srgbClr val="000000"/>
                </a:solidFill>
                <a:latin typeface="Calibri"/>
              </a:rPr>
              <a:t>1. Cenberlitaş E, Gökçe A, Öztürk O. Demographic and clinical characteristics of patients applying to a smoking cessation clinic affiliated with a university hospital and factors affecting their smoking cessation status. Turk J Fam Pract. 2026;30(2):97-106.</a:t>
            </a:r>
          </a:p>
          <a:p>
            <a:pPr algn="l">
              <a:spcAft>
                <a:spcPts val="400"/>
              </a:spcAft>
            </a:pPr>
            <a:r>
              <a:rPr sz="1100" b="0">
                <a:solidFill>
                  <a:srgbClr val="000000"/>
                </a:solidFill>
                <a:latin typeface="Calibri"/>
              </a:rPr>
              <a:t>2. Summers AD, Sirin H, Palipudi K, Erguder T, Ciobanu A, Ahluwalia IB. Changes in prevalence and predictors of tobacco smoking and interest in smoking cessation in Turkey: evidence from the Global Adult Tobacco Survey, 2008-2016. Tob Prev Cessat. 2022;8:35.</a:t>
            </a:r>
          </a:p>
          <a:p>
            <a:pPr algn="l">
              <a:spcAft>
                <a:spcPts val="400"/>
              </a:spcAft>
            </a:pPr>
            <a:r>
              <a:rPr sz="1100" b="0">
                <a:solidFill>
                  <a:srgbClr val="000000"/>
                </a:solidFill>
                <a:latin typeface="Calibri"/>
              </a:rPr>
              <a:t>3. Sigarayı bırakma polikliniklerinden 2,5 milyon kişi hizmet aldı [İnternet]. Anadolu Ajansı. Erişim: 25.09.2025. https://www.aa.com.tr/tr/saglik/sigarayi-birakma-polikliniklerinden-2-5-milyon-kisi-hizmet-aldi/1533870</a:t>
            </a:r>
          </a:p>
          <a:p>
            <a:pPr algn="l">
              <a:spcAft>
                <a:spcPts val="400"/>
              </a:spcAft>
            </a:pPr>
            <a:r>
              <a:rPr sz="1100" b="0">
                <a:solidFill>
                  <a:srgbClr val="000000"/>
                </a:solidFill>
                <a:latin typeface="Calibri"/>
              </a:rPr>
              <a:t>4. Fidanci I, Ozturk O, Unal M. Transtheoretic Model in smoking cessation. J Exp Clin Med. 2017;34(1):9-13.</a:t>
            </a:r>
          </a:p>
          <a:p>
            <a:pPr algn="l">
              <a:spcAft>
                <a:spcPts val="400"/>
              </a:spcAft>
            </a:pPr>
            <a:r>
              <a:rPr sz="1100" b="0">
                <a:solidFill>
                  <a:srgbClr val="000000"/>
                </a:solidFill>
                <a:latin typeface="Calibri"/>
              </a:rPr>
              <a:t>5. McDonough M. Update on medicines for smoking cessation. Aust Prescr. 2015;38(4):106-11.</a:t>
            </a:r>
          </a:p>
          <a:p>
            <a:pPr algn="l">
              <a:spcAft>
                <a:spcPts val="400"/>
              </a:spcAft>
            </a:pPr>
            <a:r>
              <a:rPr sz="1100" b="0">
                <a:solidFill>
                  <a:srgbClr val="000000"/>
                </a:solidFill>
                <a:latin typeface="Calibri"/>
              </a:rPr>
              <a:t>6. Heatherton TF, Kozlowski LT, Frecker RC, Fagerström KO. The Fagerström test for nicotine dependence: a revision of the Fagerström Tolerance Questionnaire. Br J Addict. 1991;86(9):1119-27.</a:t>
            </a:r>
          </a:p>
          <a:p>
            <a:pPr algn="l">
              <a:spcAft>
                <a:spcPts val="400"/>
              </a:spcAft>
            </a:pPr>
            <a:r>
              <a:rPr sz="1100" b="0">
                <a:solidFill>
                  <a:srgbClr val="000000"/>
                </a:solidFill>
                <a:latin typeface="Calibri"/>
              </a:rPr>
              <a:t>7. Uysal M, Kadakal F, Karşıdağ Ç, Bayram N, Uysal O, Yilmaz V. Fagerström test for nicotine dependence: reliability in a Turkish sample and factor analysis. Tuberk Toraks. 2004;52(2):175-82.</a:t>
            </a:r>
          </a:p>
          <a:p>
            <a:pPr algn="l">
              <a:spcAft>
                <a:spcPts val="400"/>
              </a:spcAft>
            </a:pPr>
            <a:r>
              <a:rPr sz="1100" b="0">
                <a:solidFill>
                  <a:srgbClr val="000000"/>
                </a:solidFill>
                <a:latin typeface="Calibri"/>
              </a:rPr>
              <a:t>8. Cahill K, Stevens S, Perera R, Lancaster T. Pharmacological interventions for smoking cessation: an overview and network meta-analysis. Cochrane Database Syst Rev. 2013;(5):CD009329.</a:t>
            </a:r>
          </a:p>
        </p:txBody>
      </p:sp>
      <p:sp>
        <p:nvSpPr>
          <p:cNvPr id="5" name="TextBox 4"/>
          <p:cNvSpPr txBox="1"/>
          <p:nvPr/>
        </p:nvSpPr>
        <p:spPr>
          <a:xfrm>
            <a:off x="6263640" y="1280160"/>
            <a:ext cx="5349240" cy="5029200"/>
          </a:xfrm>
          <a:prstGeom prst="rect">
            <a:avLst/>
          </a:prstGeom>
          <a:noFill/>
        </p:spPr>
        <p:txBody>
          <a:bodyPr wrap="square" anchor="t" lIns="0" rIns="0" tIns="0" bIns="0">
            <a:spAutoFit/>
          </a:bodyPr>
          <a:lstStyle/>
          <a:p>
            <a:pPr algn="l">
              <a:spcAft>
                <a:spcPts val="400"/>
              </a:spcAft>
            </a:pPr>
            <a:r>
              <a:rPr sz="1100" b="0">
                <a:solidFill>
                  <a:srgbClr val="000000"/>
                </a:solidFill>
                <a:latin typeface="Calibri"/>
              </a:rPr>
              <a:t>9. Anthenelli RM, Benowitz NL, West R, et al. Neuropsychiatric safety and efficacy of varenicline, bupropion, and nicotine patch in smokers with and without psychiatric disorders (EAGLES). Lancet. 2016;387(10037):2507-20.</a:t>
            </a:r>
          </a:p>
          <a:p>
            <a:pPr algn="l">
              <a:spcAft>
                <a:spcPts val="400"/>
              </a:spcAft>
            </a:pPr>
            <a:r>
              <a:rPr sz="1100" b="0">
                <a:solidFill>
                  <a:srgbClr val="000000"/>
                </a:solidFill>
                <a:latin typeface="Calibri"/>
              </a:rPr>
              <a:t>10. Walker N, Howe C, Glover M, et al. Cytisine versus nicotine for smoking cessation. N Engl J Med. 2014;371(25):2353-62.</a:t>
            </a:r>
          </a:p>
          <a:p>
            <a:pPr algn="l">
              <a:spcAft>
                <a:spcPts val="400"/>
              </a:spcAft>
            </a:pPr>
            <a:r>
              <a:rPr sz="1100" b="0">
                <a:solidFill>
                  <a:srgbClr val="000000"/>
                </a:solidFill>
                <a:latin typeface="Calibri"/>
              </a:rPr>
              <a:t>11. Courtney RJ, McRobbie H, Tutka P, et al. Effect of cytisine vs varenicline on smoking cessation: a randomized clinical trial. JAMA. 2021;326(1):56-64.</a:t>
            </a:r>
          </a:p>
          <a:p>
            <a:pPr algn="l">
              <a:spcAft>
                <a:spcPts val="400"/>
              </a:spcAft>
            </a:pPr>
            <a:r>
              <a:rPr sz="1100" b="0">
                <a:solidFill>
                  <a:srgbClr val="000000"/>
                </a:solidFill>
                <a:latin typeface="Calibri"/>
              </a:rPr>
              <a:t>12. Koegelenberg CFN, Noor F, Bateman ED, et al. Efficacy of varenicline combined with nicotine replacement therapy vs varenicline alone for smoking cessation: a randomized clinical trial. JAMA. 2014;312(2):155-61.</a:t>
            </a:r>
          </a:p>
          <a:p>
            <a:pPr algn="l">
              <a:spcAft>
                <a:spcPts val="400"/>
              </a:spcAft>
            </a:pPr>
            <a:r>
              <a:rPr sz="1100" b="0">
                <a:solidFill>
                  <a:srgbClr val="000000"/>
                </a:solidFill>
                <a:latin typeface="Calibri"/>
              </a:rPr>
              <a:t>13. Benli AR, Erturhan S, Oruc MA, Kalpakci P, Sunay D, Demirel Y. A comparison of the efficacy of varenicline and bupropion and an evaluation of the effect of the medications in the context of the smoking cessation programme. Tob Induc Dis. 2017;15:10.</a:t>
            </a:r>
          </a:p>
          <a:p>
            <a:pPr algn="l">
              <a:spcAft>
                <a:spcPts val="400"/>
              </a:spcAft>
            </a:pPr>
            <a:r>
              <a:rPr sz="1100" b="0">
                <a:solidFill>
                  <a:srgbClr val="000000"/>
                </a:solidFill>
                <a:latin typeface="Calibri"/>
              </a:rPr>
              <a:t>14. Park EW, Schultz JK, Tudiver F, Campbell T, Becker L. Enhancing partner support to improve smoking cessation. Cochrane Database Syst Rev. 2004;(3):CD002928.</a:t>
            </a:r>
          </a:p>
          <a:p>
            <a:pPr algn="l">
              <a:spcAft>
                <a:spcPts val="400"/>
              </a:spcAft>
            </a:pPr>
            <a:r>
              <a:rPr sz="1100" b="0">
                <a:solidFill>
                  <a:srgbClr val="000000"/>
                </a:solidFill>
                <a:latin typeface="Calibri"/>
              </a:rPr>
              <a:t>15. Davis JM, Masclans L, Rose JE. Adaptive smoking cessation using precessation varenicline or nicotine patch: a randomized clinical trial. JAMA Netw Open. 2023;6(9):e2332214.</a:t>
            </a:r>
          </a:p>
          <a:p>
            <a:pPr algn="l">
              <a:spcAft>
                <a:spcPts val="400"/>
              </a:spcAft>
            </a:pPr>
            <a:r>
              <a:rPr sz="1100" b="0">
                <a:solidFill>
                  <a:srgbClr val="000000"/>
                </a:solidFill>
                <a:latin typeface="Calibri"/>
              </a:rPr>
              <a:t>16. Curry S, Wagner EH, Grothaus LC. Intrinsic and extrinsic motivation for smoking cessation. J Consult Clin Psychol. 1990;58(3):310-6.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064240" y="6400800"/>
            <a:ext cx="548640" cy="274320"/>
          </a:xfrm>
          <a:prstGeom prst="rect">
            <a:avLst/>
          </a:prstGeom>
          <a:noFill/>
        </p:spPr>
        <p:txBody>
          <a:bodyPr wrap="square" anchor="t" lIns="0" rIns="0" tIns="0" bIns="0">
            <a:spAutoFit/>
          </a:bodyPr>
          <a:lstStyle/>
          <a:p>
            <a:pPr algn="r">
              <a:spcAft>
                <a:spcPts val="800"/>
              </a:spcAft>
            </a:pPr>
            <a:r>
              <a:rPr sz="1200" b="0">
                <a:solidFill>
                  <a:srgbClr val="000000"/>
                </a:solidFill>
                <a:latin typeface="Calibri"/>
              </a:rPr>
              <a:t>26</a:t>
            </a:r>
          </a:p>
        </p:txBody>
      </p:sp>
      <p:sp>
        <p:nvSpPr>
          <p:cNvPr id="3" name="TextBox 2"/>
          <p:cNvSpPr txBox="1"/>
          <p:nvPr/>
        </p:nvSpPr>
        <p:spPr>
          <a:xfrm>
            <a:off x="731520" y="2103120"/>
            <a:ext cx="10698480" cy="1097280"/>
          </a:xfrm>
          <a:prstGeom prst="rect">
            <a:avLst/>
          </a:prstGeom>
          <a:noFill/>
        </p:spPr>
        <p:txBody>
          <a:bodyPr wrap="square" anchor="t" lIns="0" rIns="0" tIns="0" bIns="0">
            <a:spAutoFit/>
          </a:bodyPr>
          <a:lstStyle/>
          <a:p>
            <a:pPr algn="l">
              <a:spcAft>
                <a:spcPts val="800"/>
              </a:spcAft>
            </a:pPr>
            <a:r>
              <a:rPr sz="3600" b="1">
                <a:solidFill>
                  <a:srgbClr val="000000"/>
                </a:solidFill>
                <a:latin typeface="Calibri"/>
              </a:rPr>
              <a:t>İlginiz ve katkılarınız için teşekkür ederim</a:t>
            </a:r>
          </a:p>
        </p:txBody>
      </p:sp>
      <p:sp>
        <p:nvSpPr>
          <p:cNvPr id="4" name="TextBox 3"/>
          <p:cNvSpPr txBox="1"/>
          <p:nvPr/>
        </p:nvSpPr>
        <p:spPr>
          <a:xfrm>
            <a:off x="731520" y="3474720"/>
            <a:ext cx="10698480" cy="548640"/>
          </a:xfrm>
          <a:prstGeom prst="rect">
            <a:avLst/>
          </a:prstGeom>
          <a:noFill/>
        </p:spPr>
        <p:txBody>
          <a:bodyPr wrap="square" anchor="t" lIns="0" rIns="0" tIns="0" bIns="0">
            <a:spAutoFit/>
          </a:bodyPr>
          <a:lstStyle/>
          <a:p>
            <a:pPr algn="l">
              <a:spcAft>
                <a:spcPts val="800"/>
              </a:spcAft>
            </a:pPr>
            <a:r>
              <a:rPr sz="2200" b="0">
                <a:solidFill>
                  <a:srgbClr val="000000"/>
                </a:solidFill>
                <a:latin typeface="Calibri"/>
              </a:rPr>
              <a:t>Dr. Ahmet KIRAN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