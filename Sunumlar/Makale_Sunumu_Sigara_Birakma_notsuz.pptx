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4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CBD3B5D9-2F93-2580-60F6-41F54A367A1E}">
          <p14:sldIdLst>
            <p14:sldId id="256"/>
            <p14:sldId id="284"/>
            <p14:sldId id="257"/>
            <p14:sldId id="260"/>
            <p14:sldId id="261"/>
            <p14:sldId id="262"/>
          </p14:sldIdLst>
        </p14:section>
        <p14:section name="Gereç ve yöntem" id="{04071607-34FB-0E23-AD47-B8414C83E64F}">
          <p14:sldIdLst>
            <p14:sldId id="263"/>
            <p14:sldId id="264"/>
            <p14:sldId id="265"/>
            <p14:sldId id="266"/>
          </p14:sldIdLst>
        </p14:section>
        <p14:section name="Bulgular" id="{68D7AA3F-A07B-6D95-8EB4-AFF56FC4ECE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Tartışma" id="{0B6DA766-F717-08AA-80F2-D174BC057A12}">
          <p14:sldIdLst>
            <p14:sldId id="276"/>
            <p14:sldId id="277"/>
            <p14:sldId id="278"/>
          </p14:sldIdLst>
        </p14:section>
        <p14:section name="Sonuç" id="{D7D5B8D7-35CC-0BDF-FC0E-24C71FE0EBF6}">
          <p14:sldIdLst>
            <p14:sldId id="279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64744" autoAdjust="0"/>
  </p:normalViewPr>
  <p:slideViewPr>
    <p:cSldViewPr snapToGrid="0" snapToObjects="1">
      <p:cViewPr varScale="1">
        <p:scale>
          <a:sx n="48" d="100"/>
          <a:sy n="48" d="100"/>
        </p:scale>
        <p:origin x="67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704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280160"/>
            <a:ext cx="10698480" cy="2788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43484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6F0F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NIS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91440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6F0F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6F0F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tr-TR" sz="2200" b="1" kern="0" spc="1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280160"/>
            <a:ext cx="10698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Bir üniversite hastanesine bağlı sigara bırakma polikliniğine başvuran hastaların demografik ve klinik özellikleri ile sigara bırakma durumlarını etkileyen faktörler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43484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en-US" sz="2000" dirty="0"/>
          </a:p>
          <a:p>
            <a:pPr marL="0" indent="0" algn="l">
              <a:buNone/>
            </a:pPr>
            <a:r>
              <a:rPr lang="tr-TR" sz="2000" b="1" dirty="0">
                <a:solidFill>
                  <a:schemeClr val="bg2"/>
                </a:solidFill>
              </a:rPr>
              <a:t>	</a:t>
            </a:r>
            <a:r>
              <a:rPr lang="en-US" sz="2000" b="1" dirty="0">
                <a:solidFill>
                  <a:schemeClr val="bg2"/>
                </a:solidFill>
              </a:rPr>
              <a:t>Suna</a:t>
            </a:r>
            <a:r>
              <a:rPr lang="tr-TR" sz="2000" b="1" dirty="0">
                <a:solidFill>
                  <a:schemeClr val="bg2"/>
                </a:solidFill>
              </a:rPr>
              <a:t>n		</a:t>
            </a:r>
            <a:r>
              <a:rPr lang="en-US" sz="2000" b="1" dirty="0">
                <a:solidFill>
                  <a:schemeClr val="bg2"/>
                </a:solidFill>
              </a:rPr>
              <a:t>: </a:t>
            </a:r>
            <a:r>
              <a:rPr lang="tr-TR" sz="2000" b="1" dirty="0" err="1">
                <a:solidFill>
                  <a:schemeClr val="bg2"/>
                </a:solidFill>
              </a:rPr>
              <a:t>Asst</a:t>
            </a:r>
            <a:r>
              <a:rPr lang="tr-TR" sz="2000" b="1" dirty="0">
                <a:solidFill>
                  <a:schemeClr val="bg2"/>
                </a:solidFill>
              </a:rPr>
              <a:t>. </a:t>
            </a:r>
            <a:r>
              <a:rPr lang="en-US" sz="2000" b="1" dirty="0">
                <a:solidFill>
                  <a:schemeClr val="bg2"/>
                </a:solidFill>
              </a:rPr>
              <a:t>Dr. </a:t>
            </a:r>
            <a:r>
              <a:rPr lang="tr-TR" sz="2000" b="1" dirty="0">
                <a:solidFill>
                  <a:schemeClr val="bg2"/>
                </a:solidFill>
              </a:rPr>
              <a:t>Ahmet KIRAN</a:t>
            </a:r>
            <a:br>
              <a:rPr lang="tr-TR" sz="2000" b="1" dirty="0">
                <a:solidFill>
                  <a:schemeClr val="bg2"/>
                </a:solidFill>
              </a:rPr>
            </a:br>
            <a:r>
              <a:rPr lang="tr-TR" sz="2000" b="1" dirty="0">
                <a:solidFill>
                  <a:schemeClr val="bg2"/>
                </a:solidFill>
              </a:rPr>
              <a:t>	Danışman 	: Prof. Dr. Onur ÖZTÜRK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6F0F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183704E6-FD9C-7986-775D-810B8BBD1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253" y="-37033"/>
            <a:ext cx="5903494" cy="693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92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İçerik</a:t>
            </a:r>
            <a:endParaRPr lang="en-US" sz="3600" dirty="0"/>
          </a:p>
        </p:txBody>
      </p:sp>
      <p:sp>
        <p:nvSpPr>
          <p:cNvPr id="4" name="Kart"/>
          <p:cNvSpPr/>
          <p:nvPr/>
        </p:nvSpPr>
        <p:spPr>
          <a:xfrm>
            <a:off x="548640" y="146304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ıra"/>
          <p:cNvSpPr/>
          <p:nvPr/>
        </p:nvSpPr>
        <p:spPr>
          <a:xfrm>
            <a:off x="822960" y="1709928"/>
            <a:ext cx="786384" cy="7863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822960" y="17099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14630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2600" dirty="0">
                <a:solidFill>
                  <a:schemeClr val="accent1"/>
                </a:solidFill>
              </a:rPr>
              <a:t>G</a:t>
            </a:r>
            <a:r>
              <a:rPr lang="en-US" sz="2600" dirty="0" err="1">
                <a:solidFill>
                  <a:schemeClr val="accent1"/>
                </a:solidFill>
              </a:rPr>
              <a:t>iriş</a:t>
            </a:r>
            <a:endParaRPr lang="en-US" sz="2600" dirty="0"/>
          </a:p>
        </p:txBody>
      </p:sp>
      <p:sp>
        <p:nvSpPr>
          <p:cNvPr id="8" name="Kart"/>
          <p:cNvSpPr/>
          <p:nvPr/>
        </p:nvSpPr>
        <p:spPr>
          <a:xfrm>
            <a:off x="6172200" y="146304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ıra"/>
          <p:cNvSpPr/>
          <p:nvPr/>
        </p:nvSpPr>
        <p:spPr>
          <a:xfrm>
            <a:off x="6446520" y="1709928"/>
            <a:ext cx="786384" cy="7863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6446520" y="17099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14630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Gereç ve yöntem</a:t>
            </a:r>
            <a:endParaRPr lang="en-US" sz="2600" dirty="0"/>
          </a:p>
        </p:txBody>
      </p:sp>
      <p:sp>
        <p:nvSpPr>
          <p:cNvPr id="12" name="Kart"/>
          <p:cNvSpPr/>
          <p:nvPr/>
        </p:nvSpPr>
        <p:spPr>
          <a:xfrm>
            <a:off x="548640" y="301752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ıra"/>
          <p:cNvSpPr/>
          <p:nvPr/>
        </p:nvSpPr>
        <p:spPr>
          <a:xfrm>
            <a:off x="822960" y="3264408"/>
            <a:ext cx="786384" cy="7863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822960" y="326440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1874520" y="30175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Bulgular</a:t>
            </a:r>
            <a:endParaRPr lang="en-US" sz="2600" dirty="0"/>
          </a:p>
        </p:txBody>
      </p:sp>
      <p:sp>
        <p:nvSpPr>
          <p:cNvPr id="16" name="Kart"/>
          <p:cNvSpPr/>
          <p:nvPr/>
        </p:nvSpPr>
        <p:spPr>
          <a:xfrm>
            <a:off x="6172200" y="301752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ıra"/>
          <p:cNvSpPr/>
          <p:nvPr/>
        </p:nvSpPr>
        <p:spPr>
          <a:xfrm>
            <a:off x="6446520" y="3264408"/>
            <a:ext cx="786384" cy="7863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6446520" y="326440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30175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Tartışma</a:t>
            </a:r>
            <a:endParaRPr lang="en-US" sz="2600" dirty="0"/>
          </a:p>
        </p:txBody>
      </p:sp>
      <p:sp>
        <p:nvSpPr>
          <p:cNvPr id="20" name="Kart"/>
          <p:cNvSpPr/>
          <p:nvPr/>
        </p:nvSpPr>
        <p:spPr>
          <a:xfrm>
            <a:off x="548640" y="457200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ıra"/>
          <p:cNvSpPr/>
          <p:nvPr/>
        </p:nvSpPr>
        <p:spPr>
          <a:xfrm>
            <a:off x="822960" y="4818888"/>
            <a:ext cx="786384" cy="7863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 txBox="1"/>
          <p:nvPr/>
        </p:nvSpPr>
        <p:spPr>
          <a:xfrm>
            <a:off x="822960" y="481888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1874520" y="45720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Sonuç ve öneriler</a:t>
            </a:r>
            <a:endParaRPr lang="en-US" sz="26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Sorunun büyüklüğü</a:t>
            </a:r>
            <a:endParaRPr lang="en-US" sz="3600" dirty="0"/>
          </a:p>
        </p:txBody>
      </p:sp>
      <p:sp>
        <p:nvSpPr>
          <p:cNvPr id="4" name="Kart"/>
          <p:cNvSpPr/>
          <p:nvPr/>
        </p:nvSpPr>
        <p:spPr>
          <a:xfrm>
            <a:off x="548640" y="1508760"/>
            <a:ext cx="2633472" cy="42062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kon zemini"/>
          <p:cNvSpPr/>
          <p:nvPr/>
        </p:nvSpPr>
        <p:spPr>
          <a:xfrm>
            <a:off x="1408176" y="17830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kon" descr="FaUserFrien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020824"/>
            <a:ext cx="438912" cy="438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880360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%44,1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069080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/>
                </a:solidFill>
              </a:rPr>
              <a:t>Erkeklerde sigara içme sıklığı</a:t>
            </a:r>
            <a:endParaRPr lang="en-US" sz="2000" dirty="0"/>
          </a:p>
        </p:txBody>
      </p:sp>
      <p:sp>
        <p:nvSpPr>
          <p:cNvPr id="9" name="Kart"/>
          <p:cNvSpPr/>
          <p:nvPr/>
        </p:nvSpPr>
        <p:spPr>
          <a:xfrm>
            <a:off x="3364992" y="1508760"/>
            <a:ext cx="2633472" cy="42062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kon zemini"/>
          <p:cNvSpPr/>
          <p:nvPr/>
        </p:nvSpPr>
        <p:spPr>
          <a:xfrm>
            <a:off x="4224528" y="17830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kon" descr="FaUserFrien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020824"/>
            <a:ext cx="438912" cy="4389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56432" y="2880360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%19,2</a:t>
            </a:r>
            <a:endParaRPr lang="en-US" sz="40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4069080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/>
                </a:solidFill>
              </a:rPr>
              <a:t>Kadınlarda sigara içme sıklığı</a:t>
            </a:r>
            <a:endParaRPr lang="en-US" sz="2000" dirty="0"/>
          </a:p>
        </p:txBody>
      </p:sp>
      <p:sp>
        <p:nvSpPr>
          <p:cNvPr id="14" name="Kart"/>
          <p:cNvSpPr/>
          <p:nvPr/>
        </p:nvSpPr>
        <p:spPr>
          <a:xfrm>
            <a:off x="6181344" y="1508760"/>
            <a:ext cx="2633472" cy="42062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kon zemini"/>
          <p:cNvSpPr/>
          <p:nvPr/>
        </p:nvSpPr>
        <p:spPr>
          <a:xfrm>
            <a:off x="7040880" y="17830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kon" descr="FaHospit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2020824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72784" y="2880360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&gt;500</a:t>
            </a:r>
            <a:endParaRPr lang="en-US" sz="4000" dirty="0"/>
          </a:p>
        </p:txBody>
      </p:sp>
      <p:sp>
        <p:nvSpPr>
          <p:cNvPr id="18" name="Text 12"/>
          <p:cNvSpPr txBox="1"/>
          <p:nvPr/>
        </p:nvSpPr>
        <p:spPr>
          <a:xfrm>
            <a:off x="6409944" y="4069080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/>
                </a:solidFill>
              </a:rPr>
              <a:t>Sigara bırakma polikliniği</a:t>
            </a:r>
            <a:endParaRPr lang="en-US" sz="2000" dirty="0"/>
          </a:p>
        </p:txBody>
      </p:sp>
      <p:sp>
        <p:nvSpPr>
          <p:cNvPr id="19" name="Kart"/>
          <p:cNvSpPr/>
          <p:nvPr/>
        </p:nvSpPr>
        <p:spPr>
          <a:xfrm>
            <a:off x="8997696" y="1508760"/>
            <a:ext cx="2633472" cy="42062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kon zemini"/>
          <p:cNvSpPr/>
          <p:nvPr/>
        </p:nvSpPr>
        <p:spPr>
          <a:xfrm>
            <a:off x="9857232" y="17830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kon" descr="FaSmokingBa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2020824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89136" y="2880360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%20–50</a:t>
            </a:r>
            <a:endParaRPr lang="en-US" sz="4000" dirty="0"/>
          </a:p>
        </p:txBody>
      </p:sp>
      <p:sp>
        <p:nvSpPr>
          <p:cNvPr id="23" name="Text 16"/>
          <p:cNvSpPr txBox="1"/>
          <p:nvPr/>
        </p:nvSpPr>
        <p:spPr>
          <a:xfrm>
            <a:off x="9226296" y="4069080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/>
                </a:solidFill>
              </a:rPr>
              <a:t>Polikliniklerde bırakma oranı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Tedavi seçenekleri</a:t>
            </a:r>
            <a:endParaRPr lang="en-US" sz="3600" dirty="0"/>
          </a:p>
        </p:txBody>
      </p:sp>
      <p:sp>
        <p:nvSpPr>
          <p:cNvPr id="4" name="Kart"/>
          <p:cNvSpPr/>
          <p:nvPr/>
        </p:nvSpPr>
        <p:spPr>
          <a:xfrm>
            <a:off x="548640" y="1417320"/>
            <a:ext cx="5440680" cy="379476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Ikon zemini"/>
          <p:cNvSpPr/>
          <p:nvPr/>
        </p:nvSpPr>
        <p:spPr>
          <a:xfrm>
            <a:off x="868680" y="16459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kon" descr="FaComm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1883664"/>
            <a:ext cx="438912" cy="438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1168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Davranışsal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74320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Sağlık İnanç Modeli</a:t>
            </a:r>
            <a:endParaRPr lang="en-US" sz="2200" dirty="0"/>
          </a:p>
          <a:p>
            <a:pPr marL="279400" indent="-2794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Sağlık Kontrol Odağı</a:t>
            </a:r>
            <a:endParaRPr lang="en-US" sz="2200" dirty="0"/>
          </a:p>
          <a:p>
            <a:pPr marL="279400" indent="-2794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Yeniliklerin Yayılımı Modeli</a:t>
            </a:r>
            <a:endParaRPr lang="en-US" sz="2200" dirty="0"/>
          </a:p>
          <a:p>
            <a:pPr marL="279400" indent="-2794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Pender'in Sağlığı Geliştirme Modeli</a:t>
            </a:r>
            <a:endParaRPr lang="en-US" sz="2200" dirty="0"/>
          </a:p>
          <a:p>
            <a:pPr marL="279400" indent="-2794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Transteorik Model</a:t>
            </a:r>
            <a:endParaRPr lang="en-US" sz="2200" dirty="0"/>
          </a:p>
        </p:txBody>
      </p:sp>
      <p:sp>
        <p:nvSpPr>
          <p:cNvPr id="9" name="Kart"/>
          <p:cNvSpPr/>
          <p:nvPr/>
        </p:nvSpPr>
        <p:spPr>
          <a:xfrm>
            <a:off x="6172200" y="1417320"/>
            <a:ext cx="5440680" cy="379476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Ikon zemini"/>
          <p:cNvSpPr/>
          <p:nvPr/>
        </p:nvSpPr>
        <p:spPr>
          <a:xfrm>
            <a:off x="6492240" y="16459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kon" descr="FaPil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1883664"/>
            <a:ext cx="438912" cy="4389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63524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Farmakolojik</a:t>
            </a:r>
            <a:endParaRPr lang="en-US" sz="30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74320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NRT (</a:t>
            </a:r>
            <a:r>
              <a:rPr lang="en-US" sz="2000" dirty="0" err="1">
                <a:solidFill>
                  <a:schemeClr val="accent1"/>
                </a:solidFill>
              </a:rPr>
              <a:t>nikotin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yerine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koyma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tedavisi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endParaRPr lang="en-US" sz="2200" dirty="0"/>
          </a:p>
          <a:p>
            <a:pPr marL="279400" indent="-2794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Bupropion</a:t>
            </a:r>
            <a:endParaRPr lang="en-US" sz="2200" dirty="0"/>
          </a:p>
          <a:p>
            <a:pPr marL="279400" indent="-2794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Vareniklin</a:t>
            </a:r>
            <a:endParaRPr lang="en-US" sz="2200" dirty="0"/>
          </a:p>
          <a:p>
            <a:pPr marL="279400" indent="-279400" algn="just"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chemeClr val="accent1"/>
                </a:solidFill>
              </a:rPr>
              <a:t>Sitizin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accent2"/>
                </a:solidFill>
              </a:rPr>
              <a:t>Farmakoterapi davranışsal destekle birlikte önerilmektedir.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Çalışmanın amacı</a:t>
            </a:r>
            <a:endParaRPr lang="en-US" sz="3600" dirty="0"/>
          </a:p>
        </p:txBody>
      </p:sp>
      <p:sp>
        <p:nvSpPr>
          <p:cNvPr id="4" name="Kart"/>
          <p:cNvSpPr/>
          <p:nvPr/>
        </p:nvSpPr>
        <p:spPr>
          <a:xfrm>
            <a:off x="548640" y="1508760"/>
            <a:ext cx="11064240" cy="4206240"/>
          </a:xfrm>
          <a:prstGeom prst="roundRect">
            <a:avLst>
              <a:gd name="adj" fmla="val 26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kon zemini"/>
          <p:cNvSpPr/>
          <p:nvPr/>
        </p:nvSpPr>
        <p:spPr>
          <a:xfrm>
            <a:off x="1005840" y="196596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kon" descr="FaBulls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82" y="2298802"/>
            <a:ext cx="614477" cy="6144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743200" y="1920240"/>
            <a:ext cx="8412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 algn="just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Kombine tedavi ve yakın takibin bırakma başarısına etkisini değerlendirmek</a:t>
            </a:r>
            <a:endParaRPr lang="en-US" sz="2800" dirty="0"/>
          </a:p>
          <a:p>
            <a:pPr marL="279400" indent="-279400" algn="just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Bırakmayı etkileyen hasta özelliklerini belirlemek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Tasarım ve örneklem</a:t>
            </a:r>
            <a:endParaRPr lang="en-US" sz="3600" dirty="0"/>
          </a:p>
        </p:txBody>
      </p:sp>
      <p:sp>
        <p:nvSpPr>
          <p:cNvPr id="4" name="Akış kutusu"/>
          <p:cNvSpPr/>
          <p:nvPr/>
        </p:nvSpPr>
        <p:spPr>
          <a:xfrm>
            <a:off x="548640" y="1417320"/>
            <a:ext cx="384048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17320"/>
            <a:ext cx="384048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432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>
                <a:solidFill>
                  <a:schemeClr val="accent1"/>
                </a:solidFill>
              </a:rPr>
              <a:t>hasta dosyası (≥18 yaş)</a:t>
            </a:r>
            <a:endParaRPr lang="en-US" sz="3600" dirty="0"/>
          </a:p>
        </p:txBody>
      </p:sp>
      <p:pic>
        <p:nvPicPr>
          <p:cNvPr id="6" name="Image 0" descr="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852928"/>
            <a:ext cx="548640" cy="548640"/>
          </a:xfrm>
          <a:prstGeom prst="rect">
            <a:avLst/>
          </a:prstGeom>
        </p:spPr>
      </p:pic>
      <p:sp>
        <p:nvSpPr>
          <p:cNvPr id="7" name="Akış kutusu"/>
          <p:cNvSpPr/>
          <p:nvPr/>
        </p:nvSpPr>
        <p:spPr>
          <a:xfrm>
            <a:off x="548640" y="3520440"/>
            <a:ext cx="3840480" cy="1325880"/>
          </a:xfrm>
          <a:prstGeom prst="roundRect">
            <a:avLst>
              <a:gd name="adj" fmla="val 689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3520440"/>
            <a:ext cx="384048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399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hastanın verisi eksiksiz</a:t>
            </a:r>
            <a:endParaRPr lang="en-US" sz="3600" dirty="0"/>
          </a:p>
        </p:txBody>
      </p:sp>
      <p:sp>
        <p:nvSpPr>
          <p:cNvPr id="9" name="Ikon zemini"/>
          <p:cNvSpPr/>
          <p:nvPr/>
        </p:nvSpPr>
        <p:spPr>
          <a:xfrm>
            <a:off x="5669280" y="1463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kon" descr="FaCalendarA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475" y="1653235"/>
            <a:ext cx="351130" cy="35113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62940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01.08.2020 – 31.08.2024</a:t>
            </a:r>
            <a:endParaRPr lang="en-US" sz="2200" dirty="0"/>
          </a:p>
        </p:txBody>
      </p:sp>
      <p:sp>
        <p:nvSpPr>
          <p:cNvPr id="12" name="Ikon zemini"/>
          <p:cNvSpPr/>
          <p:nvPr/>
        </p:nvSpPr>
        <p:spPr>
          <a:xfrm>
            <a:off x="5669280" y="248716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kon" descr="FaFileMedic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475" y="2677363"/>
            <a:ext cx="351130" cy="35113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29400" y="24871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Hastane otomasyon sistemi</a:t>
            </a:r>
            <a:endParaRPr lang="en-US" sz="2200" dirty="0"/>
          </a:p>
        </p:txBody>
      </p:sp>
      <p:sp>
        <p:nvSpPr>
          <p:cNvPr id="15" name="Ikon zemini"/>
          <p:cNvSpPr/>
          <p:nvPr/>
        </p:nvSpPr>
        <p:spPr>
          <a:xfrm>
            <a:off x="5669280" y="3511296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kon" descr="FaClipboardLis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9475" y="3701491"/>
            <a:ext cx="351130" cy="35113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629400" y="35112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Retrospektif, kesitsel tasarım</a:t>
            </a:r>
            <a:endParaRPr lang="en-US" sz="2200" dirty="0"/>
          </a:p>
        </p:txBody>
      </p:sp>
      <p:sp>
        <p:nvSpPr>
          <p:cNvPr id="18" name="Ikon zemini"/>
          <p:cNvSpPr/>
          <p:nvPr/>
        </p:nvSpPr>
        <p:spPr>
          <a:xfrm>
            <a:off x="5669280" y="453542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kon" descr="FaChe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9475" y="4725619"/>
            <a:ext cx="351130" cy="35113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629400" y="453542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En az bir yıllık takip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548640" y="5349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3"/>
                </a:solidFill>
              </a:rPr>
              <a:t>Tüm kayıtlar alındığı için örneklem hesabı yapılmamıştır.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Veri toplama ve bağımlılık ölçümü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Hasta dosyalarından elde edilen veriler</a:t>
            </a:r>
            <a:endParaRPr lang="en-US" sz="2200" dirty="0"/>
          </a:p>
        </p:txBody>
      </p:sp>
      <p:sp>
        <p:nvSpPr>
          <p:cNvPr id="5" name="Veri etiketi"/>
          <p:cNvSpPr/>
          <p:nvPr/>
        </p:nvSpPr>
        <p:spPr>
          <a:xfrm>
            <a:off x="548640" y="1874520"/>
            <a:ext cx="1737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Yaş, cinsiyet</a:t>
            </a:r>
            <a:endParaRPr lang="en-US" sz="1800" dirty="0"/>
          </a:p>
        </p:txBody>
      </p:sp>
      <p:sp>
        <p:nvSpPr>
          <p:cNvPr id="7" name="Veri etiketi"/>
          <p:cNvSpPr/>
          <p:nvPr/>
        </p:nvSpPr>
        <p:spPr>
          <a:xfrm>
            <a:off x="2404872" y="1874520"/>
            <a:ext cx="1737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04872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Meslek</a:t>
            </a:r>
            <a:endParaRPr lang="en-US" sz="1800" dirty="0"/>
          </a:p>
        </p:txBody>
      </p:sp>
      <p:sp>
        <p:nvSpPr>
          <p:cNvPr id="9" name="Veri etiketi"/>
          <p:cNvSpPr/>
          <p:nvPr/>
        </p:nvSpPr>
        <p:spPr>
          <a:xfrm>
            <a:off x="4261104" y="1874520"/>
            <a:ext cx="1737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61104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Alkol kullanımı</a:t>
            </a:r>
            <a:endParaRPr lang="en-US" sz="1800" dirty="0"/>
          </a:p>
        </p:txBody>
      </p:sp>
      <p:sp>
        <p:nvSpPr>
          <p:cNvPr id="11" name="Veri etiketi"/>
          <p:cNvSpPr/>
          <p:nvPr/>
        </p:nvSpPr>
        <p:spPr>
          <a:xfrm>
            <a:off x="6117336" y="1874520"/>
            <a:ext cx="1737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17336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Kronik hastalık</a:t>
            </a:r>
            <a:endParaRPr lang="en-US" sz="1800" dirty="0"/>
          </a:p>
        </p:txBody>
      </p:sp>
      <p:sp>
        <p:nvSpPr>
          <p:cNvPr id="13" name="Veri etiketi"/>
          <p:cNvSpPr/>
          <p:nvPr/>
        </p:nvSpPr>
        <p:spPr>
          <a:xfrm>
            <a:off x="7973568" y="1874520"/>
            <a:ext cx="1737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73568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Paket-yıl</a:t>
            </a:r>
            <a:endParaRPr lang="en-US" sz="1800" dirty="0"/>
          </a:p>
        </p:txBody>
      </p:sp>
      <p:sp>
        <p:nvSpPr>
          <p:cNvPr id="15" name="Veri etiketi"/>
          <p:cNvSpPr/>
          <p:nvPr/>
        </p:nvSpPr>
        <p:spPr>
          <a:xfrm>
            <a:off x="9829800" y="1874520"/>
            <a:ext cx="17373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829800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Uygulanan tedavi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Fagerström Nikotin Bağımlılık Testi (FNBT)</a:t>
            </a:r>
            <a:endParaRPr lang="en-US" sz="2200" dirty="0"/>
          </a:p>
        </p:txBody>
      </p:sp>
      <p:sp>
        <p:nvSpPr>
          <p:cNvPr id="18" name="Ölçek dilimi"/>
          <p:cNvSpPr/>
          <p:nvPr/>
        </p:nvSpPr>
        <p:spPr>
          <a:xfrm>
            <a:off x="548640" y="3520440"/>
            <a:ext cx="3017520" cy="1005840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3520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Düşük</a:t>
            </a:r>
            <a:endParaRPr lang="en-US" sz="24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0–2 puan</a:t>
            </a:r>
            <a:endParaRPr lang="en-US" sz="2400" dirty="0"/>
          </a:p>
        </p:txBody>
      </p:sp>
      <p:sp>
        <p:nvSpPr>
          <p:cNvPr id="20" name="Ölçek dilimi"/>
          <p:cNvSpPr/>
          <p:nvPr/>
        </p:nvSpPr>
        <p:spPr>
          <a:xfrm>
            <a:off x="3566160" y="3520440"/>
            <a:ext cx="5029200" cy="100584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66160" y="35204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Orta</a:t>
            </a:r>
            <a:endParaRPr lang="en-US" sz="24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3–7 puan</a:t>
            </a:r>
            <a:endParaRPr lang="en-US" sz="2400" dirty="0"/>
          </a:p>
        </p:txBody>
      </p:sp>
      <p:sp>
        <p:nvSpPr>
          <p:cNvPr id="22" name="Ölçek dilimi"/>
          <p:cNvSpPr/>
          <p:nvPr/>
        </p:nvSpPr>
        <p:spPr>
          <a:xfrm>
            <a:off x="8595360" y="3520440"/>
            <a:ext cx="3017520" cy="100584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95360" y="3520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Yüksek</a:t>
            </a:r>
            <a:endParaRPr lang="en-US" sz="24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8–10 puan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800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</a:rPr>
              <a:t>6 soru, 0–10 puan  •  Türkçe geçerlik ve güvenilirlik: Uysal ve ark., 2004</a:t>
            </a:r>
            <a:endParaRPr lang="en-US" sz="20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Tedavi yaklaşımı</a:t>
            </a:r>
            <a:endParaRPr lang="en-US" sz="3600" dirty="0"/>
          </a:p>
        </p:txBody>
      </p:sp>
      <p:sp>
        <p:nvSpPr>
          <p:cNvPr id="4" name="Kart"/>
          <p:cNvSpPr/>
          <p:nvPr/>
        </p:nvSpPr>
        <p:spPr>
          <a:xfrm>
            <a:off x="548640" y="1417320"/>
            <a:ext cx="356616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kon zemini"/>
          <p:cNvSpPr/>
          <p:nvPr/>
        </p:nvSpPr>
        <p:spPr>
          <a:xfrm>
            <a:off x="1783080" y="1645920"/>
            <a:ext cx="1097280" cy="10972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kon" descr="FaComm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73" y="1931213"/>
            <a:ext cx="526694" cy="52669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3"/>
                </a:solidFill>
              </a:rPr>
              <a:t>Davranışsal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383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/>
                </a:solidFill>
              </a:rPr>
              <a:t>Yalnızca danışmanlık</a:t>
            </a:r>
            <a:endParaRPr lang="en-US" sz="2000" dirty="0"/>
          </a:p>
        </p:txBody>
      </p:sp>
      <p:sp>
        <p:nvSpPr>
          <p:cNvPr id="9" name="Kart"/>
          <p:cNvSpPr/>
          <p:nvPr/>
        </p:nvSpPr>
        <p:spPr>
          <a:xfrm>
            <a:off x="4297680" y="1417320"/>
            <a:ext cx="356616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kon zemini"/>
          <p:cNvSpPr/>
          <p:nvPr/>
        </p:nvSpPr>
        <p:spPr>
          <a:xfrm>
            <a:off x="5532120" y="1645920"/>
            <a:ext cx="1097280" cy="10972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kon" descr="FaPil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413" y="1931213"/>
            <a:ext cx="526694" cy="52669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48056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Monoterapi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3383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/>
                </a:solidFill>
              </a:rPr>
              <a:t>Vareniklin, bupropion, sitizin veya NRT</a:t>
            </a:r>
            <a:endParaRPr lang="en-US" sz="2000" dirty="0"/>
          </a:p>
        </p:txBody>
      </p:sp>
      <p:sp>
        <p:nvSpPr>
          <p:cNvPr id="14" name="Kart"/>
          <p:cNvSpPr/>
          <p:nvPr/>
        </p:nvSpPr>
        <p:spPr>
          <a:xfrm>
            <a:off x="8046720" y="1417320"/>
            <a:ext cx="356616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kon zemini"/>
          <p:cNvSpPr/>
          <p:nvPr/>
        </p:nvSpPr>
        <p:spPr>
          <a:xfrm>
            <a:off x="9281160" y="164592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kon" descr="FaExchange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453" y="1931213"/>
            <a:ext cx="526694" cy="52669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22960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Kombine</a:t>
            </a:r>
            <a:endParaRPr lang="en-US" sz="28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3383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/>
                </a:solidFill>
              </a:rPr>
              <a:t>Bupropion, vareniklin veya sitizin + NRT; üçlü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70916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 algn="just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accent1"/>
                </a:solidFill>
              </a:rPr>
              <a:t>Bireyselleştirme: FNBT, komorbidite, kontrendikasyon, uyum</a:t>
            </a:r>
            <a:endParaRPr lang="en-US" sz="2200" dirty="0"/>
          </a:p>
          <a:p>
            <a:pPr marL="279400" indent="-279400" algn="just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accent1"/>
                </a:solidFill>
              </a:rPr>
              <a:t>NRT ve sitizin dönemsel olarak ücretsiz sağlanmıştır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İstatistiksel analiz</a:t>
            </a:r>
            <a:endParaRPr lang="en-US" sz="3600" dirty="0"/>
          </a:p>
        </p:txBody>
      </p:sp>
      <p:graphicFrame>
        <p:nvGraphicFramePr>
          <p:cNvPr id="12" name="İstatistik tablos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2452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Amaç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Yöntem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Normallik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accent1"/>
                          </a:solidFill>
                        </a:rPr>
                        <a:t>Histogram, Kolmogorov–Smirnov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Kategorik değişkenler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accent1"/>
                          </a:solidFill>
                        </a:rPr>
                        <a:t>Ki-kare testi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İki grup (sürekli)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accent1"/>
                          </a:solidFill>
                        </a:rPr>
                        <a:t>Mann–Whitney U testi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İkiden fazla grup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accent1"/>
                          </a:solidFill>
                        </a:rPr>
                        <a:t>Kruskal–Wallis; post-hoc Duncan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Tedavinin etkisi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accent1"/>
                          </a:solidFill>
                        </a:rPr>
                        <a:t>İkili lojistik regresyon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Anlamlılık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chemeClr val="accent1"/>
                          </a:solidFill>
                        </a:rPr>
                        <a:t>p&lt;0,05; Bonferroni düzeltmesi</a:t>
                      </a:r>
                      <a:endParaRPr lang="en-US" sz="2200" dirty="0"/>
                    </a:p>
                  </a:txBody>
                  <a:tcPr marL="137160" marR="13716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Katılımcıların genel özellikleri</a:t>
            </a:r>
            <a:endParaRPr lang="en-US" sz="3600" dirty="0"/>
          </a:p>
        </p:txBody>
      </p:sp>
      <p:sp>
        <p:nvSpPr>
          <p:cNvPr id="4" name="Kart"/>
          <p:cNvSpPr/>
          <p:nvPr/>
        </p:nvSpPr>
        <p:spPr>
          <a:xfrm>
            <a:off x="548640" y="141732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399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</a:rPr>
              <a:t>hasta</a:t>
            </a:r>
            <a:endParaRPr lang="en-US" sz="2200" dirty="0"/>
          </a:p>
        </p:txBody>
      </p:sp>
      <p:sp>
        <p:nvSpPr>
          <p:cNvPr id="7" name="Kart"/>
          <p:cNvSpPr/>
          <p:nvPr/>
        </p:nvSpPr>
        <p:spPr>
          <a:xfrm>
            <a:off x="4297680" y="141732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9768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44,</a:t>
            </a:r>
            <a:r>
              <a:rPr lang="tr-TR" sz="3600" b="1" dirty="0">
                <a:solidFill>
                  <a:schemeClr val="accent2"/>
                </a:solidFill>
              </a:rPr>
              <a:t>69</a:t>
            </a:r>
            <a:r>
              <a:rPr lang="en-US" sz="3600" b="1" dirty="0">
                <a:solidFill>
                  <a:schemeClr val="accent2"/>
                </a:solidFill>
              </a:rPr>
              <a:t> ± 12,</a:t>
            </a:r>
            <a:r>
              <a:rPr lang="tr-TR" sz="3600" b="1" dirty="0">
                <a:solidFill>
                  <a:schemeClr val="accent2"/>
                </a:solidFill>
              </a:rPr>
              <a:t>05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</a:rPr>
              <a:t>yaş ortalaması (yıl)</a:t>
            </a:r>
            <a:endParaRPr lang="en-US" sz="2200" dirty="0"/>
          </a:p>
        </p:txBody>
      </p:sp>
      <p:sp>
        <p:nvSpPr>
          <p:cNvPr id="10" name="Kart"/>
          <p:cNvSpPr/>
          <p:nvPr/>
        </p:nvSpPr>
        <p:spPr>
          <a:xfrm>
            <a:off x="8046720" y="141732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%63,</a:t>
            </a:r>
            <a:r>
              <a:rPr lang="tr-TR" sz="3600" b="1" dirty="0">
                <a:solidFill>
                  <a:schemeClr val="accent1"/>
                </a:solidFill>
              </a:rPr>
              <a:t>66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</a:rPr>
              <a:t>erkek</a:t>
            </a:r>
            <a:endParaRPr lang="en-US" sz="2200" dirty="0"/>
          </a:p>
        </p:txBody>
      </p:sp>
      <p:sp>
        <p:nvSpPr>
          <p:cNvPr id="13" name="Kart"/>
          <p:cNvSpPr/>
          <p:nvPr/>
        </p:nvSpPr>
        <p:spPr>
          <a:xfrm>
            <a:off x="548640" y="365760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886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5,66 ± 2,43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892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</a:rPr>
              <a:t>FNBT puanı</a:t>
            </a:r>
            <a:endParaRPr lang="en-US" sz="2200" dirty="0"/>
          </a:p>
        </p:txBody>
      </p:sp>
      <p:sp>
        <p:nvSpPr>
          <p:cNvPr id="16" name="Kart"/>
          <p:cNvSpPr/>
          <p:nvPr/>
        </p:nvSpPr>
        <p:spPr>
          <a:xfrm>
            <a:off x="4297680" y="365760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97680" y="3886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27,</a:t>
            </a:r>
            <a:r>
              <a:rPr lang="tr-TR" sz="3600" b="1" dirty="0">
                <a:solidFill>
                  <a:schemeClr val="accent2"/>
                </a:solidFill>
              </a:rPr>
              <a:t>38</a:t>
            </a:r>
            <a:r>
              <a:rPr lang="en-US" sz="3600" b="1" dirty="0">
                <a:solidFill>
                  <a:schemeClr val="accent2"/>
                </a:solidFill>
              </a:rPr>
              <a:t> ± 16,</a:t>
            </a:r>
            <a:r>
              <a:rPr lang="tr-TR" sz="3600" b="1" dirty="0">
                <a:solidFill>
                  <a:schemeClr val="accent2"/>
                </a:solidFill>
              </a:rPr>
              <a:t>57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4892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</a:rPr>
              <a:t>paket-yıl</a:t>
            </a:r>
            <a:endParaRPr lang="en-US" sz="2200" dirty="0"/>
          </a:p>
        </p:txBody>
      </p:sp>
      <p:sp>
        <p:nvSpPr>
          <p:cNvPr id="19" name="Kart"/>
          <p:cNvSpPr/>
          <p:nvPr/>
        </p:nvSpPr>
        <p:spPr>
          <a:xfrm>
            <a:off x="8046720" y="365760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0" y="3886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%34,</a:t>
            </a:r>
            <a:r>
              <a:rPr lang="tr-TR" sz="3600" b="1" dirty="0">
                <a:solidFill>
                  <a:schemeClr val="bg1"/>
                </a:solidFill>
              </a:rPr>
              <a:t>09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4892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sigarayı bırakan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Bağımlılık düzeyi ve deneme öyküsü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FNBT'ye göre bağımlılık düzeyi</a:t>
            </a:r>
            <a:endParaRPr lang="en-US" sz="2200" dirty="0"/>
          </a:p>
        </p:txBody>
      </p:sp>
      <p:sp>
        <p:nvSpPr>
          <p:cNvPr id="5" name="Kart"/>
          <p:cNvSpPr/>
          <p:nvPr/>
        </p:nvSpPr>
        <p:spPr>
          <a:xfrm>
            <a:off x="548640" y="18288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%13,</a:t>
            </a:r>
            <a:r>
              <a:rPr lang="tr-TR" sz="4000" b="1" dirty="0">
                <a:solidFill>
                  <a:schemeClr val="accent1"/>
                </a:solidFill>
              </a:rPr>
              <a:t>19</a:t>
            </a:r>
            <a:endParaRPr lang="en-US" sz="4000" dirty="0"/>
          </a:p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</a:rPr>
              <a:t>düşük (0–2)</a:t>
            </a:r>
            <a:endParaRPr lang="en-US" sz="4000" dirty="0"/>
          </a:p>
        </p:txBody>
      </p:sp>
      <p:sp>
        <p:nvSpPr>
          <p:cNvPr id="7" name="Kart"/>
          <p:cNvSpPr/>
          <p:nvPr/>
        </p:nvSpPr>
        <p:spPr>
          <a:xfrm>
            <a:off x="4297680" y="18288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97680" y="18288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%61,3</a:t>
            </a:r>
            <a:r>
              <a:rPr lang="tr-TR" sz="4000" b="1" dirty="0">
                <a:solidFill>
                  <a:schemeClr val="bg1"/>
                </a:solidFill>
              </a:rPr>
              <a:t>4</a:t>
            </a:r>
            <a:endParaRPr lang="en-US" sz="4000" dirty="0"/>
          </a:p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orta (3–7)</a:t>
            </a:r>
            <a:endParaRPr lang="en-US" sz="4000" dirty="0"/>
          </a:p>
        </p:txBody>
      </p:sp>
      <p:sp>
        <p:nvSpPr>
          <p:cNvPr id="9" name="Kart"/>
          <p:cNvSpPr/>
          <p:nvPr/>
        </p:nvSpPr>
        <p:spPr>
          <a:xfrm>
            <a:off x="8046720" y="18288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18288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%25,</a:t>
            </a:r>
            <a:r>
              <a:rPr lang="tr-TR" sz="4000" b="1" dirty="0">
                <a:solidFill>
                  <a:schemeClr val="bg1"/>
                </a:solidFill>
              </a:rPr>
              <a:t>46</a:t>
            </a:r>
            <a:endParaRPr lang="en-US" sz="4000" dirty="0"/>
          </a:p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yüksek (8–10)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Önceki deneyimler</a:t>
            </a:r>
            <a:endParaRPr lang="en-US" sz="2200" dirty="0"/>
          </a:p>
        </p:txBody>
      </p:sp>
      <p:sp>
        <p:nvSpPr>
          <p:cNvPr id="12" name="Kart"/>
          <p:cNvSpPr/>
          <p:nvPr/>
        </p:nvSpPr>
        <p:spPr>
          <a:xfrm>
            <a:off x="548640" y="42976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4297680"/>
            <a:ext cx="1417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%75,</a:t>
            </a:r>
            <a:r>
              <a:rPr lang="tr-TR" sz="3200" b="1" dirty="0">
                <a:solidFill>
                  <a:schemeClr val="accent1"/>
                </a:solidFill>
              </a:rPr>
              <a:t>69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429768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daha önce bırakmayı denemiş</a:t>
            </a:r>
            <a:endParaRPr lang="en-US" sz="1800" dirty="0"/>
          </a:p>
        </p:txBody>
      </p:sp>
      <p:sp>
        <p:nvSpPr>
          <p:cNvPr id="15" name="Kart"/>
          <p:cNvSpPr/>
          <p:nvPr/>
        </p:nvSpPr>
        <p:spPr>
          <a:xfrm>
            <a:off x="4297680" y="42976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34840" y="4297680"/>
            <a:ext cx="1417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%49,</a:t>
            </a:r>
            <a:r>
              <a:rPr lang="tr-TR" sz="3200" b="1" dirty="0">
                <a:solidFill>
                  <a:schemeClr val="accent1"/>
                </a:solidFill>
              </a:rPr>
              <a:t>85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5897880" y="429768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denemede profesyonel destek almış</a:t>
            </a:r>
            <a:endParaRPr lang="en-US" sz="1800" dirty="0"/>
          </a:p>
        </p:txBody>
      </p:sp>
      <p:sp>
        <p:nvSpPr>
          <p:cNvPr id="18" name="Kart"/>
          <p:cNvSpPr/>
          <p:nvPr/>
        </p:nvSpPr>
        <p:spPr>
          <a:xfrm>
            <a:off x="8046720" y="42976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83880" y="4297680"/>
            <a:ext cx="1417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%7,</a:t>
            </a:r>
            <a:r>
              <a:rPr lang="tr-TR" sz="3200" b="1" dirty="0">
                <a:solidFill>
                  <a:schemeClr val="accent1"/>
                </a:solidFill>
              </a:rPr>
              <a:t>19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9646920" y="429768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sigara dışı tütün ürünü kullanıyor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chemeClr val="accent1"/>
                </a:solidFill>
              </a:rPr>
              <a:t>Sosyodemografik</a:t>
            </a:r>
            <a:r>
              <a:rPr lang="en-US" sz="3600" b="1" dirty="0">
                <a:solidFill>
                  <a:schemeClr val="accent1"/>
                </a:solidFill>
              </a:rPr>
              <a:t> özellikler</a:t>
            </a:r>
            <a:endParaRPr lang="en-US" sz="3600" dirty="0"/>
          </a:p>
        </p:txBody>
      </p:sp>
      <p:sp>
        <p:nvSpPr>
          <p:cNvPr id="4" name="Görsel çerçeve"/>
          <p:cNvSpPr/>
          <p:nvPr/>
        </p:nvSpPr>
        <p:spPr>
          <a:xfrm>
            <a:off x="548640" y="1325880"/>
            <a:ext cx="7191299" cy="4892040"/>
          </a:xfrm>
          <a:prstGeom prst="rect">
            <a:avLst/>
          </a:prstGeom>
          <a:solidFill>
            <a:schemeClr val="bg1"/>
          </a:solidFill>
          <a:ln w="12700">
            <a:solidFill>
              <a:srgbClr val="C9DCDF"/>
            </a:solidFill>
            <a:prstDash val="solid"/>
          </a:ln>
        </p:spPr>
      </p:sp>
      <p:pic>
        <p:nvPicPr>
          <p:cNvPr id="5" name="Tablo 1: Katılımcıların sosyodemografik özellikleri" descr="Tablo 1: Katılımcıların sosyodemografik özellikler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191299" cy="4892040"/>
          </a:xfrm>
          <a:prstGeom prst="rect">
            <a:avLst/>
          </a:prstGeom>
        </p:spPr>
      </p:pic>
      <p:sp>
        <p:nvSpPr>
          <p:cNvPr id="6" name="Kart"/>
          <p:cNvSpPr/>
          <p:nvPr/>
        </p:nvSpPr>
        <p:spPr>
          <a:xfrm>
            <a:off x="8059979" y="1325880"/>
            <a:ext cx="3580333" cy="4892040"/>
          </a:xfrm>
          <a:prstGeom prst="roundRect">
            <a:avLst>
              <a:gd name="adj" fmla="val 30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88579" y="1508760"/>
            <a:ext cx="3123133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%63,</a:t>
            </a:r>
            <a:r>
              <a:rPr lang="tr-TR" sz="3000" b="1" dirty="0">
                <a:solidFill>
                  <a:schemeClr val="bg1"/>
                </a:solidFill>
              </a:rPr>
              <a:t>66</a:t>
            </a:r>
            <a:endParaRPr lang="en-US" sz="3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erkek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%8</a:t>
            </a:r>
            <a:r>
              <a:rPr lang="tr-TR" sz="3000" b="1" dirty="0">
                <a:solidFill>
                  <a:schemeClr val="bg1"/>
                </a:solidFill>
              </a:rPr>
              <a:t>1</a:t>
            </a:r>
            <a:r>
              <a:rPr lang="en-US" sz="3000" b="1" dirty="0">
                <a:solidFill>
                  <a:schemeClr val="bg1"/>
                </a:solidFill>
              </a:rPr>
              <a:t>,</a:t>
            </a:r>
            <a:r>
              <a:rPr lang="tr-TR" sz="3000" b="1" dirty="0">
                <a:solidFill>
                  <a:schemeClr val="bg1"/>
                </a:solidFill>
              </a:rPr>
              <a:t>96</a:t>
            </a:r>
            <a:endParaRPr lang="en-US" sz="3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evli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%43,</a:t>
            </a:r>
            <a:r>
              <a:rPr lang="tr-TR" sz="3000" b="1" dirty="0">
                <a:solidFill>
                  <a:schemeClr val="bg1"/>
                </a:solidFill>
              </a:rPr>
              <a:t>36</a:t>
            </a:r>
            <a:endParaRPr lang="en-US" sz="3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yükseköğretim mezunu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%39,6</a:t>
            </a:r>
            <a:endParaRPr lang="en-US" sz="3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hanesinde sigara içen var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chemeClr val="accent1"/>
                </a:solidFill>
              </a:rPr>
              <a:t>Sosyodemografik</a:t>
            </a:r>
            <a:r>
              <a:rPr lang="en-US" sz="3600" b="1" dirty="0">
                <a:solidFill>
                  <a:schemeClr val="accent1"/>
                </a:solidFill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</a:rPr>
              <a:t>özellikler</a:t>
            </a:r>
            <a:r>
              <a:rPr lang="tr-TR" sz="3600" b="1" dirty="0">
                <a:solidFill>
                  <a:schemeClr val="accent1"/>
                </a:solidFill>
              </a:rPr>
              <a:t>e göre sigara </a:t>
            </a:r>
            <a:r>
              <a:rPr lang="en-US" sz="3600" b="1" dirty="0" err="1">
                <a:solidFill>
                  <a:schemeClr val="accent1"/>
                </a:solidFill>
              </a:rPr>
              <a:t>bırakma</a:t>
            </a:r>
            <a:r>
              <a:rPr lang="tr-TR" sz="3600" b="1" dirty="0">
                <a:solidFill>
                  <a:schemeClr val="accent1"/>
                </a:solidFill>
              </a:rPr>
              <a:t> sonuçları</a:t>
            </a:r>
            <a:endParaRPr lang="en-US" sz="3600" dirty="0"/>
          </a:p>
        </p:txBody>
      </p:sp>
      <p:sp>
        <p:nvSpPr>
          <p:cNvPr id="4" name="Görsel çerçeve"/>
          <p:cNvSpPr/>
          <p:nvPr/>
        </p:nvSpPr>
        <p:spPr>
          <a:xfrm>
            <a:off x="548640" y="1325880"/>
            <a:ext cx="8321040" cy="4575618"/>
          </a:xfrm>
          <a:prstGeom prst="rect">
            <a:avLst/>
          </a:prstGeom>
          <a:solidFill>
            <a:schemeClr val="bg1"/>
          </a:solidFill>
          <a:ln w="12700">
            <a:solidFill>
              <a:srgbClr val="C9DCDF"/>
            </a:solidFill>
            <a:prstDash val="solid"/>
          </a:ln>
        </p:spPr>
      </p:sp>
      <p:pic>
        <p:nvPicPr>
          <p:cNvPr id="5" name="Tablo 2, birinci bölüm" descr="Tablo 2, birinci bölü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8321040" cy="4575618"/>
          </a:xfrm>
          <a:prstGeom prst="rect">
            <a:avLst/>
          </a:prstGeom>
        </p:spPr>
      </p:pic>
      <p:sp>
        <p:nvSpPr>
          <p:cNvPr id="6" name="Kart"/>
          <p:cNvSpPr/>
          <p:nvPr/>
        </p:nvSpPr>
        <p:spPr>
          <a:xfrm>
            <a:off x="9189720" y="1325880"/>
            <a:ext cx="2450592" cy="4575618"/>
          </a:xfrm>
          <a:prstGeom prst="roundRect">
            <a:avLst>
              <a:gd name="adj" fmla="val 44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418320" y="1508760"/>
            <a:ext cx="1993392" cy="420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Anlamlı fark yok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Cinsiyet, yaş grubu, medeni durum ve eğitim durumu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863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/>
              <a:t>Sosyodemografik</a:t>
            </a:r>
            <a:r>
              <a:rPr lang="en-US" dirty="0"/>
              <a:t> </a:t>
            </a:r>
            <a:r>
              <a:rPr lang="en-US" dirty="0" err="1"/>
              <a:t>özellikler</a:t>
            </a:r>
            <a:r>
              <a:rPr lang="tr-TR" dirty="0"/>
              <a:t>e göre sigara </a:t>
            </a:r>
            <a:r>
              <a:rPr lang="en-US" dirty="0" err="1"/>
              <a:t>bırakma</a:t>
            </a:r>
            <a:r>
              <a:rPr lang="tr-TR" dirty="0"/>
              <a:t> </a:t>
            </a:r>
            <a:r>
              <a:rPr lang="en-US" sz="3600" b="1" dirty="0">
                <a:solidFill>
                  <a:schemeClr val="accent1"/>
                </a:solidFill>
              </a:rPr>
              <a:t>(devam)</a:t>
            </a:r>
            <a:endParaRPr lang="en-US" sz="3600" dirty="0"/>
          </a:p>
        </p:txBody>
      </p:sp>
      <p:sp>
        <p:nvSpPr>
          <p:cNvPr id="4" name="Görsel çerçeve"/>
          <p:cNvSpPr/>
          <p:nvPr/>
        </p:nvSpPr>
        <p:spPr>
          <a:xfrm>
            <a:off x="548640" y="1325880"/>
            <a:ext cx="8321040" cy="3688167"/>
          </a:xfrm>
          <a:prstGeom prst="rect">
            <a:avLst/>
          </a:prstGeom>
          <a:solidFill>
            <a:schemeClr val="bg1"/>
          </a:solidFill>
          <a:ln w="12700">
            <a:solidFill>
              <a:srgbClr val="C9DCDF"/>
            </a:solidFill>
            <a:prstDash val="solid"/>
          </a:ln>
        </p:spPr>
      </p:sp>
      <p:pic>
        <p:nvPicPr>
          <p:cNvPr id="5" name="Tablo 2, ikinci bölüm" descr="Tablo 2, ikinci bölü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8321040" cy="3688167"/>
          </a:xfrm>
          <a:prstGeom prst="rect">
            <a:avLst/>
          </a:prstGeom>
        </p:spPr>
      </p:pic>
      <p:sp>
        <p:nvSpPr>
          <p:cNvPr id="6" name="Kart"/>
          <p:cNvSpPr/>
          <p:nvPr/>
        </p:nvSpPr>
        <p:spPr>
          <a:xfrm>
            <a:off x="9189720" y="1325880"/>
            <a:ext cx="2450592" cy="3688167"/>
          </a:xfrm>
          <a:prstGeom prst="roundRect">
            <a:avLst>
              <a:gd name="adj" fmla="val 44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418320" y="1508760"/>
            <a:ext cx="1993392" cy="3322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Tek anlamlı fark: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hanede sigara içen varlığı</a:t>
            </a:r>
            <a:endParaRPr lang="en-US" sz="2000" dirty="0"/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p = 0,003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Bırakma: %39,8 ve %25,3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dirty="0"/>
              <a:t>Katılımcıların kullandığı </a:t>
            </a:r>
            <a:r>
              <a:rPr lang="en-US" sz="3600" b="1" dirty="0" err="1">
                <a:solidFill>
                  <a:schemeClr val="accent1"/>
                </a:solidFill>
              </a:rPr>
              <a:t>tedavi</a:t>
            </a:r>
            <a:r>
              <a:rPr lang="tr-TR" sz="3600" b="1" dirty="0">
                <a:solidFill>
                  <a:schemeClr val="accent1"/>
                </a:solidFill>
              </a:rPr>
              <a:t> seçenekleri</a:t>
            </a:r>
            <a:endParaRPr lang="en-US" sz="3600" dirty="0"/>
          </a:p>
        </p:txBody>
      </p:sp>
      <p:sp>
        <p:nvSpPr>
          <p:cNvPr id="4" name="Görsel çerçeve"/>
          <p:cNvSpPr/>
          <p:nvPr/>
        </p:nvSpPr>
        <p:spPr>
          <a:xfrm>
            <a:off x="548640" y="1325880"/>
            <a:ext cx="8321040" cy="3485982"/>
          </a:xfrm>
          <a:prstGeom prst="rect">
            <a:avLst/>
          </a:prstGeom>
          <a:solidFill>
            <a:schemeClr val="bg1"/>
          </a:solidFill>
          <a:ln w="12700">
            <a:solidFill>
              <a:srgbClr val="C9DCDF"/>
            </a:solidFill>
            <a:prstDash val="solid"/>
          </a:ln>
        </p:spPr>
      </p:sp>
      <p:pic>
        <p:nvPicPr>
          <p:cNvPr id="5" name="Tablo 3: Katılımcıların kullandığı tedavi seçenekleri" descr="Tablo 3: Katılımcıların kullandığı tedavi seçenekler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8321040" cy="3485982"/>
          </a:xfrm>
          <a:prstGeom prst="rect">
            <a:avLst/>
          </a:prstGeom>
        </p:spPr>
      </p:pic>
      <p:sp>
        <p:nvSpPr>
          <p:cNvPr id="6" name="Kart"/>
          <p:cNvSpPr/>
          <p:nvPr/>
        </p:nvSpPr>
        <p:spPr>
          <a:xfrm>
            <a:off x="9189720" y="1325880"/>
            <a:ext cx="2450592" cy="3485982"/>
          </a:xfrm>
          <a:prstGeom prst="roundRect">
            <a:avLst>
              <a:gd name="adj" fmla="val 44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418320" y="1508760"/>
            <a:ext cx="1993392" cy="3120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%35,3</a:t>
            </a:r>
            <a:endParaRPr lang="en-US" sz="3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kombine tedavi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125 / 141</a:t>
            </a:r>
            <a:endParaRPr lang="en-US" sz="30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bupropion + NRT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chemeClr val="accent1"/>
                </a:solidFill>
              </a:rPr>
              <a:t>Görüşme</a:t>
            </a:r>
            <a:r>
              <a:rPr lang="en-US" sz="3600" b="1" dirty="0">
                <a:solidFill>
                  <a:schemeClr val="accent1"/>
                </a:solidFill>
              </a:rPr>
              <a:t> sayısı, FNBT ve paket-yıl</a:t>
            </a:r>
            <a:endParaRPr lang="en-US" sz="3600" dirty="0"/>
          </a:p>
        </p:txBody>
      </p:sp>
      <p:sp>
        <p:nvSpPr>
          <p:cNvPr id="4" name="Görsel çerçeve"/>
          <p:cNvSpPr/>
          <p:nvPr/>
        </p:nvSpPr>
        <p:spPr>
          <a:xfrm>
            <a:off x="548640" y="1325880"/>
            <a:ext cx="11091672" cy="2713227"/>
          </a:xfrm>
          <a:prstGeom prst="rect">
            <a:avLst/>
          </a:prstGeom>
          <a:solidFill>
            <a:schemeClr val="bg1"/>
          </a:solidFill>
          <a:ln w="12700">
            <a:solidFill>
              <a:srgbClr val="C9DCDF"/>
            </a:solidFill>
            <a:prstDash val="solid"/>
          </a:ln>
        </p:spPr>
      </p:sp>
      <p:pic>
        <p:nvPicPr>
          <p:cNvPr id="5" name="Tablo 4: Sigara ve tedavi parametrelerinin bırakma durumu ile karşılaştırılması" descr="Tablo 4: Sigara ve tedavi parametrelerinin bırakma durumu ile karşılaştırılması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11091672" cy="2713227"/>
          </a:xfrm>
          <a:prstGeom prst="rect">
            <a:avLst/>
          </a:prstGeom>
        </p:spPr>
      </p:pic>
      <p:sp>
        <p:nvSpPr>
          <p:cNvPr id="6" name="Kart"/>
          <p:cNvSpPr/>
          <p:nvPr/>
        </p:nvSpPr>
        <p:spPr>
          <a:xfrm>
            <a:off x="548640" y="4359147"/>
            <a:ext cx="3566160" cy="1767333"/>
          </a:xfrm>
          <a:prstGeom prst="roundRect">
            <a:avLst>
              <a:gd name="adj" fmla="val 62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4359147"/>
            <a:ext cx="3200400" cy="176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Görüşme sayısı</a:t>
            </a:r>
            <a:endParaRPr lang="en-US" sz="2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p &lt; 0,001</a:t>
            </a:r>
            <a:endParaRPr lang="en-US" sz="20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Başarılı 2,83; başarısız 1,96</a:t>
            </a:r>
            <a:endParaRPr lang="en-US" sz="2000" dirty="0"/>
          </a:p>
        </p:txBody>
      </p:sp>
      <p:sp>
        <p:nvSpPr>
          <p:cNvPr id="8" name="Kart"/>
          <p:cNvSpPr/>
          <p:nvPr/>
        </p:nvSpPr>
        <p:spPr>
          <a:xfrm>
            <a:off x="4297680" y="4359147"/>
            <a:ext cx="3566160" cy="1767333"/>
          </a:xfrm>
          <a:prstGeom prst="roundRect">
            <a:avLst>
              <a:gd name="adj" fmla="val 62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480560" y="4359147"/>
            <a:ext cx="3200400" cy="176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FNBT puanı</a:t>
            </a:r>
            <a:endParaRPr lang="en-US" sz="2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</a:rPr>
              <a:t>p = 0,024</a:t>
            </a:r>
            <a:endParaRPr lang="en-US" sz="20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Başarılı 5,26; başarısız 5,85</a:t>
            </a:r>
            <a:endParaRPr lang="en-US" sz="2000" dirty="0"/>
          </a:p>
        </p:txBody>
      </p:sp>
      <p:sp>
        <p:nvSpPr>
          <p:cNvPr id="10" name="Kart"/>
          <p:cNvSpPr/>
          <p:nvPr/>
        </p:nvSpPr>
        <p:spPr>
          <a:xfrm>
            <a:off x="8046720" y="4359147"/>
            <a:ext cx="3566160" cy="1767333"/>
          </a:xfrm>
          <a:prstGeom prst="roundRect">
            <a:avLst>
              <a:gd name="adj" fmla="val 62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0" y="4359147"/>
            <a:ext cx="3200400" cy="176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Paket-yıl</a:t>
            </a:r>
            <a:endParaRPr lang="en-US" sz="2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</a:rPr>
              <a:t>Fark yok</a:t>
            </a:r>
            <a:endParaRPr lang="en-US" sz="20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</a:rPr>
              <a:t>İki grup benzer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39" y="320040"/>
            <a:ext cx="116433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3200" dirty="0"/>
              <a:t>Tedavi yöntemlerinin sigara bırakma durumu ile karşılaştırılması</a:t>
            </a:r>
            <a:endParaRPr lang="en-US" sz="3200" dirty="0"/>
          </a:p>
        </p:txBody>
      </p:sp>
      <p:sp>
        <p:nvSpPr>
          <p:cNvPr id="4" name="Görsel çerçeve"/>
          <p:cNvSpPr/>
          <p:nvPr/>
        </p:nvSpPr>
        <p:spPr>
          <a:xfrm>
            <a:off x="548640" y="1325880"/>
            <a:ext cx="11091672" cy="3216842"/>
          </a:xfrm>
          <a:prstGeom prst="rect">
            <a:avLst/>
          </a:prstGeom>
          <a:solidFill>
            <a:schemeClr val="bg1"/>
          </a:solidFill>
          <a:ln w="12700">
            <a:solidFill>
              <a:srgbClr val="C9DCD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Tablo 5: Tedavi yöntemlerinin bırakma durumu ile karşılaştırılması" descr="Tablo 5: Tedavi yöntemlerinin bırakma durumu ile karşılaştırılması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11091672" cy="3216842"/>
          </a:xfrm>
          <a:prstGeom prst="rect">
            <a:avLst/>
          </a:prstGeom>
        </p:spPr>
      </p:pic>
      <p:sp>
        <p:nvSpPr>
          <p:cNvPr id="6" name="Kart"/>
          <p:cNvSpPr/>
          <p:nvPr/>
        </p:nvSpPr>
        <p:spPr>
          <a:xfrm>
            <a:off x="548640" y="4817042"/>
            <a:ext cx="3566160" cy="1309438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3"/>
          <p:cNvSpPr txBox="1"/>
          <p:nvPr/>
        </p:nvSpPr>
        <p:spPr>
          <a:xfrm>
            <a:off x="731520" y="4817042"/>
            <a:ext cx="3200400" cy="130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En yüksek</a:t>
            </a:r>
            <a:endParaRPr lang="en-US" sz="2000" dirty="0"/>
          </a:p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</a:rPr>
              <a:t>Kombine tedavi %4</a:t>
            </a:r>
            <a:r>
              <a:rPr lang="tr-TR" sz="2200" dirty="0">
                <a:solidFill>
                  <a:schemeClr val="accent1"/>
                </a:solidFill>
              </a:rPr>
              <a:t>3</a:t>
            </a:r>
            <a:r>
              <a:rPr lang="en-US" sz="2200" dirty="0">
                <a:solidFill>
                  <a:schemeClr val="accent1"/>
                </a:solidFill>
              </a:rPr>
              <a:t>,</a:t>
            </a:r>
            <a:r>
              <a:rPr lang="tr-TR" sz="2200" dirty="0">
                <a:solidFill>
                  <a:schemeClr val="accent1"/>
                </a:solidFill>
              </a:rPr>
              <a:t>98</a:t>
            </a:r>
            <a:endParaRPr lang="en-US" sz="2000" dirty="0"/>
          </a:p>
        </p:txBody>
      </p:sp>
      <p:sp>
        <p:nvSpPr>
          <p:cNvPr id="8" name="Kart"/>
          <p:cNvSpPr/>
          <p:nvPr/>
        </p:nvSpPr>
        <p:spPr>
          <a:xfrm>
            <a:off x="4297680" y="4817042"/>
            <a:ext cx="3566160" cy="1309438"/>
          </a:xfrm>
          <a:prstGeom prst="roundRect">
            <a:avLst>
              <a:gd name="adj" fmla="val 838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 txBox="1"/>
          <p:nvPr/>
        </p:nvSpPr>
        <p:spPr>
          <a:xfrm>
            <a:off x="4480560" y="4826373"/>
            <a:ext cx="3200400" cy="130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En düşük</a:t>
            </a:r>
            <a:endParaRPr lang="en-US" sz="2000" dirty="0"/>
          </a:p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Bupropion %16,5</a:t>
            </a:r>
            <a:r>
              <a:rPr lang="tr-TR" sz="2200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Kart"/>
          <p:cNvSpPr/>
          <p:nvPr/>
        </p:nvSpPr>
        <p:spPr>
          <a:xfrm>
            <a:off x="8046720" y="4817042"/>
            <a:ext cx="3566160" cy="1309438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 txBox="1"/>
          <p:nvPr/>
        </p:nvSpPr>
        <p:spPr>
          <a:xfrm>
            <a:off x="8229600" y="4817042"/>
            <a:ext cx="3200400" cy="130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Gruplar arası</a:t>
            </a:r>
            <a:endParaRPr lang="en-US" sz="2000" dirty="0"/>
          </a:p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</a:rPr>
              <a:t>p &lt; 0,001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dirty="0"/>
              <a:t>Sigara bırakma durumunu öngören tedavi yöntemleri ve ilişkili özelliklerin ileri analizi (lojistik regresyon)</a:t>
            </a:r>
            <a:endParaRPr lang="en-US" sz="3600" dirty="0"/>
          </a:p>
        </p:txBody>
      </p:sp>
      <p:sp>
        <p:nvSpPr>
          <p:cNvPr id="4" name="Görsel çerçeve"/>
          <p:cNvSpPr/>
          <p:nvPr/>
        </p:nvSpPr>
        <p:spPr>
          <a:xfrm>
            <a:off x="548640" y="1325880"/>
            <a:ext cx="7841940" cy="4892040"/>
          </a:xfrm>
          <a:prstGeom prst="rect">
            <a:avLst/>
          </a:prstGeom>
          <a:solidFill>
            <a:schemeClr val="bg1"/>
          </a:solidFill>
          <a:ln w="12700">
            <a:solidFill>
              <a:srgbClr val="C9DCDF"/>
            </a:solidFill>
            <a:prstDash val="solid"/>
          </a:ln>
        </p:spPr>
      </p:sp>
      <p:pic>
        <p:nvPicPr>
          <p:cNvPr id="5" name="Tablo 6: Lojistik regresyon sonuçları" descr="Tablo 6: Lojistik regresyon sonuçları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841940" cy="4892040"/>
          </a:xfrm>
          <a:prstGeom prst="rect">
            <a:avLst/>
          </a:prstGeom>
        </p:spPr>
      </p:pic>
      <p:sp>
        <p:nvSpPr>
          <p:cNvPr id="6" name="Kart"/>
          <p:cNvSpPr/>
          <p:nvPr/>
        </p:nvSpPr>
        <p:spPr>
          <a:xfrm>
            <a:off x="8710620" y="1325880"/>
            <a:ext cx="2929692" cy="4892040"/>
          </a:xfrm>
          <a:prstGeom prst="roundRect">
            <a:avLst>
              <a:gd name="adj" fmla="val 37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939220" y="1508760"/>
            <a:ext cx="247249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Referans: bupropion</a:t>
            </a:r>
            <a:endParaRPr lang="en-US" sz="1800" dirty="0"/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4,0 kat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vareniklin, kombine</a:t>
            </a:r>
            <a:endParaRPr lang="en-US" sz="1800" dirty="0"/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2,0 kat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hanede sigara içen yok</a:t>
            </a:r>
            <a:endParaRPr lang="en-US" sz="1800" dirty="0"/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1,6 kat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yakınma yok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Tartışma: tedaviler ve literatür</a:t>
            </a:r>
            <a:endParaRPr lang="en-US" sz="3600" dirty="0"/>
          </a:p>
        </p:txBody>
      </p:sp>
      <p:sp>
        <p:nvSpPr>
          <p:cNvPr id="4" name="Ikon zemini"/>
          <p:cNvSpPr/>
          <p:nvPr/>
        </p:nvSpPr>
        <p:spPr>
          <a:xfrm>
            <a:off x="548640" y="1444752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kon" descr="FaPil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1670609"/>
            <a:ext cx="416966" cy="41696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91640" y="1371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Vareniklin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937760" y="1371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Bupropiona üstün; parsiyel agonist etkiyle açıklanmaktadır</a:t>
            </a:r>
            <a:r>
              <a:rPr lang="en-US" sz="1800" dirty="0">
                <a:solidFill>
                  <a:schemeClr val="accent3"/>
                </a:solidFill>
              </a:rPr>
              <a:t>  [8, 9]</a:t>
            </a:r>
            <a:endParaRPr lang="en-US" sz="2200" dirty="0"/>
          </a:p>
        </p:txBody>
      </p:sp>
      <p:sp>
        <p:nvSpPr>
          <p:cNvPr id="8" name="Ikon zemini"/>
          <p:cNvSpPr/>
          <p:nvPr/>
        </p:nvSpPr>
        <p:spPr>
          <a:xfrm>
            <a:off x="548640" y="265176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kon" descr="FaLea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7" y="2877617"/>
            <a:ext cx="416966" cy="41696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91640" y="257860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Sitizin</a:t>
            </a:r>
            <a:endParaRPr lang="en-US" sz="2600" dirty="0"/>
          </a:p>
        </p:txBody>
      </p:sp>
      <p:sp>
        <p:nvSpPr>
          <p:cNvPr id="11" name="Text 6"/>
          <p:cNvSpPr txBox="1"/>
          <p:nvPr/>
        </p:nvSpPr>
        <p:spPr>
          <a:xfrm>
            <a:off x="4937760" y="2578608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Plaseboya üstün; NRT </a:t>
            </a:r>
            <a:r>
              <a:rPr lang="tr-TR" sz="2200" dirty="0">
                <a:solidFill>
                  <a:schemeClr val="accent1"/>
                </a:solidFill>
              </a:rPr>
              <a:t>ile benzer etkinlik </a:t>
            </a:r>
            <a:r>
              <a:rPr lang="en-US" sz="2200" dirty="0" err="1">
                <a:solidFill>
                  <a:schemeClr val="accent1"/>
                </a:solidFill>
              </a:rPr>
              <a:t>ve</a:t>
            </a:r>
            <a:r>
              <a:rPr lang="en-US" sz="2200" dirty="0">
                <a:solidFill>
                  <a:schemeClr val="accent1"/>
                </a:solidFill>
              </a:rPr>
              <a:t> </a:t>
            </a:r>
            <a:r>
              <a:rPr lang="en-US" sz="2200" dirty="0" err="1">
                <a:solidFill>
                  <a:schemeClr val="accent1"/>
                </a:solidFill>
              </a:rPr>
              <a:t>vareniklinle</a:t>
            </a:r>
            <a:r>
              <a:rPr lang="en-US" sz="2200" dirty="0">
                <a:solidFill>
                  <a:schemeClr val="accent1"/>
                </a:solidFill>
              </a:rPr>
              <a:t> </a:t>
            </a:r>
            <a:r>
              <a:rPr lang="en-US" sz="2200" dirty="0" err="1">
                <a:solidFill>
                  <a:schemeClr val="accent1"/>
                </a:solidFill>
              </a:rPr>
              <a:t>benzer</a:t>
            </a:r>
            <a:r>
              <a:rPr lang="tr-TR" sz="2200" dirty="0">
                <a:solidFill>
                  <a:schemeClr val="accent1"/>
                </a:solidFill>
              </a:rPr>
              <a:t> etki mekanizması</a:t>
            </a:r>
            <a:r>
              <a:rPr lang="en-US" sz="1800" dirty="0">
                <a:solidFill>
                  <a:schemeClr val="accent3"/>
                </a:solidFill>
              </a:rPr>
              <a:t>  [10, 11]</a:t>
            </a:r>
            <a:endParaRPr lang="en-US" sz="2200" dirty="0"/>
          </a:p>
        </p:txBody>
      </p:sp>
      <p:sp>
        <p:nvSpPr>
          <p:cNvPr id="12" name="Ikon zemini"/>
          <p:cNvSpPr/>
          <p:nvPr/>
        </p:nvSpPr>
        <p:spPr>
          <a:xfrm>
            <a:off x="548640" y="3858768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kon" descr="FaExchange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7" y="4084625"/>
            <a:ext cx="416966" cy="41696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91640" y="3785616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Kombine tedavi</a:t>
            </a:r>
            <a:endParaRPr lang="en-US" sz="2600" dirty="0"/>
          </a:p>
        </p:txBody>
      </p:sp>
      <p:sp>
        <p:nvSpPr>
          <p:cNvPr id="15" name="Text 9"/>
          <p:cNvSpPr txBox="1"/>
          <p:nvPr/>
        </p:nvSpPr>
        <p:spPr>
          <a:xfrm>
            <a:off x="4937760" y="3785616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Kılavuz önerileriyle uyumlu</a:t>
            </a:r>
            <a:r>
              <a:rPr lang="en-US" sz="1800" dirty="0">
                <a:solidFill>
                  <a:schemeClr val="accent3"/>
                </a:solidFill>
              </a:rPr>
              <a:t>  [12]</a:t>
            </a:r>
            <a:endParaRPr lang="en-US" sz="2200" dirty="0"/>
          </a:p>
        </p:txBody>
      </p:sp>
      <p:sp>
        <p:nvSpPr>
          <p:cNvPr id="16" name="Ikon zemini"/>
          <p:cNvSpPr/>
          <p:nvPr/>
        </p:nvSpPr>
        <p:spPr>
          <a:xfrm>
            <a:off x="548640" y="5065776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kon" descr="FaBookMedic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7" y="5291633"/>
            <a:ext cx="416966" cy="41696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91640" y="499262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Benli ve ark.</a:t>
            </a:r>
            <a:endParaRPr lang="en-US" sz="2600" dirty="0"/>
          </a:p>
        </p:txBody>
      </p:sp>
      <p:sp>
        <p:nvSpPr>
          <p:cNvPr id="19" name="Text 12"/>
          <p:cNvSpPr txBox="1"/>
          <p:nvPr/>
        </p:nvSpPr>
        <p:spPr>
          <a:xfrm>
            <a:off x="4937760" y="4992624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Vareniklin ilk 6 ayda daha etkili</a:t>
            </a:r>
            <a:r>
              <a:rPr lang="en-US" sz="1800" dirty="0">
                <a:solidFill>
                  <a:schemeClr val="accent3"/>
                </a:solidFill>
              </a:rPr>
              <a:t>  [13]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Tartışma: başarıyı etkileyen faktörler</a:t>
            </a:r>
            <a:endParaRPr lang="en-US" sz="3600" dirty="0"/>
          </a:p>
        </p:txBody>
      </p:sp>
      <p:sp>
        <p:nvSpPr>
          <p:cNvPr id="4" name="Ikon zemini"/>
          <p:cNvSpPr/>
          <p:nvPr/>
        </p:nvSpPr>
        <p:spPr>
          <a:xfrm>
            <a:off x="548640" y="1444752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kon" descr="FaComm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1670609"/>
            <a:ext cx="416966" cy="41696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91640" y="1371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Davranışsal destek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937760" y="1371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Görüşme sayısı arttıkça başarı artmaktadır</a:t>
            </a:r>
            <a:endParaRPr lang="en-US" sz="2200" dirty="0"/>
          </a:p>
        </p:txBody>
      </p:sp>
      <p:sp>
        <p:nvSpPr>
          <p:cNvPr id="8" name="Ikon zemini"/>
          <p:cNvSpPr/>
          <p:nvPr/>
        </p:nvSpPr>
        <p:spPr>
          <a:xfrm>
            <a:off x="548640" y="265176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kon" descr="FaHo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7" y="2877617"/>
            <a:ext cx="416966" cy="41696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91640" y="257860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Hane ortamı</a:t>
            </a:r>
            <a:endParaRPr lang="en-US" sz="2600" dirty="0"/>
          </a:p>
        </p:txBody>
      </p:sp>
      <p:sp>
        <p:nvSpPr>
          <p:cNvPr id="11" name="Text 6"/>
          <p:cNvSpPr txBox="1"/>
          <p:nvPr/>
        </p:nvSpPr>
        <p:spPr>
          <a:xfrm>
            <a:off x="4937760" y="2578608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Evde sigara içilmemesi olasılığı ikiye katlamaktadır</a:t>
            </a:r>
            <a:r>
              <a:rPr lang="en-US" sz="1800" dirty="0">
                <a:solidFill>
                  <a:schemeClr val="accent3"/>
                </a:solidFill>
              </a:rPr>
              <a:t>  [14]</a:t>
            </a:r>
            <a:endParaRPr lang="en-US" sz="2200" dirty="0"/>
          </a:p>
        </p:txBody>
      </p:sp>
      <p:sp>
        <p:nvSpPr>
          <p:cNvPr id="12" name="Ikon zemini"/>
          <p:cNvSpPr/>
          <p:nvPr/>
        </p:nvSpPr>
        <p:spPr>
          <a:xfrm>
            <a:off x="548640" y="3858768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kon" descr="FaClipboardLi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7" y="4084625"/>
            <a:ext cx="416966" cy="41696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91640" y="3785616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Bağımlılık düzeyi</a:t>
            </a:r>
            <a:endParaRPr lang="en-US" sz="2600" dirty="0"/>
          </a:p>
        </p:txBody>
      </p:sp>
      <p:sp>
        <p:nvSpPr>
          <p:cNvPr id="15" name="Text 9"/>
          <p:cNvSpPr txBox="1"/>
          <p:nvPr/>
        </p:nvSpPr>
        <p:spPr>
          <a:xfrm>
            <a:off x="4937760" y="3785616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Ortalama puan literatürle uyumlu; yüksek puan düşük başarıyla ilişkili</a:t>
            </a:r>
            <a:r>
              <a:rPr lang="en-US" sz="1800" dirty="0">
                <a:solidFill>
                  <a:schemeClr val="accent3"/>
                </a:solidFill>
              </a:rPr>
              <a:t>  [15]</a:t>
            </a:r>
            <a:endParaRPr lang="en-US" sz="2200" dirty="0"/>
          </a:p>
        </p:txBody>
      </p:sp>
      <p:sp>
        <p:nvSpPr>
          <p:cNvPr id="16" name="Ikon zemini"/>
          <p:cNvSpPr/>
          <p:nvPr/>
        </p:nvSpPr>
        <p:spPr>
          <a:xfrm>
            <a:off x="548640" y="5065776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kon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7" y="5291633"/>
            <a:ext cx="416966" cy="41696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91640" y="499262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İçsel motivasyon</a:t>
            </a:r>
            <a:endParaRPr lang="en-US" sz="2600" dirty="0"/>
          </a:p>
        </p:txBody>
      </p:sp>
      <p:sp>
        <p:nvSpPr>
          <p:cNvPr id="19" name="Text 12"/>
          <p:cNvSpPr txBox="1"/>
          <p:nvPr/>
        </p:nvSpPr>
        <p:spPr>
          <a:xfrm>
            <a:off x="4937760" y="4992624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Yakınması olmayanlarda başarı daha yüksektir</a:t>
            </a:r>
            <a:r>
              <a:rPr lang="en-US" sz="1800" dirty="0">
                <a:solidFill>
                  <a:schemeClr val="accent3"/>
                </a:solidFill>
              </a:rPr>
              <a:t>  [16]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Kısıtlılıklar ve güçlü yönler</a:t>
            </a:r>
            <a:endParaRPr lang="en-US" sz="3600" dirty="0"/>
          </a:p>
        </p:txBody>
      </p:sp>
      <p:sp>
        <p:nvSpPr>
          <p:cNvPr id="4" name="Kart"/>
          <p:cNvSpPr/>
          <p:nvPr/>
        </p:nvSpPr>
        <p:spPr>
          <a:xfrm>
            <a:off x="548640" y="137160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kon zemini"/>
          <p:cNvSpPr/>
          <p:nvPr/>
        </p:nvSpPr>
        <p:spPr>
          <a:xfrm>
            <a:off x="822960" y="1572768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kon" descr="FaExclamation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786738"/>
            <a:ext cx="395021" cy="3950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28800" y="157276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Kısıtlılıklar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65176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accent1"/>
                </a:solidFill>
              </a:rPr>
              <a:t>Asistan rotasyonu</a:t>
            </a:r>
            <a:endParaRPr lang="en-US" sz="2200" dirty="0"/>
          </a:p>
          <a:p>
            <a:pPr marL="279400" indent="-279400" algn="just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accent1"/>
                </a:solidFill>
              </a:rPr>
              <a:t>Telefonla tamamlanan veriler</a:t>
            </a:r>
            <a:endParaRPr lang="en-US" sz="2200" dirty="0"/>
          </a:p>
          <a:p>
            <a:pPr marL="279400" indent="-279400" algn="just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accent1"/>
                </a:solidFill>
              </a:rPr>
              <a:t>Vareniklinin piyasadan çekilmesi</a:t>
            </a:r>
            <a:endParaRPr lang="en-US" sz="2200" dirty="0"/>
          </a:p>
        </p:txBody>
      </p:sp>
      <p:sp>
        <p:nvSpPr>
          <p:cNvPr id="9" name="Kart"/>
          <p:cNvSpPr/>
          <p:nvPr/>
        </p:nvSpPr>
        <p:spPr>
          <a:xfrm>
            <a:off x="6172200" y="137160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kon zemini"/>
          <p:cNvSpPr/>
          <p:nvPr/>
        </p:nvSpPr>
        <p:spPr>
          <a:xfrm>
            <a:off x="6446520" y="1572768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kon" descr="FaSt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1786738"/>
            <a:ext cx="395021" cy="39502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52360" y="157276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Güçlü yönler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65176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accent1"/>
                </a:solidFill>
              </a:rPr>
              <a:t>Sitizin ile ilk erişilebilir tez çalışması</a:t>
            </a:r>
            <a:endParaRPr lang="en-US" sz="2200" dirty="0"/>
          </a:p>
          <a:p>
            <a:pPr marL="279400" indent="-279400" algn="just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accent1"/>
                </a:solidFill>
              </a:rPr>
              <a:t>Birçok tedavi seçeneğini kapsaması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Sonuç ve öneriler</a:t>
            </a:r>
            <a:endParaRPr lang="en-US" sz="3600" dirty="0"/>
          </a:p>
        </p:txBody>
      </p:sp>
      <p:sp>
        <p:nvSpPr>
          <p:cNvPr id="4" name="Kart"/>
          <p:cNvSpPr/>
          <p:nvPr/>
        </p:nvSpPr>
        <p:spPr>
          <a:xfrm>
            <a:off x="548640" y="150876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</a:rPr>
              <a:t>Üçte bir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</a:rPr>
              <a:t>hasta sigarayı bırakmıştır</a:t>
            </a:r>
            <a:endParaRPr lang="en-US" sz="2200" dirty="0"/>
          </a:p>
        </p:txBody>
      </p:sp>
      <p:sp>
        <p:nvSpPr>
          <p:cNvPr id="7" name="Kart"/>
          <p:cNvSpPr/>
          <p:nvPr/>
        </p:nvSpPr>
        <p:spPr>
          <a:xfrm>
            <a:off x="4297680" y="150876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97680" y="1828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</a:rPr>
              <a:t>Kombine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tedavide bırakma oranı daha yüksektir</a:t>
            </a:r>
            <a:endParaRPr lang="en-US" sz="2200" dirty="0"/>
          </a:p>
        </p:txBody>
      </p:sp>
      <p:sp>
        <p:nvSpPr>
          <p:cNvPr id="10" name="Kart"/>
          <p:cNvSpPr/>
          <p:nvPr/>
        </p:nvSpPr>
        <p:spPr>
          <a:xfrm>
            <a:off x="8046720" y="150876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1828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</a:rPr>
              <a:t>Uyum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</a:rPr>
              <a:t>arttıkça başarı artmaktadır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200" i="1" dirty="0">
                <a:solidFill>
                  <a:schemeClr val="accent1"/>
                </a:solidFill>
              </a:rPr>
              <a:t>Öneri: Tedavi seanslarında motivasyonu artırmaya yönelik çabalar yoğunlaştırılmalıdır.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Akılda kalacak mesajlar</a:t>
            </a:r>
            <a:endParaRPr lang="en-US" sz="3600" dirty="0"/>
          </a:p>
        </p:txBody>
      </p:sp>
      <p:sp>
        <p:nvSpPr>
          <p:cNvPr id="4" name="Onay zemini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on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27632"/>
            <a:ext cx="310896" cy="310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3716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Hastaların üçte biri sigarayı bırakmıştır</a:t>
            </a:r>
            <a:endParaRPr lang="en-US" sz="2600" dirty="0"/>
          </a:p>
        </p:txBody>
      </p:sp>
      <p:sp>
        <p:nvSpPr>
          <p:cNvPr id="7" name="Onay zemini"/>
          <p:cNvSpPr/>
          <p:nvPr/>
        </p:nvSpPr>
        <p:spPr>
          <a:xfrm>
            <a:off x="548640" y="2395728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on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560320"/>
            <a:ext cx="310896" cy="31089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63040" y="230428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Kombine tedavide başarı daha yüksektir</a:t>
            </a:r>
            <a:endParaRPr lang="en-US" sz="2600" dirty="0"/>
          </a:p>
        </p:txBody>
      </p:sp>
      <p:sp>
        <p:nvSpPr>
          <p:cNvPr id="10" name="Onay zemini"/>
          <p:cNvSpPr/>
          <p:nvPr/>
        </p:nvSpPr>
        <p:spPr>
          <a:xfrm>
            <a:off x="548640" y="3328416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on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93008"/>
            <a:ext cx="310896" cy="31089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463040" y="3236976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En düşük başarı bupropion monoterapisindedir</a:t>
            </a:r>
            <a:endParaRPr lang="en-US" sz="2600" dirty="0"/>
          </a:p>
        </p:txBody>
      </p:sp>
      <p:sp>
        <p:nvSpPr>
          <p:cNvPr id="13" name="Onay zemini"/>
          <p:cNvSpPr/>
          <p:nvPr/>
        </p:nvSpPr>
        <p:spPr>
          <a:xfrm>
            <a:off x="548640" y="4261104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3" descr="on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425696"/>
            <a:ext cx="310896" cy="31089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463040" y="4169664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Hanede sigara içen olması başarıyı azaltmaktadır</a:t>
            </a:r>
            <a:endParaRPr lang="en-US" sz="2600" dirty="0"/>
          </a:p>
        </p:txBody>
      </p:sp>
      <p:sp>
        <p:nvSpPr>
          <p:cNvPr id="16" name="Onay zemini"/>
          <p:cNvSpPr/>
          <p:nvPr/>
        </p:nvSpPr>
        <p:spPr>
          <a:xfrm>
            <a:off x="548640" y="5193792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4" descr="on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58384"/>
            <a:ext cx="310896" cy="31089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463040" y="510235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Sık takip başarıyla ilişkilidir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Kaynaklar</a:t>
            </a:r>
            <a:endParaRPr lang="en-US" sz="3600" dirty="0"/>
          </a:p>
        </p:txBody>
      </p:sp>
      <p:sp>
        <p:nvSpPr>
          <p:cNvPr id="4" name="Kaynaklar 1-8"/>
          <p:cNvSpPr txBox="1"/>
          <p:nvPr/>
        </p:nvSpPr>
        <p:spPr>
          <a:xfrm>
            <a:off x="548640" y="1234440"/>
            <a:ext cx="544068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accent1"/>
                </a:solidFill>
              </a:rPr>
              <a:t>Cenberlitaş E, Gökçe A, Öztürk O. Demographic and clinical characteristics of patients applying to a smoking cessation clinic affiliated with a university hospital and factors affecting their smoking cessation status. Turk J Fam Pract. 2026;30(2):97-106.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accent1"/>
                </a:solidFill>
              </a:rPr>
              <a:t>Summers AD, Sirin H, Palipudi K, Erguder T, Ciobanu A, Ahluwalia IB. Changes in prevalence and predictors of tobacco smoking and interest in smoking cessation in Turkey: evidence from the Global Adult Tobacco Survey, 2008-2016. Tob Prev Cessat. 2022;8:35.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accent1"/>
                </a:solidFill>
              </a:rPr>
              <a:t>Sigarayı bırakma polikliniklerinden 2,5 milyon kişi hizmet aldı [İnternet]. Anadolu Ajansı. Erişim: 25.09.2025. https://www.aa.com.tr/tr/saglik/sigarayi-birakma-polikliniklerinden-2-5-milyon-kisi-hizmet-aldi/1533870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accent1"/>
                </a:solidFill>
              </a:rPr>
              <a:t>Fidanci I, Ozturk O, Unal M. Transtheoretic Model in smoking cessation. J Exp Clin Med. 2017;34(1):9-13.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accent1"/>
                </a:solidFill>
              </a:rPr>
              <a:t>McDonough M. Update on medicines for smoking cessation. Aust Prescr. 2015;38(4):106-11.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accent1"/>
                </a:solidFill>
              </a:rPr>
              <a:t>Heatherton TF, Kozlowski LT, Frecker RC, Fagerström KO. The Fagerström test for nicotine dependence: a revision of the Fagerström Tolerance Questionnaire. Br J Addict. 1991;86(9):1119-27.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accent1"/>
                </a:solidFill>
              </a:rPr>
              <a:t>Uysal M, Kadakal F, Karşıdağ Ç, Bayram N, Uysal O, Yilmaz V. Fagerström test for nicotine dependence: reliability in a Turkish sample and factor analysis. Tuberk Toraks. 2004;52(2):175-82.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chemeClr val="accent1"/>
                </a:solidFill>
              </a:rPr>
              <a:t>Cahill K, Stevens S, Perera R, Lancaster T. Pharmacological interventions for smoking cessation: an overview and network meta-analysis. Cochrane Database Syst Rev. 2013;(5):CD009329.</a:t>
            </a:r>
            <a:endParaRPr lang="en-US" sz="1100" dirty="0"/>
          </a:p>
        </p:txBody>
      </p:sp>
      <p:sp>
        <p:nvSpPr>
          <p:cNvPr id="5" name="Kaynaklar 9-16"/>
          <p:cNvSpPr txBox="1"/>
          <p:nvPr/>
        </p:nvSpPr>
        <p:spPr>
          <a:xfrm>
            <a:off x="6263640" y="1234440"/>
            <a:ext cx="534924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 startAt="9"/>
            </a:pPr>
            <a:r>
              <a:rPr lang="en-US" sz="1100" dirty="0">
                <a:solidFill>
                  <a:schemeClr val="accent1"/>
                </a:solidFill>
              </a:rPr>
              <a:t>Anthenelli RM, Benowitz NL, West R, et al. Neuropsychiatric safety and efficacy of varenicline, bupropion, and nicotine patch in smokers with and without psychiatric disorders (EAGLES). Lancet. 2016;387(10037):2507-20.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 startAt="9"/>
            </a:pPr>
            <a:r>
              <a:rPr lang="en-US" sz="1100" dirty="0">
                <a:solidFill>
                  <a:schemeClr val="accent1"/>
                </a:solidFill>
              </a:rPr>
              <a:t>Walker N, Howe C, Glover M, et al. Cytisine versus nicotine for smoking cessation. N Engl J Med. 2014;371(25):2353-62.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 startAt="9"/>
            </a:pPr>
            <a:r>
              <a:rPr lang="en-US" sz="1100" dirty="0">
                <a:solidFill>
                  <a:schemeClr val="accent1"/>
                </a:solidFill>
              </a:rPr>
              <a:t>Courtney RJ, McRobbie H, Tutka P, et al. Effect of cytisine vs varenicline on smoking cessation: a randomized clinical trial. JAMA. 2021;326(1):56-64.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 startAt="9"/>
            </a:pPr>
            <a:r>
              <a:rPr lang="en-US" sz="1100" dirty="0">
                <a:solidFill>
                  <a:schemeClr val="accent1"/>
                </a:solidFill>
              </a:rPr>
              <a:t>Koegelenberg CFN, Noor F, Bateman ED, et al. Efficacy of varenicline combined with nicotine replacement therapy vs varenicline alone for smoking cessation: a randomized clinical trial. JAMA. 2014;312(2):155-61.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 startAt="9"/>
            </a:pPr>
            <a:r>
              <a:rPr lang="en-US" sz="1100" dirty="0">
                <a:solidFill>
                  <a:schemeClr val="accent1"/>
                </a:solidFill>
              </a:rPr>
              <a:t>Benli AR, Erturhan S, Oruc MA, Kalpakci P, Sunay D, Demirel Y. A comparison of the efficacy of varenicline and bupropion and an evaluation of the effect of the medications in the context of the smoking cessation programme. Tob Induc Dis. 2017;15:10.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 startAt="9"/>
            </a:pPr>
            <a:r>
              <a:rPr lang="en-US" sz="1100" dirty="0">
                <a:solidFill>
                  <a:schemeClr val="accent1"/>
                </a:solidFill>
              </a:rPr>
              <a:t>Park EW, Schultz JK, Tudiver F, Campbell T, Becker L. Enhancing partner support to improve smoking cessation. Cochrane Database Syst Rev. 2004;(3):CD002928.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 startAt="9"/>
            </a:pPr>
            <a:r>
              <a:rPr lang="en-US" sz="1100" dirty="0">
                <a:solidFill>
                  <a:schemeClr val="accent1"/>
                </a:solidFill>
              </a:rPr>
              <a:t>Davis JM, Masclans L, Rose JE. Adaptive smoking cessation using precessation varenicline or nicotine patch: a randomized clinical trial. JAMA Netw Open. 2023;6(9):e2332214.</a:t>
            </a:r>
            <a:endParaRPr lang="en-US" sz="1100" dirty="0"/>
          </a:p>
          <a:p>
            <a:pPr marL="342900" indent="-342900" algn="just">
              <a:spcAft>
                <a:spcPts val="400"/>
              </a:spcAft>
              <a:buSzPct val="100000"/>
              <a:buFont typeface="+mj-lt"/>
              <a:buAutoNum type="arabicPeriod" startAt="9"/>
            </a:pPr>
            <a:r>
              <a:rPr lang="en-US" sz="1100" dirty="0">
                <a:solidFill>
                  <a:schemeClr val="accent1"/>
                </a:solidFill>
              </a:rPr>
              <a:t>Curry S, Wagner EH, Grothaus LC. Intrinsic and extrinsic motivation for smoking cessation. J Consult Clin Psychol. 1990;58(3):310-6.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A8C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9144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İlginiz ve katkılarınız için teşekkür ederim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344202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 </a:t>
            </a:r>
            <a:endParaRPr lang="en-US" sz="2600" dirty="0"/>
          </a:p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</a:rPr>
              <a:t>Asst. Dr. Ahmet KIRAN</a:t>
            </a:r>
            <a:endParaRPr lang="tr-TR" sz="2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tr-TR" sz="2200" dirty="0">
                <a:solidFill>
                  <a:schemeClr val="bg2"/>
                </a:solidFill>
              </a:rPr>
              <a:t>Mail: kiranahmet@gmail.com</a:t>
            </a:r>
            <a:endParaRPr lang="en-US" sz="2600" dirty="0"/>
          </a:p>
        </p:txBody>
      </p:sp>
      <p:sp>
        <p:nvSpPr>
          <p:cNvPr id="5" name="Görsel zemini"/>
          <p:cNvSpPr/>
          <p:nvPr/>
        </p:nvSpPr>
        <p:spPr>
          <a:xfrm>
            <a:off x="8183880" y="1325880"/>
            <a:ext cx="3291840" cy="32918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Dumansız simge" descr="Sigara içilmez simge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5740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26680" y="4846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chemeClr val="bg2"/>
                </a:solidFill>
              </a:rPr>
              <a:t>Dumansız bir gelecek için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E6F0F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ara Birakma Sunumu">
  <a:themeElements>
    <a:clrScheme name="Sigara Birakma Sunumu">
      <a:dk1>
        <a:srgbClr val="123A45"/>
      </a:dk1>
      <a:lt1>
        <a:srgbClr val="FFFFFF"/>
      </a:lt1>
      <a:dk2>
        <a:srgbClr val="0F4C5C"/>
      </a:dk2>
      <a:lt2>
        <a:srgbClr val="E6F0F1"/>
      </a:lt2>
      <a:accent1>
        <a:srgbClr val="0F4C5C"/>
      </a:accent1>
      <a:accent2>
        <a:srgbClr val="2A9D8F"/>
      </a:accent2>
      <a:accent3>
        <a:srgbClr val="7A8C94"/>
      </a:accent3>
      <a:accent4>
        <a:srgbClr val="5C8A93"/>
      </a:accent4>
      <a:accent5>
        <a:srgbClr val="B9D9D5"/>
      </a:accent5>
      <a:accent6>
        <a:srgbClr val="3D6B78"/>
      </a:accent6>
      <a:hlink>
        <a:srgbClr val="2A9D8F"/>
      </a:hlink>
      <a:folHlink>
        <a:srgbClr val="7A8C94"/>
      </a:folHlink>
    </a:clrScheme>
    <a:fontScheme name="Sigara Birakma Sunumu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2783</Words>
  <Application>Microsoft Office PowerPoint</Application>
  <PresentationFormat>Geniş ekran</PresentationFormat>
  <Paragraphs>330</Paragraphs>
  <Slides>26</Slides>
  <Notes>26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29" baseType="lpstr">
      <vt:lpstr>Arial</vt:lpstr>
      <vt:lpstr>Calibri</vt:lpstr>
      <vt:lpstr>Sigara Birakma Sunumu</vt:lpstr>
      <vt:lpstr>Bir üniversite hastanesine bağlı sigara bırakma polikliniğine başvuran hastaların demografik ve klinik özellikleri ile sigara bırakma durumlarını etkileyen faktörler</vt:lpstr>
      <vt:lpstr>PowerPoint Sunusu</vt:lpstr>
      <vt:lpstr>İçerik</vt:lpstr>
      <vt:lpstr>Sorunun büyüklüğü</vt:lpstr>
      <vt:lpstr>Tedavi seçenekleri</vt:lpstr>
      <vt:lpstr>Çalışmanın amacı</vt:lpstr>
      <vt:lpstr>Tasarım ve örneklem</vt:lpstr>
      <vt:lpstr>Veri toplama ve bağımlılık ölçümü</vt:lpstr>
      <vt:lpstr>Tedavi yaklaşımı</vt:lpstr>
      <vt:lpstr>İstatistiksel analiz</vt:lpstr>
      <vt:lpstr>Katılımcıların genel özellikleri</vt:lpstr>
      <vt:lpstr>Bağımlılık düzeyi ve deneme öyküsü</vt:lpstr>
      <vt:lpstr>Sosyodemografik özellikler</vt:lpstr>
      <vt:lpstr>Sosyodemografik özelliklere göre sigara bırakma sonuçları</vt:lpstr>
      <vt:lpstr>Sosyodemografik özelliklere göre sigara bırakma (devam)</vt:lpstr>
      <vt:lpstr>Katılımcıların kullandığı tedavi seçenekleri</vt:lpstr>
      <vt:lpstr>Görüşme sayısı, FNBT ve paket-yıl</vt:lpstr>
      <vt:lpstr>Tedavi yöntemlerinin sigara bırakma durumu ile karşılaştırılması</vt:lpstr>
      <vt:lpstr>Sigara bırakma durumunu öngören tedavi yöntemleri ve ilişkili özelliklerin ileri analizi (lojistik regresyon)</vt:lpstr>
      <vt:lpstr>Tartışma: tedaviler ve literatür</vt:lpstr>
      <vt:lpstr>Tartışma: başarıyı etkileyen faktörler</vt:lpstr>
      <vt:lpstr>Kısıtlılıklar ve güçlü yönler</vt:lpstr>
      <vt:lpstr>Sonuç ve öneriler</vt:lpstr>
      <vt:lpstr>Akılda kalacak mesajlar</vt:lpstr>
      <vt:lpstr>Kaynaklar</vt:lpstr>
      <vt:lpstr>İlginiz ve katkılarınız için teşekkür ederim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Sigara bırakma polikliniği: makale sunumu</dc:title>
  <dc:subject>Makale sunumu</dc:subject>
  <dc:creator>PptxGenJS</dc:creator>
  <cp:lastModifiedBy>Ahmet Kıran</cp:lastModifiedBy>
  <cp:revision>2</cp:revision>
  <dcterms:created xsi:type="dcterms:W3CDTF">2026-10-12T20:59:45Z</dcterms:created>
  <dcterms:modified xsi:type="dcterms:W3CDTF">2026-10-20T19:55:21Z</dcterms:modified>
</cp:coreProperties>
</file>