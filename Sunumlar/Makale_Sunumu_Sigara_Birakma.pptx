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84" r:id="rId3"/>
    <p:sldId id="257"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1" r:id="rId25"/>
    <p:sldId id="282" r:id="rId26"/>
    <p:sldId id="283"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CBD3B5D9-2F93-2580-60F6-41F54A367A1E}">
          <p14:sldIdLst>
            <p14:sldId id="256"/>
            <p14:sldId id="284"/>
            <p14:sldId id="257"/>
            <p14:sldId id="260"/>
            <p14:sldId id="261"/>
            <p14:sldId id="262"/>
          </p14:sldIdLst>
        </p14:section>
        <p14:section name="Gereç ve yöntem" id="{04071607-34FB-0E23-AD47-B8414C83E64F}">
          <p14:sldIdLst>
            <p14:sldId id="263"/>
            <p14:sldId id="264"/>
            <p14:sldId id="265"/>
            <p14:sldId id="266"/>
          </p14:sldIdLst>
        </p14:section>
        <p14:section name="Bulgular" id="{68D7AA3F-A07B-6D95-8EB4-AFF56FC4ECE4}">
          <p14:sldIdLst>
            <p14:sldId id="267"/>
            <p14:sldId id="268"/>
            <p14:sldId id="269"/>
            <p14:sldId id="270"/>
            <p14:sldId id="271"/>
            <p14:sldId id="272"/>
            <p14:sldId id="273"/>
            <p14:sldId id="274"/>
            <p14:sldId id="275"/>
          </p14:sldIdLst>
        </p14:section>
        <p14:section name="Tartışma" id="{0B6DA766-F717-08AA-80F2-D174BC057A12}">
          <p14:sldIdLst>
            <p14:sldId id="276"/>
            <p14:sldId id="277"/>
            <p14:sldId id="278"/>
          </p14:sldIdLst>
        </p14:section>
        <p14:section name="Sonuç" id="{D7D5B8D7-35CC-0BDF-FC0E-24C71FE0EBF6}">
          <p14:sldIdLst>
            <p14:sldId id="279"/>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72" autoAdjust="0"/>
    <p:restoredTop sz="64744" autoAdjust="0"/>
  </p:normalViewPr>
  <p:slideViewPr>
    <p:cSldViewPr snapToGrid="0" snapToObjects="1">
      <p:cViewPr varScale="1">
        <p:scale>
          <a:sx n="82" d="100"/>
          <a:sy n="82" d="100"/>
        </p:scale>
        <p:origin x="720"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987046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değerli</a:t>
            </a:r>
            <a:r>
              <a:rPr dirty="0"/>
              <a:t> </a:t>
            </a:r>
            <a:r>
              <a:rPr dirty="0" err="1"/>
              <a:t>hocalarım</a:t>
            </a:r>
            <a:r>
              <a:rPr dirty="0"/>
              <a:t>, </a:t>
            </a:r>
            <a:r>
              <a:rPr lang="tr-TR" dirty="0"/>
              <a:t>asistan</a:t>
            </a:r>
            <a:r>
              <a:rPr dirty="0"/>
              <a:t> </a:t>
            </a:r>
            <a:r>
              <a:rPr dirty="0" err="1"/>
              <a:t>arkadaşlarım</a:t>
            </a:r>
            <a:r>
              <a:rPr dirty="0"/>
              <a:t>. Ben </a:t>
            </a:r>
            <a:r>
              <a:rPr dirty="0" err="1"/>
              <a:t>Asistan</a:t>
            </a:r>
            <a:r>
              <a:rPr dirty="0"/>
              <a:t> Dr. Ahmet Kıran.</a:t>
            </a:r>
          </a:p>
          <a:p>
            <a:r>
              <a:rPr dirty="0" err="1"/>
              <a:t>Bugün</a:t>
            </a:r>
            <a:r>
              <a:rPr dirty="0"/>
              <a:t> </a:t>
            </a:r>
            <a:r>
              <a:rPr dirty="0" err="1"/>
              <a:t>sizlere</a:t>
            </a:r>
            <a:r>
              <a:rPr dirty="0"/>
              <a:t> </a:t>
            </a:r>
            <a:r>
              <a:rPr dirty="0" err="1"/>
              <a:t>Uzm</a:t>
            </a:r>
            <a:r>
              <a:rPr dirty="0"/>
              <a:t>. Dr. Emre </a:t>
            </a:r>
            <a:r>
              <a:rPr dirty="0" err="1"/>
              <a:t>Cenberlitaş</a:t>
            </a:r>
            <a:r>
              <a:rPr dirty="0"/>
              <a:t> </a:t>
            </a:r>
            <a:r>
              <a:rPr dirty="0" err="1"/>
              <a:t>ve</a:t>
            </a:r>
            <a:r>
              <a:rPr dirty="0"/>
              <a:t> </a:t>
            </a:r>
            <a:r>
              <a:rPr dirty="0" err="1"/>
              <a:t>hocalarımızdan</a:t>
            </a:r>
            <a:r>
              <a:rPr dirty="0"/>
              <a:t> </a:t>
            </a:r>
            <a:r>
              <a:rPr dirty="0" err="1"/>
              <a:t>Aksanur</a:t>
            </a:r>
            <a:r>
              <a:rPr dirty="0"/>
              <a:t> </a:t>
            </a:r>
            <a:r>
              <a:rPr dirty="0" err="1"/>
              <a:t>ve</a:t>
            </a:r>
            <a:r>
              <a:rPr dirty="0"/>
              <a:t> Onur </a:t>
            </a:r>
            <a:r>
              <a:rPr dirty="0" err="1"/>
              <a:t>hocamızın</a:t>
            </a:r>
            <a:r>
              <a:rPr dirty="0"/>
              <a:t> “Bir </a:t>
            </a:r>
            <a:r>
              <a:rPr dirty="0" err="1"/>
              <a:t>üniversite</a:t>
            </a:r>
            <a:r>
              <a:rPr dirty="0"/>
              <a:t> </a:t>
            </a:r>
            <a:r>
              <a:rPr dirty="0" err="1"/>
              <a:t>hastanesine</a:t>
            </a:r>
            <a:r>
              <a:rPr dirty="0"/>
              <a:t> </a:t>
            </a:r>
            <a:r>
              <a:rPr dirty="0" err="1"/>
              <a:t>bağlı</a:t>
            </a:r>
            <a:r>
              <a:rPr dirty="0"/>
              <a:t> </a:t>
            </a:r>
            <a:r>
              <a:rPr dirty="0" err="1"/>
              <a:t>sigara</a:t>
            </a:r>
            <a:r>
              <a:rPr dirty="0"/>
              <a:t> </a:t>
            </a:r>
            <a:r>
              <a:rPr dirty="0" err="1"/>
              <a:t>bırakma</a:t>
            </a:r>
            <a:r>
              <a:rPr dirty="0"/>
              <a:t> </a:t>
            </a:r>
            <a:r>
              <a:rPr dirty="0" err="1"/>
              <a:t>polikliniğine</a:t>
            </a:r>
            <a:r>
              <a:rPr dirty="0"/>
              <a:t> </a:t>
            </a:r>
            <a:r>
              <a:rPr dirty="0" err="1"/>
              <a:t>başvuran</a:t>
            </a:r>
            <a:r>
              <a:rPr dirty="0"/>
              <a:t> </a:t>
            </a:r>
            <a:r>
              <a:rPr dirty="0" err="1"/>
              <a:t>hastaların</a:t>
            </a:r>
            <a:r>
              <a:rPr dirty="0"/>
              <a:t> </a:t>
            </a:r>
            <a:r>
              <a:rPr dirty="0" err="1"/>
              <a:t>demografik</a:t>
            </a:r>
            <a:r>
              <a:rPr dirty="0"/>
              <a:t> </a:t>
            </a:r>
            <a:r>
              <a:rPr dirty="0" err="1"/>
              <a:t>ve</a:t>
            </a:r>
            <a:r>
              <a:rPr dirty="0"/>
              <a:t> </a:t>
            </a:r>
            <a:r>
              <a:rPr dirty="0" err="1"/>
              <a:t>klinik</a:t>
            </a:r>
            <a:r>
              <a:rPr dirty="0"/>
              <a:t> </a:t>
            </a:r>
            <a:r>
              <a:rPr dirty="0" err="1"/>
              <a:t>özellikleri</a:t>
            </a:r>
            <a:r>
              <a:rPr dirty="0"/>
              <a:t> </a:t>
            </a:r>
            <a:r>
              <a:rPr dirty="0" err="1"/>
              <a:t>ile</a:t>
            </a:r>
            <a:r>
              <a:rPr dirty="0"/>
              <a:t> </a:t>
            </a:r>
            <a:r>
              <a:rPr dirty="0" err="1"/>
              <a:t>sigara</a:t>
            </a:r>
            <a:r>
              <a:rPr dirty="0"/>
              <a:t> </a:t>
            </a:r>
            <a:r>
              <a:rPr dirty="0" err="1"/>
              <a:t>bırakma</a:t>
            </a:r>
            <a:r>
              <a:rPr dirty="0"/>
              <a:t> </a:t>
            </a:r>
            <a:r>
              <a:rPr dirty="0" err="1"/>
              <a:t>durumlarını</a:t>
            </a:r>
            <a:r>
              <a:rPr dirty="0"/>
              <a:t> </a:t>
            </a:r>
            <a:r>
              <a:rPr dirty="0" err="1"/>
              <a:t>etkileyen</a:t>
            </a:r>
            <a:r>
              <a:rPr dirty="0"/>
              <a:t> </a:t>
            </a:r>
            <a:r>
              <a:rPr dirty="0" err="1"/>
              <a:t>faktörler</a:t>
            </a:r>
            <a:r>
              <a:rPr dirty="0"/>
              <a:t>” </a:t>
            </a:r>
            <a:r>
              <a:rPr dirty="0" err="1"/>
              <a:t>başlıklı</a:t>
            </a:r>
            <a:r>
              <a:rPr dirty="0"/>
              <a:t> </a:t>
            </a:r>
            <a:r>
              <a:rPr dirty="0" err="1"/>
              <a:t>makalesini</a:t>
            </a:r>
            <a:r>
              <a:rPr dirty="0"/>
              <a:t> </a:t>
            </a:r>
            <a:r>
              <a:rPr dirty="0" err="1"/>
              <a:t>sunacağım</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Resmi Yer Tutucusu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 Yer Tutucusu 2"/>
          <p:cNvSpPr>
            <a:spLocks noGrp="1"/>
          </p:cNvSpPr>
          <p:nvPr>
            <p:ph type="body" idx="1"/>
          </p:nvPr>
        </p:nvSpPr>
        <p:spPr>
          <a:xfrm>
            <a:off x="685800" y="5867400"/>
            <a:ext cx="5486400" cy="4800600"/>
          </a:xfrm>
          <a:prstGeom prst="rect">
            <a:avLst/>
          </a:prstGeom>
        </p:spPr>
        <p:txBody>
          <a:bodyPr/>
          <a:lstStyle/>
          <a:p>
            <a:r>
              <a:rPr lang="tr-TR" dirty="0"/>
              <a:t>makalenin ilk sayfasını görüyorsunuz. Makale </a:t>
            </a:r>
            <a:r>
              <a:rPr lang="tr-TR" dirty="0" err="1"/>
              <a:t>Turkish</a:t>
            </a:r>
            <a:r>
              <a:rPr lang="tr-TR" dirty="0"/>
              <a:t> </a:t>
            </a:r>
            <a:r>
              <a:rPr lang="tr-TR" dirty="0" err="1"/>
              <a:t>Journal</a:t>
            </a:r>
            <a:r>
              <a:rPr lang="tr-TR" dirty="0"/>
              <a:t> of </a:t>
            </a:r>
            <a:r>
              <a:rPr lang="tr-TR" dirty="0" err="1"/>
              <a:t>Family</a:t>
            </a:r>
            <a:r>
              <a:rPr lang="tr-TR" dirty="0"/>
              <a:t> </a:t>
            </a:r>
            <a:r>
              <a:rPr lang="tr-TR" dirty="0" err="1"/>
              <a:t>Practice'te</a:t>
            </a:r>
            <a:r>
              <a:rPr lang="tr-TR" dirty="0"/>
              <a:t> 2026 yılında yayımlanmıştır.</a:t>
            </a:r>
          </a:p>
          <a:p>
            <a:r>
              <a:rPr lang="tr-TR" dirty="0"/>
              <a:t>Çalışma retrospektif, kesitsel bir araştırmadır. Veriler Samsun Eğitim ve Araştırma Hastanesi Sigara Bırakma Polikliniği'nden elde edilmiştir.</a:t>
            </a:r>
          </a:p>
          <a:p>
            <a:endParaRPr lang="tr-TR" dirty="0"/>
          </a:p>
        </p:txBody>
      </p:sp>
    </p:spTree>
    <p:extLst>
      <p:ext uri="{BB962C8B-B14F-4D97-AF65-F5344CB8AC3E}">
        <p14:creationId xmlns:p14="http://schemas.microsoft.com/office/powerpoint/2010/main" val="5917522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Sunum</a:t>
            </a:r>
            <a:r>
              <a:rPr dirty="0"/>
              <a:t> 26 </a:t>
            </a:r>
            <a:r>
              <a:rPr dirty="0" err="1"/>
              <a:t>slayttan</a:t>
            </a:r>
            <a:r>
              <a:rPr dirty="0"/>
              <a:t> </a:t>
            </a:r>
            <a:r>
              <a:rPr dirty="0" err="1"/>
              <a:t>oluşmakta</a:t>
            </a:r>
            <a:r>
              <a:rPr dirty="0"/>
              <a:t> </a:t>
            </a:r>
            <a:r>
              <a:rPr dirty="0" err="1"/>
              <a:t>ve</a:t>
            </a:r>
            <a:r>
              <a:rPr dirty="0"/>
              <a:t> </a:t>
            </a:r>
            <a:r>
              <a:rPr dirty="0" err="1"/>
              <a:t>yaklaşık</a:t>
            </a:r>
            <a:r>
              <a:rPr dirty="0"/>
              <a:t> </a:t>
            </a:r>
            <a:r>
              <a:rPr dirty="0" err="1"/>
              <a:t>yirmi</a:t>
            </a:r>
            <a:r>
              <a:rPr dirty="0"/>
              <a:t> dk </a:t>
            </a:r>
            <a:r>
              <a:rPr dirty="0" err="1"/>
              <a:t>sürecektir</a:t>
            </a:r>
            <a:r>
              <a:rPr dirty="0"/>
              <a:t>.</a:t>
            </a:r>
          </a:p>
          <a:p>
            <a:r>
              <a:rPr dirty="0" err="1"/>
              <a:t>giriş</a:t>
            </a:r>
            <a:r>
              <a:rPr dirty="0"/>
              <a:t> </a:t>
            </a:r>
            <a:r>
              <a:rPr dirty="0" err="1"/>
              <a:t>bölümüyle</a:t>
            </a:r>
            <a:r>
              <a:rPr dirty="0"/>
              <a:t> </a:t>
            </a:r>
            <a:r>
              <a:rPr dirty="0" err="1"/>
              <a:t>başlayıp</a:t>
            </a:r>
            <a:r>
              <a:rPr dirty="0"/>
              <a:t> </a:t>
            </a:r>
            <a:r>
              <a:rPr dirty="0" err="1"/>
              <a:t>gereç</a:t>
            </a:r>
            <a:r>
              <a:rPr dirty="0"/>
              <a:t> </a:t>
            </a:r>
            <a:r>
              <a:rPr dirty="0" err="1"/>
              <a:t>ve</a:t>
            </a:r>
            <a:r>
              <a:rPr dirty="0"/>
              <a:t> </a:t>
            </a:r>
            <a:r>
              <a:rPr dirty="0" err="1"/>
              <a:t>yöntemi</a:t>
            </a:r>
            <a:r>
              <a:rPr dirty="0"/>
              <a:t> </a:t>
            </a:r>
            <a:r>
              <a:rPr dirty="0" err="1"/>
              <a:t>aktaracağım</a:t>
            </a:r>
            <a:r>
              <a:rPr dirty="0"/>
              <a:t>. </a:t>
            </a:r>
            <a:r>
              <a:rPr dirty="0" err="1"/>
              <a:t>Bulgular</a:t>
            </a:r>
            <a:r>
              <a:rPr dirty="0"/>
              <a:t> </a:t>
            </a:r>
            <a:r>
              <a:rPr dirty="0" err="1"/>
              <a:t>bölümünde</a:t>
            </a:r>
            <a:r>
              <a:rPr dirty="0"/>
              <a:t> </a:t>
            </a:r>
            <a:r>
              <a:rPr dirty="0" err="1"/>
              <a:t>makaledeki</a:t>
            </a:r>
            <a:r>
              <a:rPr dirty="0"/>
              <a:t> </a:t>
            </a:r>
            <a:r>
              <a:rPr dirty="0" err="1"/>
              <a:t>tablo</a:t>
            </a:r>
            <a:r>
              <a:rPr lang="tr-TR" dirty="0" err="1"/>
              <a:t>ları</a:t>
            </a:r>
            <a:r>
              <a:rPr dirty="0"/>
              <a:t> </a:t>
            </a:r>
            <a:r>
              <a:rPr dirty="0" err="1"/>
              <a:t>özgün</a:t>
            </a:r>
            <a:r>
              <a:rPr dirty="0"/>
              <a:t> </a:t>
            </a:r>
            <a:r>
              <a:rPr dirty="0" err="1"/>
              <a:t>halleriyle</a:t>
            </a:r>
            <a:r>
              <a:rPr dirty="0"/>
              <a:t> </a:t>
            </a:r>
            <a:r>
              <a:rPr dirty="0" err="1"/>
              <a:t>göstereceğim</a:t>
            </a:r>
            <a:r>
              <a:rPr dirty="0"/>
              <a:t>. </a:t>
            </a:r>
            <a:r>
              <a:rPr dirty="0" err="1"/>
              <a:t>Ardından</a:t>
            </a:r>
            <a:r>
              <a:rPr dirty="0"/>
              <a:t> </a:t>
            </a:r>
            <a:r>
              <a:rPr dirty="0" err="1"/>
              <a:t>tartışma</a:t>
            </a:r>
            <a:r>
              <a:rPr dirty="0"/>
              <a:t> </a:t>
            </a:r>
            <a:r>
              <a:rPr dirty="0" err="1"/>
              <a:t>ve</a:t>
            </a:r>
            <a:r>
              <a:rPr dirty="0"/>
              <a:t> </a:t>
            </a:r>
            <a:r>
              <a:rPr dirty="0" err="1"/>
              <a:t>sonuçları</a:t>
            </a:r>
            <a:r>
              <a:rPr lang="tr-TR" dirty="0"/>
              <a:t> </a:t>
            </a:r>
            <a:r>
              <a:rPr dirty="0" err="1"/>
              <a:t>aktaracağım</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tütün</a:t>
            </a:r>
            <a:r>
              <a:rPr dirty="0"/>
              <a:t> </a:t>
            </a:r>
            <a:r>
              <a:rPr dirty="0" err="1"/>
              <a:t>bağımlılığı</a:t>
            </a:r>
            <a:r>
              <a:rPr dirty="0"/>
              <a:t> </a:t>
            </a:r>
            <a:r>
              <a:rPr dirty="0" err="1"/>
              <a:t>önlenebilir</a:t>
            </a:r>
            <a:r>
              <a:rPr dirty="0"/>
              <a:t> </a:t>
            </a:r>
            <a:r>
              <a:rPr dirty="0" err="1"/>
              <a:t>ölüm</a:t>
            </a:r>
            <a:r>
              <a:rPr dirty="0"/>
              <a:t> </a:t>
            </a:r>
            <a:r>
              <a:rPr dirty="0" err="1"/>
              <a:t>nedenlerinin</a:t>
            </a:r>
            <a:r>
              <a:rPr dirty="0"/>
              <a:t> </a:t>
            </a:r>
            <a:r>
              <a:rPr dirty="0" err="1"/>
              <a:t>başında</a:t>
            </a:r>
            <a:r>
              <a:rPr dirty="0"/>
              <a:t> gel</a:t>
            </a:r>
            <a:r>
              <a:rPr lang="tr-TR" dirty="0" err="1"/>
              <a:t>mektedir</a:t>
            </a:r>
            <a:r>
              <a:rPr dirty="0"/>
              <a:t>. </a:t>
            </a:r>
            <a:r>
              <a:rPr dirty="0" err="1"/>
              <a:t>Küresel</a:t>
            </a:r>
            <a:r>
              <a:rPr dirty="0"/>
              <a:t> </a:t>
            </a:r>
            <a:r>
              <a:rPr dirty="0" err="1"/>
              <a:t>Yetişkin</a:t>
            </a:r>
            <a:r>
              <a:rPr dirty="0"/>
              <a:t> </a:t>
            </a:r>
            <a:r>
              <a:rPr dirty="0" err="1"/>
              <a:t>Tütün</a:t>
            </a:r>
            <a:r>
              <a:rPr dirty="0"/>
              <a:t> </a:t>
            </a:r>
            <a:r>
              <a:rPr dirty="0" err="1"/>
              <a:t>Araştırması</a:t>
            </a:r>
            <a:r>
              <a:rPr dirty="0"/>
              <a:t> 2016 </a:t>
            </a:r>
            <a:r>
              <a:rPr dirty="0" err="1"/>
              <a:t>verilerine</a:t>
            </a:r>
            <a:r>
              <a:rPr dirty="0"/>
              <a:t> </a:t>
            </a:r>
            <a:r>
              <a:rPr dirty="0" err="1"/>
              <a:t>göre</a:t>
            </a:r>
            <a:r>
              <a:rPr dirty="0"/>
              <a:t> </a:t>
            </a:r>
            <a:r>
              <a:rPr dirty="0" err="1"/>
              <a:t>Türkiye'de</a:t>
            </a:r>
            <a:r>
              <a:rPr dirty="0"/>
              <a:t> </a:t>
            </a:r>
            <a:r>
              <a:rPr dirty="0" err="1"/>
              <a:t>sigara</a:t>
            </a:r>
            <a:r>
              <a:rPr dirty="0"/>
              <a:t> </a:t>
            </a:r>
            <a:r>
              <a:rPr dirty="0" err="1"/>
              <a:t>içme</a:t>
            </a:r>
            <a:r>
              <a:rPr dirty="0"/>
              <a:t> </a:t>
            </a:r>
            <a:r>
              <a:rPr dirty="0" err="1"/>
              <a:t>sıklığı</a:t>
            </a:r>
            <a:r>
              <a:rPr dirty="0"/>
              <a:t> </a:t>
            </a:r>
            <a:r>
              <a:rPr dirty="0" err="1"/>
              <a:t>erkeklerde</a:t>
            </a:r>
            <a:r>
              <a:rPr dirty="0"/>
              <a:t> </a:t>
            </a:r>
            <a:r>
              <a:rPr dirty="0" err="1"/>
              <a:t>yüzde</a:t>
            </a:r>
            <a:r>
              <a:rPr dirty="0"/>
              <a:t> 44,1, </a:t>
            </a:r>
            <a:r>
              <a:rPr dirty="0" err="1"/>
              <a:t>kadınlarda</a:t>
            </a:r>
            <a:r>
              <a:rPr dirty="0"/>
              <a:t> </a:t>
            </a:r>
            <a:r>
              <a:rPr dirty="0" err="1"/>
              <a:t>yüzde</a:t>
            </a:r>
            <a:r>
              <a:rPr dirty="0"/>
              <a:t> 19,2'dir.</a:t>
            </a:r>
          </a:p>
          <a:p>
            <a:r>
              <a:rPr dirty="0" err="1"/>
              <a:t>Ülkemizde</a:t>
            </a:r>
            <a:r>
              <a:rPr dirty="0"/>
              <a:t> 500'ün </a:t>
            </a:r>
            <a:r>
              <a:rPr dirty="0" err="1"/>
              <a:t>üzerinde</a:t>
            </a:r>
            <a:r>
              <a:rPr dirty="0"/>
              <a:t> </a:t>
            </a:r>
            <a:r>
              <a:rPr dirty="0" err="1"/>
              <a:t>sigara</a:t>
            </a:r>
            <a:r>
              <a:rPr dirty="0"/>
              <a:t> </a:t>
            </a:r>
            <a:r>
              <a:rPr dirty="0" err="1"/>
              <a:t>bırakma</a:t>
            </a:r>
            <a:r>
              <a:rPr dirty="0"/>
              <a:t> </a:t>
            </a:r>
            <a:r>
              <a:rPr dirty="0" err="1"/>
              <a:t>polikliniği</a:t>
            </a:r>
            <a:r>
              <a:rPr dirty="0"/>
              <a:t> </a:t>
            </a:r>
            <a:r>
              <a:rPr dirty="0" err="1"/>
              <a:t>bulunmakta</a:t>
            </a:r>
            <a:r>
              <a:rPr dirty="0"/>
              <a:t>, </a:t>
            </a:r>
            <a:r>
              <a:rPr dirty="0" err="1"/>
              <a:t>bu</a:t>
            </a:r>
            <a:r>
              <a:rPr dirty="0"/>
              <a:t> </a:t>
            </a:r>
            <a:r>
              <a:rPr dirty="0" err="1"/>
              <a:t>polikliniklere</a:t>
            </a:r>
            <a:r>
              <a:rPr dirty="0"/>
              <a:t> 2,5 </a:t>
            </a:r>
            <a:r>
              <a:rPr dirty="0" err="1"/>
              <a:t>milyondan</a:t>
            </a:r>
            <a:r>
              <a:rPr dirty="0"/>
              <a:t> </a:t>
            </a:r>
            <a:r>
              <a:rPr dirty="0" err="1"/>
              <a:t>fazla</a:t>
            </a:r>
            <a:r>
              <a:rPr dirty="0"/>
              <a:t> </a:t>
            </a:r>
            <a:r>
              <a:rPr dirty="0" err="1"/>
              <a:t>kişi</a:t>
            </a:r>
            <a:r>
              <a:rPr dirty="0"/>
              <a:t> </a:t>
            </a:r>
            <a:r>
              <a:rPr dirty="0" err="1"/>
              <a:t>başvurmuş</a:t>
            </a:r>
            <a:r>
              <a:rPr dirty="0"/>
              <a:t> </a:t>
            </a:r>
            <a:r>
              <a:rPr dirty="0" err="1"/>
              <a:t>bulunmaktadır</a:t>
            </a:r>
            <a:r>
              <a:rPr dirty="0"/>
              <a:t>. </a:t>
            </a:r>
            <a:r>
              <a:rPr dirty="0" err="1"/>
              <a:t>Polikliniklerde</a:t>
            </a:r>
            <a:r>
              <a:rPr dirty="0"/>
              <a:t> </a:t>
            </a:r>
            <a:r>
              <a:rPr dirty="0" err="1"/>
              <a:t>bırakma</a:t>
            </a:r>
            <a:r>
              <a:rPr dirty="0"/>
              <a:t> </a:t>
            </a:r>
            <a:r>
              <a:rPr dirty="0" err="1"/>
              <a:t>oranları</a:t>
            </a:r>
            <a:r>
              <a:rPr dirty="0"/>
              <a:t> </a:t>
            </a:r>
            <a:r>
              <a:rPr dirty="0" err="1"/>
              <a:t>yüzde</a:t>
            </a:r>
            <a:r>
              <a:rPr dirty="0"/>
              <a:t> 20 </a:t>
            </a:r>
            <a:r>
              <a:rPr dirty="0" err="1"/>
              <a:t>ile</a:t>
            </a:r>
            <a:r>
              <a:rPr dirty="0"/>
              <a:t> 50 </a:t>
            </a:r>
            <a:r>
              <a:rPr dirty="0" err="1"/>
              <a:t>arasında</a:t>
            </a:r>
            <a:r>
              <a:rPr dirty="0"/>
              <a:t> </a:t>
            </a:r>
            <a:r>
              <a:rPr dirty="0" err="1"/>
              <a:t>değişmektedir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Sigara bırakma tedavisi Onur hocamızın da dersinde anlattığı gibi davranışsal yaklaşımlar ve farmakoterapiden oluşmakta. Davranışsal tarafta Sağlık İnanç Modeli, Sağlık Kontrol Odağı, Yeniliklerin Yayılımı Modeli, Pender'in Sağlığı Geliştirme Modeli ve Transteorik Model gibi davranış değişikliği modelleri kullanılmaktadır.</a:t>
            </a:r>
          </a:p>
          <a:p>
            <a:r>
              <a:t>Farmakoterapi nikotin replasman tedavisi, bupropion ve vareniklinden oluşmaktadır. Sitizin de yine Onur hocamızın bahsettiği gibi son yıllarda ek bir seçenek olarak kullanıma girmiştir. Farmakoterapinin davranışsal destekle birlikte verilmesi ve gerektiğinde kombinasyonların düşünülmesi önerilmektedir.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Çalışmanın amacı, kombine tedavinin ve yakın takibin sigara bırakma başarısı üzerindeki etkisini değerlendirmek ve bırakmayı etkileyen hasta özelliklerini belirlemektir.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Çalışma 1 Ağustos 2020 ile 31 Ağustos 2024 arasını kapsamaktadır. Polikliniğe başvuran, 18 yaş ve üzeri, sigara içen 432 hastanın dosyası taranmıştır.</a:t>
            </a:r>
          </a:p>
          <a:p>
            <a:r>
              <a:t>Verilerine eksiksiz ulaşılan 399 hasta analize alınmıştır. Tüm kayıtlar kullanıldığından örneklem büyüklüğü hesaplanmamıştır. Yıllık kontrolüne gelmeyen hastaların takip bilgileri asistan hekimlerin yaptığı uzaktan görüşmelerle tamamlanmıştır.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Hasta </a:t>
            </a:r>
            <a:r>
              <a:rPr dirty="0" err="1"/>
              <a:t>dosyalarından</a:t>
            </a:r>
            <a:r>
              <a:rPr dirty="0"/>
              <a:t> </a:t>
            </a:r>
            <a:r>
              <a:rPr dirty="0" err="1"/>
              <a:t>yaş</a:t>
            </a:r>
            <a:r>
              <a:rPr dirty="0"/>
              <a:t>, </a:t>
            </a:r>
            <a:r>
              <a:rPr dirty="0" err="1"/>
              <a:t>cinsiyet</a:t>
            </a:r>
            <a:r>
              <a:rPr dirty="0"/>
              <a:t>, </a:t>
            </a:r>
            <a:r>
              <a:rPr dirty="0" err="1"/>
              <a:t>meslek</a:t>
            </a:r>
            <a:r>
              <a:rPr dirty="0"/>
              <a:t>, </a:t>
            </a:r>
            <a:r>
              <a:rPr dirty="0" err="1"/>
              <a:t>alkol</a:t>
            </a:r>
            <a:r>
              <a:rPr dirty="0"/>
              <a:t> </a:t>
            </a:r>
            <a:r>
              <a:rPr dirty="0" err="1"/>
              <a:t>kullanımı</a:t>
            </a:r>
            <a:r>
              <a:rPr dirty="0"/>
              <a:t>, </a:t>
            </a:r>
            <a:r>
              <a:rPr dirty="0" err="1"/>
              <a:t>kronik</a:t>
            </a:r>
            <a:r>
              <a:rPr dirty="0"/>
              <a:t> </a:t>
            </a:r>
            <a:r>
              <a:rPr dirty="0" err="1"/>
              <a:t>hastalık</a:t>
            </a:r>
            <a:r>
              <a:rPr dirty="0"/>
              <a:t>, </a:t>
            </a:r>
            <a:r>
              <a:rPr dirty="0" err="1"/>
              <a:t>sigara</a:t>
            </a:r>
            <a:r>
              <a:rPr dirty="0"/>
              <a:t> </a:t>
            </a:r>
            <a:r>
              <a:rPr dirty="0" err="1"/>
              <a:t>öyküsü</a:t>
            </a:r>
            <a:r>
              <a:rPr dirty="0"/>
              <a:t> </a:t>
            </a:r>
            <a:r>
              <a:rPr dirty="0" err="1"/>
              <a:t>ve</a:t>
            </a:r>
            <a:r>
              <a:rPr dirty="0"/>
              <a:t> </a:t>
            </a:r>
            <a:r>
              <a:rPr dirty="0" err="1"/>
              <a:t>uygulanan</a:t>
            </a:r>
            <a:r>
              <a:rPr dirty="0"/>
              <a:t> </a:t>
            </a:r>
            <a:r>
              <a:rPr dirty="0" err="1"/>
              <a:t>tedaviler</a:t>
            </a:r>
            <a:r>
              <a:rPr dirty="0"/>
              <a:t> </a:t>
            </a:r>
            <a:r>
              <a:rPr dirty="0" err="1"/>
              <a:t>kaydedilmiştir</a:t>
            </a:r>
            <a:r>
              <a:rPr dirty="0"/>
              <a:t>.</a:t>
            </a:r>
          </a:p>
          <a:p>
            <a:r>
              <a:rPr dirty="0" err="1"/>
              <a:t>Nikotin</a:t>
            </a:r>
            <a:r>
              <a:rPr dirty="0"/>
              <a:t> </a:t>
            </a:r>
            <a:r>
              <a:rPr dirty="0" err="1"/>
              <a:t>bağımlılığı</a:t>
            </a:r>
            <a:r>
              <a:rPr dirty="0"/>
              <a:t> ilk </a:t>
            </a:r>
            <a:r>
              <a:rPr dirty="0" err="1"/>
              <a:t>vizitte</a:t>
            </a:r>
            <a:r>
              <a:rPr dirty="0"/>
              <a:t> Fagerström </a:t>
            </a:r>
            <a:r>
              <a:rPr dirty="0" err="1"/>
              <a:t>Nikotin</a:t>
            </a:r>
            <a:r>
              <a:rPr dirty="0"/>
              <a:t> </a:t>
            </a:r>
            <a:r>
              <a:rPr dirty="0" err="1"/>
              <a:t>Bağımlılık</a:t>
            </a:r>
            <a:r>
              <a:rPr dirty="0"/>
              <a:t> Testi </a:t>
            </a:r>
            <a:r>
              <a:rPr dirty="0" err="1"/>
              <a:t>ile</a:t>
            </a:r>
            <a:r>
              <a:rPr dirty="0"/>
              <a:t> </a:t>
            </a:r>
            <a:r>
              <a:rPr dirty="0" err="1"/>
              <a:t>değerlendirilmiştir</a:t>
            </a:r>
            <a:r>
              <a:rPr dirty="0"/>
              <a:t>. 0–2 </a:t>
            </a:r>
            <a:r>
              <a:rPr dirty="0" err="1"/>
              <a:t>puan</a:t>
            </a:r>
            <a:r>
              <a:rPr dirty="0"/>
              <a:t> </a:t>
            </a:r>
            <a:r>
              <a:rPr dirty="0" err="1"/>
              <a:t>düşük</a:t>
            </a:r>
            <a:r>
              <a:rPr dirty="0"/>
              <a:t>, 3–7 </a:t>
            </a:r>
            <a:r>
              <a:rPr dirty="0" err="1"/>
              <a:t>puan</a:t>
            </a:r>
            <a:r>
              <a:rPr dirty="0"/>
              <a:t> </a:t>
            </a:r>
            <a:r>
              <a:rPr dirty="0" err="1"/>
              <a:t>orta</a:t>
            </a:r>
            <a:r>
              <a:rPr dirty="0"/>
              <a:t>, 8–10 </a:t>
            </a:r>
            <a:r>
              <a:rPr dirty="0" err="1"/>
              <a:t>puan</a:t>
            </a:r>
            <a:r>
              <a:rPr dirty="0"/>
              <a:t> </a:t>
            </a:r>
            <a:r>
              <a:rPr dirty="0" err="1"/>
              <a:t>yüksek</a:t>
            </a:r>
            <a:r>
              <a:rPr dirty="0"/>
              <a:t> </a:t>
            </a:r>
            <a:r>
              <a:rPr dirty="0" err="1"/>
              <a:t>bağımlılık</a:t>
            </a:r>
            <a:r>
              <a:rPr dirty="0"/>
              <a:t> </a:t>
            </a:r>
            <a:r>
              <a:rPr dirty="0" err="1"/>
              <a:t>olarak</a:t>
            </a:r>
            <a:r>
              <a:rPr dirty="0"/>
              <a:t> </a:t>
            </a:r>
            <a:r>
              <a:rPr dirty="0" err="1"/>
              <a:t>sınıflanmıştır</a:t>
            </a:r>
            <a:r>
              <a:rPr dirty="0"/>
              <a:t>. Testin </a:t>
            </a:r>
            <a:r>
              <a:rPr dirty="0" err="1"/>
              <a:t>Türkçe</a:t>
            </a:r>
            <a:r>
              <a:rPr dirty="0"/>
              <a:t> </a:t>
            </a:r>
            <a:r>
              <a:rPr dirty="0" err="1"/>
              <a:t>geçerlik</a:t>
            </a:r>
            <a:r>
              <a:rPr dirty="0"/>
              <a:t> </a:t>
            </a:r>
            <a:r>
              <a:rPr dirty="0" err="1"/>
              <a:t>ve</a:t>
            </a:r>
            <a:r>
              <a:rPr dirty="0"/>
              <a:t> </a:t>
            </a:r>
            <a:r>
              <a:rPr dirty="0" err="1"/>
              <a:t>güvenilirlik</a:t>
            </a:r>
            <a:r>
              <a:rPr dirty="0"/>
              <a:t> </a:t>
            </a:r>
            <a:r>
              <a:rPr dirty="0" err="1"/>
              <a:t>çalışması</a:t>
            </a:r>
            <a:r>
              <a:rPr dirty="0"/>
              <a:t> 2004 </a:t>
            </a:r>
            <a:r>
              <a:rPr dirty="0" err="1"/>
              <a:t>yılında</a:t>
            </a:r>
            <a:r>
              <a:rPr dirty="0"/>
              <a:t> Uysal </a:t>
            </a:r>
            <a:r>
              <a:rPr dirty="0" err="1"/>
              <a:t>ve</a:t>
            </a:r>
            <a:r>
              <a:rPr dirty="0"/>
              <a:t> </a:t>
            </a:r>
            <a:r>
              <a:rPr dirty="0" err="1"/>
              <a:t>arkadaşları</a:t>
            </a:r>
            <a:r>
              <a:rPr dirty="0"/>
              <a:t> </a:t>
            </a:r>
            <a:r>
              <a:rPr dirty="0" err="1"/>
              <a:t>tarafından</a:t>
            </a:r>
            <a:r>
              <a:rPr dirty="0"/>
              <a:t> </a:t>
            </a:r>
            <a:r>
              <a:rPr dirty="0" err="1"/>
              <a:t>yapıl</a:t>
            </a:r>
            <a:r>
              <a:rPr lang="tr-TR" dirty="0" err="1"/>
              <a:t>dığı</a:t>
            </a:r>
            <a:r>
              <a:rPr lang="tr-TR" dirty="0"/>
              <a:t> da gene makalede belirtilmiştir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Tedavi</a:t>
            </a:r>
            <a:r>
              <a:rPr dirty="0"/>
              <a:t> FNBT</a:t>
            </a:r>
            <a:r>
              <a:rPr lang="tr-TR" dirty="0"/>
              <a:t>(</a:t>
            </a:r>
            <a:r>
              <a:rPr lang="tr-TR" dirty="0" err="1"/>
              <a:t>Fagerström</a:t>
            </a:r>
            <a:r>
              <a:rPr lang="tr-TR" dirty="0"/>
              <a:t> Nikotin Bağımlılık Testi )</a:t>
            </a:r>
            <a:r>
              <a:rPr dirty="0"/>
              <a:t> </a:t>
            </a:r>
            <a:r>
              <a:rPr dirty="0" err="1"/>
              <a:t>puanı</a:t>
            </a:r>
            <a:r>
              <a:rPr dirty="0"/>
              <a:t>, </a:t>
            </a:r>
            <a:r>
              <a:rPr dirty="0" err="1"/>
              <a:t>kronik</a:t>
            </a:r>
            <a:r>
              <a:rPr dirty="0"/>
              <a:t> </a:t>
            </a:r>
            <a:r>
              <a:rPr dirty="0" err="1"/>
              <a:t>hastalıklar</a:t>
            </a:r>
            <a:r>
              <a:rPr dirty="0"/>
              <a:t>, </a:t>
            </a:r>
            <a:r>
              <a:rPr dirty="0" err="1"/>
              <a:t>kullanılan</a:t>
            </a:r>
            <a:r>
              <a:rPr dirty="0"/>
              <a:t> </a:t>
            </a:r>
            <a:r>
              <a:rPr dirty="0" err="1"/>
              <a:t>ilaçlar</a:t>
            </a:r>
            <a:r>
              <a:rPr dirty="0"/>
              <a:t>, </a:t>
            </a:r>
            <a:r>
              <a:rPr dirty="0" err="1"/>
              <a:t>kontrendikasyonlar</a:t>
            </a:r>
            <a:r>
              <a:rPr dirty="0"/>
              <a:t> </a:t>
            </a:r>
            <a:r>
              <a:rPr dirty="0" err="1"/>
              <a:t>ve</a:t>
            </a:r>
            <a:r>
              <a:rPr dirty="0"/>
              <a:t> hasta </a:t>
            </a:r>
            <a:r>
              <a:rPr dirty="0" err="1"/>
              <a:t>uyumuna</a:t>
            </a:r>
            <a:r>
              <a:rPr dirty="0"/>
              <a:t> </a:t>
            </a:r>
            <a:r>
              <a:rPr dirty="0" err="1"/>
              <a:t>göre</a:t>
            </a:r>
            <a:r>
              <a:rPr dirty="0"/>
              <a:t> </a:t>
            </a:r>
            <a:r>
              <a:rPr dirty="0" err="1"/>
              <a:t>bireyselleştirilmiştir</a:t>
            </a:r>
            <a:r>
              <a:rPr dirty="0"/>
              <a:t>.</a:t>
            </a:r>
          </a:p>
          <a:p>
            <a:r>
              <a:rPr dirty="0" err="1"/>
              <a:t>Hastalara</a:t>
            </a:r>
            <a:r>
              <a:rPr dirty="0"/>
              <a:t> </a:t>
            </a:r>
            <a:r>
              <a:rPr dirty="0" err="1"/>
              <a:t>yalnızca</a:t>
            </a:r>
            <a:r>
              <a:rPr dirty="0"/>
              <a:t> </a:t>
            </a:r>
            <a:r>
              <a:rPr dirty="0" err="1"/>
              <a:t>davranışsal</a:t>
            </a:r>
            <a:r>
              <a:rPr dirty="0"/>
              <a:t> </a:t>
            </a:r>
            <a:r>
              <a:rPr dirty="0" err="1"/>
              <a:t>tedavi</a:t>
            </a:r>
            <a:r>
              <a:rPr dirty="0"/>
              <a:t>, </a:t>
            </a:r>
            <a:r>
              <a:rPr dirty="0" err="1"/>
              <a:t>monoterapi</a:t>
            </a:r>
            <a:r>
              <a:rPr dirty="0"/>
              <a:t> </a:t>
            </a:r>
            <a:r>
              <a:rPr dirty="0" err="1"/>
              <a:t>ya</a:t>
            </a:r>
            <a:r>
              <a:rPr dirty="0"/>
              <a:t> da </a:t>
            </a:r>
            <a:r>
              <a:rPr dirty="0" err="1"/>
              <a:t>kombine</a:t>
            </a:r>
            <a:r>
              <a:rPr dirty="0"/>
              <a:t> </a:t>
            </a:r>
            <a:r>
              <a:rPr dirty="0" err="1"/>
              <a:t>tedavi</a:t>
            </a:r>
            <a:r>
              <a:rPr dirty="0"/>
              <a:t> </a:t>
            </a:r>
            <a:r>
              <a:rPr dirty="0" err="1"/>
              <a:t>uygulanmıştır</a:t>
            </a:r>
            <a:r>
              <a:rPr dirty="0"/>
              <a:t>. </a:t>
            </a:r>
            <a:r>
              <a:rPr dirty="0" err="1"/>
              <a:t>Kombine</a:t>
            </a:r>
            <a:r>
              <a:rPr dirty="0"/>
              <a:t> </a:t>
            </a:r>
            <a:r>
              <a:rPr dirty="0" err="1"/>
              <a:t>tedavi</a:t>
            </a:r>
            <a:r>
              <a:rPr dirty="0"/>
              <a:t> </a:t>
            </a:r>
            <a:r>
              <a:rPr dirty="0" err="1"/>
              <a:t>seçenekleri</a:t>
            </a:r>
            <a:r>
              <a:rPr dirty="0"/>
              <a:t> bupropion </a:t>
            </a:r>
            <a:r>
              <a:rPr dirty="0" err="1"/>
              <a:t>ile</a:t>
            </a:r>
            <a:r>
              <a:rPr dirty="0"/>
              <a:t> NRT, </a:t>
            </a:r>
            <a:r>
              <a:rPr dirty="0" err="1"/>
              <a:t>vareniklin</a:t>
            </a:r>
            <a:r>
              <a:rPr dirty="0"/>
              <a:t> </a:t>
            </a:r>
            <a:r>
              <a:rPr dirty="0" err="1"/>
              <a:t>ile</a:t>
            </a:r>
            <a:r>
              <a:rPr dirty="0"/>
              <a:t> NRT, </a:t>
            </a:r>
            <a:r>
              <a:rPr dirty="0" err="1"/>
              <a:t>sitizin</a:t>
            </a:r>
            <a:r>
              <a:rPr dirty="0"/>
              <a:t> </a:t>
            </a:r>
            <a:r>
              <a:rPr dirty="0" err="1"/>
              <a:t>ile</a:t>
            </a:r>
            <a:r>
              <a:rPr dirty="0"/>
              <a:t> NRT </a:t>
            </a:r>
            <a:r>
              <a:rPr dirty="0" err="1"/>
              <a:t>ve</a:t>
            </a:r>
            <a:r>
              <a:rPr dirty="0"/>
              <a:t> </a:t>
            </a:r>
            <a:r>
              <a:rPr dirty="0" err="1"/>
              <a:t>üçlü</a:t>
            </a:r>
            <a:r>
              <a:rPr dirty="0"/>
              <a:t> </a:t>
            </a:r>
            <a:r>
              <a:rPr dirty="0" err="1"/>
              <a:t>tedavidir</a:t>
            </a:r>
            <a:r>
              <a:rPr dirty="0"/>
              <a:t>. </a:t>
            </a:r>
            <a:r>
              <a:rPr dirty="0" err="1"/>
              <a:t>Sağlık</a:t>
            </a:r>
            <a:r>
              <a:rPr dirty="0"/>
              <a:t> </a:t>
            </a:r>
            <a:r>
              <a:rPr dirty="0" err="1"/>
              <a:t>Bakanlığı</a:t>
            </a:r>
            <a:r>
              <a:rPr dirty="0"/>
              <a:t> </a:t>
            </a:r>
            <a:r>
              <a:rPr dirty="0" err="1"/>
              <a:t>politikaları</a:t>
            </a:r>
            <a:r>
              <a:rPr dirty="0"/>
              <a:t> </a:t>
            </a:r>
            <a:r>
              <a:rPr dirty="0" err="1"/>
              <a:t>doğrultusunda</a:t>
            </a:r>
            <a:r>
              <a:rPr dirty="0"/>
              <a:t> NRT </a:t>
            </a:r>
            <a:r>
              <a:rPr dirty="0" err="1"/>
              <a:t>ve</a:t>
            </a:r>
            <a:r>
              <a:rPr dirty="0"/>
              <a:t> </a:t>
            </a:r>
            <a:r>
              <a:rPr dirty="0" err="1"/>
              <a:t>sitizin</a:t>
            </a:r>
            <a:r>
              <a:rPr dirty="0"/>
              <a:t> </a:t>
            </a:r>
            <a:r>
              <a:rPr dirty="0" err="1"/>
              <a:t>belirli</a:t>
            </a:r>
            <a:r>
              <a:rPr dirty="0"/>
              <a:t> </a:t>
            </a:r>
            <a:r>
              <a:rPr dirty="0" err="1"/>
              <a:t>dönemlerde</a:t>
            </a:r>
            <a:r>
              <a:rPr dirty="0"/>
              <a:t> </a:t>
            </a:r>
            <a:r>
              <a:rPr dirty="0" err="1"/>
              <a:t>ücretsiz</a:t>
            </a:r>
            <a:r>
              <a:rPr dirty="0"/>
              <a:t> </a:t>
            </a:r>
            <a:r>
              <a:rPr dirty="0" err="1"/>
              <a:t>sağlanmıştır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slaytı geçelim. </a:t>
            </a:r>
            <a:r>
              <a:rPr dirty="0" err="1"/>
              <a:t>Analizler</a:t>
            </a:r>
            <a:r>
              <a:rPr dirty="0"/>
              <a:t> SPSS 25 </a:t>
            </a:r>
            <a:r>
              <a:rPr dirty="0" err="1"/>
              <a:t>ile</a:t>
            </a:r>
            <a:r>
              <a:rPr dirty="0"/>
              <a:t> </a:t>
            </a:r>
            <a:r>
              <a:rPr dirty="0" err="1"/>
              <a:t>yapılmıştır</a:t>
            </a:r>
            <a:r>
              <a:rPr dirty="0"/>
              <a:t>. </a:t>
            </a:r>
            <a:r>
              <a:rPr dirty="0" err="1"/>
              <a:t>Normallik</a:t>
            </a:r>
            <a:r>
              <a:rPr dirty="0"/>
              <a:t> histogram </a:t>
            </a:r>
            <a:r>
              <a:rPr dirty="0" err="1"/>
              <a:t>ve</a:t>
            </a:r>
            <a:r>
              <a:rPr dirty="0"/>
              <a:t> Kolmogorov–Smirnov </a:t>
            </a:r>
            <a:r>
              <a:rPr dirty="0" err="1"/>
              <a:t>testiyle</a:t>
            </a:r>
            <a:r>
              <a:rPr dirty="0"/>
              <a:t> </a:t>
            </a:r>
            <a:r>
              <a:rPr dirty="0" err="1"/>
              <a:t>değerlendirilmiştir</a:t>
            </a:r>
            <a:r>
              <a:rPr dirty="0"/>
              <a:t>.</a:t>
            </a:r>
          </a:p>
          <a:p>
            <a:r>
              <a:rPr dirty="0" err="1"/>
              <a:t>Kategorik</a:t>
            </a:r>
            <a:r>
              <a:rPr dirty="0"/>
              <a:t> </a:t>
            </a:r>
            <a:r>
              <a:rPr dirty="0" err="1"/>
              <a:t>değişkenler</a:t>
            </a:r>
            <a:r>
              <a:rPr dirty="0"/>
              <a:t> ki-</a:t>
            </a:r>
            <a:r>
              <a:rPr dirty="0" err="1"/>
              <a:t>kare</a:t>
            </a:r>
            <a:r>
              <a:rPr dirty="0"/>
              <a:t> </a:t>
            </a:r>
            <a:r>
              <a:rPr dirty="0" err="1"/>
              <a:t>testiyle</a:t>
            </a:r>
            <a:r>
              <a:rPr dirty="0"/>
              <a:t>, </a:t>
            </a:r>
            <a:r>
              <a:rPr dirty="0" err="1"/>
              <a:t>iki</a:t>
            </a:r>
            <a:r>
              <a:rPr dirty="0"/>
              <a:t> </a:t>
            </a:r>
            <a:r>
              <a:rPr dirty="0" err="1"/>
              <a:t>grup</a:t>
            </a:r>
            <a:r>
              <a:rPr dirty="0"/>
              <a:t> </a:t>
            </a:r>
            <a:r>
              <a:rPr dirty="0" err="1"/>
              <a:t>karşılaştırmaları</a:t>
            </a:r>
            <a:r>
              <a:rPr dirty="0"/>
              <a:t> Mann–Whitney U, </a:t>
            </a:r>
            <a:r>
              <a:rPr dirty="0" err="1"/>
              <a:t>ikiden</a:t>
            </a:r>
            <a:r>
              <a:rPr dirty="0"/>
              <a:t> </a:t>
            </a:r>
            <a:r>
              <a:rPr dirty="0" err="1"/>
              <a:t>fazla</a:t>
            </a:r>
            <a:r>
              <a:rPr dirty="0"/>
              <a:t> </a:t>
            </a:r>
            <a:r>
              <a:rPr dirty="0" err="1"/>
              <a:t>grup</a:t>
            </a:r>
            <a:r>
              <a:rPr dirty="0"/>
              <a:t> </a:t>
            </a:r>
            <a:r>
              <a:rPr dirty="0" err="1"/>
              <a:t>karşılaştırmaları</a:t>
            </a:r>
            <a:r>
              <a:rPr dirty="0"/>
              <a:t> Kruskal–Wallis </a:t>
            </a:r>
            <a:r>
              <a:rPr dirty="0" err="1"/>
              <a:t>testiyle</a:t>
            </a:r>
            <a:r>
              <a:rPr dirty="0"/>
              <a:t> </a:t>
            </a:r>
            <a:r>
              <a:rPr dirty="0" err="1"/>
              <a:t>yapılmıştır</a:t>
            </a:r>
            <a:r>
              <a:rPr dirty="0"/>
              <a:t>. Post-hoc </a:t>
            </a:r>
            <a:r>
              <a:rPr dirty="0" err="1"/>
              <a:t>karşılaştırmalarda</a:t>
            </a:r>
            <a:r>
              <a:rPr dirty="0"/>
              <a:t> Duncan </a:t>
            </a:r>
            <a:r>
              <a:rPr dirty="0" err="1"/>
              <a:t>testi</a:t>
            </a:r>
            <a:r>
              <a:rPr dirty="0"/>
              <a:t> </a:t>
            </a:r>
            <a:r>
              <a:rPr dirty="0" err="1"/>
              <a:t>kullanılmıştır</a:t>
            </a:r>
            <a:r>
              <a:rPr dirty="0"/>
              <a:t>.</a:t>
            </a:r>
          </a:p>
          <a:p>
            <a:r>
              <a:rPr dirty="0" err="1"/>
              <a:t>Tedavi</a:t>
            </a:r>
            <a:r>
              <a:rPr dirty="0"/>
              <a:t> </a:t>
            </a:r>
            <a:r>
              <a:rPr dirty="0" err="1"/>
              <a:t>yöntemlerinin</a:t>
            </a:r>
            <a:r>
              <a:rPr dirty="0"/>
              <a:t> </a:t>
            </a:r>
            <a:r>
              <a:rPr dirty="0" err="1"/>
              <a:t>bırakma</a:t>
            </a:r>
            <a:r>
              <a:rPr dirty="0"/>
              <a:t> </a:t>
            </a:r>
            <a:r>
              <a:rPr dirty="0" err="1"/>
              <a:t>üzerindeki</a:t>
            </a:r>
            <a:r>
              <a:rPr dirty="0"/>
              <a:t> </a:t>
            </a:r>
            <a:r>
              <a:rPr dirty="0" err="1"/>
              <a:t>etkisi</a:t>
            </a:r>
            <a:r>
              <a:rPr dirty="0"/>
              <a:t> </a:t>
            </a:r>
            <a:r>
              <a:rPr dirty="0" err="1"/>
              <a:t>ikili</a:t>
            </a:r>
            <a:r>
              <a:rPr dirty="0"/>
              <a:t> </a:t>
            </a:r>
            <a:r>
              <a:rPr dirty="0" err="1"/>
              <a:t>lojistik</a:t>
            </a:r>
            <a:r>
              <a:rPr dirty="0"/>
              <a:t> </a:t>
            </a:r>
            <a:r>
              <a:rPr dirty="0" err="1"/>
              <a:t>regresyonla</a:t>
            </a:r>
            <a:r>
              <a:rPr dirty="0"/>
              <a:t> </a:t>
            </a:r>
            <a:r>
              <a:rPr dirty="0" err="1"/>
              <a:t>değerlendirilmiş</a:t>
            </a:r>
            <a:r>
              <a:rPr dirty="0"/>
              <a:t> </a:t>
            </a:r>
            <a:r>
              <a:rPr dirty="0" err="1"/>
              <a:t>ve</a:t>
            </a:r>
            <a:r>
              <a:rPr dirty="0"/>
              <a:t> Bonferroni </a:t>
            </a:r>
            <a:r>
              <a:rPr dirty="0" err="1"/>
              <a:t>düzeltmesi</a:t>
            </a:r>
            <a:r>
              <a:rPr dirty="0"/>
              <a:t> </a:t>
            </a:r>
            <a:r>
              <a:rPr dirty="0" err="1"/>
              <a:t>uygulanmıştır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Bulgulara</a:t>
            </a:r>
            <a:r>
              <a:rPr dirty="0"/>
              <a:t> </a:t>
            </a:r>
            <a:r>
              <a:rPr dirty="0" err="1"/>
              <a:t>geçiyorum</a:t>
            </a:r>
            <a:r>
              <a:rPr dirty="0"/>
              <a:t>. Analize 399 hasta </a:t>
            </a:r>
            <a:r>
              <a:rPr dirty="0" err="1"/>
              <a:t>alınmıştır</a:t>
            </a:r>
            <a:r>
              <a:rPr dirty="0"/>
              <a:t>. </a:t>
            </a:r>
            <a:r>
              <a:rPr dirty="0" err="1"/>
              <a:t>Yaş</a:t>
            </a:r>
            <a:r>
              <a:rPr dirty="0"/>
              <a:t> </a:t>
            </a:r>
            <a:r>
              <a:rPr dirty="0" err="1"/>
              <a:t>ortalaması</a:t>
            </a:r>
            <a:r>
              <a:rPr dirty="0"/>
              <a:t> 44,</a:t>
            </a:r>
            <a:r>
              <a:rPr lang="tr-TR" dirty="0"/>
              <a:t>69</a:t>
            </a:r>
            <a:r>
              <a:rPr dirty="0"/>
              <a:t> </a:t>
            </a:r>
            <a:r>
              <a:rPr dirty="0" err="1"/>
              <a:t>yıldır</a:t>
            </a:r>
            <a:r>
              <a:rPr dirty="0"/>
              <a:t> </a:t>
            </a:r>
            <a:r>
              <a:rPr dirty="0" err="1"/>
              <a:t>ve</a:t>
            </a:r>
            <a:r>
              <a:rPr dirty="0"/>
              <a:t> </a:t>
            </a:r>
            <a:r>
              <a:rPr dirty="0" err="1"/>
              <a:t>hastaların</a:t>
            </a:r>
            <a:r>
              <a:rPr dirty="0"/>
              <a:t> </a:t>
            </a:r>
            <a:r>
              <a:rPr dirty="0" err="1"/>
              <a:t>yüzde</a:t>
            </a:r>
            <a:r>
              <a:rPr dirty="0"/>
              <a:t> 63,</a:t>
            </a:r>
            <a:r>
              <a:rPr lang="tr-TR" dirty="0"/>
              <a:t>66</a:t>
            </a:r>
            <a:r>
              <a:rPr dirty="0"/>
              <a:t>'</a:t>
            </a:r>
            <a:r>
              <a:rPr dirty="0" err="1"/>
              <a:t>si</a:t>
            </a:r>
            <a:r>
              <a:rPr dirty="0"/>
              <a:t> </a:t>
            </a:r>
            <a:r>
              <a:rPr dirty="0" err="1"/>
              <a:t>erkektir</a:t>
            </a:r>
            <a:r>
              <a:rPr dirty="0"/>
              <a:t>.</a:t>
            </a:r>
          </a:p>
          <a:p>
            <a:r>
              <a:rPr dirty="0" err="1"/>
              <a:t>Ortalama</a:t>
            </a:r>
            <a:r>
              <a:rPr dirty="0"/>
              <a:t> FNBT</a:t>
            </a:r>
            <a:r>
              <a:rPr lang="tr-TR" dirty="0"/>
              <a:t> (</a:t>
            </a:r>
            <a:r>
              <a:rPr lang="tr-TR" dirty="0" err="1"/>
              <a:t>Fagerström</a:t>
            </a:r>
            <a:r>
              <a:rPr lang="tr-TR" dirty="0"/>
              <a:t> Nikotin Bağımlılık Testi )</a:t>
            </a:r>
            <a:r>
              <a:rPr dirty="0"/>
              <a:t> </a:t>
            </a:r>
            <a:r>
              <a:rPr dirty="0" err="1"/>
              <a:t>puanı</a:t>
            </a:r>
            <a:r>
              <a:rPr dirty="0"/>
              <a:t> 5,66, </a:t>
            </a:r>
            <a:r>
              <a:rPr dirty="0" err="1"/>
              <a:t>ortalama</a:t>
            </a:r>
            <a:r>
              <a:rPr dirty="0"/>
              <a:t> </a:t>
            </a:r>
            <a:r>
              <a:rPr dirty="0" err="1"/>
              <a:t>tüketim</a:t>
            </a:r>
            <a:r>
              <a:rPr dirty="0"/>
              <a:t> 27,</a:t>
            </a:r>
            <a:r>
              <a:rPr lang="tr-TR" dirty="0"/>
              <a:t>38</a:t>
            </a:r>
            <a:r>
              <a:rPr dirty="0"/>
              <a:t> </a:t>
            </a:r>
            <a:r>
              <a:rPr dirty="0" err="1"/>
              <a:t>paket-yıl</a:t>
            </a:r>
            <a:r>
              <a:rPr dirty="0"/>
              <a:t>, hasta </a:t>
            </a:r>
            <a:r>
              <a:rPr dirty="0" err="1"/>
              <a:t>başına</a:t>
            </a:r>
            <a:r>
              <a:rPr dirty="0"/>
              <a:t> </a:t>
            </a:r>
            <a:r>
              <a:rPr dirty="0" err="1"/>
              <a:t>ortalama</a:t>
            </a:r>
            <a:r>
              <a:rPr dirty="0"/>
              <a:t> </a:t>
            </a:r>
            <a:r>
              <a:rPr dirty="0" err="1"/>
              <a:t>görüşme</a:t>
            </a:r>
            <a:r>
              <a:rPr dirty="0"/>
              <a:t> </a:t>
            </a:r>
            <a:r>
              <a:rPr dirty="0" err="1"/>
              <a:t>sayısı</a:t>
            </a:r>
            <a:r>
              <a:rPr dirty="0"/>
              <a:t> 2,21'dir. </a:t>
            </a:r>
            <a:r>
              <a:rPr dirty="0" err="1"/>
              <a:t>Hastaların</a:t>
            </a:r>
            <a:r>
              <a:rPr dirty="0"/>
              <a:t> </a:t>
            </a:r>
            <a:r>
              <a:rPr dirty="0" err="1"/>
              <a:t>yüzde</a:t>
            </a:r>
            <a:r>
              <a:rPr dirty="0"/>
              <a:t> 34,</a:t>
            </a:r>
            <a:r>
              <a:rPr lang="tr-TR" dirty="0"/>
              <a:t>09u</a:t>
            </a:r>
            <a:r>
              <a:rPr dirty="0"/>
              <a:t>, </a:t>
            </a:r>
            <a:r>
              <a:rPr dirty="0" err="1"/>
              <a:t>yani</a:t>
            </a:r>
            <a:r>
              <a:rPr dirty="0"/>
              <a:t> </a:t>
            </a:r>
            <a:r>
              <a:rPr dirty="0" err="1"/>
              <a:t>yaklaşık</a:t>
            </a:r>
            <a:r>
              <a:rPr dirty="0"/>
              <a:t> </a:t>
            </a:r>
            <a:r>
              <a:rPr dirty="0" err="1"/>
              <a:t>üçte</a:t>
            </a:r>
            <a:r>
              <a:rPr dirty="0"/>
              <a:t> </a:t>
            </a:r>
            <a:r>
              <a:rPr dirty="0" err="1"/>
              <a:t>biri</a:t>
            </a:r>
            <a:r>
              <a:rPr dirty="0"/>
              <a:t> </a:t>
            </a:r>
            <a:r>
              <a:rPr dirty="0" err="1"/>
              <a:t>sigarayı</a:t>
            </a:r>
            <a:r>
              <a:rPr dirty="0"/>
              <a:t> </a:t>
            </a:r>
            <a:r>
              <a:rPr dirty="0" err="1"/>
              <a:t>bırakmıştır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FNBT</a:t>
            </a:r>
            <a:r>
              <a:rPr lang="tr-TR" dirty="0"/>
              <a:t>(</a:t>
            </a:r>
            <a:r>
              <a:rPr lang="tr-TR" dirty="0" err="1"/>
              <a:t>Fagerström</a:t>
            </a:r>
            <a:r>
              <a:rPr lang="tr-TR" dirty="0"/>
              <a:t> Nikotin Bağımlılık Testi )</a:t>
            </a:r>
            <a:r>
              <a:rPr dirty="0"/>
              <a:t> </a:t>
            </a:r>
            <a:r>
              <a:rPr dirty="0" err="1"/>
              <a:t>puanlarına</a:t>
            </a:r>
            <a:r>
              <a:rPr dirty="0"/>
              <a:t> </a:t>
            </a:r>
            <a:r>
              <a:rPr dirty="0" err="1"/>
              <a:t>göre</a:t>
            </a:r>
            <a:r>
              <a:rPr dirty="0"/>
              <a:t> </a:t>
            </a:r>
            <a:r>
              <a:rPr dirty="0" err="1"/>
              <a:t>hastaların</a:t>
            </a:r>
            <a:r>
              <a:rPr dirty="0"/>
              <a:t> </a:t>
            </a:r>
            <a:r>
              <a:rPr dirty="0" err="1"/>
              <a:t>yüzde</a:t>
            </a:r>
            <a:r>
              <a:rPr dirty="0"/>
              <a:t> 13,</a:t>
            </a:r>
            <a:r>
              <a:rPr lang="tr-TR" dirty="0"/>
              <a:t>19u</a:t>
            </a:r>
            <a:r>
              <a:rPr dirty="0"/>
              <a:t> </a:t>
            </a:r>
            <a:r>
              <a:rPr dirty="0" err="1"/>
              <a:t>düşük</a:t>
            </a:r>
            <a:r>
              <a:rPr dirty="0"/>
              <a:t>, </a:t>
            </a:r>
            <a:r>
              <a:rPr dirty="0" err="1"/>
              <a:t>yüzde</a:t>
            </a:r>
            <a:r>
              <a:rPr dirty="0"/>
              <a:t> 61,3</a:t>
            </a:r>
            <a:r>
              <a:rPr lang="tr-TR" dirty="0"/>
              <a:t>4</a:t>
            </a:r>
            <a:r>
              <a:rPr dirty="0"/>
              <a:t>'ü </a:t>
            </a:r>
            <a:r>
              <a:rPr dirty="0" err="1"/>
              <a:t>orta</a:t>
            </a:r>
            <a:r>
              <a:rPr dirty="0"/>
              <a:t>, </a:t>
            </a:r>
            <a:r>
              <a:rPr dirty="0" err="1"/>
              <a:t>yüzde</a:t>
            </a:r>
            <a:r>
              <a:rPr dirty="0"/>
              <a:t> 25,</a:t>
            </a:r>
            <a:r>
              <a:rPr lang="tr-TR" dirty="0"/>
              <a:t>46sı</a:t>
            </a:r>
            <a:r>
              <a:rPr dirty="0"/>
              <a:t> </a:t>
            </a:r>
            <a:r>
              <a:rPr dirty="0" err="1"/>
              <a:t>yüksek</a:t>
            </a:r>
            <a:r>
              <a:rPr dirty="0"/>
              <a:t> </a:t>
            </a:r>
            <a:r>
              <a:rPr dirty="0" err="1"/>
              <a:t>bağımlılık</a:t>
            </a:r>
            <a:r>
              <a:rPr dirty="0"/>
              <a:t> </a:t>
            </a:r>
            <a:r>
              <a:rPr dirty="0" err="1"/>
              <a:t>düzeyindedir</a:t>
            </a:r>
            <a:r>
              <a:rPr dirty="0"/>
              <a:t>.</a:t>
            </a:r>
          </a:p>
          <a:p>
            <a:r>
              <a:rPr dirty="0" err="1"/>
              <a:t>Hastaların</a:t>
            </a:r>
            <a:r>
              <a:rPr dirty="0"/>
              <a:t> </a:t>
            </a:r>
            <a:r>
              <a:rPr dirty="0" err="1"/>
              <a:t>yüzde</a:t>
            </a:r>
            <a:r>
              <a:rPr dirty="0"/>
              <a:t> 75,</a:t>
            </a:r>
            <a:r>
              <a:rPr lang="tr-TR" dirty="0"/>
              <a:t>69u</a:t>
            </a:r>
            <a:r>
              <a:rPr dirty="0"/>
              <a:t> </a:t>
            </a:r>
            <a:r>
              <a:rPr dirty="0" err="1"/>
              <a:t>daha</a:t>
            </a:r>
            <a:r>
              <a:rPr dirty="0"/>
              <a:t> </a:t>
            </a:r>
            <a:r>
              <a:rPr dirty="0" err="1"/>
              <a:t>önce</a:t>
            </a:r>
            <a:r>
              <a:rPr dirty="0"/>
              <a:t> </a:t>
            </a:r>
            <a:r>
              <a:rPr dirty="0" err="1"/>
              <a:t>sigarayı</a:t>
            </a:r>
            <a:r>
              <a:rPr dirty="0"/>
              <a:t> </a:t>
            </a:r>
            <a:r>
              <a:rPr dirty="0" err="1"/>
              <a:t>bırakmayı</a:t>
            </a:r>
            <a:r>
              <a:rPr dirty="0"/>
              <a:t> </a:t>
            </a:r>
            <a:r>
              <a:rPr dirty="0" err="1"/>
              <a:t>denemiş</a:t>
            </a:r>
            <a:r>
              <a:rPr dirty="0"/>
              <a:t> </a:t>
            </a:r>
            <a:r>
              <a:rPr dirty="0" err="1"/>
              <a:t>ve</a:t>
            </a:r>
            <a:r>
              <a:rPr dirty="0"/>
              <a:t> </a:t>
            </a:r>
            <a:r>
              <a:rPr dirty="0" err="1"/>
              <a:t>bunların</a:t>
            </a:r>
            <a:r>
              <a:rPr dirty="0"/>
              <a:t> </a:t>
            </a:r>
            <a:r>
              <a:rPr dirty="0" err="1"/>
              <a:t>yaklaşık</a:t>
            </a:r>
            <a:r>
              <a:rPr dirty="0"/>
              <a:t> </a:t>
            </a:r>
            <a:r>
              <a:rPr dirty="0" err="1"/>
              <a:t>yarısı</a:t>
            </a:r>
            <a:r>
              <a:rPr dirty="0"/>
              <a:t> </a:t>
            </a:r>
            <a:r>
              <a:rPr dirty="0" err="1"/>
              <a:t>bu</a:t>
            </a:r>
            <a:r>
              <a:rPr dirty="0"/>
              <a:t> </a:t>
            </a:r>
            <a:r>
              <a:rPr dirty="0" err="1"/>
              <a:t>denemede</a:t>
            </a:r>
            <a:r>
              <a:rPr dirty="0"/>
              <a:t> </a:t>
            </a:r>
            <a:r>
              <a:rPr dirty="0" err="1"/>
              <a:t>profesyonel</a:t>
            </a:r>
            <a:r>
              <a:rPr dirty="0"/>
              <a:t> </a:t>
            </a:r>
            <a:r>
              <a:rPr dirty="0" err="1"/>
              <a:t>destek</a:t>
            </a:r>
            <a:r>
              <a:rPr dirty="0"/>
              <a:t> </a:t>
            </a:r>
            <a:r>
              <a:rPr dirty="0" err="1"/>
              <a:t>almıştır</a:t>
            </a:r>
            <a:r>
              <a:rPr dirty="0"/>
              <a:t>. </a:t>
            </a:r>
            <a:r>
              <a:rPr dirty="0" err="1"/>
              <a:t>Yüzde</a:t>
            </a:r>
            <a:r>
              <a:rPr dirty="0"/>
              <a:t> 7,</a:t>
            </a:r>
            <a:r>
              <a:rPr lang="tr-TR" dirty="0"/>
              <a:t>19u</a:t>
            </a:r>
            <a:r>
              <a:rPr dirty="0"/>
              <a:t> </a:t>
            </a:r>
            <a:r>
              <a:rPr dirty="0" err="1"/>
              <a:t>sigara</a:t>
            </a:r>
            <a:r>
              <a:rPr dirty="0"/>
              <a:t> </a:t>
            </a:r>
            <a:r>
              <a:rPr dirty="0" err="1"/>
              <a:t>dışında</a:t>
            </a:r>
            <a:r>
              <a:rPr dirty="0"/>
              <a:t> </a:t>
            </a:r>
            <a:r>
              <a:rPr dirty="0" err="1"/>
              <a:t>elektronik</a:t>
            </a:r>
            <a:r>
              <a:rPr dirty="0"/>
              <a:t> </a:t>
            </a:r>
            <a:r>
              <a:rPr dirty="0" err="1"/>
              <a:t>sigara</a:t>
            </a:r>
            <a:r>
              <a:rPr dirty="0"/>
              <a:t>, </a:t>
            </a:r>
            <a:r>
              <a:rPr dirty="0" err="1"/>
              <a:t>nargile</a:t>
            </a:r>
            <a:r>
              <a:rPr dirty="0"/>
              <a:t> </a:t>
            </a:r>
            <a:r>
              <a:rPr dirty="0" err="1"/>
              <a:t>veya</a:t>
            </a:r>
            <a:r>
              <a:rPr dirty="0"/>
              <a:t> puro </a:t>
            </a:r>
            <a:r>
              <a:rPr dirty="0" err="1"/>
              <a:t>gibi</a:t>
            </a:r>
            <a:r>
              <a:rPr dirty="0"/>
              <a:t> </a:t>
            </a:r>
            <a:r>
              <a:rPr dirty="0" err="1"/>
              <a:t>tütün</a:t>
            </a:r>
            <a:r>
              <a:rPr dirty="0"/>
              <a:t> </a:t>
            </a:r>
            <a:r>
              <a:rPr dirty="0" err="1"/>
              <a:t>ürünleri</a:t>
            </a:r>
            <a:r>
              <a:rPr dirty="0"/>
              <a:t> </a:t>
            </a:r>
            <a:r>
              <a:rPr dirty="0" err="1"/>
              <a:t>kullanmaktadır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Tablo </a:t>
            </a:r>
            <a:r>
              <a:rPr lang="tr-TR" dirty="0"/>
              <a:t>da</a:t>
            </a:r>
            <a:r>
              <a:rPr dirty="0"/>
              <a:t> </a:t>
            </a:r>
            <a:r>
              <a:rPr dirty="0" err="1"/>
              <a:t>katılımcıların</a:t>
            </a:r>
            <a:r>
              <a:rPr dirty="0"/>
              <a:t> </a:t>
            </a:r>
            <a:r>
              <a:rPr dirty="0" err="1"/>
              <a:t>sosyodemografik</a:t>
            </a:r>
            <a:r>
              <a:rPr dirty="0"/>
              <a:t> </a:t>
            </a:r>
            <a:r>
              <a:rPr dirty="0" err="1"/>
              <a:t>özellikleri</a:t>
            </a:r>
            <a:r>
              <a:rPr dirty="0"/>
              <a:t> </a:t>
            </a:r>
            <a:r>
              <a:rPr dirty="0" err="1"/>
              <a:t>yer</a:t>
            </a:r>
            <a:r>
              <a:rPr dirty="0"/>
              <a:t> </a:t>
            </a:r>
            <a:r>
              <a:rPr dirty="0" err="1"/>
              <a:t>almaktadır</a:t>
            </a:r>
            <a:r>
              <a:rPr dirty="0"/>
              <a:t>. En </a:t>
            </a:r>
            <a:r>
              <a:rPr dirty="0" err="1"/>
              <a:t>kalabalık</a:t>
            </a:r>
            <a:r>
              <a:rPr dirty="0"/>
              <a:t> </a:t>
            </a:r>
            <a:r>
              <a:rPr dirty="0" err="1"/>
              <a:t>yaş</a:t>
            </a:r>
            <a:r>
              <a:rPr dirty="0"/>
              <a:t> </a:t>
            </a:r>
            <a:r>
              <a:rPr dirty="0" err="1"/>
              <a:t>grubu</a:t>
            </a:r>
            <a:r>
              <a:rPr dirty="0"/>
              <a:t> </a:t>
            </a:r>
            <a:r>
              <a:rPr dirty="0" err="1"/>
              <a:t>yüzde</a:t>
            </a:r>
            <a:r>
              <a:rPr dirty="0"/>
              <a:t> 45,6</a:t>
            </a:r>
            <a:r>
              <a:rPr lang="tr-TR" dirty="0"/>
              <a:t>1</a:t>
            </a:r>
            <a:r>
              <a:rPr dirty="0"/>
              <a:t> </a:t>
            </a:r>
            <a:r>
              <a:rPr dirty="0" err="1"/>
              <a:t>ile</a:t>
            </a:r>
            <a:r>
              <a:rPr dirty="0"/>
              <a:t> 26–44 </a:t>
            </a:r>
            <a:r>
              <a:rPr dirty="0" err="1"/>
              <a:t>yaş</a:t>
            </a:r>
            <a:r>
              <a:rPr dirty="0"/>
              <a:t> </a:t>
            </a:r>
            <a:r>
              <a:rPr dirty="0" err="1"/>
              <a:t>grubudur</a:t>
            </a:r>
            <a:r>
              <a:rPr dirty="0"/>
              <a:t>. </a:t>
            </a:r>
            <a:r>
              <a:rPr dirty="0" err="1"/>
              <a:t>Hastaların</a:t>
            </a:r>
            <a:r>
              <a:rPr dirty="0"/>
              <a:t> </a:t>
            </a:r>
            <a:r>
              <a:rPr dirty="0" err="1"/>
              <a:t>yüzde</a:t>
            </a:r>
            <a:r>
              <a:rPr dirty="0"/>
              <a:t> 82'si </a:t>
            </a:r>
            <a:r>
              <a:rPr dirty="0" err="1"/>
              <a:t>evlidir</a:t>
            </a:r>
            <a:r>
              <a:rPr dirty="0"/>
              <a:t> </a:t>
            </a:r>
            <a:r>
              <a:rPr dirty="0" err="1"/>
              <a:t>ve</a:t>
            </a:r>
            <a:r>
              <a:rPr dirty="0"/>
              <a:t> </a:t>
            </a:r>
            <a:r>
              <a:rPr dirty="0" err="1"/>
              <a:t>yüzde</a:t>
            </a:r>
            <a:r>
              <a:rPr dirty="0"/>
              <a:t> 43'ü </a:t>
            </a:r>
            <a:r>
              <a:rPr dirty="0" err="1"/>
              <a:t>yükseköğretim</a:t>
            </a:r>
            <a:r>
              <a:rPr dirty="0"/>
              <a:t> </a:t>
            </a:r>
            <a:r>
              <a:rPr dirty="0" err="1"/>
              <a:t>mezunudur</a:t>
            </a:r>
            <a:r>
              <a:rPr dirty="0"/>
              <a:t>.</a:t>
            </a:r>
          </a:p>
          <a:p>
            <a:r>
              <a:rPr dirty="0" err="1"/>
              <a:t>Hastaların</a:t>
            </a:r>
            <a:r>
              <a:rPr dirty="0"/>
              <a:t> </a:t>
            </a:r>
            <a:r>
              <a:rPr dirty="0" err="1"/>
              <a:t>yüzde</a:t>
            </a:r>
            <a:r>
              <a:rPr dirty="0"/>
              <a:t> 86'sı il </a:t>
            </a:r>
            <a:r>
              <a:rPr dirty="0" err="1"/>
              <a:t>merkezinde</a:t>
            </a:r>
            <a:r>
              <a:rPr dirty="0"/>
              <a:t> </a:t>
            </a:r>
            <a:r>
              <a:rPr dirty="0" err="1"/>
              <a:t>yaşamaktadır</a:t>
            </a:r>
            <a:r>
              <a:rPr dirty="0"/>
              <a:t>. </a:t>
            </a:r>
            <a:r>
              <a:rPr dirty="0" err="1"/>
              <a:t>Yüzde</a:t>
            </a:r>
            <a:r>
              <a:rPr dirty="0"/>
              <a:t> 39,6'sının </a:t>
            </a:r>
            <a:r>
              <a:rPr dirty="0" err="1"/>
              <a:t>hanesinde</a:t>
            </a:r>
            <a:r>
              <a:rPr dirty="0"/>
              <a:t> </a:t>
            </a:r>
            <a:r>
              <a:rPr dirty="0" err="1"/>
              <a:t>sigara</a:t>
            </a:r>
            <a:r>
              <a:rPr dirty="0"/>
              <a:t> </a:t>
            </a:r>
            <a:r>
              <a:rPr dirty="0" err="1"/>
              <a:t>içen</a:t>
            </a:r>
            <a:r>
              <a:rPr dirty="0"/>
              <a:t> </a:t>
            </a:r>
            <a:r>
              <a:rPr dirty="0" err="1"/>
              <a:t>başka</a:t>
            </a:r>
            <a:r>
              <a:rPr dirty="0"/>
              <a:t> </a:t>
            </a:r>
            <a:r>
              <a:rPr dirty="0" err="1"/>
              <a:t>biri</a:t>
            </a:r>
            <a:r>
              <a:rPr dirty="0"/>
              <a:t> </a:t>
            </a:r>
            <a:r>
              <a:rPr dirty="0" err="1"/>
              <a:t>bulunmaktadır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 tabloda da </a:t>
            </a:r>
            <a:r>
              <a:rPr dirty="0" err="1"/>
              <a:t>sosyodemografik</a:t>
            </a:r>
            <a:r>
              <a:rPr dirty="0"/>
              <a:t> </a:t>
            </a:r>
            <a:r>
              <a:rPr dirty="0" err="1"/>
              <a:t>özelliklere</a:t>
            </a:r>
            <a:r>
              <a:rPr dirty="0"/>
              <a:t> </a:t>
            </a:r>
            <a:r>
              <a:rPr dirty="0" err="1"/>
              <a:t>göre</a:t>
            </a:r>
            <a:r>
              <a:rPr dirty="0"/>
              <a:t> </a:t>
            </a:r>
            <a:r>
              <a:rPr dirty="0" err="1"/>
              <a:t>bırakma</a:t>
            </a:r>
            <a:r>
              <a:rPr dirty="0"/>
              <a:t> </a:t>
            </a:r>
            <a:r>
              <a:rPr dirty="0" err="1"/>
              <a:t>durumu</a:t>
            </a:r>
            <a:r>
              <a:rPr dirty="0"/>
              <a:t> </a:t>
            </a:r>
            <a:r>
              <a:rPr dirty="0" err="1"/>
              <a:t>karşılaştırılmıştır</a:t>
            </a:r>
            <a:r>
              <a:rPr dirty="0"/>
              <a:t>. Bu </a:t>
            </a:r>
            <a:r>
              <a:rPr dirty="0" err="1"/>
              <a:t>tablo</a:t>
            </a:r>
            <a:r>
              <a:rPr dirty="0"/>
              <a:t> </a:t>
            </a:r>
            <a:r>
              <a:rPr dirty="0" err="1"/>
              <a:t>aslında</a:t>
            </a:r>
            <a:r>
              <a:rPr dirty="0"/>
              <a:t> </a:t>
            </a:r>
            <a:r>
              <a:rPr dirty="0" err="1"/>
              <a:t>uzun</a:t>
            </a:r>
            <a:r>
              <a:rPr dirty="0"/>
              <a:t> </a:t>
            </a:r>
            <a:r>
              <a:rPr dirty="0" err="1"/>
              <a:t>bir</a:t>
            </a:r>
            <a:r>
              <a:rPr dirty="0"/>
              <a:t> </a:t>
            </a:r>
            <a:r>
              <a:rPr dirty="0" err="1"/>
              <a:t>tablo</a:t>
            </a:r>
            <a:r>
              <a:rPr dirty="0"/>
              <a:t> </a:t>
            </a:r>
            <a:r>
              <a:rPr dirty="0" err="1"/>
              <a:t>ikiye</a:t>
            </a:r>
            <a:r>
              <a:rPr dirty="0"/>
              <a:t> </a:t>
            </a:r>
            <a:r>
              <a:rPr dirty="0" err="1"/>
              <a:t>böldüm</a:t>
            </a:r>
            <a:r>
              <a:rPr dirty="0"/>
              <a:t> </a:t>
            </a:r>
            <a:r>
              <a:rPr dirty="0" err="1"/>
              <a:t>yarısı</a:t>
            </a:r>
            <a:r>
              <a:rPr dirty="0"/>
              <a:t> </a:t>
            </a:r>
            <a:r>
              <a:rPr dirty="0" err="1"/>
              <a:t>diğer</a:t>
            </a:r>
            <a:r>
              <a:rPr dirty="0"/>
              <a:t> </a:t>
            </a:r>
            <a:r>
              <a:rPr dirty="0" err="1"/>
              <a:t>slaytta</a:t>
            </a:r>
            <a:r>
              <a:rPr dirty="0"/>
              <a:t>. </a:t>
            </a:r>
            <a:r>
              <a:rPr dirty="0" err="1"/>
              <a:t>Tablonun</a:t>
            </a:r>
            <a:r>
              <a:rPr dirty="0"/>
              <a:t> ilk </a:t>
            </a:r>
            <a:r>
              <a:rPr dirty="0" err="1"/>
              <a:t>bölümünde</a:t>
            </a:r>
            <a:r>
              <a:rPr dirty="0"/>
              <a:t> </a:t>
            </a:r>
            <a:r>
              <a:rPr dirty="0" err="1"/>
              <a:t>cinsiyet</a:t>
            </a:r>
            <a:r>
              <a:rPr dirty="0"/>
              <a:t>, </a:t>
            </a:r>
            <a:r>
              <a:rPr dirty="0" err="1"/>
              <a:t>yaş</a:t>
            </a:r>
            <a:r>
              <a:rPr dirty="0"/>
              <a:t> </a:t>
            </a:r>
            <a:r>
              <a:rPr dirty="0" err="1"/>
              <a:t>grubu</a:t>
            </a:r>
            <a:r>
              <a:rPr dirty="0"/>
              <a:t>, </a:t>
            </a:r>
            <a:r>
              <a:rPr dirty="0" err="1"/>
              <a:t>medeni</a:t>
            </a:r>
            <a:r>
              <a:rPr dirty="0"/>
              <a:t> durum </a:t>
            </a:r>
            <a:r>
              <a:rPr dirty="0" err="1"/>
              <a:t>ve</a:t>
            </a:r>
            <a:r>
              <a:rPr dirty="0"/>
              <a:t> </a:t>
            </a:r>
            <a:r>
              <a:rPr dirty="0" err="1"/>
              <a:t>eğitim</a:t>
            </a:r>
            <a:r>
              <a:rPr dirty="0"/>
              <a:t> </a:t>
            </a:r>
            <a:r>
              <a:rPr dirty="0" err="1"/>
              <a:t>durumu</a:t>
            </a:r>
            <a:r>
              <a:rPr dirty="0"/>
              <a:t> </a:t>
            </a:r>
            <a:r>
              <a:rPr dirty="0" err="1"/>
              <a:t>yer</a:t>
            </a:r>
            <a:r>
              <a:rPr dirty="0"/>
              <a:t> </a:t>
            </a:r>
            <a:r>
              <a:rPr dirty="0" err="1"/>
              <a:t>almaktadır</a:t>
            </a:r>
            <a:r>
              <a:rPr dirty="0"/>
              <a:t>.</a:t>
            </a:r>
          </a:p>
          <a:p>
            <a:r>
              <a:rPr dirty="0"/>
              <a:t>Bu </a:t>
            </a:r>
            <a:r>
              <a:rPr dirty="0" err="1"/>
              <a:t>değişkenlerin</a:t>
            </a:r>
            <a:r>
              <a:rPr dirty="0"/>
              <a:t> </a:t>
            </a:r>
            <a:r>
              <a:rPr dirty="0" err="1"/>
              <a:t>hiçbirinde</a:t>
            </a:r>
            <a:r>
              <a:rPr dirty="0"/>
              <a:t> </a:t>
            </a:r>
            <a:r>
              <a:rPr dirty="0" err="1"/>
              <a:t>başarılı</a:t>
            </a:r>
            <a:r>
              <a:rPr dirty="0"/>
              <a:t> </a:t>
            </a:r>
            <a:r>
              <a:rPr dirty="0" err="1"/>
              <a:t>ve</a:t>
            </a:r>
            <a:r>
              <a:rPr dirty="0"/>
              <a:t> </a:t>
            </a:r>
            <a:r>
              <a:rPr dirty="0" err="1"/>
              <a:t>başarısız</a:t>
            </a:r>
            <a:r>
              <a:rPr dirty="0"/>
              <a:t> </a:t>
            </a:r>
            <a:r>
              <a:rPr dirty="0" err="1"/>
              <a:t>gruplar</a:t>
            </a:r>
            <a:r>
              <a:rPr dirty="0"/>
              <a:t> </a:t>
            </a:r>
            <a:r>
              <a:rPr dirty="0" err="1"/>
              <a:t>arasında</a:t>
            </a:r>
            <a:r>
              <a:rPr dirty="0"/>
              <a:t> </a:t>
            </a:r>
            <a:r>
              <a:rPr dirty="0" err="1"/>
              <a:t>anlamlı</a:t>
            </a:r>
            <a:r>
              <a:rPr dirty="0"/>
              <a:t> fark </a:t>
            </a:r>
            <a:r>
              <a:rPr dirty="0" err="1"/>
              <a:t>bulunmamıştır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Tablonun</a:t>
            </a:r>
            <a:r>
              <a:rPr dirty="0"/>
              <a:t> </a:t>
            </a:r>
            <a:r>
              <a:rPr dirty="0" err="1"/>
              <a:t>ikinci</a:t>
            </a:r>
            <a:r>
              <a:rPr dirty="0"/>
              <a:t> </a:t>
            </a:r>
            <a:r>
              <a:rPr dirty="0" err="1"/>
              <a:t>bölümünde</a:t>
            </a:r>
            <a:r>
              <a:rPr dirty="0"/>
              <a:t> </a:t>
            </a:r>
            <a:r>
              <a:rPr dirty="0" err="1"/>
              <a:t>yerleşim</a:t>
            </a:r>
            <a:r>
              <a:rPr dirty="0"/>
              <a:t> </a:t>
            </a:r>
            <a:r>
              <a:rPr dirty="0" err="1"/>
              <a:t>yeri</a:t>
            </a:r>
            <a:r>
              <a:rPr dirty="0"/>
              <a:t>, </a:t>
            </a:r>
            <a:r>
              <a:rPr dirty="0" err="1"/>
              <a:t>çalışma</a:t>
            </a:r>
            <a:r>
              <a:rPr dirty="0"/>
              <a:t> </a:t>
            </a:r>
            <a:r>
              <a:rPr dirty="0" err="1"/>
              <a:t>durumu</a:t>
            </a:r>
            <a:r>
              <a:rPr dirty="0"/>
              <a:t>, </a:t>
            </a:r>
            <a:r>
              <a:rPr dirty="0" err="1"/>
              <a:t>hanede</a:t>
            </a:r>
            <a:r>
              <a:rPr dirty="0"/>
              <a:t> </a:t>
            </a:r>
            <a:r>
              <a:rPr dirty="0" err="1"/>
              <a:t>başka</a:t>
            </a:r>
            <a:r>
              <a:rPr dirty="0"/>
              <a:t> </a:t>
            </a:r>
            <a:r>
              <a:rPr dirty="0" err="1"/>
              <a:t>sigara</a:t>
            </a:r>
            <a:r>
              <a:rPr dirty="0"/>
              <a:t> </a:t>
            </a:r>
            <a:r>
              <a:rPr dirty="0" err="1"/>
              <a:t>içen</a:t>
            </a:r>
            <a:r>
              <a:rPr dirty="0"/>
              <a:t> </a:t>
            </a:r>
            <a:r>
              <a:rPr dirty="0" err="1"/>
              <a:t>varlığı</a:t>
            </a:r>
            <a:r>
              <a:rPr dirty="0"/>
              <a:t> </a:t>
            </a:r>
            <a:r>
              <a:rPr dirty="0" err="1"/>
              <a:t>ve</a:t>
            </a:r>
            <a:r>
              <a:rPr dirty="0"/>
              <a:t> </a:t>
            </a:r>
            <a:r>
              <a:rPr dirty="0" err="1"/>
              <a:t>alkol</a:t>
            </a:r>
            <a:r>
              <a:rPr dirty="0"/>
              <a:t> </a:t>
            </a:r>
            <a:r>
              <a:rPr dirty="0" err="1"/>
              <a:t>kullanımı</a:t>
            </a:r>
            <a:r>
              <a:rPr dirty="0"/>
              <a:t> </a:t>
            </a:r>
            <a:r>
              <a:rPr dirty="0" err="1"/>
              <a:t>yer</a:t>
            </a:r>
            <a:r>
              <a:rPr dirty="0"/>
              <a:t> </a:t>
            </a:r>
            <a:r>
              <a:rPr dirty="0" err="1"/>
              <a:t>almaktadır</a:t>
            </a:r>
            <a:r>
              <a:rPr dirty="0"/>
              <a:t>.</a:t>
            </a:r>
          </a:p>
          <a:p>
            <a:r>
              <a:rPr dirty="0" err="1"/>
              <a:t>Anlamlı</a:t>
            </a:r>
            <a:r>
              <a:rPr dirty="0"/>
              <a:t> fark </a:t>
            </a:r>
            <a:r>
              <a:rPr dirty="0" err="1"/>
              <a:t>yalnızca</a:t>
            </a:r>
            <a:r>
              <a:rPr dirty="0"/>
              <a:t> </a:t>
            </a:r>
            <a:r>
              <a:rPr dirty="0" err="1"/>
              <a:t>hanede</a:t>
            </a:r>
            <a:r>
              <a:rPr dirty="0"/>
              <a:t> </a:t>
            </a:r>
            <a:r>
              <a:rPr dirty="0" err="1"/>
              <a:t>başka</a:t>
            </a:r>
            <a:r>
              <a:rPr dirty="0"/>
              <a:t> </a:t>
            </a:r>
            <a:r>
              <a:rPr dirty="0" err="1"/>
              <a:t>sigara</a:t>
            </a:r>
            <a:r>
              <a:rPr dirty="0"/>
              <a:t> </a:t>
            </a:r>
            <a:r>
              <a:rPr dirty="0" err="1"/>
              <a:t>içen</a:t>
            </a:r>
            <a:r>
              <a:rPr dirty="0"/>
              <a:t> </a:t>
            </a:r>
            <a:r>
              <a:rPr dirty="0" err="1"/>
              <a:t>varlığında</a:t>
            </a:r>
            <a:r>
              <a:rPr dirty="0"/>
              <a:t> </a:t>
            </a:r>
            <a:r>
              <a:rPr dirty="0" err="1"/>
              <a:t>bulunmuştur</a:t>
            </a:r>
            <a:r>
              <a:rPr dirty="0"/>
              <a:t>. </a:t>
            </a:r>
            <a:r>
              <a:rPr dirty="0" err="1"/>
              <a:t>Hanesinde</a:t>
            </a:r>
            <a:r>
              <a:rPr dirty="0"/>
              <a:t> </a:t>
            </a:r>
            <a:r>
              <a:rPr dirty="0" err="1"/>
              <a:t>sigara</a:t>
            </a:r>
            <a:r>
              <a:rPr dirty="0"/>
              <a:t> </a:t>
            </a:r>
            <a:r>
              <a:rPr dirty="0" err="1"/>
              <a:t>içen</a:t>
            </a:r>
            <a:r>
              <a:rPr lang="tr-TR" dirty="0"/>
              <a:t> biri</a:t>
            </a:r>
            <a:r>
              <a:rPr dirty="0"/>
              <a:t> </a:t>
            </a:r>
            <a:r>
              <a:rPr dirty="0" err="1"/>
              <a:t>olmayanların</a:t>
            </a:r>
            <a:r>
              <a:rPr dirty="0"/>
              <a:t> </a:t>
            </a:r>
            <a:r>
              <a:rPr dirty="0" err="1"/>
              <a:t>yüzde</a:t>
            </a:r>
            <a:r>
              <a:rPr dirty="0"/>
              <a:t> 39,8'i, </a:t>
            </a:r>
            <a:r>
              <a:rPr dirty="0" err="1"/>
              <a:t>olanların</a:t>
            </a:r>
            <a:r>
              <a:rPr dirty="0"/>
              <a:t> </a:t>
            </a:r>
            <a:r>
              <a:rPr dirty="0" err="1"/>
              <a:t>yüzde</a:t>
            </a:r>
            <a:r>
              <a:rPr dirty="0"/>
              <a:t> 25,3'ü </a:t>
            </a:r>
            <a:r>
              <a:rPr dirty="0" err="1"/>
              <a:t>sigarayı</a:t>
            </a:r>
            <a:r>
              <a:rPr dirty="0"/>
              <a:t> </a:t>
            </a:r>
            <a:r>
              <a:rPr dirty="0" err="1"/>
              <a:t>bırakmıştır</a:t>
            </a:r>
            <a:r>
              <a:rPr dirty="0"/>
              <a:t>; p </a:t>
            </a:r>
            <a:r>
              <a:rPr dirty="0" err="1"/>
              <a:t>değeri</a:t>
            </a:r>
            <a:r>
              <a:rPr dirty="0"/>
              <a:t> 0,003'tür.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tabloda</a:t>
            </a:r>
            <a:r>
              <a:rPr dirty="0"/>
              <a:t> </a:t>
            </a:r>
            <a:r>
              <a:rPr dirty="0" err="1"/>
              <a:t>uygulanan</a:t>
            </a:r>
            <a:r>
              <a:rPr dirty="0"/>
              <a:t> </a:t>
            </a:r>
            <a:r>
              <a:rPr dirty="0" err="1"/>
              <a:t>tedaviler</a:t>
            </a:r>
            <a:r>
              <a:rPr dirty="0"/>
              <a:t> </a:t>
            </a:r>
            <a:r>
              <a:rPr dirty="0" err="1"/>
              <a:t>görülmektedir</a:t>
            </a:r>
            <a:r>
              <a:rPr dirty="0"/>
              <a:t>. En </a:t>
            </a:r>
            <a:r>
              <a:rPr dirty="0" err="1"/>
              <a:t>sık</a:t>
            </a:r>
            <a:r>
              <a:rPr dirty="0"/>
              <a:t> </a:t>
            </a:r>
            <a:r>
              <a:rPr dirty="0" err="1"/>
              <a:t>uygulanan</a:t>
            </a:r>
            <a:r>
              <a:rPr dirty="0"/>
              <a:t> </a:t>
            </a:r>
            <a:r>
              <a:rPr dirty="0" err="1"/>
              <a:t>yöntem</a:t>
            </a:r>
            <a:r>
              <a:rPr dirty="0"/>
              <a:t> 141 hasta </a:t>
            </a:r>
            <a:r>
              <a:rPr dirty="0" err="1"/>
              <a:t>ile</a:t>
            </a:r>
            <a:r>
              <a:rPr dirty="0"/>
              <a:t> </a:t>
            </a:r>
            <a:r>
              <a:rPr dirty="0" err="1"/>
              <a:t>kombine</a:t>
            </a:r>
            <a:r>
              <a:rPr dirty="0"/>
              <a:t> </a:t>
            </a:r>
            <a:r>
              <a:rPr dirty="0" err="1"/>
              <a:t>tedavidir</a:t>
            </a:r>
            <a:r>
              <a:rPr dirty="0"/>
              <a:t>. </a:t>
            </a:r>
            <a:r>
              <a:rPr dirty="0" err="1"/>
              <a:t>Bunu</a:t>
            </a:r>
            <a:r>
              <a:rPr dirty="0"/>
              <a:t> 109 hasta </a:t>
            </a:r>
            <a:r>
              <a:rPr dirty="0" err="1"/>
              <a:t>ile</a:t>
            </a:r>
            <a:r>
              <a:rPr dirty="0"/>
              <a:t> bupropion </a:t>
            </a:r>
            <a:r>
              <a:rPr dirty="0" err="1"/>
              <a:t>ve</a:t>
            </a:r>
            <a:r>
              <a:rPr dirty="0"/>
              <a:t> 80 hasta </a:t>
            </a:r>
            <a:r>
              <a:rPr dirty="0" err="1"/>
              <a:t>ile</a:t>
            </a:r>
            <a:r>
              <a:rPr dirty="0"/>
              <a:t> NRT </a:t>
            </a:r>
            <a:r>
              <a:rPr dirty="0" err="1"/>
              <a:t>monoterapisi</a:t>
            </a:r>
            <a:r>
              <a:rPr dirty="0"/>
              <a:t> </a:t>
            </a:r>
            <a:r>
              <a:rPr dirty="0" err="1"/>
              <a:t>izlemektedir</a:t>
            </a:r>
            <a:r>
              <a:rPr dirty="0"/>
              <a:t>.</a:t>
            </a:r>
          </a:p>
          <a:p>
            <a:r>
              <a:rPr dirty="0" err="1"/>
              <a:t>Kombine</a:t>
            </a:r>
            <a:r>
              <a:rPr dirty="0"/>
              <a:t> </a:t>
            </a:r>
            <a:r>
              <a:rPr dirty="0" err="1"/>
              <a:t>tedavi</a:t>
            </a:r>
            <a:r>
              <a:rPr dirty="0"/>
              <a:t> </a:t>
            </a:r>
            <a:r>
              <a:rPr dirty="0" err="1"/>
              <a:t>alan</a:t>
            </a:r>
            <a:r>
              <a:rPr dirty="0"/>
              <a:t> </a:t>
            </a:r>
            <a:r>
              <a:rPr dirty="0" err="1"/>
              <a:t>hastaların</a:t>
            </a:r>
            <a:r>
              <a:rPr dirty="0"/>
              <a:t> 125'i bupropion </a:t>
            </a:r>
            <a:r>
              <a:rPr dirty="0" err="1"/>
              <a:t>ile</a:t>
            </a:r>
            <a:r>
              <a:rPr dirty="0"/>
              <a:t> NRT </a:t>
            </a:r>
            <a:r>
              <a:rPr dirty="0" err="1"/>
              <a:t>almıştır</a:t>
            </a:r>
            <a:r>
              <a:rPr dirty="0"/>
              <a:t>. </a:t>
            </a:r>
            <a:r>
              <a:rPr dirty="0" err="1"/>
              <a:t>Vareniklin</a:t>
            </a:r>
            <a:r>
              <a:rPr dirty="0"/>
              <a:t> 18, </a:t>
            </a:r>
            <a:r>
              <a:rPr dirty="0" err="1"/>
              <a:t>sitizin</a:t>
            </a:r>
            <a:r>
              <a:rPr dirty="0"/>
              <a:t> 34 </a:t>
            </a:r>
            <a:r>
              <a:rPr dirty="0" err="1"/>
              <a:t>hastada</a:t>
            </a:r>
            <a:r>
              <a:rPr dirty="0"/>
              <a:t> </a:t>
            </a:r>
            <a:r>
              <a:rPr dirty="0" err="1"/>
              <a:t>tek</a:t>
            </a:r>
            <a:r>
              <a:rPr dirty="0"/>
              <a:t> </a:t>
            </a:r>
            <a:r>
              <a:rPr dirty="0" err="1"/>
              <a:t>başına</a:t>
            </a:r>
            <a:r>
              <a:rPr dirty="0"/>
              <a:t> </a:t>
            </a:r>
            <a:r>
              <a:rPr dirty="0" err="1"/>
              <a:t>kullanılmış</a:t>
            </a:r>
            <a:r>
              <a:rPr dirty="0"/>
              <a:t>; 17 </a:t>
            </a:r>
            <a:r>
              <a:rPr dirty="0" err="1"/>
              <a:t>hastaya</a:t>
            </a:r>
            <a:r>
              <a:rPr dirty="0"/>
              <a:t> </a:t>
            </a:r>
            <a:r>
              <a:rPr dirty="0" err="1"/>
              <a:t>yalnızca</a:t>
            </a:r>
            <a:r>
              <a:rPr lang="tr-TR" dirty="0"/>
              <a:t> –</a:t>
            </a:r>
            <a:r>
              <a:rPr lang="tr-TR" dirty="0" err="1"/>
              <a:t>nonfarmakolojik</a:t>
            </a:r>
            <a:r>
              <a:rPr lang="tr-TR" dirty="0"/>
              <a:t> (davranışsal)-</a:t>
            </a:r>
            <a:r>
              <a:rPr dirty="0"/>
              <a:t> </a:t>
            </a:r>
            <a:r>
              <a:rPr dirty="0" err="1"/>
              <a:t>farmakolojik</a:t>
            </a:r>
            <a:r>
              <a:rPr dirty="0"/>
              <a:t> </a:t>
            </a:r>
            <a:r>
              <a:rPr dirty="0" err="1"/>
              <a:t>olmayan</a:t>
            </a:r>
            <a:r>
              <a:rPr dirty="0"/>
              <a:t> </a:t>
            </a:r>
            <a:r>
              <a:rPr dirty="0" err="1"/>
              <a:t>tedavi</a:t>
            </a:r>
            <a:r>
              <a:rPr dirty="0"/>
              <a:t> </a:t>
            </a:r>
            <a:r>
              <a:rPr dirty="0" err="1"/>
              <a:t>uygulanmıştır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err="1"/>
              <a:t>Burda</a:t>
            </a:r>
            <a:r>
              <a:rPr lang="tr-TR" dirty="0"/>
              <a:t> da Sigara içme ve tedaviye ilişkin belirli parametreler sigara bırakma durumu ile karşılaştırılmış </a:t>
            </a:r>
            <a:r>
              <a:rPr dirty="0"/>
              <a:t>. </a:t>
            </a:r>
            <a:r>
              <a:rPr dirty="0" err="1"/>
              <a:t>Sigarayı</a:t>
            </a:r>
            <a:r>
              <a:rPr dirty="0"/>
              <a:t> </a:t>
            </a:r>
            <a:r>
              <a:rPr dirty="0" err="1"/>
              <a:t>bırakanlar</a:t>
            </a:r>
            <a:r>
              <a:rPr dirty="0"/>
              <a:t> </a:t>
            </a:r>
            <a:r>
              <a:rPr dirty="0" err="1"/>
              <a:t>ortalama</a:t>
            </a:r>
            <a:r>
              <a:rPr dirty="0"/>
              <a:t> 2,83 </a:t>
            </a:r>
            <a:r>
              <a:rPr dirty="0" err="1"/>
              <a:t>kez</a:t>
            </a:r>
            <a:r>
              <a:rPr dirty="0"/>
              <a:t>, </a:t>
            </a:r>
            <a:r>
              <a:rPr dirty="0" err="1"/>
              <a:t>bırakamayanlar</a:t>
            </a:r>
            <a:r>
              <a:rPr dirty="0"/>
              <a:t> 1,96 </a:t>
            </a:r>
            <a:r>
              <a:rPr dirty="0" err="1"/>
              <a:t>kez</a:t>
            </a:r>
            <a:r>
              <a:rPr dirty="0"/>
              <a:t> </a:t>
            </a:r>
            <a:r>
              <a:rPr dirty="0" err="1"/>
              <a:t>görüşmeye</a:t>
            </a:r>
            <a:r>
              <a:rPr dirty="0"/>
              <a:t> </a:t>
            </a:r>
            <a:r>
              <a:rPr dirty="0" err="1"/>
              <a:t>gelmiştir</a:t>
            </a:r>
            <a:r>
              <a:rPr dirty="0"/>
              <a:t>; fark </a:t>
            </a:r>
            <a:r>
              <a:rPr dirty="0" err="1"/>
              <a:t>anlamlıdır</a:t>
            </a:r>
            <a:r>
              <a:rPr dirty="0"/>
              <a:t>, p&lt;0,001.</a:t>
            </a:r>
          </a:p>
          <a:p>
            <a:r>
              <a:rPr dirty="0" err="1"/>
              <a:t>Bırakanların</a:t>
            </a:r>
            <a:r>
              <a:rPr dirty="0"/>
              <a:t> FNBT</a:t>
            </a:r>
            <a:r>
              <a:rPr lang="tr-TR" dirty="0"/>
              <a:t>(</a:t>
            </a:r>
            <a:r>
              <a:rPr lang="tr-TR" dirty="0" err="1"/>
              <a:t>Fagerström</a:t>
            </a:r>
            <a:r>
              <a:rPr lang="tr-TR" dirty="0"/>
              <a:t> Nikotin Bağımlılık Testi )</a:t>
            </a:r>
            <a:r>
              <a:rPr dirty="0"/>
              <a:t> </a:t>
            </a:r>
            <a:r>
              <a:rPr dirty="0" err="1"/>
              <a:t>puanı</a:t>
            </a:r>
            <a:r>
              <a:rPr dirty="0"/>
              <a:t> </a:t>
            </a:r>
            <a:r>
              <a:rPr dirty="0" err="1"/>
              <a:t>daha</a:t>
            </a:r>
            <a:r>
              <a:rPr dirty="0"/>
              <a:t> </a:t>
            </a:r>
            <a:r>
              <a:rPr dirty="0" err="1"/>
              <a:t>düşüktür</a:t>
            </a:r>
            <a:r>
              <a:rPr dirty="0"/>
              <a:t>: 5,26'ya </a:t>
            </a:r>
            <a:r>
              <a:rPr dirty="0" err="1"/>
              <a:t>karşı</a:t>
            </a:r>
            <a:r>
              <a:rPr dirty="0"/>
              <a:t> 5,85; p </a:t>
            </a:r>
            <a:r>
              <a:rPr dirty="0" err="1"/>
              <a:t>değeri</a:t>
            </a:r>
            <a:r>
              <a:rPr dirty="0"/>
              <a:t> 0,024'tür. </a:t>
            </a:r>
            <a:endParaRPr lang="tr-TR" dirty="0"/>
          </a:p>
          <a:p>
            <a:r>
              <a:rPr dirty="0"/>
              <a:t>Paket-</a:t>
            </a:r>
            <a:r>
              <a:rPr dirty="0" err="1"/>
              <a:t>yıl</a:t>
            </a:r>
            <a:r>
              <a:rPr dirty="0"/>
              <a:t> </a:t>
            </a:r>
            <a:r>
              <a:rPr dirty="0" err="1"/>
              <a:t>açısından</a:t>
            </a:r>
            <a:r>
              <a:rPr dirty="0"/>
              <a:t> </a:t>
            </a:r>
            <a:r>
              <a:rPr dirty="0" err="1"/>
              <a:t>iki</a:t>
            </a:r>
            <a:r>
              <a:rPr dirty="0"/>
              <a:t> </a:t>
            </a:r>
            <a:r>
              <a:rPr dirty="0" err="1"/>
              <a:t>grup</a:t>
            </a:r>
            <a:r>
              <a:rPr dirty="0"/>
              <a:t> </a:t>
            </a:r>
            <a:r>
              <a:rPr dirty="0" err="1"/>
              <a:t>arasında</a:t>
            </a:r>
            <a:r>
              <a:rPr dirty="0"/>
              <a:t> </a:t>
            </a:r>
            <a:r>
              <a:rPr dirty="0" err="1"/>
              <a:t>anlamlı</a:t>
            </a:r>
            <a:r>
              <a:rPr dirty="0"/>
              <a:t> fark </a:t>
            </a:r>
            <a:r>
              <a:rPr dirty="0" err="1"/>
              <a:t>bulunmamıştır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tedavi</a:t>
            </a:r>
            <a:r>
              <a:rPr dirty="0"/>
              <a:t> </a:t>
            </a:r>
            <a:r>
              <a:rPr dirty="0" err="1"/>
              <a:t>yöntemlerine</a:t>
            </a:r>
            <a:r>
              <a:rPr dirty="0"/>
              <a:t> </a:t>
            </a:r>
            <a:r>
              <a:rPr dirty="0" err="1"/>
              <a:t>göre</a:t>
            </a:r>
            <a:r>
              <a:rPr dirty="0"/>
              <a:t> </a:t>
            </a:r>
            <a:r>
              <a:rPr dirty="0" err="1"/>
              <a:t>bırakma</a:t>
            </a:r>
            <a:r>
              <a:rPr dirty="0"/>
              <a:t> </a:t>
            </a:r>
            <a:r>
              <a:rPr dirty="0" err="1"/>
              <a:t>oranları</a:t>
            </a:r>
            <a:r>
              <a:rPr lang="tr-TR" dirty="0" err="1"/>
              <a:t>nın</a:t>
            </a:r>
            <a:r>
              <a:rPr dirty="0"/>
              <a:t> </a:t>
            </a:r>
            <a:r>
              <a:rPr dirty="0" err="1"/>
              <a:t>yer</a:t>
            </a:r>
            <a:r>
              <a:rPr dirty="0"/>
              <a:t> al</a:t>
            </a:r>
            <a:r>
              <a:rPr lang="tr-TR" dirty="0" err="1"/>
              <a:t>dığı</a:t>
            </a:r>
            <a:r>
              <a:rPr lang="tr-TR" dirty="0"/>
              <a:t> bir tablo</a:t>
            </a:r>
            <a:r>
              <a:rPr dirty="0"/>
              <a:t>. </a:t>
            </a:r>
            <a:r>
              <a:rPr dirty="0" err="1"/>
              <a:t>Makalede</a:t>
            </a:r>
            <a:r>
              <a:rPr dirty="0"/>
              <a:t> </a:t>
            </a:r>
            <a:r>
              <a:rPr dirty="0" err="1"/>
              <a:t>en</a:t>
            </a:r>
            <a:r>
              <a:rPr dirty="0"/>
              <a:t> </a:t>
            </a:r>
            <a:r>
              <a:rPr dirty="0" err="1"/>
              <a:t>yüksek</a:t>
            </a:r>
            <a:r>
              <a:rPr dirty="0"/>
              <a:t> </a:t>
            </a:r>
            <a:r>
              <a:rPr dirty="0" err="1"/>
              <a:t>bırakma</a:t>
            </a:r>
            <a:r>
              <a:rPr dirty="0"/>
              <a:t> </a:t>
            </a:r>
            <a:r>
              <a:rPr dirty="0" err="1"/>
              <a:t>oranının</a:t>
            </a:r>
            <a:r>
              <a:rPr dirty="0"/>
              <a:t> </a:t>
            </a:r>
            <a:r>
              <a:rPr dirty="0" err="1"/>
              <a:t>yüzde</a:t>
            </a:r>
            <a:r>
              <a:rPr dirty="0"/>
              <a:t> 4</a:t>
            </a:r>
            <a:r>
              <a:rPr lang="tr-TR" dirty="0"/>
              <a:t>3</a:t>
            </a:r>
            <a:r>
              <a:rPr dirty="0"/>
              <a:t>,</a:t>
            </a:r>
            <a:r>
              <a:rPr lang="tr-TR" dirty="0"/>
              <a:t>98</a:t>
            </a:r>
            <a:r>
              <a:rPr dirty="0"/>
              <a:t> </a:t>
            </a:r>
            <a:r>
              <a:rPr dirty="0" err="1"/>
              <a:t>ile</a:t>
            </a:r>
            <a:r>
              <a:rPr dirty="0"/>
              <a:t> </a:t>
            </a:r>
            <a:r>
              <a:rPr dirty="0" err="1"/>
              <a:t>kombine</a:t>
            </a:r>
            <a:r>
              <a:rPr dirty="0"/>
              <a:t> </a:t>
            </a:r>
            <a:r>
              <a:rPr dirty="0" err="1"/>
              <a:t>tedavi</a:t>
            </a:r>
            <a:r>
              <a:rPr dirty="0"/>
              <a:t> </a:t>
            </a:r>
            <a:r>
              <a:rPr dirty="0" err="1"/>
              <a:t>grubunda</a:t>
            </a:r>
            <a:r>
              <a:rPr dirty="0"/>
              <a:t> </a:t>
            </a:r>
            <a:r>
              <a:rPr dirty="0" err="1"/>
              <a:t>olduğu</a:t>
            </a:r>
            <a:r>
              <a:rPr dirty="0"/>
              <a:t> </a:t>
            </a:r>
            <a:r>
              <a:rPr dirty="0" err="1"/>
              <a:t>ve</a:t>
            </a:r>
            <a:r>
              <a:rPr dirty="0"/>
              <a:t> </a:t>
            </a:r>
            <a:r>
              <a:rPr dirty="0" err="1"/>
              <a:t>kombine</a:t>
            </a:r>
            <a:r>
              <a:rPr dirty="0"/>
              <a:t> </a:t>
            </a:r>
            <a:r>
              <a:rPr dirty="0" err="1"/>
              <a:t>tedavinin</a:t>
            </a:r>
            <a:r>
              <a:rPr dirty="0"/>
              <a:t> </a:t>
            </a:r>
            <a:r>
              <a:rPr dirty="0" err="1"/>
              <a:t>diğer</a:t>
            </a:r>
            <a:r>
              <a:rPr dirty="0"/>
              <a:t> </a:t>
            </a:r>
            <a:r>
              <a:rPr dirty="0" err="1"/>
              <a:t>tüm</a:t>
            </a:r>
            <a:r>
              <a:rPr dirty="0"/>
              <a:t> </a:t>
            </a:r>
            <a:r>
              <a:rPr dirty="0" err="1"/>
              <a:t>seçeneklerden</a:t>
            </a:r>
            <a:r>
              <a:rPr dirty="0"/>
              <a:t> </a:t>
            </a:r>
            <a:r>
              <a:rPr dirty="0" err="1"/>
              <a:t>anlamlı</a:t>
            </a:r>
            <a:r>
              <a:rPr dirty="0"/>
              <a:t> </a:t>
            </a:r>
            <a:r>
              <a:rPr dirty="0" err="1"/>
              <a:t>derecede</a:t>
            </a:r>
            <a:r>
              <a:rPr dirty="0"/>
              <a:t> </a:t>
            </a:r>
            <a:r>
              <a:rPr dirty="0" err="1"/>
              <a:t>üstün</a:t>
            </a:r>
            <a:r>
              <a:rPr dirty="0"/>
              <a:t> </a:t>
            </a:r>
            <a:r>
              <a:rPr dirty="0" err="1"/>
              <a:t>olduğu</a:t>
            </a:r>
            <a:r>
              <a:rPr dirty="0"/>
              <a:t> </a:t>
            </a:r>
            <a:r>
              <a:rPr dirty="0" err="1"/>
              <a:t>bildirilmektedir</a:t>
            </a:r>
            <a:r>
              <a:rPr dirty="0"/>
              <a:t>.</a:t>
            </a:r>
          </a:p>
          <a:p>
            <a:r>
              <a:rPr dirty="0"/>
              <a:t>NRT </a:t>
            </a:r>
            <a:r>
              <a:rPr dirty="0" err="1"/>
              <a:t>grubunda</a:t>
            </a:r>
            <a:r>
              <a:rPr dirty="0"/>
              <a:t> </a:t>
            </a:r>
            <a:r>
              <a:rPr dirty="0" err="1"/>
              <a:t>oran</a:t>
            </a:r>
            <a:r>
              <a:rPr dirty="0"/>
              <a:t> </a:t>
            </a:r>
            <a:r>
              <a:rPr dirty="0" err="1"/>
              <a:t>yüzde</a:t>
            </a:r>
            <a:r>
              <a:rPr dirty="0"/>
              <a:t> 37,5, </a:t>
            </a:r>
            <a:r>
              <a:rPr dirty="0" err="1"/>
              <a:t>sitizin</a:t>
            </a:r>
            <a:r>
              <a:rPr dirty="0"/>
              <a:t> </a:t>
            </a:r>
            <a:r>
              <a:rPr dirty="0" err="1"/>
              <a:t>ve</a:t>
            </a:r>
            <a:r>
              <a:rPr dirty="0"/>
              <a:t> </a:t>
            </a:r>
            <a:r>
              <a:rPr dirty="0" err="1"/>
              <a:t>yalnızca</a:t>
            </a:r>
            <a:r>
              <a:rPr dirty="0"/>
              <a:t> </a:t>
            </a:r>
            <a:r>
              <a:rPr dirty="0" err="1"/>
              <a:t>davranışsal</a:t>
            </a:r>
            <a:r>
              <a:rPr dirty="0"/>
              <a:t> </a:t>
            </a:r>
            <a:r>
              <a:rPr dirty="0" err="1"/>
              <a:t>tedavi</a:t>
            </a:r>
            <a:r>
              <a:rPr dirty="0"/>
              <a:t> </a:t>
            </a:r>
            <a:r>
              <a:rPr dirty="0" err="1"/>
              <a:t>gruplarında</a:t>
            </a:r>
            <a:r>
              <a:rPr dirty="0"/>
              <a:t> </a:t>
            </a:r>
            <a:r>
              <a:rPr dirty="0" err="1"/>
              <a:t>yüzde</a:t>
            </a:r>
            <a:r>
              <a:rPr dirty="0"/>
              <a:t> 35,3'tür. En </a:t>
            </a:r>
            <a:r>
              <a:rPr dirty="0" err="1"/>
              <a:t>düşük</a:t>
            </a:r>
            <a:r>
              <a:rPr dirty="0"/>
              <a:t> </a:t>
            </a:r>
            <a:r>
              <a:rPr dirty="0" err="1"/>
              <a:t>oran</a:t>
            </a:r>
            <a:r>
              <a:rPr dirty="0"/>
              <a:t> </a:t>
            </a:r>
            <a:r>
              <a:rPr dirty="0" err="1"/>
              <a:t>yüzde</a:t>
            </a:r>
            <a:r>
              <a:rPr dirty="0"/>
              <a:t> 16,5</a:t>
            </a:r>
            <a:r>
              <a:rPr lang="tr-TR" dirty="0"/>
              <a:t>2</a:t>
            </a:r>
            <a:r>
              <a:rPr dirty="0"/>
              <a:t> </a:t>
            </a:r>
            <a:r>
              <a:rPr dirty="0" err="1"/>
              <a:t>ile</a:t>
            </a:r>
            <a:r>
              <a:rPr dirty="0"/>
              <a:t> bupropion </a:t>
            </a:r>
            <a:r>
              <a:rPr dirty="0" err="1"/>
              <a:t>monoterapisindedir</a:t>
            </a:r>
            <a:r>
              <a:rPr dirty="0"/>
              <a:t>. </a:t>
            </a:r>
            <a:r>
              <a:rPr dirty="0" err="1"/>
              <a:t>Gruplar</a:t>
            </a:r>
            <a:r>
              <a:rPr dirty="0"/>
              <a:t> </a:t>
            </a:r>
            <a:r>
              <a:rPr dirty="0" err="1"/>
              <a:t>arasındaki</a:t>
            </a:r>
            <a:r>
              <a:rPr dirty="0"/>
              <a:t> fark </a:t>
            </a:r>
            <a:r>
              <a:rPr dirty="0" err="1"/>
              <a:t>anlamlıdır</a:t>
            </a:r>
            <a:r>
              <a:rPr dirty="0"/>
              <a:t>, p&lt;0,001.</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r-TR" dirty="0"/>
              <a:t>Burada </a:t>
            </a:r>
            <a:r>
              <a:rPr dirty="0" err="1"/>
              <a:t>lojistik</a:t>
            </a:r>
            <a:r>
              <a:rPr dirty="0"/>
              <a:t> </a:t>
            </a:r>
            <a:r>
              <a:rPr dirty="0" err="1"/>
              <a:t>regresyon</a:t>
            </a:r>
            <a:r>
              <a:rPr dirty="0"/>
              <a:t> </a:t>
            </a:r>
            <a:r>
              <a:rPr dirty="0" err="1"/>
              <a:t>sonuçları</a:t>
            </a:r>
            <a:r>
              <a:rPr dirty="0"/>
              <a:t> </a:t>
            </a:r>
            <a:r>
              <a:rPr dirty="0" err="1"/>
              <a:t>görülmektedir</a:t>
            </a:r>
            <a:r>
              <a:rPr dirty="0"/>
              <a:t>. </a:t>
            </a:r>
            <a:r>
              <a:rPr dirty="0" err="1"/>
              <a:t>Referans</a:t>
            </a:r>
            <a:r>
              <a:rPr dirty="0"/>
              <a:t> </a:t>
            </a:r>
            <a:r>
              <a:rPr dirty="0" err="1"/>
              <a:t>grup</a:t>
            </a:r>
            <a:r>
              <a:rPr dirty="0"/>
              <a:t> bupropion </a:t>
            </a:r>
            <a:r>
              <a:rPr dirty="0" err="1"/>
              <a:t>monoterapisidir</a:t>
            </a:r>
            <a:r>
              <a:rPr dirty="0"/>
              <a:t> </a:t>
            </a:r>
            <a:r>
              <a:rPr dirty="0" err="1"/>
              <a:t>ve</a:t>
            </a:r>
            <a:r>
              <a:rPr dirty="0"/>
              <a:t> Exp(B) </a:t>
            </a:r>
            <a:r>
              <a:rPr dirty="0" err="1"/>
              <a:t>sütunu</a:t>
            </a:r>
            <a:r>
              <a:rPr dirty="0"/>
              <a:t> odds </a:t>
            </a:r>
            <a:r>
              <a:rPr dirty="0" err="1"/>
              <a:t>oranını</a:t>
            </a:r>
            <a:r>
              <a:rPr dirty="0"/>
              <a:t> </a:t>
            </a:r>
            <a:r>
              <a:rPr dirty="0" err="1"/>
              <a:t>vermektedir</a:t>
            </a:r>
            <a:r>
              <a:rPr dirty="0"/>
              <a:t>.</a:t>
            </a:r>
          </a:p>
          <a:p>
            <a:r>
              <a:rPr dirty="0" err="1"/>
              <a:t>Bupropiona</a:t>
            </a:r>
            <a:r>
              <a:rPr dirty="0"/>
              <a:t> </a:t>
            </a:r>
            <a:r>
              <a:rPr dirty="0" err="1"/>
              <a:t>göre</a:t>
            </a:r>
            <a:r>
              <a:rPr dirty="0"/>
              <a:t> </a:t>
            </a:r>
            <a:r>
              <a:rPr dirty="0" err="1"/>
              <a:t>bırakma</a:t>
            </a:r>
            <a:r>
              <a:rPr dirty="0"/>
              <a:t> </a:t>
            </a:r>
            <a:r>
              <a:rPr dirty="0" err="1"/>
              <a:t>olasılığı</a:t>
            </a:r>
            <a:r>
              <a:rPr dirty="0"/>
              <a:t> </a:t>
            </a:r>
            <a:r>
              <a:rPr dirty="0" err="1"/>
              <a:t>vareniklinde</a:t>
            </a:r>
            <a:r>
              <a:rPr dirty="0"/>
              <a:t> 4,0, </a:t>
            </a:r>
            <a:r>
              <a:rPr dirty="0" err="1"/>
              <a:t>kombine</a:t>
            </a:r>
            <a:r>
              <a:rPr dirty="0"/>
              <a:t> </a:t>
            </a:r>
            <a:r>
              <a:rPr dirty="0" err="1"/>
              <a:t>tedavide</a:t>
            </a:r>
            <a:r>
              <a:rPr dirty="0"/>
              <a:t> 4,0, </a:t>
            </a:r>
            <a:r>
              <a:rPr dirty="0" err="1"/>
              <a:t>NRT'de</a:t>
            </a:r>
            <a:r>
              <a:rPr dirty="0"/>
              <a:t> 3,0, </a:t>
            </a:r>
            <a:r>
              <a:rPr dirty="0" err="1"/>
              <a:t>sitizinde</a:t>
            </a:r>
            <a:r>
              <a:rPr dirty="0"/>
              <a:t> 2,8 kat </a:t>
            </a:r>
            <a:r>
              <a:rPr dirty="0" err="1"/>
              <a:t>yüksektir</a:t>
            </a:r>
            <a:r>
              <a:rPr dirty="0"/>
              <a:t>. </a:t>
            </a:r>
            <a:r>
              <a:rPr dirty="0" err="1"/>
              <a:t>Farmakolojik</a:t>
            </a:r>
            <a:r>
              <a:rPr dirty="0"/>
              <a:t> </a:t>
            </a:r>
            <a:r>
              <a:rPr dirty="0" err="1"/>
              <a:t>tedavi</a:t>
            </a:r>
            <a:r>
              <a:rPr dirty="0"/>
              <a:t> </a:t>
            </a:r>
            <a:r>
              <a:rPr dirty="0" err="1"/>
              <a:t>almayanlarda</a:t>
            </a:r>
            <a:r>
              <a:rPr dirty="0"/>
              <a:t> </a:t>
            </a:r>
            <a:r>
              <a:rPr dirty="0" err="1"/>
              <a:t>görülen</a:t>
            </a:r>
            <a:r>
              <a:rPr dirty="0"/>
              <a:t> 2,8 </a:t>
            </a:r>
            <a:r>
              <a:rPr dirty="0" err="1"/>
              <a:t>katlık</a:t>
            </a:r>
            <a:r>
              <a:rPr dirty="0"/>
              <a:t> fark </a:t>
            </a:r>
            <a:r>
              <a:rPr dirty="0" err="1"/>
              <a:t>anlamlı</a:t>
            </a:r>
            <a:r>
              <a:rPr dirty="0"/>
              <a:t> </a:t>
            </a:r>
            <a:r>
              <a:rPr dirty="0" err="1"/>
              <a:t>değildir</a:t>
            </a:r>
            <a:r>
              <a:rPr dirty="0"/>
              <a:t>.</a:t>
            </a:r>
          </a:p>
          <a:p>
            <a:r>
              <a:rPr dirty="0" err="1"/>
              <a:t>Hanede</a:t>
            </a:r>
            <a:r>
              <a:rPr dirty="0"/>
              <a:t> </a:t>
            </a:r>
            <a:r>
              <a:rPr dirty="0" err="1"/>
              <a:t>sigara</a:t>
            </a:r>
            <a:r>
              <a:rPr dirty="0"/>
              <a:t> </a:t>
            </a:r>
            <a:r>
              <a:rPr dirty="0" err="1"/>
              <a:t>içen</a:t>
            </a:r>
            <a:r>
              <a:rPr dirty="0"/>
              <a:t> </a:t>
            </a:r>
            <a:r>
              <a:rPr dirty="0" err="1"/>
              <a:t>olmaması</a:t>
            </a:r>
            <a:r>
              <a:rPr dirty="0"/>
              <a:t> </a:t>
            </a:r>
            <a:r>
              <a:rPr dirty="0" err="1"/>
              <a:t>bırakma</a:t>
            </a:r>
            <a:r>
              <a:rPr dirty="0"/>
              <a:t> </a:t>
            </a:r>
            <a:r>
              <a:rPr dirty="0" err="1"/>
              <a:t>olasılığını</a:t>
            </a:r>
            <a:r>
              <a:rPr dirty="0"/>
              <a:t> </a:t>
            </a:r>
            <a:r>
              <a:rPr dirty="0" err="1"/>
              <a:t>yaklaşık</a:t>
            </a:r>
            <a:r>
              <a:rPr dirty="0"/>
              <a:t> </a:t>
            </a:r>
            <a:r>
              <a:rPr dirty="0" err="1"/>
              <a:t>iki</a:t>
            </a:r>
            <a:r>
              <a:rPr dirty="0"/>
              <a:t> </a:t>
            </a:r>
            <a:r>
              <a:rPr dirty="0" err="1"/>
              <a:t>katına</a:t>
            </a:r>
            <a:r>
              <a:rPr dirty="0"/>
              <a:t>, </a:t>
            </a:r>
            <a:r>
              <a:rPr dirty="0" err="1"/>
              <a:t>sigaraya</a:t>
            </a:r>
            <a:r>
              <a:rPr dirty="0"/>
              <a:t> </a:t>
            </a:r>
            <a:r>
              <a:rPr dirty="0" err="1"/>
              <a:t>bağlı</a:t>
            </a:r>
            <a:r>
              <a:rPr dirty="0"/>
              <a:t> </a:t>
            </a:r>
            <a:r>
              <a:rPr dirty="0" err="1"/>
              <a:t>yakınma</a:t>
            </a:r>
            <a:r>
              <a:rPr dirty="0"/>
              <a:t> </a:t>
            </a:r>
            <a:r>
              <a:rPr dirty="0" err="1"/>
              <a:t>olmaması</a:t>
            </a:r>
            <a:r>
              <a:rPr dirty="0"/>
              <a:t> 1,6 </a:t>
            </a:r>
            <a:r>
              <a:rPr dirty="0" err="1"/>
              <a:t>katına</a:t>
            </a:r>
            <a:r>
              <a:rPr dirty="0"/>
              <a:t> </a:t>
            </a:r>
            <a:r>
              <a:rPr dirty="0" err="1"/>
              <a:t>çıkarmaktadır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Makalede</a:t>
            </a:r>
            <a:r>
              <a:rPr dirty="0"/>
              <a:t> </a:t>
            </a:r>
            <a:r>
              <a:rPr dirty="0" err="1"/>
              <a:t>bulgular</a:t>
            </a:r>
            <a:r>
              <a:rPr dirty="0"/>
              <a:t> </a:t>
            </a:r>
            <a:r>
              <a:rPr dirty="0" err="1"/>
              <a:t>literatürle</a:t>
            </a:r>
            <a:r>
              <a:rPr dirty="0"/>
              <a:t> </a:t>
            </a:r>
            <a:r>
              <a:rPr dirty="0" err="1"/>
              <a:t>karşılaştırılmaktadır</a:t>
            </a:r>
            <a:r>
              <a:rPr dirty="0"/>
              <a:t>. </a:t>
            </a:r>
            <a:r>
              <a:rPr dirty="0" err="1"/>
              <a:t>Vareniklinin</a:t>
            </a:r>
            <a:r>
              <a:rPr dirty="0"/>
              <a:t> </a:t>
            </a:r>
            <a:r>
              <a:rPr dirty="0" err="1"/>
              <a:t>bupropiona</a:t>
            </a:r>
            <a:r>
              <a:rPr dirty="0"/>
              <a:t> </a:t>
            </a:r>
            <a:r>
              <a:rPr dirty="0" err="1"/>
              <a:t>üstünlüğü</a:t>
            </a:r>
            <a:r>
              <a:rPr dirty="0"/>
              <a:t> </a:t>
            </a:r>
            <a:r>
              <a:rPr dirty="0" err="1"/>
              <a:t>büyük</a:t>
            </a:r>
            <a:r>
              <a:rPr dirty="0"/>
              <a:t> </a:t>
            </a:r>
            <a:r>
              <a:rPr dirty="0" err="1"/>
              <a:t>ölçekli</a:t>
            </a:r>
            <a:r>
              <a:rPr dirty="0"/>
              <a:t> meta-</a:t>
            </a:r>
            <a:r>
              <a:rPr dirty="0" err="1"/>
              <a:t>analizler</a:t>
            </a:r>
            <a:r>
              <a:rPr dirty="0"/>
              <a:t> </a:t>
            </a:r>
            <a:r>
              <a:rPr dirty="0" err="1"/>
              <a:t>ve</a:t>
            </a:r>
            <a:r>
              <a:rPr dirty="0"/>
              <a:t> randomize </a:t>
            </a:r>
            <a:r>
              <a:rPr dirty="0" err="1"/>
              <a:t>kontrollü</a:t>
            </a:r>
            <a:r>
              <a:rPr dirty="0"/>
              <a:t> </a:t>
            </a:r>
            <a:r>
              <a:rPr dirty="0" err="1"/>
              <a:t>çalışmalarla</a:t>
            </a:r>
            <a:r>
              <a:rPr dirty="0"/>
              <a:t> </a:t>
            </a:r>
            <a:r>
              <a:rPr dirty="0" err="1"/>
              <a:t>uyumludur</a:t>
            </a:r>
            <a:r>
              <a:rPr dirty="0"/>
              <a:t>. Bu </a:t>
            </a:r>
            <a:r>
              <a:rPr dirty="0" err="1"/>
              <a:t>üstünlüğün</a:t>
            </a:r>
            <a:r>
              <a:rPr dirty="0"/>
              <a:t>, </a:t>
            </a:r>
            <a:r>
              <a:rPr dirty="0" err="1"/>
              <a:t>vareniklinin</a:t>
            </a:r>
            <a:r>
              <a:rPr dirty="0"/>
              <a:t> α4β2 </a:t>
            </a:r>
            <a:r>
              <a:rPr dirty="0" err="1"/>
              <a:t>nikotinik</a:t>
            </a:r>
            <a:r>
              <a:rPr dirty="0"/>
              <a:t> </a:t>
            </a:r>
            <a:r>
              <a:rPr dirty="0" err="1"/>
              <a:t>reseptördeki</a:t>
            </a:r>
            <a:r>
              <a:rPr dirty="0"/>
              <a:t> </a:t>
            </a:r>
            <a:r>
              <a:rPr dirty="0" err="1"/>
              <a:t>parsiyel</a:t>
            </a:r>
            <a:r>
              <a:rPr dirty="0"/>
              <a:t> agonist </a:t>
            </a:r>
            <a:r>
              <a:rPr dirty="0" err="1"/>
              <a:t>etkisiyle</a:t>
            </a:r>
            <a:r>
              <a:rPr dirty="0"/>
              <a:t> </a:t>
            </a:r>
            <a:r>
              <a:rPr dirty="0" err="1"/>
              <a:t>ilişkili</a:t>
            </a:r>
            <a:r>
              <a:rPr dirty="0"/>
              <a:t> </a:t>
            </a:r>
            <a:r>
              <a:rPr dirty="0" err="1"/>
              <a:t>olduğu</a:t>
            </a:r>
            <a:r>
              <a:rPr dirty="0"/>
              <a:t> </a:t>
            </a:r>
            <a:r>
              <a:rPr dirty="0" err="1"/>
              <a:t>düşünülmektedir</a:t>
            </a:r>
            <a:r>
              <a:rPr dirty="0"/>
              <a:t>.</a:t>
            </a:r>
          </a:p>
          <a:p>
            <a:r>
              <a:rPr dirty="0" err="1"/>
              <a:t>Sitizin</a:t>
            </a:r>
            <a:r>
              <a:rPr dirty="0"/>
              <a:t> </a:t>
            </a:r>
            <a:r>
              <a:rPr dirty="0" err="1"/>
              <a:t>vareniklinle</a:t>
            </a:r>
            <a:r>
              <a:rPr dirty="0"/>
              <a:t> </a:t>
            </a:r>
            <a:r>
              <a:rPr dirty="0" err="1"/>
              <a:t>benzer</a:t>
            </a:r>
            <a:r>
              <a:rPr dirty="0"/>
              <a:t> </a:t>
            </a:r>
            <a:r>
              <a:rPr dirty="0" err="1"/>
              <a:t>mekanizmaya</a:t>
            </a:r>
            <a:r>
              <a:rPr dirty="0"/>
              <a:t> </a:t>
            </a:r>
            <a:r>
              <a:rPr dirty="0" err="1"/>
              <a:t>sahip</a:t>
            </a:r>
            <a:r>
              <a:rPr dirty="0"/>
              <a:t>, </a:t>
            </a:r>
            <a:r>
              <a:rPr dirty="0" err="1"/>
              <a:t>maliyet-etkin</a:t>
            </a:r>
            <a:r>
              <a:rPr dirty="0"/>
              <a:t> </a:t>
            </a:r>
            <a:r>
              <a:rPr dirty="0" err="1"/>
              <a:t>bir</a:t>
            </a:r>
            <a:r>
              <a:rPr dirty="0"/>
              <a:t> </a:t>
            </a:r>
            <a:r>
              <a:rPr dirty="0" err="1"/>
              <a:t>seçenektir</a:t>
            </a:r>
            <a:r>
              <a:rPr dirty="0"/>
              <a:t>; </a:t>
            </a:r>
            <a:r>
              <a:rPr dirty="0" err="1"/>
              <a:t>plaseboya</a:t>
            </a:r>
            <a:r>
              <a:rPr dirty="0"/>
              <a:t> </a:t>
            </a:r>
            <a:r>
              <a:rPr dirty="0" err="1"/>
              <a:t>üstün</a:t>
            </a:r>
            <a:r>
              <a:rPr dirty="0"/>
              <a:t> </a:t>
            </a:r>
            <a:r>
              <a:rPr dirty="0" err="1"/>
              <a:t>ve</a:t>
            </a:r>
            <a:r>
              <a:rPr dirty="0"/>
              <a:t> NRT </a:t>
            </a:r>
            <a:r>
              <a:rPr dirty="0" err="1"/>
              <a:t>ile</a:t>
            </a:r>
            <a:r>
              <a:rPr dirty="0"/>
              <a:t> </a:t>
            </a:r>
            <a:r>
              <a:rPr dirty="0" err="1"/>
              <a:t>benzer</a:t>
            </a:r>
            <a:r>
              <a:rPr dirty="0"/>
              <a:t> </a:t>
            </a:r>
            <a:r>
              <a:rPr dirty="0" err="1"/>
              <a:t>etkinlikte</a:t>
            </a:r>
            <a:r>
              <a:rPr dirty="0"/>
              <a:t> </a:t>
            </a:r>
            <a:r>
              <a:rPr dirty="0" err="1"/>
              <a:t>bulunmuştur</a:t>
            </a:r>
            <a:r>
              <a:rPr dirty="0"/>
              <a:t>. </a:t>
            </a:r>
            <a:endParaRPr lang="tr-TR" dirty="0"/>
          </a:p>
          <a:p>
            <a:r>
              <a:rPr dirty="0" err="1"/>
              <a:t>Kombine</a:t>
            </a:r>
            <a:r>
              <a:rPr dirty="0"/>
              <a:t> </a:t>
            </a:r>
            <a:r>
              <a:rPr dirty="0" err="1"/>
              <a:t>tedavinin</a:t>
            </a:r>
            <a:r>
              <a:rPr dirty="0"/>
              <a:t> </a:t>
            </a:r>
            <a:r>
              <a:rPr dirty="0" err="1"/>
              <a:t>üstünlüğü</a:t>
            </a:r>
            <a:r>
              <a:rPr dirty="0"/>
              <a:t>, </a:t>
            </a:r>
            <a:r>
              <a:rPr dirty="0" err="1"/>
              <a:t>monoterapi</a:t>
            </a:r>
            <a:r>
              <a:rPr dirty="0"/>
              <a:t> </a:t>
            </a:r>
            <a:r>
              <a:rPr dirty="0" err="1"/>
              <a:t>yetersiz</a:t>
            </a:r>
            <a:r>
              <a:rPr dirty="0"/>
              <a:t> </a:t>
            </a:r>
            <a:r>
              <a:rPr dirty="0" err="1"/>
              <a:t>kaldığında</a:t>
            </a:r>
            <a:r>
              <a:rPr dirty="0"/>
              <a:t> </a:t>
            </a:r>
            <a:r>
              <a:rPr dirty="0" err="1"/>
              <a:t>kombinasyon</a:t>
            </a:r>
            <a:r>
              <a:rPr dirty="0"/>
              <a:t> </a:t>
            </a:r>
            <a:r>
              <a:rPr dirty="0" err="1"/>
              <a:t>öneren</a:t>
            </a:r>
            <a:r>
              <a:rPr dirty="0"/>
              <a:t> </a:t>
            </a:r>
            <a:r>
              <a:rPr dirty="0" err="1"/>
              <a:t>kılavuzlarla</a:t>
            </a:r>
            <a:r>
              <a:rPr dirty="0"/>
              <a:t> </a:t>
            </a:r>
            <a:r>
              <a:rPr dirty="0" err="1"/>
              <a:t>uyumludur</a:t>
            </a:r>
            <a:r>
              <a:rPr dirty="0"/>
              <a:t>.</a:t>
            </a:r>
          </a:p>
          <a:p>
            <a:r>
              <a:rPr dirty="0"/>
              <a:t>Benli </a:t>
            </a:r>
            <a:r>
              <a:rPr dirty="0" err="1"/>
              <a:t>ve</a:t>
            </a:r>
            <a:r>
              <a:rPr dirty="0"/>
              <a:t> </a:t>
            </a:r>
            <a:r>
              <a:rPr dirty="0" err="1"/>
              <a:t>arkadaşlarının</a:t>
            </a:r>
            <a:r>
              <a:rPr dirty="0"/>
              <a:t> </a:t>
            </a:r>
            <a:r>
              <a:rPr dirty="0" err="1"/>
              <a:t>çalışmasında</a:t>
            </a:r>
            <a:r>
              <a:rPr dirty="0"/>
              <a:t> da </a:t>
            </a:r>
            <a:r>
              <a:rPr dirty="0" err="1"/>
              <a:t>vareniklin</a:t>
            </a:r>
            <a:r>
              <a:rPr dirty="0"/>
              <a:t> ilk </a:t>
            </a:r>
            <a:r>
              <a:rPr dirty="0" err="1"/>
              <a:t>altı</a:t>
            </a:r>
            <a:r>
              <a:rPr dirty="0"/>
              <a:t> </a:t>
            </a:r>
            <a:r>
              <a:rPr dirty="0" err="1"/>
              <a:t>ayda</a:t>
            </a:r>
            <a:r>
              <a:rPr dirty="0"/>
              <a:t> </a:t>
            </a:r>
            <a:r>
              <a:rPr dirty="0" err="1"/>
              <a:t>bupropiondan</a:t>
            </a:r>
            <a:r>
              <a:rPr dirty="0"/>
              <a:t> </a:t>
            </a:r>
            <a:r>
              <a:rPr dirty="0" err="1"/>
              <a:t>daha</a:t>
            </a:r>
            <a:r>
              <a:rPr dirty="0"/>
              <a:t> </a:t>
            </a:r>
            <a:r>
              <a:rPr dirty="0" err="1"/>
              <a:t>yüksek</a:t>
            </a:r>
            <a:r>
              <a:rPr dirty="0"/>
              <a:t> </a:t>
            </a:r>
            <a:r>
              <a:rPr dirty="0" err="1"/>
              <a:t>bırakma</a:t>
            </a:r>
            <a:r>
              <a:rPr dirty="0"/>
              <a:t> </a:t>
            </a:r>
            <a:r>
              <a:rPr dirty="0" err="1"/>
              <a:t>oranı</a:t>
            </a:r>
            <a:r>
              <a:rPr dirty="0"/>
              <a:t> </a:t>
            </a:r>
            <a:r>
              <a:rPr dirty="0" err="1"/>
              <a:t>sağlamıştır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Makalede</a:t>
            </a:r>
            <a:r>
              <a:rPr dirty="0"/>
              <a:t> </a:t>
            </a:r>
            <a:r>
              <a:rPr dirty="0" err="1"/>
              <a:t>davranışsal</a:t>
            </a:r>
            <a:r>
              <a:rPr dirty="0"/>
              <a:t> </a:t>
            </a:r>
            <a:r>
              <a:rPr dirty="0" err="1"/>
              <a:t>desteğin</a:t>
            </a:r>
            <a:r>
              <a:rPr dirty="0"/>
              <a:t> </a:t>
            </a:r>
            <a:r>
              <a:rPr dirty="0" err="1"/>
              <a:t>önemi</a:t>
            </a:r>
            <a:r>
              <a:rPr dirty="0"/>
              <a:t> </a:t>
            </a:r>
            <a:r>
              <a:rPr dirty="0" err="1"/>
              <a:t>vurgulanmaktadır</a:t>
            </a:r>
            <a:r>
              <a:rPr dirty="0"/>
              <a:t>: Daha </a:t>
            </a:r>
            <a:r>
              <a:rPr dirty="0" err="1"/>
              <a:t>fazla</a:t>
            </a:r>
            <a:r>
              <a:rPr dirty="0"/>
              <a:t> </a:t>
            </a:r>
            <a:r>
              <a:rPr dirty="0" err="1"/>
              <a:t>görüşmeye</a:t>
            </a:r>
            <a:r>
              <a:rPr dirty="0"/>
              <a:t> </a:t>
            </a:r>
            <a:r>
              <a:rPr dirty="0" err="1"/>
              <a:t>gelen</a:t>
            </a:r>
            <a:r>
              <a:rPr dirty="0"/>
              <a:t> </a:t>
            </a:r>
            <a:r>
              <a:rPr dirty="0" err="1"/>
              <a:t>hastalarda</a:t>
            </a:r>
            <a:r>
              <a:rPr dirty="0"/>
              <a:t> </a:t>
            </a:r>
            <a:r>
              <a:rPr dirty="0" err="1"/>
              <a:t>bırakma</a:t>
            </a:r>
            <a:r>
              <a:rPr dirty="0"/>
              <a:t> </a:t>
            </a:r>
            <a:r>
              <a:rPr dirty="0" err="1"/>
              <a:t>oranı</a:t>
            </a:r>
            <a:r>
              <a:rPr dirty="0"/>
              <a:t> </a:t>
            </a:r>
            <a:r>
              <a:rPr dirty="0" err="1"/>
              <a:t>daha</a:t>
            </a:r>
            <a:r>
              <a:rPr dirty="0"/>
              <a:t> </a:t>
            </a:r>
            <a:r>
              <a:rPr dirty="0" err="1"/>
              <a:t>yüksektir</a:t>
            </a:r>
            <a:r>
              <a:rPr dirty="0"/>
              <a:t>.</a:t>
            </a:r>
          </a:p>
          <a:p>
            <a:r>
              <a:rPr dirty="0" err="1"/>
              <a:t>Hanede</a:t>
            </a:r>
            <a:r>
              <a:rPr dirty="0"/>
              <a:t> </a:t>
            </a:r>
            <a:r>
              <a:rPr dirty="0" err="1"/>
              <a:t>sigara</a:t>
            </a:r>
            <a:r>
              <a:rPr dirty="0"/>
              <a:t> </a:t>
            </a:r>
            <a:r>
              <a:rPr dirty="0" err="1"/>
              <a:t>içen</a:t>
            </a:r>
            <a:r>
              <a:rPr dirty="0"/>
              <a:t> </a:t>
            </a:r>
            <a:r>
              <a:rPr dirty="0" err="1"/>
              <a:t>olmaması</a:t>
            </a:r>
            <a:r>
              <a:rPr dirty="0"/>
              <a:t> </a:t>
            </a:r>
            <a:r>
              <a:rPr dirty="0" err="1"/>
              <a:t>bırakma</a:t>
            </a:r>
            <a:r>
              <a:rPr dirty="0"/>
              <a:t> </a:t>
            </a:r>
            <a:r>
              <a:rPr dirty="0" err="1"/>
              <a:t>olasılığını</a:t>
            </a:r>
            <a:r>
              <a:rPr dirty="0"/>
              <a:t> </a:t>
            </a:r>
            <a:r>
              <a:rPr dirty="0" err="1"/>
              <a:t>neredeyse</a:t>
            </a:r>
            <a:r>
              <a:rPr dirty="0"/>
              <a:t> </a:t>
            </a:r>
            <a:r>
              <a:rPr dirty="0" err="1"/>
              <a:t>iki</a:t>
            </a:r>
            <a:r>
              <a:rPr dirty="0"/>
              <a:t> </a:t>
            </a:r>
            <a:r>
              <a:rPr dirty="0" err="1"/>
              <a:t>katına</a:t>
            </a:r>
            <a:r>
              <a:rPr dirty="0"/>
              <a:t> </a:t>
            </a:r>
            <a:r>
              <a:rPr dirty="0" err="1"/>
              <a:t>çıkarmaktadır</a:t>
            </a:r>
            <a:r>
              <a:rPr dirty="0"/>
              <a:t>. </a:t>
            </a:r>
            <a:r>
              <a:rPr dirty="0" err="1"/>
              <a:t>Literatürde</a:t>
            </a:r>
            <a:r>
              <a:rPr dirty="0"/>
              <a:t> </a:t>
            </a:r>
            <a:r>
              <a:rPr dirty="0" err="1"/>
              <a:t>eşin</a:t>
            </a:r>
            <a:r>
              <a:rPr dirty="0"/>
              <a:t> </a:t>
            </a:r>
            <a:r>
              <a:rPr dirty="0" err="1"/>
              <a:t>veya</a:t>
            </a:r>
            <a:r>
              <a:rPr dirty="0"/>
              <a:t> </a:t>
            </a:r>
            <a:r>
              <a:rPr dirty="0" err="1"/>
              <a:t>aile</a:t>
            </a:r>
            <a:r>
              <a:rPr dirty="0"/>
              <a:t> </a:t>
            </a:r>
            <a:r>
              <a:rPr dirty="0" err="1"/>
              <a:t>bireylerinin</a:t>
            </a:r>
            <a:r>
              <a:rPr dirty="0"/>
              <a:t> </a:t>
            </a:r>
            <a:r>
              <a:rPr dirty="0" err="1"/>
              <a:t>sigara</a:t>
            </a:r>
            <a:r>
              <a:rPr dirty="0"/>
              <a:t> </a:t>
            </a:r>
            <a:r>
              <a:rPr dirty="0" err="1"/>
              <a:t>içmesi</a:t>
            </a:r>
            <a:r>
              <a:rPr dirty="0"/>
              <a:t> hem </a:t>
            </a:r>
            <a:r>
              <a:rPr dirty="0" err="1"/>
              <a:t>tetikleyici</a:t>
            </a:r>
            <a:r>
              <a:rPr dirty="0"/>
              <a:t> hem de </a:t>
            </a:r>
            <a:r>
              <a:rPr dirty="0" err="1"/>
              <a:t>motivasyon</a:t>
            </a:r>
            <a:r>
              <a:rPr dirty="0"/>
              <a:t> </a:t>
            </a:r>
            <a:r>
              <a:rPr dirty="0" err="1"/>
              <a:t>engeli</a:t>
            </a:r>
            <a:r>
              <a:rPr dirty="0"/>
              <a:t> </a:t>
            </a:r>
            <a:r>
              <a:rPr dirty="0" err="1"/>
              <a:t>olarak</a:t>
            </a:r>
            <a:r>
              <a:rPr dirty="0"/>
              <a:t> </a:t>
            </a:r>
            <a:r>
              <a:rPr dirty="0" err="1"/>
              <a:t>tanımlanmaktadır</a:t>
            </a:r>
            <a:r>
              <a:rPr dirty="0"/>
              <a:t>.</a:t>
            </a:r>
          </a:p>
          <a:p>
            <a:r>
              <a:rPr dirty="0" err="1"/>
              <a:t>Hastaların</a:t>
            </a:r>
            <a:r>
              <a:rPr dirty="0"/>
              <a:t> </a:t>
            </a:r>
            <a:r>
              <a:rPr dirty="0" err="1"/>
              <a:t>ortalama</a:t>
            </a:r>
            <a:r>
              <a:rPr dirty="0"/>
              <a:t> FNBT</a:t>
            </a:r>
            <a:r>
              <a:rPr lang="tr-TR" dirty="0"/>
              <a:t>(</a:t>
            </a:r>
            <a:r>
              <a:rPr lang="tr-TR" dirty="0" err="1"/>
              <a:t>Fagerström</a:t>
            </a:r>
            <a:r>
              <a:rPr lang="tr-TR" dirty="0"/>
              <a:t> Nikotin Bağımlılık Testi )</a:t>
            </a:r>
            <a:r>
              <a:rPr dirty="0"/>
              <a:t> </a:t>
            </a:r>
            <a:r>
              <a:rPr dirty="0" err="1"/>
              <a:t>puanı</a:t>
            </a:r>
            <a:r>
              <a:rPr dirty="0"/>
              <a:t>, </a:t>
            </a:r>
            <a:r>
              <a:rPr dirty="0" err="1"/>
              <a:t>tedavi</a:t>
            </a:r>
            <a:r>
              <a:rPr dirty="0"/>
              <a:t> </a:t>
            </a:r>
            <a:r>
              <a:rPr dirty="0" err="1"/>
              <a:t>arayan</a:t>
            </a:r>
            <a:r>
              <a:rPr dirty="0"/>
              <a:t> </a:t>
            </a:r>
            <a:r>
              <a:rPr dirty="0" err="1"/>
              <a:t>sigara</a:t>
            </a:r>
            <a:r>
              <a:rPr dirty="0"/>
              <a:t> </a:t>
            </a:r>
            <a:r>
              <a:rPr dirty="0" err="1"/>
              <a:t>içicilerinde</a:t>
            </a:r>
            <a:r>
              <a:rPr dirty="0"/>
              <a:t> </a:t>
            </a:r>
            <a:r>
              <a:rPr dirty="0" err="1"/>
              <a:t>bildirilen</a:t>
            </a:r>
            <a:r>
              <a:rPr dirty="0"/>
              <a:t> </a:t>
            </a:r>
            <a:r>
              <a:rPr dirty="0" err="1"/>
              <a:t>yaklaşık</a:t>
            </a:r>
            <a:r>
              <a:rPr dirty="0"/>
              <a:t> 5 </a:t>
            </a:r>
            <a:r>
              <a:rPr dirty="0" err="1"/>
              <a:t>puanla</a:t>
            </a:r>
            <a:r>
              <a:rPr dirty="0"/>
              <a:t> </a:t>
            </a:r>
            <a:r>
              <a:rPr dirty="0" err="1"/>
              <a:t>uyumludur</a:t>
            </a:r>
            <a:r>
              <a:rPr dirty="0"/>
              <a:t> </a:t>
            </a:r>
            <a:r>
              <a:rPr dirty="0" err="1"/>
              <a:t>ve</a:t>
            </a:r>
            <a:r>
              <a:rPr dirty="0"/>
              <a:t> </a:t>
            </a:r>
            <a:r>
              <a:rPr dirty="0" err="1"/>
              <a:t>yüksek</a:t>
            </a:r>
            <a:r>
              <a:rPr dirty="0"/>
              <a:t> </a:t>
            </a:r>
            <a:r>
              <a:rPr dirty="0" err="1"/>
              <a:t>puan</a:t>
            </a:r>
            <a:r>
              <a:rPr dirty="0"/>
              <a:t> </a:t>
            </a:r>
            <a:r>
              <a:rPr dirty="0" err="1"/>
              <a:t>düşük</a:t>
            </a:r>
            <a:r>
              <a:rPr dirty="0"/>
              <a:t> </a:t>
            </a:r>
            <a:r>
              <a:rPr dirty="0" err="1"/>
              <a:t>başarıyla</a:t>
            </a:r>
            <a:r>
              <a:rPr dirty="0"/>
              <a:t> </a:t>
            </a:r>
            <a:r>
              <a:rPr dirty="0" err="1"/>
              <a:t>ilişkilidir</a:t>
            </a:r>
            <a:r>
              <a:rPr dirty="0"/>
              <a:t>. </a:t>
            </a:r>
            <a:endParaRPr lang="tr-TR" dirty="0"/>
          </a:p>
          <a:p>
            <a:r>
              <a:rPr dirty="0" err="1"/>
              <a:t>Yakınması</a:t>
            </a:r>
            <a:r>
              <a:rPr dirty="0"/>
              <a:t> </a:t>
            </a:r>
            <a:r>
              <a:rPr dirty="0" err="1"/>
              <a:t>olmayan</a:t>
            </a:r>
            <a:r>
              <a:rPr dirty="0"/>
              <a:t> </a:t>
            </a:r>
            <a:r>
              <a:rPr dirty="0" err="1"/>
              <a:t>hastalarda</a:t>
            </a:r>
            <a:r>
              <a:rPr dirty="0"/>
              <a:t> </a:t>
            </a:r>
            <a:r>
              <a:rPr dirty="0" err="1"/>
              <a:t>başarının</a:t>
            </a:r>
            <a:r>
              <a:rPr dirty="0"/>
              <a:t> </a:t>
            </a:r>
            <a:r>
              <a:rPr dirty="0" err="1"/>
              <a:t>daha</a:t>
            </a:r>
            <a:r>
              <a:rPr dirty="0"/>
              <a:t> </a:t>
            </a:r>
            <a:r>
              <a:rPr dirty="0" err="1"/>
              <a:t>yüksek</a:t>
            </a:r>
            <a:r>
              <a:rPr dirty="0"/>
              <a:t> </a:t>
            </a:r>
            <a:r>
              <a:rPr dirty="0" err="1"/>
              <a:t>olması</a:t>
            </a:r>
            <a:r>
              <a:rPr dirty="0"/>
              <a:t> </a:t>
            </a:r>
            <a:r>
              <a:rPr dirty="0" err="1"/>
              <a:t>uzun</a:t>
            </a:r>
            <a:r>
              <a:rPr dirty="0"/>
              <a:t> </a:t>
            </a:r>
            <a:r>
              <a:rPr dirty="0" err="1"/>
              <a:t>vadeli</a:t>
            </a:r>
            <a:r>
              <a:rPr dirty="0"/>
              <a:t> </a:t>
            </a:r>
            <a:r>
              <a:rPr dirty="0" err="1"/>
              <a:t>sağlığı</a:t>
            </a:r>
            <a:r>
              <a:rPr dirty="0"/>
              <a:t> </a:t>
            </a:r>
            <a:r>
              <a:rPr dirty="0" err="1"/>
              <a:t>korumaya</a:t>
            </a:r>
            <a:r>
              <a:rPr dirty="0"/>
              <a:t> </a:t>
            </a:r>
            <a:r>
              <a:rPr dirty="0" err="1"/>
              <a:t>yönelik</a:t>
            </a:r>
            <a:r>
              <a:rPr dirty="0"/>
              <a:t> </a:t>
            </a:r>
            <a:r>
              <a:rPr dirty="0" err="1"/>
              <a:t>içsel</a:t>
            </a:r>
            <a:r>
              <a:rPr dirty="0"/>
              <a:t> </a:t>
            </a:r>
            <a:r>
              <a:rPr dirty="0" err="1"/>
              <a:t>motivasyonla</a:t>
            </a:r>
            <a:r>
              <a:rPr dirty="0"/>
              <a:t> </a:t>
            </a:r>
            <a:r>
              <a:rPr dirty="0" err="1"/>
              <a:t>açıklanmaktadır</a:t>
            </a:r>
            <a:r>
              <a:rPr dirty="0"/>
              <a:t>.</a:t>
            </a:r>
            <a:r>
              <a:rPr lang="tr-TR" dirty="0"/>
              <a:t>-anlık tepkisel korkudan ziyade uzun vadeli sağlığı koruma </a:t>
            </a:r>
            <a:r>
              <a:rPr lang="tr-TR" dirty="0" err="1"/>
              <a:t>amacıylaiçsel</a:t>
            </a:r>
            <a:r>
              <a:rPr lang="tr-TR" dirty="0"/>
              <a:t> bir bırakma motivasyonu-</a:t>
            </a:r>
            <a:r>
              <a:rPr dirty="0"/>
              <a:t> </a:t>
            </a:r>
            <a:r>
              <a:rPr dirty="0" err="1"/>
              <a:t>İkinci</a:t>
            </a:r>
            <a:r>
              <a:rPr dirty="0"/>
              <a:t> </a:t>
            </a:r>
            <a:r>
              <a:rPr dirty="0" err="1"/>
              <a:t>bir</a:t>
            </a:r>
            <a:r>
              <a:rPr dirty="0"/>
              <a:t> </a:t>
            </a:r>
            <a:r>
              <a:rPr dirty="0" err="1"/>
              <a:t>olasılık</a:t>
            </a:r>
            <a:r>
              <a:rPr dirty="0"/>
              <a:t> </a:t>
            </a:r>
            <a:r>
              <a:rPr dirty="0" err="1"/>
              <a:t>olarak</a:t>
            </a:r>
            <a:r>
              <a:rPr dirty="0"/>
              <a:t>, </a:t>
            </a:r>
            <a:r>
              <a:rPr dirty="0" err="1"/>
              <a:t>kronik</a:t>
            </a:r>
            <a:r>
              <a:rPr dirty="0"/>
              <a:t> </a:t>
            </a:r>
            <a:r>
              <a:rPr dirty="0" err="1"/>
              <a:t>hastalığı</a:t>
            </a:r>
            <a:r>
              <a:rPr dirty="0"/>
              <a:t> </a:t>
            </a:r>
            <a:r>
              <a:rPr dirty="0" err="1"/>
              <a:t>veya</a:t>
            </a:r>
            <a:r>
              <a:rPr dirty="0"/>
              <a:t> </a:t>
            </a:r>
            <a:r>
              <a:rPr dirty="0" err="1"/>
              <a:t>semptomu</a:t>
            </a:r>
            <a:r>
              <a:rPr dirty="0"/>
              <a:t> </a:t>
            </a:r>
            <a:r>
              <a:rPr dirty="0" err="1"/>
              <a:t>olan</a:t>
            </a:r>
            <a:r>
              <a:rPr dirty="0"/>
              <a:t> </a:t>
            </a:r>
            <a:r>
              <a:rPr dirty="0" err="1"/>
              <a:t>bireylerin</a:t>
            </a:r>
            <a:r>
              <a:rPr dirty="0"/>
              <a:t> </a:t>
            </a:r>
            <a:r>
              <a:rPr dirty="0" err="1"/>
              <a:t>sigarayı</a:t>
            </a:r>
            <a:r>
              <a:rPr dirty="0"/>
              <a:t> </a:t>
            </a:r>
            <a:r>
              <a:rPr dirty="0" err="1"/>
              <a:t>bir</a:t>
            </a:r>
            <a:r>
              <a:rPr dirty="0"/>
              <a:t> </a:t>
            </a:r>
            <a:r>
              <a:rPr dirty="0" err="1"/>
              <a:t>baş</a:t>
            </a:r>
            <a:r>
              <a:rPr dirty="0"/>
              <a:t> </a:t>
            </a:r>
            <a:r>
              <a:rPr dirty="0" err="1"/>
              <a:t>etme</a:t>
            </a:r>
            <a:r>
              <a:rPr dirty="0"/>
              <a:t> </a:t>
            </a:r>
            <a:r>
              <a:rPr dirty="0" err="1"/>
              <a:t>aracı</a:t>
            </a:r>
            <a:r>
              <a:rPr dirty="0"/>
              <a:t> </a:t>
            </a:r>
            <a:r>
              <a:rPr dirty="0" err="1"/>
              <a:t>olarak</a:t>
            </a:r>
            <a:r>
              <a:rPr dirty="0"/>
              <a:t> </a:t>
            </a:r>
            <a:r>
              <a:rPr dirty="0" err="1"/>
              <a:t>kullanıyor</a:t>
            </a:r>
            <a:r>
              <a:rPr dirty="0"/>
              <a:t> </a:t>
            </a:r>
            <a:r>
              <a:rPr dirty="0" err="1"/>
              <a:t>olabileceği</a:t>
            </a:r>
            <a:r>
              <a:rPr dirty="0"/>
              <a:t> </a:t>
            </a:r>
            <a:r>
              <a:rPr dirty="0" err="1"/>
              <a:t>ve</a:t>
            </a:r>
            <a:r>
              <a:rPr dirty="0"/>
              <a:t> </a:t>
            </a:r>
            <a:r>
              <a:rPr dirty="0" err="1"/>
              <a:t>bunun</a:t>
            </a:r>
            <a:r>
              <a:rPr dirty="0"/>
              <a:t> </a:t>
            </a:r>
            <a:r>
              <a:rPr dirty="0" err="1"/>
              <a:t>bırakmayı</a:t>
            </a:r>
            <a:r>
              <a:rPr dirty="0"/>
              <a:t> </a:t>
            </a:r>
            <a:r>
              <a:rPr dirty="0" err="1"/>
              <a:t>zorlaştırabileceği</a:t>
            </a:r>
            <a:r>
              <a:rPr dirty="0"/>
              <a:t> </a:t>
            </a:r>
            <a:r>
              <a:rPr dirty="0" err="1"/>
              <a:t>belirtilmektedir</a:t>
            </a:r>
            <a:r>
              <a:rPr dirty="0"/>
              <a: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Makalede kısıtlılık olarak asistan rotasyonlarının takip sürekliliğini etkileyebileceği, eksik verilerin telefonla ve hasta beyanıyla tamamlandığı ve vareniklinin piyasadan çekilmesinin ilaç seçimini etkilediği belirtilmektedir.</a:t>
            </a:r>
          </a:p>
          <a:p>
            <a:r>
              <a:t>Güçlü yön olarak, bu çalışmanın bilinen kadarıyla sitizin ile sigara bırakma tedavisini ele alan erişilebilir ilk tez çalışması olduğu ve birçok tedavi seçeneğini bir arada değerlendirdiği vurgulanmaktadır.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Çalışmanın sonucuna göre hastaların yaklaşık üçte biri sigarayı bırakmıştır. Kombine tedavi alanlarda bırakma oranı diğer seçeneklere göre daha yüksektir ve tedaviye uyum arttıkça başarı da artmaktadır.</a:t>
            </a:r>
          </a:p>
          <a:p>
            <a:r>
              <a:t>Makalede tedavi seanslarında hastaların bırakma motivasyonunu artırmaya yönelik çabaların yoğunlaştırılması önerilmektedir.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Sunumu beş mesajla özetlemek istiyorum.</a:t>
            </a:r>
          </a:p>
          <a:p>
            <a:r>
              <a:t>Hastaların yaklaşık üçte biri sigarayı bırakmıştır. Kombine tedavide başarı daha yüksektir. Bupropion monoterapisi en düşük başarının görüldüğü seçenektir. Hanede sigara içen olması başarıyı azaltmaktadır. Sık takip başarıyla ilişkilidir.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PAK">
    <p:bg>
      <p:bgPr>
        <a:solidFill>
          <a:srgbClr val="0F4C5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280160"/>
            <a:ext cx="10698480" cy="278892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a:spLocks noGrp="1"/>
          </p:cNvSpPr>
          <p:nvPr>
            <p:ph type="body" idx="101" hasCustomPrompt="1"/>
          </p:nvPr>
        </p:nvSpPr>
        <p:spPr>
          <a:xfrm>
            <a:off x="731520" y="4434840"/>
            <a:ext cx="10698480" cy="1554480"/>
          </a:xfrm>
          <a:prstGeom prst="rect">
            <a:avLst/>
          </a:prstGeom>
          <a:noFill/>
          <a:ln/>
        </p:spPr>
        <p:txBody>
          <a:bodyPr wrap="square" rtlCol="0"/>
          <a:lstStyle>
            <a:lvl1pPr marL="0" indent="0" algn="l">
              <a:buNone/>
              <a:defRPr lang="en-US" sz="2000" dirty="0">
                <a:solidFill>
                  <a:schemeClr val="bg2"/>
                </a:solidFill>
              </a:defRPr>
            </a:lvl1pPr>
          </a:lstStyle>
          <a:p>
            <a:pPr marL="0" indent="0" algn="l">
              <a:buNone/>
            </a:pP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E6F0F1"/>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ERIK">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0607040" cy="868680"/>
          </a:xfrm>
          <a:prstGeom prst="rect">
            <a:avLst/>
          </a:prstGeom>
          <a:noFill/>
          <a:ln/>
        </p:spPr>
        <p:txBody>
          <a:bodyPr wrap="square" rtlCol="0"/>
          <a:lstStyle>
            <a:lvl1pPr marL="0" indent="0" algn="l">
              <a:buNone/>
              <a:defRPr lang="en-US" sz="3600" b="1" dirty="0">
                <a:solidFill>
                  <a:schemeClr val="accent1"/>
                </a:solidFill>
              </a:defRPr>
            </a:lvl1pPr>
          </a:lstStyle>
          <a:p>
            <a:pPr marL="0" indent="0" algn="l">
              <a:buNone/>
            </a:pPr>
            <a:endParaRPr lang="en-US" sz="36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NIS">
    <p:bg>
      <p:bgPr>
        <a:solidFill>
          <a:srgbClr val="0F4C5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914400"/>
            <a:ext cx="694944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E6F0F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E6F0F1"/>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22.png"/><Relationship Id="rId5" Type="http://schemas.openxmlformats.org/officeDocument/2006/relationships/image" Target="../media/image13.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24.png"/><Relationship Id="rId5" Type="http://schemas.openxmlformats.org/officeDocument/2006/relationships/image" Target="../media/image11.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5486400" cy="457200"/>
          </a:xfrm>
          <a:prstGeom prst="rect">
            <a:avLst/>
          </a:prstGeom>
          <a:noFill/>
          <a:ln/>
        </p:spPr>
        <p:txBody>
          <a:bodyPr wrap="square" lIns="0" tIns="0" rIns="0" bIns="0" rtlCol="0" anchor="ctr"/>
          <a:lstStyle/>
          <a:p>
            <a:pPr marL="0" indent="0">
              <a:buNone/>
            </a:pPr>
            <a:endParaRPr lang="tr-TR" sz="2200" b="1" kern="0" spc="100" dirty="0">
              <a:solidFill>
                <a:schemeClr val="accent5"/>
              </a:solidFill>
            </a:endParaRPr>
          </a:p>
          <a:p>
            <a:pPr marL="0" indent="0">
              <a:buNone/>
            </a:pPr>
            <a:endParaRPr lang="en-US" sz="2200" dirty="0"/>
          </a:p>
        </p:txBody>
      </p:sp>
      <p:sp>
        <p:nvSpPr>
          <p:cNvPr id="4" name="Text 0"/>
          <p:cNvSpPr>
            <a:spLocks noGrp="1"/>
          </p:cNvSpPr>
          <p:nvPr>
            <p:ph type="title" idx="100" hasCustomPrompt="1"/>
          </p:nvPr>
        </p:nvSpPr>
        <p:spPr>
          <a:xfrm>
            <a:off x="731520" y="1280160"/>
            <a:ext cx="10698480" cy="2788920"/>
          </a:xfrm>
          <a:prstGeom prst="rect">
            <a:avLst/>
          </a:prstGeom>
          <a:noFill/>
          <a:ln/>
        </p:spPr>
        <p:txBody>
          <a:bodyPr wrap="square" lIns="0" tIns="0" rIns="0" bIns="0" rtlCol="0" anchor="t"/>
          <a:lstStyle/>
          <a:p>
            <a:pPr marL="0" indent="0" algn="l">
              <a:buNone/>
            </a:pPr>
            <a:r>
              <a:rPr lang="en-US" sz="3600" b="1" dirty="0">
                <a:solidFill>
                  <a:schemeClr val="bg1"/>
                </a:solidFill>
              </a:rPr>
              <a:t>Bir üniversite hastanesine bağlı sigara bırakma polikliniğine başvuran hastaların demografik ve klinik özellikleri ile sigara bırakma durumlarını etkileyen faktörler</a:t>
            </a:r>
            <a:endParaRPr lang="en-US" sz="3600" dirty="0"/>
          </a:p>
        </p:txBody>
      </p:sp>
      <p:sp>
        <p:nvSpPr>
          <p:cNvPr id="5" name="Text 0"/>
          <p:cNvSpPr>
            <a:spLocks noGrp="1"/>
          </p:cNvSpPr>
          <p:nvPr>
            <p:ph type="body" idx="101" hasCustomPrompt="1"/>
          </p:nvPr>
        </p:nvSpPr>
        <p:spPr>
          <a:xfrm>
            <a:off x="731520" y="4434840"/>
            <a:ext cx="10698480" cy="1554480"/>
          </a:xfrm>
          <a:prstGeom prst="rect">
            <a:avLst/>
          </a:prstGeom>
          <a:noFill/>
          <a:ln/>
        </p:spPr>
        <p:txBody>
          <a:bodyPr wrap="square" lIns="0" tIns="0" rIns="0" bIns="0" rtlCol="0" anchor="t"/>
          <a:lstStyle/>
          <a:p>
            <a:pPr marL="0" indent="0" algn="l">
              <a:buNone/>
            </a:pPr>
            <a:r>
              <a:rPr lang="en-US" sz="1000" dirty="0">
                <a:solidFill>
                  <a:schemeClr val="bg2"/>
                </a:solidFill>
              </a:rPr>
              <a:t> </a:t>
            </a:r>
            <a:endParaRPr lang="en-US" sz="2000" dirty="0"/>
          </a:p>
          <a:p>
            <a:pPr marL="0" indent="0" algn="l">
              <a:buNone/>
            </a:pPr>
            <a:r>
              <a:rPr lang="tr-TR" sz="2000" b="1" dirty="0">
                <a:solidFill>
                  <a:schemeClr val="bg2"/>
                </a:solidFill>
              </a:rPr>
              <a:t>	</a:t>
            </a:r>
            <a:r>
              <a:rPr lang="en-US" sz="2000" b="1" dirty="0">
                <a:solidFill>
                  <a:schemeClr val="bg2"/>
                </a:solidFill>
              </a:rPr>
              <a:t>Suna</a:t>
            </a:r>
            <a:r>
              <a:rPr lang="tr-TR" sz="2000" b="1" dirty="0">
                <a:solidFill>
                  <a:schemeClr val="bg2"/>
                </a:solidFill>
              </a:rPr>
              <a:t>n		</a:t>
            </a:r>
            <a:r>
              <a:rPr lang="en-US" sz="2000" b="1" dirty="0">
                <a:solidFill>
                  <a:schemeClr val="bg2"/>
                </a:solidFill>
              </a:rPr>
              <a:t>: </a:t>
            </a:r>
            <a:r>
              <a:rPr lang="tr-TR" sz="2000" b="1" dirty="0" err="1">
                <a:solidFill>
                  <a:schemeClr val="bg2"/>
                </a:solidFill>
              </a:rPr>
              <a:t>Asst</a:t>
            </a:r>
            <a:r>
              <a:rPr lang="tr-TR" sz="2000" b="1" dirty="0">
                <a:solidFill>
                  <a:schemeClr val="bg2"/>
                </a:solidFill>
              </a:rPr>
              <a:t>. </a:t>
            </a:r>
            <a:r>
              <a:rPr lang="en-US" sz="2000" b="1" dirty="0">
                <a:solidFill>
                  <a:schemeClr val="bg2"/>
                </a:solidFill>
              </a:rPr>
              <a:t>Dr. </a:t>
            </a:r>
            <a:r>
              <a:rPr lang="tr-TR" sz="2000" b="1" dirty="0">
                <a:solidFill>
                  <a:schemeClr val="bg2"/>
                </a:solidFill>
              </a:rPr>
              <a:t>Ahmet KIRAN</a:t>
            </a:r>
            <a:br>
              <a:rPr lang="tr-TR" sz="2000" b="1" dirty="0">
                <a:solidFill>
                  <a:schemeClr val="bg2"/>
                </a:solidFill>
              </a:rPr>
            </a:br>
            <a:r>
              <a:rPr lang="tr-TR" sz="2000" b="1" dirty="0">
                <a:solidFill>
                  <a:schemeClr val="bg2"/>
                </a:solidFill>
              </a:rPr>
              <a:t>	Danışman 	: Prof. Dr. Onur ÖZTÜRK</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E6F0F1"/>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Resim 4">
            <a:extLst>
              <a:ext uri="{FF2B5EF4-FFF2-40B4-BE49-F238E27FC236}">
                <a16:creationId xmlns:a16="http://schemas.microsoft.com/office/drawing/2014/main" id="{183704E6-FD9C-7986-775D-810B8BBD1BBF}"/>
              </a:ext>
            </a:extLst>
          </p:cNvPr>
          <p:cNvPicPr>
            <a:picLocks noChangeAspect="1"/>
          </p:cNvPicPr>
          <p:nvPr/>
        </p:nvPicPr>
        <p:blipFill>
          <a:blip r:embed="rId3"/>
          <a:stretch>
            <a:fillRect/>
          </a:stretch>
        </p:blipFill>
        <p:spPr>
          <a:xfrm>
            <a:off x="3144253" y="-37033"/>
            <a:ext cx="5903494" cy="6932067"/>
          </a:xfrm>
          <a:prstGeom prst="rect">
            <a:avLst/>
          </a:prstGeom>
        </p:spPr>
      </p:pic>
    </p:spTree>
    <p:extLst>
      <p:ext uri="{BB962C8B-B14F-4D97-AF65-F5344CB8AC3E}">
        <p14:creationId xmlns:p14="http://schemas.microsoft.com/office/powerpoint/2010/main" val="3079792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İçerik</a:t>
            </a:r>
            <a:endParaRPr lang="en-US" sz="3600" dirty="0"/>
          </a:p>
        </p:txBody>
      </p:sp>
      <p:sp>
        <p:nvSpPr>
          <p:cNvPr id="4" name="Kart"/>
          <p:cNvSpPr/>
          <p:nvPr/>
        </p:nvSpPr>
        <p:spPr>
          <a:xfrm>
            <a:off x="548640" y="146304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5" name="Sıra"/>
          <p:cNvSpPr/>
          <p:nvPr/>
        </p:nvSpPr>
        <p:spPr>
          <a:xfrm>
            <a:off x="822960" y="1709928"/>
            <a:ext cx="786384" cy="786384"/>
          </a:xfrm>
          <a:prstGeom prst="ellipse">
            <a:avLst/>
          </a:prstGeom>
          <a:solidFill>
            <a:schemeClr val="accent1"/>
          </a:solidFill>
          <a:ln w="12700">
            <a:solidFill>
              <a:schemeClr val="accent1"/>
            </a:solidFill>
            <a:prstDash val="solid"/>
          </a:ln>
        </p:spPr>
        <p:txBody>
          <a:bodyPr/>
          <a:lstStyle/>
          <a:p>
            <a:endParaRPr/>
          </a:p>
        </p:txBody>
      </p:sp>
      <p:sp>
        <p:nvSpPr>
          <p:cNvPr id="6" name="Text 3"/>
          <p:cNvSpPr txBox="1"/>
          <p:nvPr/>
        </p:nvSpPr>
        <p:spPr>
          <a:xfrm>
            <a:off x="822960" y="170992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1</a:t>
            </a:r>
            <a:endParaRPr lang="en-US" sz="2800" dirty="0"/>
          </a:p>
        </p:txBody>
      </p:sp>
      <p:sp>
        <p:nvSpPr>
          <p:cNvPr id="7" name="Text 4"/>
          <p:cNvSpPr txBox="1"/>
          <p:nvPr/>
        </p:nvSpPr>
        <p:spPr>
          <a:xfrm>
            <a:off x="1874520" y="1463040"/>
            <a:ext cx="3931920" cy="1280160"/>
          </a:xfrm>
          <a:prstGeom prst="rect">
            <a:avLst/>
          </a:prstGeom>
          <a:noFill/>
          <a:ln/>
        </p:spPr>
        <p:txBody>
          <a:bodyPr wrap="square" lIns="0" tIns="0" rIns="0" bIns="0" rtlCol="0" anchor="ctr"/>
          <a:lstStyle/>
          <a:p>
            <a:pPr marL="0" indent="0">
              <a:buNone/>
            </a:pPr>
            <a:r>
              <a:rPr lang="tr-TR" sz="2600" dirty="0">
                <a:solidFill>
                  <a:schemeClr val="accent1"/>
                </a:solidFill>
              </a:rPr>
              <a:t>G</a:t>
            </a:r>
            <a:r>
              <a:rPr lang="en-US" sz="2600" dirty="0" err="1">
                <a:solidFill>
                  <a:schemeClr val="accent1"/>
                </a:solidFill>
              </a:rPr>
              <a:t>iriş</a:t>
            </a:r>
            <a:endParaRPr lang="en-US" sz="2600" dirty="0"/>
          </a:p>
        </p:txBody>
      </p:sp>
      <p:sp>
        <p:nvSpPr>
          <p:cNvPr id="8" name="Kart"/>
          <p:cNvSpPr/>
          <p:nvPr/>
        </p:nvSpPr>
        <p:spPr>
          <a:xfrm>
            <a:off x="6172200" y="146304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9" name="Sıra"/>
          <p:cNvSpPr/>
          <p:nvPr/>
        </p:nvSpPr>
        <p:spPr>
          <a:xfrm>
            <a:off x="6446520" y="1709928"/>
            <a:ext cx="786384" cy="786384"/>
          </a:xfrm>
          <a:prstGeom prst="ellipse">
            <a:avLst/>
          </a:prstGeom>
          <a:solidFill>
            <a:schemeClr val="accent2"/>
          </a:solidFill>
          <a:ln w="12700">
            <a:solidFill>
              <a:schemeClr val="accent2"/>
            </a:solidFill>
            <a:prstDash val="solid"/>
          </a:ln>
        </p:spPr>
        <p:txBody>
          <a:bodyPr/>
          <a:lstStyle/>
          <a:p>
            <a:endParaRPr/>
          </a:p>
        </p:txBody>
      </p:sp>
      <p:sp>
        <p:nvSpPr>
          <p:cNvPr id="10" name="Text 7"/>
          <p:cNvSpPr txBox="1"/>
          <p:nvPr/>
        </p:nvSpPr>
        <p:spPr>
          <a:xfrm>
            <a:off x="6446520" y="170992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1" name="Text 8"/>
          <p:cNvSpPr txBox="1"/>
          <p:nvPr/>
        </p:nvSpPr>
        <p:spPr>
          <a:xfrm>
            <a:off x="7498080" y="146304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Gereç ve yöntem</a:t>
            </a:r>
            <a:endParaRPr lang="en-US" sz="2600" dirty="0"/>
          </a:p>
        </p:txBody>
      </p:sp>
      <p:sp>
        <p:nvSpPr>
          <p:cNvPr id="12" name="Kart"/>
          <p:cNvSpPr/>
          <p:nvPr/>
        </p:nvSpPr>
        <p:spPr>
          <a:xfrm>
            <a:off x="548640" y="301752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13" name="Sıra"/>
          <p:cNvSpPr/>
          <p:nvPr/>
        </p:nvSpPr>
        <p:spPr>
          <a:xfrm>
            <a:off x="822960" y="3264408"/>
            <a:ext cx="786384" cy="786384"/>
          </a:xfrm>
          <a:prstGeom prst="ellipse">
            <a:avLst/>
          </a:prstGeom>
          <a:solidFill>
            <a:schemeClr val="accent1"/>
          </a:solidFill>
          <a:ln w="12700">
            <a:solidFill>
              <a:schemeClr val="accent1"/>
            </a:solidFill>
            <a:prstDash val="solid"/>
          </a:ln>
        </p:spPr>
        <p:txBody>
          <a:bodyPr/>
          <a:lstStyle/>
          <a:p>
            <a:endParaRPr/>
          </a:p>
        </p:txBody>
      </p:sp>
      <p:sp>
        <p:nvSpPr>
          <p:cNvPr id="14" name="Text 11"/>
          <p:cNvSpPr txBox="1"/>
          <p:nvPr/>
        </p:nvSpPr>
        <p:spPr>
          <a:xfrm>
            <a:off x="822960" y="326440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5" name="Text 12"/>
          <p:cNvSpPr txBox="1"/>
          <p:nvPr/>
        </p:nvSpPr>
        <p:spPr>
          <a:xfrm>
            <a:off x="1874520" y="301752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Bulgular</a:t>
            </a:r>
            <a:endParaRPr lang="en-US" sz="2600" dirty="0"/>
          </a:p>
        </p:txBody>
      </p:sp>
      <p:sp>
        <p:nvSpPr>
          <p:cNvPr id="16" name="Kart"/>
          <p:cNvSpPr/>
          <p:nvPr/>
        </p:nvSpPr>
        <p:spPr>
          <a:xfrm>
            <a:off x="6172200" y="301752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17" name="Sıra"/>
          <p:cNvSpPr/>
          <p:nvPr/>
        </p:nvSpPr>
        <p:spPr>
          <a:xfrm>
            <a:off x="6446520" y="3264408"/>
            <a:ext cx="786384" cy="786384"/>
          </a:xfrm>
          <a:prstGeom prst="ellipse">
            <a:avLst/>
          </a:prstGeom>
          <a:solidFill>
            <a:schemeClr val="accent2"/>
          </a:solidFill>
          <a:ln w="12700">
            <a:solidFill>
              <a:schemeClr val="accent2"/>
            </a:solidFill>
            <a:prstDash val="solid"/>
          </a:ln>
        </p:spPr>
        <p:txBody>
          <a:bodyPr/>
          <a:lstStyle/>
          <a:p>
            <a:endParaRPr/>
          </a:p>
        </p:txBody>
      </p:sp>
      <p:sp>
        <p:nvSpPr>
          <p:cNvPr id="18" name="Text 15"/>
          <p:cNvSpPr txBox="1"/>
          <p:nvPr/>
        </p:nvSpPr>
        <p:spPr>
          <a:xfrm>
            <a:off x="6446520" y="326440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4</a:t>
            </a:r>
            <a:endParaRPr lang="en-US" sz="2800" dirty="0"/>
          </a:p>
        </p:txBody>
      </p:sp>
      <p:sp>
        <p:nvSpPr>
          <p:cNvPr id="19" name="Text 16"/>
          <p:cNvSpPr txBox="1"/>
          <p:nvPr/>
        </p:nvSpPr>
        <p:spPr>
          <a:xfrm>
            <a:off x="7498080" y="301752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Tartışma</a:t>
            </a:r>
            <a:endParaRPr lang="en-US" sz="2600" dirty="0"/>
          </a:p>
        </p:txBody>
      </p:sp>
      <p:sp>
        <p:nvSpPr>
          <p:cNvPr id="20" name="Kart"/>
          <p:cNvSpPr/>
          <p:nvPr/>
        </p:nvSpPr>
        <p:spPr>
          <a:xfrm>
            <a:off x="548640" y="4572000"/>
            <a:ext cx="5440680" cy="1280160"/>
          </a:xfrm>
          <a:prstGeom prst="roundRect">
            <a:avLst>
              <a:gd name="adj" fmla="val 8571"/>
            </a:avLst>
          </a:prstGeom>
          <a:solidFill>
            <a:schemeClr val="bg2"/>
          </a:solidFill>
          <a:ln w="12700">
            <a:solidFill>
              <a:schemeClr val="bg2"/>
            </a:solidFill>
            <a:prstDash val="solid"/>
          </a:ln>
        </p:spPr>
        <p:txBody>
          <a:bodyPr/>
          <a:lstStyle/>
          <a:p>
            <a:endParaRPr/>
          </a:p>
        </p:txBody>
      </p:sp>
      <p:sp>
        <p:nvSpPr>
          <p:cNvPr id="21" name="Sıra"/>
          <p:cNvSpPr/>
          <p:nvPr/>
        </p:nvSpPr>
        <p:spPr>
          <a:xfrm>
            <a:off x="822960" y="4818888"/>
            <a:ext cx="786384" cy="786384"/>
          </a:xfrm>
          <a:prstGeom prst="ellipse">
            <a:avLst/>
          </a:prstGeom>
          <a:solidFill>
            <a:schemeClr val="accent1"/>
          </a:solidFill>
          <a:ln w="12700">
            <a:solidFill>
              <a:schemeClr val="accent1"/>
            </a:solidFill>
            <a:prstDash val="solid"/>
          </a:ln>
        </p:spPr>
        <p:txBody>
          <a:bodyPr/>
          <a:lstStyle/>
          <a:p>
            <a:endParaRPr/>
          </a:p>
        </p:txBody>
      </p:sp>
      <p:sp>
        <p:nvSpPr>
          <p:cNvPr id="22" name="Text 19"/>
          <p:cNvSpPr txBox="1"/>
          <p:nvPr/>
        </p:nvSpPr>
        <p:spPr>
          <a:xfrm>
            <a:off x="822960" y="4818888"/>
            <a:ext cx="786384" cy="786384"/>
          </a:xfrm>
          <a:prstGeom prst="rect">
            <a:avLst/>
          </a:prstGeom>
          <a:noFill/>
          <a:ln/>
        </p:spPr>
        <p:txBody>
          <a:bodyPr wrap="square" lIns="0" tIns="0" rIns="0" bIns="0" rtlCol="0" anchor="ctr"/>
          <a:lstStyle/>
          <a:p>
            <a:pPr marL="0" indent="0" algn="ctr">
              <a:buNone/>
            </a:pPr>
            <a:r>
              <a:rPr lang="en-US" sz="2800" b="1" dirty="0">
                <a:solidFill>
                  <a:schemeClr val="bg1"/>
                </a:solidFill>
              </a:rPr>
              <a:t>5</a:t>
            </a:r>
            <a:endParaRPr lang="en-US" sz="2800" dirty="0"/>
          </a:p>
        </p:txBody>
      </p:sp>
      <p:sp>
        <p:nvSpPr>
          <p:cNvPr id="23" name="Text 20"/>
          <p:cNvSpPr txBox="1"/>
          <p:nvPr/>
        </p:nvSpPr>
        <p:spPr>
          <a:xfrm>
            <a:off x="1874520" y="4572000"/>
            <a:ext cx="3931920" cy="1280160"/>
          </a:xfrm>
          <a:prstGeom prst="rect">
            <a:avLst/>
          </a:prstGeom>
          <a:noFill/>
          <a:ln/>
        </p:spPr>
        <p:txBody>
          <a:bodyPr wrap="square" lIns="0" tIns="0" rIns="0" bIns="0" rtlCol="0" anchor="ctr"/>
          <a:lstStyle/>
          <a:p>
            <a:pPr marL="0" indent="0">
              <a:buNone/>
            </a:pPr>
            <a:r>
              <a:rPr lang="en-US" sz="2600" dirty="0">
                <a:solidFill>
                  <a:schemeClr val="accent1"/>
                </a:solidFill>
              </a:rPr>
              <a:t>Sonuç ve öneriler</a:t>
            </a:r>
            <a:endParaRPr lang="en-US" sz="2600" dirty="0"/>
          </a:p>
        </p:txBody>
      </p:sp>
      <p:sp>
        <p:nvSpPr>
          <p:cNvPr id="2"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Sorunun büyüklüğü</a:t>
            </a:r>
            <a:endParaRPr lang="en-US" sz="3600" dirty="0"/>
          </a:p>
        </p:txBody>
      </p:sp>
      <p:sp>
        <p:nvSpPr>
          <p:cNvPr id="4" name="Kart"/>
          <p:cNvSpPr/>
          <p:nvPr/>
        </p:nvSpPr>
        <p:spPr>
          <a:xfrm>
            <a:off x="548640" y="1508760"/>
            <a:ext cx="2633472" cy="4206240"/>
          </a:xfrm>
          <a:prstGeom prst="roundRect">
            <a:avLst>
              <a:gd name="adj" fmla="val 4167"/>
            </a:avLst>
          </a:prstGeom>
          <a:solidFill>
            <a:schemeClr val="bg2"/>
          </a:solidFill>
          <a:ln w="12700">
            <a:solidFill>
              <a:schemeClr val="bg2"/>
            </a:solidFill>
            <a:prstDash val="solid"/>
          </a:ln>
        </p:spPr>
      </p:sp>
      <p:sp>
        <p:nvSpPr>
          <p:cNvPr id="5" name="Ikon zemini"/>
          <p:cNvSpPr/>
          <p:nvPr/>
        </p:nvSpPr>
        <p:spPr>
          <a:xfrm>
            <a:off x="1408176" y="1783080"/>
            <a:ext cx="914400" cy="914400"/>
          </a:xfrm>
          <a:prstGeom prst="ellipse">
            <a:avLst/>
          </a:prstGeom>
          <a:solidFill>
            <a:schemeClr val="accent1"/>
          </a:solidFill>
          <a:ln w="12700">
            <a:solidFill>
              <a:schemeClr val="accent1"/>
            </a:solidFill>
            <a:prstDash val="solid"/>
          </a:ln>
        </p:spPr>
      </p:sp>
      <p:pic>
        <p:nvPicPr>
          <p:cNvPr id="6" name="Ikon" descr="FaUserFriends"/>
          <p:cNvPicPr>
            <a:picLocks noChangeAspect="1"/>
          </p:cNvPicPr>
          <p:nvPr/>
        </p:nvPicPr>
        <p:blipFill>
          <a:blip r:embed="rId3"/>
          <a:stretch>
            <a:fillRect/>
          </a:stretch>
        </p:blipFill>
        <p:spPr>
          <a:xfrm>
            <a:off x="1645920" y="2020824"/>
            <a:ext cx="438912" cy="438912"/>
          </a:xfrm>
          <a:prstGeom prst="rect">
            <a:avLst/>
          </a:prstGeom>
        </p:spPr>
      </p:pic>
      <p:sp>
        <p:nvSpPr>
          <p:cNvPr id="7" name="Text 3"/>
          <p:cNvSpPr txBox="1"/>
          <p:nvPr/>
        </p:nvSpPr>
        <p:spPr>
          <a:xfrm>
            <a:off x="640080"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1"/>
                </a:solidFill>
              </a:rPr>
              <a:t>%44,1</a:t>
            </a:r>
            <a:endParaRPr lang="en-US" sz="4000" dirty="0"/>
          </a:p>
        </p:txBody>
      </p:sp>
      <p:sp>
        <p:nvSpPr>
          <p:cNvPr id="8" name="Text 4"/>
          <p:cNvSpPr txBox="1"/>
          <p:nvPr/>
        </p:nvSpPr>
        <p:spPr>
          <a:xfrm>
            <a:off x="777240"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Erkeklerde sigara içme sıklığı</a:t>
            </a:r>
            <a:endParaRPr lang="en-US" sz="2000" dirty="0"/>
          </a:p>
        </p:txBody>
      </p:sp>
      <p:sp>
        <p:nvSpPr>
          <p:cNvPr id="9" name="Kart"/>
          <p:cNvSpPr/>
          <p:nvPr/>
        </p:nvSpPr>
        <p:spPr>
          <a:xfrm>
            <a:off x="3364992" y="1508760"/>
            <a:ext cx="2633472" cy="4206240"/>
          </a:xfrm>
          <a:prstGeom prst="roundRect">
            <a:avLst>
              <a:gd name="adj" fmla="val 4167"/>
            </a:avLst>
          </a:prstGeom>
          <a:solidFill>
            <a:schemeClr val="bg2"/>
          </a:solidFill>
          <a:ln w="12700">
            <a:solidFill>
              <a:schemeClr val="bg2"/>
            </a:solidFill>
            <a:prstDash val="solid"/>
          </a:ln>
        </p:spPr>
      </p:sp>
      <p:sp>
        <p:nvSpPr>
          <p:cNvPr id="10" name="Ikon zemini"/>
          <p:cNvSpPr/>
          <p:nvPr/>
        </p:nvSpPr>
        <p:spPr>
          <a:xfrm>
            <a:off x="4224528" y="1783080"/>
            <a:ext cx="914400" cy="914400"/>
          </a:xfrm>
          <a:prstGeom prst="ellipse">
            <a:avLst/>
          </a:prstGeom>
          <a:solidFill>
            <a:schemeClr val="accent1"/>
          </a:solidFill>
          <a:ln w="12700">
            <a:solidFill>
              <a:schemeClr val="accent1"/>
            </a:solidFill>
            <a:prstDash val="solid"/>
          </a:ln>
        </p:spPr>
      </p:sp>
      <p:pic>
        <p:nvPicPr>
          <p:cNvPr id="11" name="Ikon" descr="FaUserFriends"/>
          <p:cNvPicPr>
            <a:picLocks noChangeAspect="1"/>
          </p:cNvPicPr>
          <p:nvPr/>
        </p:nvPicPr>
        <p:blipFill>
          <a:blip r:embed="rId3"/>
          <a:stretch>
            <a:fillRect/>
          </a:stretch>
        </p:blipFill>
        <p:spPr>
          <a:xfrm>
            <a:off x="4462272" y="2020824"/>
            <a:ext cx="438912" cy="438912"/>
          </a:xfrm>
          <a:prstGeom prst="rect">
            <a:avLst/>
          </a:prstGeom>
        </p:spPr>
      </p:pic>
      <p:sp>
        <p:nvSpPr>
          <p:cNvPr id="12" name="Text 7"/>
          <p:cNvSpPr txBox="1"/>
          <p:nvPr/>
        </p:nvSpPr>
        <p:spPr>
          <a:xfrm>
            <a:off x="3456432"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1"/>
                </a:solidFill>
              </a:rPr>
              <a:t>%19,2</a:t>
            </a:r>
            <a:endParaRPr lang="en-US" sz="4000" dirty="0"/>
          </a:p>
        </p:txBody>
      </p:sp>
      <p:sp>
        <p:nvSpPr>
          <p:cNvPr id="13" name="Text 8"/>
          <p:cNvSpPr txBox="1"/>
          <p:nvPr/>
        </p:nvSpPr>
        <p:spPr>
          <a:xfrm>
            <a:off x="3593592"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Kadınlarda sigara içme sıklığı</a:t>
            </a:r>
            <a:endParaRPr lang="en-US" sz="2000" dirty="0"/>
          </a:p>
        </p:txBody>
      </p:sp>
      <p:sp>
        <p:nvSpPr>
          <p:cNvPr id="14" name="Kart"/>
          <p:cNvSpPr/>
          <p:nvPr/>
        </p:nvSpPr>
        <p:spPr>
          <a:xfrm>
            <a:off x="6181344" y="1508760"/>
            <a:ext cx="2633472" cy="4206240"/>
          </a:xfrm>
          <a:prstGeom prst="roundRect">
            <a:avLst>
              <a:gd name="adj" fmla="val 4167"/>
            </a:avLst>
          </a:prstGeom>
          <a:solidFill>
            <a:schemeClr val="bg2"/>
          </a:solidFill>
          <a:ln w="12700">
            <a:solidFill>
              <a:schemeClr val="bg2"/>
            </a:solidFill>
            <a:prstDash val="solid"/>
          </a:ln>
        </p:spPr>
      </p:sp>
      <p:sp>
        <p:nvSpPr>
          <p:cNvPr id="15" name="Ikon zemini"/>
          <p:cNvSpPr/>
          <p:nvPr/>
        </p:nvSpPr>
        <p:spPr>
          <a:xfrm>
            <a:off x="7040880" y="1783080"/>
            <a:ext cx="914400" cy="914400"/>
          </a:xfrm>
          <a:prstGeom prst="ellipse">
            <a:avLst/>
          </a:prstGeom>
          <a:solidFill>
            <a:schemeClr val="accent2"/>
          </a:solidFill>
          <a:ln w="12700">
            <a:solidFill>
              <a:schemeClr val="accent2"/>
            </a:solidFill>
            <a:prstDash val="solid"/>
          </a:ln>
        </p:spPr>
      </p:sp>
      <p:pic>
        <p:nvPicPr>
          <p:cNvPr id="16" name="Ikon" descr="FaHospital"/>
          <p:cNvPicPr>
            <a:picLocks noChangeAspect="1"/>
          </p:cNvPicPr>
          <p:nvPr/>
        </p:nvPicPr>
        <p:blipFill>
          <a:blip r:embed="rId4"/>
          <a:stretch>
            <a:fillRect/>
          </a:stretch>
        </p:blipFill>
        <p:spPr>
          <a:xfrm>
            <a:off x="7278624" y="2020824"/>
            <a:ext cx="438912" cy="438912"/>
          </a:xfrm>
          <a:prstGeom prst="rect">
            <a:avLst/>
          </a:prstGeom>
        </p:spPr>
      </p:pic>
      <p:sp>
        <p:nvSpPr>
          <p:cNvPr id="17" name="Text 11"/>
          <p:cNvSpPr txBox="1"/>
          <p:nvPr/>
        </p:nvSpPr>
        <p:spPr>
          <a:xfrm>
            <a:off x="6272784"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2"/>
                </a:solidFill>
              </a:rPr>
              <a:t>&gt;500</a:t>
            </a:r>
            <a:endParaRPr lang="en-US" sz="4000" dirty="0"/>
          </a:p>
        </p:txBody>
      </p:sp>
      <p:sp>
        <p:nvSpPr>
          <p:cNvPr id="18" name="Text 12"/>
          <p:cNvSpPr txBox="1"/>
          <p:nvPr/>
        </p:nvSpPr>
        <p:spPr>
          <a:xfrm>
            <a:off x="6409944"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Sigara bırakma polikliniği</a:t>
            </a:r>
            <a:endParaRPr lang="en-US" sz="2000" dirty="0"/>
          </a:p>
        </p:txBody>
      </p:sp>
      <p:sp>
        <p:nvSpPr>
          <p:cNvPr id="19" name="Kart"/>
          <p:cNvSpPr/>
          <p:nvPr/>
        </p:nvSpPr>
        <p:spPr>
          <a:xfrm>
            <a:off x="8997696" y="1508760"/>
            <a:ext cx="2633472" cy="4206240"/>
          </a:xfrm>
          <a:prstGeom prst="roundRect">
            <a:avLst>
              <a:gd name="adj" fmla="val 4167"/>
            </a:avLst>
          </a:prstGeom>
          <a:solidFill>
            <a:schemeClr val="bg2"/>
          </a:solidFill>
          <a:ln w="12700">
            <a:solidFill>
              <a:schemeClr val="bg2"/>
            </a:solidFill>
            <a:prstDash val="solid"/>
          </a:ln>
        </p:spPr>
      </p:sp>
      <p:sp>
        <p:nvSpPr>
          <p:cNvPr id="20" name="Ikon zemini"/>
          <p:cNvSpPr/>
          <p:nvPr/>
        </p:nvSpPr>
        <p:spPr>
          <a:xfrm>
            <a:off x="9857232" y="1783080"/>
            <a:ext cx="914400" cy="914400"/>
          </a:xfrm>
          <a:prstGeom prst="ellipse">
            <a:avLst/>
          </a:prstGeom>
          <a:solidFill>
            <a:schemeClr val="accent2"/>
          </a:solidFill>
          <a:ln w="12700">
            <a:solidFill>
              <a:schemeClr val="accent2"/>
            </a:solidFill>
            <a:prstDash val="solid"/>
          </a:ln>
        </p:spPr>
      </p:sp>
      <p:pic>
        <p:nvPicPr>
          <p:cNvPr id="21" name="Ikon" descr="FaSmokingBan"/>
          <p:cNvPicPr>
            <a:picLocks noChangeAspect="1"/>
          </p:cNvPicPr>
          <p:nvPr/>
        </p:nvPicPr>
        <p:blipFill>
          <a:blip r:embed="rId5"/>
          <a:stretch>
            <a:fillRect/>
          </a:stretch>
        </p:blipFill>
        <p:spPr>
          <a:xfrm>
            <a:off x="10094976" y="2020824"/>
            <a:ext cx="438912" cy="438912"/>
          </a:xfrm>
          <a:prstGeom prst="rect">
            <a:avLst/>
          </a:prstGeom>
        </p:spPr>
      </p:pic>
      <p:sp>
        <p:nvSpPr>
          <p:cNvPr id="22" name="Text 15"/>
          <p:cNvSpPr txBox="1"/>
          <p:nvPr/>
        </p:nvSpPr>
        <p:spPr>
          <a:xfrm>
            <a:off x="9089136" y="2880360"/>
            <a:ext cx="2450592" cy="1097280"/>
          </a:xfrm>
          <a:prstGeom prst="rect">
            <a:avLst/>
          </a:prstGeom>
          <a:noFill/>
          <a:ln/>
        </p:spPr>
        <p:txBody>
          <a:bodyPr wrap="square" lIns="0" tIns="0" rIns="0" bIns="0" rtlCol="0" anchor="ctr"/>
          <a:lstStyle/>
          <a:p>
            <a:pPr marL="0" indent="0" algn="ctr">
              <a:buNone/>
            </a:pPr>
            <a:r>
              <a:rPr lang="en-US" sz="4000" b="1" dirty="0">
                <a:solidFill>
                  <a:schemeClr val="accent2"/>
                </a:solidFill>
              </a:rPr>
              <a:t>%20–50</a:t>
            </a:r>
            <a:endParaRPr lang="en-US" sz="4000" dirty="0"/>
          </a:p>
        </p:txBody>
      </p:sp>
      <p:sp>
        <p:nvSpPr>
          <p:cNvPr id="23" name="Text 16"/>
          <p:cNvSpPr txBox="1"/>
          <p:nvPr/>
        </p:nvSpPr>
        <p:spPr>
          <a:xfrm>
            <a:off x="9226296" y="4069080"/>
            <a:ext cx="2176272" cy="1371600"/>
          </a:xfrm>
          <a:prstGeom prst="rect">
            <a:avLst/>
          </a:prstGeom>
          <a:noFill/>
          <a:ln/>
        </p:spPr>
        <p:txBody>
          <a:bodyPr wrap="square" lIns="0" tIns="0" rIns="0" bIns="0" rtlCol="0" anchor="t"/>
          <a:lstStyle/>
          <a:p>
            <a:pPr marL="0" indent="0" algn="ctr">
              <a:buNone/>
            </a:pPr>
            <a:r>
              <a:rPr lang="en-US" sz="2000" dirty="0">
                <a:solidFill>
                  <a:schemeClr val="accent1"/>
                </a:solidFill>
              </a:rPr>
              <a:t>Polikliniklerde bırakma oranı</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Tedavi seçenekleri</a:t>
            </a:r>
            <a:endParaRPr lang="en-US" sz="3600" dirty="0"/>
          </a:p>
        </p:txBody>
      </p:sp>
      <p:sp>
        <p:nvSpPr>
          <p:cNvPr id="4" name="Kart"/>
          <p:cNvSpPr/>
          <p:nvPr/>
        </p:nvSpPr>
        <p:spPr>
          <a:xfrm>
            <a:off x="548640" y="1417320"/>
            <a:ext cx="5440680" cy="3794760"/>
          </a:xfrm>
          <a:prstGeom prst="roundRect">
            <a:avLst>
              <a:gd name="adj" fmla="val 2892"/>
            </a:avLst>
          </a:prstGeom>
          <a:solidFill>
            <a:schemeClr val="bg2"/>
          </a:solidFill>
          <a:ln w="12700">
            <a:solidFill>
              <a:schemeClr val="bg2"/>
            </a:solidFill>
            <a:prstDash val="solid"/>
          </a:ln>
        </p:spPr>
        <p:txBody>
          <a:bodyPr/>
          <a:lstStyle/>
          <a:p>
            <a:endParaRPr/>
          </a:p>
        </p:txBody>
      </p:sp>
      <p:sp>
        <p:nvSpPr>
          <p:cNvPr id="5" name="Ikon zemini"/>
          <p:cNvSpPr/>
          <p:nvPr/>
        </p:nvSpPr>
        <p:spPr>
          <a:xfrm>
            <a:off x="868680" y="1645920"/>
            <a:ext cx="914400" cy="914400"/>
          </a:xfrm>
          <a:prstGeom prst="ellipse">
            <a:avLst/>
          </a:prstGeom>
          <a:solidFill>
            <a:schemeClr val="accent1"/>
          </a:solidFill>
          <a:ln w="12700">
            <a:solidFill>
              <a:schemeClr val="accent1"/>
            </a:solidFill>
            <a:prstDash val="solid"/>
          </a:ln>
        </p:spPr>
        <p:txBody>
          <a:bodyPr/>
          <a:lstStyle/>
          <a:p>
            <a:endParaRPr/>
          </a:p>
        </p:txBody>
      </p:sp>
      <p:pic>
        <p:nvPicPr>
          <p:cNvPr id="6" name="Ikon" descr="FaComments"/>
          <p:cNvPicPr>
            <a:picLocks noChangeAspect="1"/>
          </p:cNvPicPr>
          <p:nvPr/>
        </p:nvPicPr>
        <p:blipFill>
          <a:blip r:embed="rId3"/>
          <a:stretch>
            <a:fillRect/>
          </a:stretch>
        </p:blipFill>
        <p:spPr>
          <a:xfrm>
            <a:off x="1106424" y="1883664"/>
            <a:ext cx="438912" cy="438912"/>
          </a:xfrm>
          <a:prstGeom prst="rect">
            <a:avLst/>
          </a:prstGeom>
        </p:spPr>
      </p:pic>
      <p:sp>
        <p:nvSpPr>
          <p:cNvPr id="7" name="Text 3"/>
          <p:cNvSpPr txBox="1"/>
          <p:nvPr/>
        </p:nvSpPr>
        <p:spPr>
          <a:xfrm>
            <a:off x="2011680" y="1645920"/>
            <a:ext cx="3749040" cy="914400"/>
          </a:xfrm>
          <a:prstGeom prst="rect">
            <a:avLst/>
          </a:prstGeom>
          <a:noFill/>
          <a:ln/>
        </p:spPr>
        <p:txBody>
          <a:bodyPr wrap="square" lIns="0" tIns="0" rIns="0" bIns="0" rtlCol="0" anchor="ctr"/>
          <a:lstStyle/>
          <a:p>
            <a:pPr marL="0" indent="0">
              <a:buNone/>
            </a:pPr>
            <a:r>
              <a:rPr lang="en-US" sz="3000" b="1" dirty="0">
                <a:solidFill>
                  <a:schemeClr val="accent1"/>
                </a:solidFill>
              </a:rPr>
              <a:t>Davranışsal</a:t>
            </a:r>
            <a:endParaRPr lang="en-US" sz="3000" dirty="0"/>
          </a:p>
        </p:txBody>
      </p:sp>
      <p:sp>
        <p:nvSpPr>
          <p:cNvPr id="8" name="Text 4"/>
          <p:cNvSpPr txBox="1"/>
          <p:nvPr/>
        </p:nvSpPr>
        <p:spPr>
          <a:xfrm>
            <a:off x="914400" y="2743200"/>
            <a:ext cx="4846320" cy="2331720"/>
          </a:xfrm>
          <a:prstGeom prst="rect">
            <a:avLst/>
          </a:prstGeom>
          <a:noFill/>
          <a:ln/>
        </p:spPr>
        <p:txBody>
          <a:bodyPr wrap="square" lIns="0" tIns="0" rIns="0" bIns="0" rtlCol="0" anchor="t"/>
          <a:lstStyle/>
          <a:p>
            <a:pPr marL="279400" indent="-279400" algn="just">
              <a:spcAft>
                <a:spcPts val="1000"/>
              </a:spcAft>
              <a:buSzPct val="100000"/>
              <a:buChar char="•"/>
            </a:pPr>
            <a:r>
              <a:rPr lang="en-US" sz="2000" dirty="0">
                <a:solidFill>
                  <a:schemeClr val="accent1"/>
                </a:solidFill>
              </a:rPr>
              <a:t>Sağlık İnanç Modeli</a:t>
            </a:r>
            <a:endParaRPr lang="en-US" sz="2200" dirty="0"/>
          </a:p>
          <a:p>
            <a:pPr marL="279400" indent="-279400" algn="just">
              <a:spcAft>
                <a:spcPts val="1000"/>
              </a:spcAft>
              <a:buSzPct val="100000"/>
              <a:buChar char="•"/>
            </a:pPr>
            <a:r>
              <a:rPr lang="en-US" sz="2000" dirty="0">
                <a:solidFill>
                  <a:schemeClr val="accent1"/>
                </a:solidFill>
              </a:rPr>
              <a:t>Sağlık Kontrol Odağı</a:t>
            </a:r>
            <a:endParaRPr lang="en-US" sz="2200" dirty="0"/>
          </a:p>
          <a:p>
            <a:pPr marL="279400" indent="-279400" algn="just">
              <a:spcAft>
                <a:spcPts val="1000"/>
              </a:spcAft>
              <a:buSzPct val="100000"/>
              <a:buChar char="•"/>
            </a:pPr>
            <a:r>
              <a:rPr lang="en-US" sz="2000" dirty="0">
                <a:solidFill>
                  <a:schemeClr val="accent1"/>
                </a:solidFill>
              </a:rPr>
              <a:t>Yeniliklerin Yayılımı Modeli</a:t>
            </a:r>
            <a:endParaRPr lang="en-US" sz="2200" dirty="0"/>
          </a:p>
          <a:p>
            <a:pPr marL="279400" indent="-279400" algn="just">
              <a:spcAft>
                <a:spcPts val="1000"/>
              </a:spcAft>
              <a:buSzPct val="100000"/>
              <a:buChar char="•"/>
            </a:pPr>
            <a:r>
              <a:rPr lang="en-US" sz="2000" dirty="0">
                <a:solidFill>
                  <a:schemeClr val="accent1"/>
                </a:solidFill>
              </a:rPr>
              <a:t>Pender'in Sağlığı Geliştirme Modeli</a:t>
            </a:r>
            <a:endParaRPr lang="en-US" sz="2200" dirty="0"/>
          </a:p>
          <a:p>
            <a:pPr marL="279400" indent="-279400" algn="just">
              <a:spcAft>
                <a:spcPts val="1000"/>
              </a:spcAft>
              <a:buSzPct val="100000"/>
              <a:buChar char="•"/>
            </a:pPr>
            <a:r>
              <a:rPr lang="en-US" sz="2000" dirty="0">
                <a:solidFill>
                  <a:schemeClr val="accent1"/>
                </a:solidFill>
              </a:rPr>
              <a:t>Transteorik Model</a:t>
            </a:r>
            <a:endParaRPr lang="en-US" sz="2200" dirty="0"/>
          </a:p>
        </p:txBody>
      </p:sp>
      <p:sp>
        <p:nvSpPr>
          <p:cNvPr id="9" name="Kart"/>
          <p:cNvSpPr/>
          <p:nvPr/>
        </p:nvSpPr>
        <p:spPr>
          <a:xfrm>
            <a:off x="6172200" y="1417320"/>
            <a:ext cx="5440680" cy="3794760"/>
          </a:xfrm>
          <a:prstGeom prst="roundRect">
            <a:avLst>
              <a:gd name="adj" fmla="val 2892"/>
            </a:avLst>
          </a:prstGeom>
          <a:solidFill>
            <a:schemeClr val="bg2"/>
          </a:solidFill>
          <a:ln w="12700">
            <a:solidFill>
              <a:schemeClr val="bg2"/>
            </a:solidFill>
            <a:prstDash val="solid"/>
          </a:ln>
        </p:spPr>
        <p:txBody>
          <a:bodyPr/>
          <a:lstStyle/>
          <a:p>
            <a:endParaRPr/>
          </a:p>
        </p:txBody>
      </p:sp>
      <p:sp>
        <p:nvSpPr>
          <p:cNvPr id="10" name="Ikon zemini"/>
          <p:cNvSpPr/>
          <p:nvPr/>
        </p:nvSpPr>
        <p:spPr>
          <a:xfrm>
            <a:off x="6492240" y="1645920"/>
            <a:ext cx="914400" cy="914400"/>
          </a:xfrm>
          <a:prstGeom prst="ellipse">
            <a:avLst/>
          </a:prstGeom>
          <a:solidFill>
            <a:schemeClr val="accent2"/>
          </a:solidFill>
          <a:ln w="12700">
            <a:solidFill>
              <a:schemeClr val="accent2"/>
            </a:solidFill>
            <a:prstDash val="solid"/>
          </a:ln>
        </p:spPr>
        <p:txBody>
          <a:bodyPr/>
          <a:lstStyle/>
          <a:p>
            <a:endParaRPr/>
          </a:p>
        </p:txBody>
      </p:sp>
      <p:pic>
        <p:nvPicPr>
          <p:cNvPr id="11" name="Ikon" descr="FaPills"/>
          <p:cNvPicPr>
            <a:picLocks noChangeAspect="1"/>
          </p:cNvPicPr>
          <p:nvPr/>
        </p:nvPicPr>
        <p:blipFill>
          <a:blip r:embed="rId4"/>
          <a:stretch>
            <a:fillRect/>
          </a:stretch>
        </p:blipFill>
        <p:spPr>
          <a:xfrm>
            <a:off x="6729984" y="1883664"/>
            <a:ext cx="438912" cy="438912"/>
          </a:xfrm>
          <a:prstGeom prst="rect">
            <a:avLst/>
          </a:prstGeom>
        </p:spPr>
      </p:pic>
      <p:sp>
        <p:nvSpPr>
          <p:cNvPr id="12" name="Text 7"/>
          <p:cNvSpPr txBox="1"/>
          <p:nvPr/>
        </p:nvSpPr>
        <p:spPr>
          <a:xfrm>
            <a:off x="7635240" y="1645920"/>
            <a:ext cx="3749040" cy="914400"/>
          </a:xfrm>
          <a:prstGeom prst="rect">
            <a:avLst/>
          </a:prstGeom>
          <a:noFill/>
          <a:ln/>
        </p:spPr>
        <p:txBody>
          <a:bodyPr wrap="square" lIns="0" tIns="0" rIns="0" bIns="0" rtlCol="0" anchor="ctr"/>
          <a:lstStyle/>
          <a:p>
            <a:pPr marL="0" indent="0">
              <a:buNone/>
            </a:pPr>
            <a:r>
              <a:rPr lang="en-US" sz="3000" b="1" dirty="0">
                <a:solidFill>
                  <a:schemeClr val="accent2"/>
                </a:solidFill>
              </a:rPr>
              <a:t>Farmakolojik</a:t>
            </a:r>
            <a:endParaRPr lang="en-US" sz="3000" dirty="0"/>
          </a:p>
        </p:txBody>
      </p:sp>
      <p:sp>
        <p:nvSpPr>
          <p:cNvPr id="13" name="Text 8"/>
          <p:cNvSpPr txBox="1"/>
          <p:nvPr/>
        </p:nvSpPr>
        <p:spPr>
          <a:xfrm>
            <a:off x="6537960" y="2743200"/>
            <a:ext cx="4846320" cy="2331720"/>
          </a:xfrm>
          <a:prstGeom prst="rect">
            <a:avLst/>
          </a:prstGeom>
          <a:noFill/>
          <a:ln/>
        </p:spPr>
        <p:txBody>
          <a:bodyPr wrap="square" lIns="0" tIns="0" rIns="0" bIns="0" rtlCol="0" anchor="t"/>
          <a:lstStyle/>
          <a:p>
            <a:pPr marL="279400" indent="-279400" algn="just">
              <a:spcAft>
                <a:spcPts val="1000"/>
              </a:spcAft>
              <a:buSzPct val="100000"/>
              <a:buChar char="•"/>
            </a:pPr>
            <a:r>
              <a:rPr lang="en-US" sz="2000" dirty="0">
                <a:solidFill>
                  <a:schemeClr val="accent1"/>
                </a:solidFill>
              </a:rPr>
              <a:t>NRT (</a:t>
            </a:r>
            <a:r>
              <a:rPr lang="en-US" sz="2000" dirty="0" err="1">
                <a:solidFill>
                  <a:schemeClr val="accent1"/>
                </a:solidFill>
              </a:rPr>
              <a:t>nikotin</a:t>
            </a:r>
            <a:r>
              <a:rPr lang="en-US" sz="2000" dirty="0">
                <a:solidFill>
                  <a:schemeClr val="accent1"/>
                </a:solidFill>
              </a:rPr>
              <a:t> </a:t>
            </a:r>
            <a:r>
              <a:rPr lang="en-US" sz="2000" dirty="0" err="1">
                <a:solidFill>
                  <a:schemeClr val="accent1"/>
                </a:solidFill>
              </a:rPr>
              <a:t>yerine</a:t>
            </a:r>
            <a:r>
              <a:rPr lang="en-US" sz="2000" dirty="0">
                <a:solidFill>
                  <a:schemeClr val="accent1"/>
                </a:solidFill>
              </a:rPr>
              <a:t> </a:t>
            </a:r>
            <a:r>
              <a:rPr lang="en-US" sz="2000" dirty="0" err="1">
                <a:solidFill>
                  <a:schemeClr val="accent1"/>
                </a:solidFill>
              </a:rPr>
              <a:t>koyma</a:t>
            </a:r>
            <a:r>
              <a:rPr lang="en-US" sz="2000" dirty="0">
                <a:solidFill>
                  <a:schemeClr val="accent1"/>
                </a:solidFill>
              </a:rPr>
              <a:t> </a:t>
            </a:r>
            <a:r>
              <a:rPr lang="en-US" sz="2000" dirty="0" err="1">
                <a:solidFill>
                  <a:schemeClr val="accent1"/>
                </a:solidFill>
              </a:rPr>
              <a:t>tedavisi</a:t>
            </a:r>
            <a:r>
              <a:rPr lang="en-US" sz="2000" dirty="0">
                <a:solidFill>
                  <a:schemeClr val="accent1"/>
                </a:solidFill>
              </a:rPr>
              <a:t>)</a:t>
            </a:r>
            <a:endParaRPr lang="en-US" sz="2200" dirty="0"/>
          </a:p>
          <a:p>
            <a:pPr marL="279400" indent="-279400" algn="just">
              <a:spcAft>
                <a:spcPts val="1000"/>
              </a:spcAft>
              <a:buSzPct val="100000"/>
              <a:buChar char="•"/>
            </a:pPr>
            <a:r>
              <a:rPr lang="en-US" sz="2000" dirty="0">
                <a:solidFill>
                  <a:schemeClr val="accent1"/>
                </a:solidFill>
              </a:rPr>
              <a:t>Bupropion</a:t>
            </a:r>
            <a:endParaRPr lang="en-US" sz="2200" dirty="0"/>
          </a:p>
          <a:p>
            <a:pPr marL="279400" indent="-279400" algn="just">
              <a:spcAft>
                <a:spcPts val="1000"/>
              </a:spcAft>
              <a:buSzPct val="100000"/>
              <a:buChar char="•"/>
            </a:pPr>
            <a:r>
              <a:rPr lang="en-US" sz="2000" dirty="0">
                <a:solidFill>
                  <a:schemeClr val="accent1"/>
                </a:solidFill>
              </a:rPr>
              <a:t>Vareniklin</a:t>
            </a:r>
            <a:endParaRPr lang="en-US" sz="2200" dirty="0"/>
          </a:p>
          <a:p>
            <a:pPr marL="279400" indent="-279400" algn="just">
              <a:spcAft>
                <a:spcPts val="1000"/>
              </a:spcAft>
              <a:buSzPct val="100000"/>
              <a:buChar char="•"/>
            </a:pPr>
            <a:r>
              <a:rPr lang="en-US" sz="2000" dirty="0" err="1">
                <a:solidFill>
                  <a:schemeClr val="accent1"/>
                </a:solidFill>
              </a:rPr>
              <a:t>Sitizin</a:t>
            </a:r>
            <a:endParaRPr lang="en-US" sz="2200" dirty="0"/>
          </a:p>
        </p:txBody>
      </p:sp>
      <p:sp>
        <p:nvSpPr>
          <p:cNvPr id="14" name="Text 9"/>
          <p:cNvSpPr txBox="1"/>
          <p:nvPr/>
        </p:nvSpPr>
        <p:spPr>
          <a:xfrm>
            <a:off x="548640" y="5440680"/>
            <a:ext cx="11064240" cy="548640"/>
          </a:xfrm>
          <a:prstGeom prst="rect">
            <a:avLst/>
          </a:prstGeom>
          <a:noFill/>
          <a:ln/>
        </p:spPr>
        <p:txBody>
          <a:bodyPr wrap="square" lIns="0" tIns="0" rIns="0" bIns="0" rtlCol="0" anchor="ctr"/>
          <a:lstStyle/>
          <a:p>
            <a:pPr marL="0" indent="0">
              <a:buNone/>
            </a:pPr>
            <a:r>
              <a:rPr lang="en-US" sz="2200" b="1" i="1" dirty="0">
                <a:solidFill>
                  <a:schemeClr val="accent2"/>
                </a:solidFill>
              </a:rPr>
              <a:t>Farmakoterapi davranışsal destekle birlikte önerilmektedir.</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Çalışmanın amacı</a:t>
            </a:r>
            <a:endParaRPr lang="en-US" sz="3600" dirty="0"/>
          </a:p>
        </p:txBody>
      </p:sp>
      <p:sp>
        <p:nvSpPr>
          <p:cNvPr id="4" name="Kart"/>
          <p:cNvSpPr/>
          <p:nvPr/>
        </p:nvSpPr>
        <p:spPr>
          <a:xfrm>
            <a:off x="548640" y="1508760"/>
            <a:ext cx="11064240" cy="4206240"/>
          </a:xfrm>
          <a:prstGeom prst="roundRect">
            <a:avLst>
              <a:gd name="adj" fmla="val 2609"/>
            </a:avLst>
          </a:prstGeom>
          <a:solidFill>
            <a:schemeClr val="accent1"/>
          </a:solidFill>
          <a:ln w="12700">
            <a:solidFill>
              <a:schemeClr val="accent1"/>
            </a:solidFill>
            <a:prstDash val="solid"/>
          </a:ln>
        </p:spPr>
      </p:sp>
      <p:sp>
        <p:nvSpPr>
          <p:cNvPr id="5" name="Ikon zemini"/>
          <p:cNvSpPr/>
          <p:nvPr/>
        </p:nvSpPr>
        <p:spPr>
          <a:xfrm>
            <a:off x="1005840" y="1965960"/>
            <a:ext cx="1280160" cy="1280160"/>
          </a:xfrm>
          <a:prstGeom prst="ellipse">
            <a:avLst/>
          </a:prstGeom>
          <a:solidFill>
            <a:schemeClr val="accent2"/>
          </a:solidFill>
          <a:ln w="12700">
            <a:solidFill>
              <a:schemeClr val="accent2"/>
            </a:solidFill>
            <a:prstDash val="solid"/>
          </a:ln>
        </p:spPr>
      </p:sp>
      <p:pic>
        <p:nvPicPr>
          <p:cNvPr id="6" name="Ikon" descr="FaBullseye"/>
          <p:cNvPicPr>
            <a:picLocks noChangeAspect="1"/>
          </p:cNvPicPr>
          <p:nvPr/>
        </p:nvPicPr>
        <p:blipFill>
          <a:blip r:embed="rId3"/>
          <a:stretch>
            <a:fillRect/>
          </a:stretch>
        </p:blipFill>
        <p:spPr>
          <a:xfrm>
            <a:off x="1338682" y="2298802"/>
            <a:ext cx="614477" cy="614477"/>
          </a:xfrm>
          <a:prstGeom prst="rect">
            <a:avLst/>
          </a:prstGeom>
        </p:spPr>
      </p:pic>
      <p:sp>
        <p:nvSpPr>
          <p:cNvPr id="7" name="Text 3"/>
          <p:cNvSpPr txBox="1"/>
          <p:nvPr/>
        </p:nvSpPr>
        <p:spPr>
          <a:xfrm>
            <a:off x="2743200" y="1920240"/>
            <a:ext cx="8412480" cy="3383280"/>
          </a:xfrm>
          <a:prstGeom prst="rect">
            <a:avLst/>
          </a:prstGeom>
          <a:noFill/>
          <a:ln/>
        </p:spPr>
        <p:txBody>
          <a:bodyPr wrap="square" lIns="0" tIns="0" rIns="0" bIns="0" rtlCol="0" anchor="ctr"/>
          <a:lstStyle/>
          <a:p>
            <a:pPr marL="279400" indent="-279400" algn="just">
              <a:spcAft>
                <a:spcPts val="1800"/>
              </a:spcAft>
              <a:buSzPct val="100000"/>
              <a:buChar char="•"/>
            </a:pPr>
            <a:r>
              <a:rPr lang="en-US" sz="2800" dirty="0">
                <a:solidFill>
                  <a:schemeClr val="bg1"/>
                </a:solidFill>
              </a:rPr>
              <a:t>Kombine tedavi ve yakın takibin bırakma başarısına etkisini değerlendirmek</a:t>
            </a:r>
            <a:endParaRPr lang="en-US" sz="2800" dirty="0"/>
          </a:p>
          <a:p>
            <a:pPr marL="279400" indent="-279400" algn="just">
              <a:spcAft>
                <a:spcPts val="1800"/>
              </a:spcAft>
              <a:buSzPct val="100000"/>
              <a:buChar char="•"/>
            </a:pPr>
            <a:r>
              <a:rPr lang="en-US" sz="2800" dirty="0">
                <a:solidFill>
                  <a:schemeClr val="bg1"/>
                </a:solidFill>
              </a:rPr>
              <a:t>Bırakmayı etkileyen hasta özelliklerini belirlemek</a:t>
            </a:r>
            <a:endParaRPr lang="en-US" sz="28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Tasarım ve örneklem</a:t>
            </a:r>
            <a:endParaRPr lang="en-US" sz="3600" dirty="0"/>
          </a:p>
        </p:txBody>
      </p:sp>
      <p:sp>
        <p:nvSpPr>
          <p:cNvPr id="4" name="Akış kutusu"/>
          <p:cNvSpPr/>
          <p:nvPr/>
        </p:nvSpPr>
        <p:spPr>
          <a:xfrm>
            <a:off x="548640" y="1417320"/>
            <a:ext cx="3840480" cy="1325880"/>
          </a:xfrm>
          <a:prstGeom prst="roundRect">
            <a:avLst>
              <a:gd name="adj" fmla="val 6897"/>
            </a:avLst>
          </a:prstGeom>
          <a:solidFill>
            <a:schemeClr val="bg2"/>
          </a:solidFill>
          <a:ln w="12700">
            <a:solidFill>
              <a:schemeClr val="bg2"/>
            </a:solidFill>
            <a:prstDash val="solid"/>
          </a:ln>
        </p:spPr>
      </p:sp>
      <p:sp>
        <p:nvSpPr>
          <p:cNvPr id="5" name="Text 2"/>
          <p:cNvSpPr txBox="1"/>
          <p:nvPr/>
        </p:nvSpPr>
        <p:spPr>
          <a:xfrm>
            <a:off x="548640" y="1417320"/>
            <a:ext cx="3840480" cy="1325880"/>
          </a:xfrm>
          <a:prstGeom prst="rect">
            <a:avLst/>
          </a:prstGeom>
          <a:noFill/>
          <a:ln/>
        </p:spPr>
        <p:txBody>
          <a:bodyPr wrap="square" lIns="50800" tIns="50800" rIns="50800" bIns="50800" rtlCol="0" anchor="ctr"/>
          <a:lstStyle/>
          <a:p>
            <a:pPr marL="0" indent="0" algn="ctr">
              <a:buNone/>
            </a:pPr>
            <a:r>
              <a:rPr lang="en-US" sz="3600" b="1" dirty="0">
                <a:solidFill>
                  <a:schemeClr val="accent1"/>
                </a:solidFill>
              </a:rPr>
              <a:t>432</a:t>
            </a:r>
            <a:endParaRPr lang="en-US" sz="3600" dirty="0"/>
          </a:p>
          <a:p>
            <a:pPr marL="0" indent="0" algn="ctr">
              <a:buNone/>
            </a:pPr>
            <a:r>
              <a:rPr lang="en-US" sz="2000" dirty="0">
                <a:solidFill>
                  <a:schemeClr val="accent1"/>
                </a:solidFill>
              </a:rPr>
              <a:t>hasta dosyası (≥18 yaş)</a:t>
            </a:r>
            <a:endParaRPr lang="en-US" sz="3600" dirty="0"/>
          </a:p>
        </p:txBody>
      </p:sp>
      <p:pic>
        <p:nvPicPr>
          <p:cNvPr id="6" name="Image 0" descr="ok"/>
          <p:cNvPicPr>
            <a:picLocks noChangeAspect="1"/>
          </p:cNvPicPr>
          <p:nvPr/>
        </p:nvPicPr>
        <p:blipFill>
          <a:blip r:embed="rId3"/>
          <a:stretch>
            <a:fillRect/>
          </a:stretch>
        </p:blipFill>
        <p:spPr>
          <a:xfrm>
            <a:off x="2194560" y="2852928"/>
            <a:ext cx="548640" cy="548640"/>
          </a:xfrm>
          <a:prstGeom prst="rect">
            <a:avLst/>
          </a:prstGeom>
        </p:spPr>
      </p:pic>
      <p:sp>
        <p:nvSpPr>
          <p:cNvPr id="7" name="Akış kutusu"/>
          <p:cNvSpPr/>
          <p:nvPr/>
        </p:nvSpPr>
        <p:spPr>
          <a:xfrm>
            <a:off x="548640" y="3520440"/>
            <a:ext cx="3840480" cy="1325880"/>
          </a:xfrm>
          <a:prstGeom prst="roundRect">
            <a:avLst>
              <a:gd name="adj" fmla="val 6897"/>
            </a:avLst>
          </a:prstGeom>
          <a:solidFill>
            <a:schemeClr val="accent1"/>
          </a:solidFill>
          <a:ln w="12700">
            <a:solidFill>
              <a:schemeClr val="accent1"/>
            </a:solidFill>
            <a:prstDash val="solid"/>
          </a:ln>
        </p:spPr>
      </p:sp>
      <p:sp>
        <p:nvSpPr>
          <p:cNvPr id="8" name="Text 4"/>
          <p:cNvSpPr txBox="1"/>
          <p:nvPr/>
        </p:nvSpPr>
        <p:spPr>
          <a:xfrm>
            <a:off x="548640" y="3520440"/>
            <a:ext cx="3840480" cy="1325880"/>
          </a:xfrm>
          <a:prstGeom prst="rect">
            <a:avLst/>
          </a:prstGeom>
          <a:noFill/>
          <a:ln/>
        </p:spPr>
        <p:txBody>
          <a:bodyPr wrap="square" lIns="50800" tIns="50800" rIns="50800" bIns="50800" rtlCol="0" anchor="ctr"/>
          <a:lstStyle/>
          <a:p>
            <a:pPr marL="0" indent="0" algn="ctr">
              <a:buNone/>
            </a:pPr>
            <a:r>
              <a:rPr lang="en-US" sz="3600" b="1" dirty="0">
                <a:solidFill>
                  <a:schemeClr val="bg1"/>
                </a:solidFill>
              </a:rPr>
              <a:t>399</a:t>
            </a:r>
            <a:endParaRPr lang="en-US" sz="3600" dirty="0"/>
          </a:p>
          <a:p>
            <a:pPr marL="0" indent="0" algn="ctr">
              <a:buNone/>
            </a:pPr>
            <a:r>
              <a:rPr lang="en-US" sz="2000" dirty="0">
                <a:solidFill>
                  <a:schemeClr val="bg1"/>
                </a:solidFill>
              </a:rPr>
              <a:t>hastanın verisi eksiksiz</a:t>
            </a:r>
            <a:endParaRPr lang="en-US" sz="3600" dirty="0"/>
          </a:p>
        </p:txBody>
      </p:sp>
      <p:sp>
        <p:nvSpPr>
          <p:cNvPr id="9" name="Ikon zemini"/>
          <p:cNvSpPr/>
          <p:nvPr/>
        </p:nvSpPr>
        <p:spPr>
          <a:xfrm>
            <a:off x="5669280" y="1463040"/>
            <a:ext cx="731520" cy="731520"/>
          </a:xfrm>
          <a:prstGeom prst="ellipse">
            <a:avLst/>
          </a:prstGeom>
          <a:solidFill>
            <a:schemeClr val="accent2"/>
          </a:solidFill>
          <a:ln w="12700">
            <a:solidFill>
              <a:schemeClr val="accent2"/>
            </a:solidFill>
            <a:prstDash val="solid"/>
          </a:ln>
        </p:spPr>
      </p:sp>
      <p:pic>
        <p:nvPicPr>
          <p:cNvPr id="10" name="Ikon" descr="FaCalendarAlt"/>
          <p:cNvPicPr>
            <a:picLocks noChangeAspect="1"/>
          </p:cNvPicPr>
          <p:nvPr/>
        </p:nvPicPr>
        <p:blipFill>
          <a:blip r:embed="rId4"/>
          <a:stretch>
            <a:fillRect/>
          </a:stretch>
        </p:blipFill>
        <p:spPr>
          <a:xfrm>
            <a:off x="5859475" y="1653235"/>
            <a:ext cx="351130" cy="351130"/>
          </a:xfrm>
          <a:prstGeom prst="rect">
            <a:avLst/>
          </a:prstGeom>
        </p:spPr>
      </p:pic>
      <p:sp>
        <p:nvSpPr>
          <p:cNvPr id="11" name="Text 6"/>
          <p:cNvSpPr txBox="1"/>
          <p:nvPr/>
        </p:nvSpPr>
        <p:spPr>
          <a:xfrm>
            <a:off x="6629400" y="1463040"/>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01.08.2020 – 31.08.2024</a:t>
            </a:r>
            <a:endParaRPr lang="en-US" sz="2200" dirty="0"/>
          </a:p>
        </p:txBody>
      </p:sp>
      <p:sp>
        <p:nvSpPr>
          <p:cNvPr id="12" name="Ikon zemini"/>
          <p:cNvSpPr/>
          <p:nvPr/>
        </p:nvSpPr>
        <p:spPr>
          <a:xfrm>
            <a:off x="5669280" y="2487168"/>
            <a:ext cx="731520" cy="731520"/>
          </a:xfrm>
          <a:prstGeom prst="ellipse">
            <a:avLst/>
          </a:prstGeom>
          <a:solidFill>
            <a:schemeClr val="accent1"/>
          </a:solidFill>
          <a:ln w="12700">
            <a:solidFill>
              <a:schemeClr val="accent1"/>
            </a:solidFill>
            <a:prstDash val="solid"/>
          </a:ln>
        </p:spPr>
      </p:sp>
      <p:pic>
        <p:nvPicPr>
          <p:cNvPr id="13" name="Ikon" descr="FaFileMedical"/>
          <p:cNvPicPr>
            <a:picLocks noChangeAspect="1"/>
          </p:cNvPicPr>
          <p:nvPr/>
        </p:nvPicPr>
        <p:blipFill>
          <a:blip r:embed="rId5"/>
          <a:stretch>
            <a:fillRect/>
          </a:stretch>
        </p:blipFill>
        <p:spPr>
          <a:xfrm>
            <a:off x="5859475" y="2677363"/>
            <a:ext cx="351130" cy="351130"/>
          </a:xfrm>
          <a:prstGeom prst="rect">
            <a:avLst/>
          </a:prstGeom>
        </p:spPr>
      </p:pic>
      <p:sp>
        <p:nvSpPr>
          <p:cNvPr id="14" name="Text 8"/>
          <p:cNvSpPr txBox="1"/>
          <p:nvPr/>
        </p:nvSpPr>
        <p:spPr>
          <a:xfrm>
            <a:off x="6629400" y="2487168"/>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Hastane otomasyon sistemi</a:t>
            </a:r>
            <a:endParaRPr lang="en-US" sz="2200" dirty="0"/>
          </a:p>
        </p:txBody>
      </p:sp>
      <p:sp>
        <p:nvSpPr>
          <p:cNvPr id="15" name="Ikon zemini"/>
          <p:cNvSpPr/>
          <p:nvPr/>
        </p:nvSpPr>
        <p:spPr>
          <a:xfrm>
            <a:off x="5669280" y="3511296"/>
            <a:ext cx="731520" cy="731520"/>
          </a:xfrm>
          <a:prstGeom prst="ellipse">
            <a:avLst/>
          </a:prstGeom>
          <a:solidFill>
            <a:schemeClr val="accent2"/>
          </a:solidFill>
          <a:ln w="12700">
            <a:solidFill>
              <a:schemeClr val="accent2"/>
            </a:solidFill>
            <a:prstDash val="solid"/>
          </a:ln>
        </p:spPr>
      </p:sp>
      <p:pic>
        <p:nvPicPr>
          <p:cNvPr id="16" name="Ikon" descr="FaClipboardList"/>
          <p:cNvPicPr>
            <a:picLocks noChangeAspect="1"/>
          </p:cNvPicPr>
          <p:nvPr/>
        </p:nvPicPr>
        <p:blipFill>
          <a:blip r:embed="rId6"/>
          <a:stretch>
            <a:fillRect/>
          </a:stretch>
        </p:blipFill>
        <p:spPr>
          <a:xfrm>
            <a:off x="5859475" y="3701491"/>
            <a:ext cx="351130" cy="351130"/>
          </a:xfrm>
          <a:prstGeom prst="rect">
            <a:avLst/>
          </a:prstGeom>
        </p:spPr>
      </p:pic>
      <p:sp>
        <p:nvSpPr>
          <p:cNvPr id="17" name="Text 10"/>
          <p:cNvSpPr txBox="1"/>
          <p:nvPr/>
        </p:nvSpPr>
        <p:spPr>
          <a:xfrm>
            <a:off x="6629400" y="3511296"/>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Retrospektif, kesitsel tasarım</a:t>
            </a:r>
            <a:endParaRPr lang="en-US" sz="2200" dirty="0"/>
          </a:p>
        </p:txBody>
      </p:sp>
      <p:sp>
        <p:nvSpPr>
          <p:cNvPr id="18" name="Ikon zemini"/>
          <p:cNvSpPr/>
          <p:nvPr/>
        </p:nvSpPr>
        <p:spPr>
          <a:xfrm>
            <a:off x="5669280" y="4535424"/>
            <a:ext cx="731520" cy="731520"/>
          </a:xfrm>
          <a:prstGeom prst="ellipse">
            <a:avLst/>
          </a:prstGeom>
          <a:solidFill>
            <a:schemeClr val="accent1"/>
          </a:solidFill>
          <a:ln w="12700">
            <a:solidFill>
              <a:schemeClr val="accent1"/>
            </a:solidFill>
            <a:prstDash val="solid"/>
          </a:ln>
        </p:spPr>
      </p:sp>
      <p:pic>
        <p:nvPicPr>
          <p:cNvPr id="19" name="Ikon" descr="FaCheck"/>
          <p:cNvPicPr>
            <a:picLocks noChangeAspect="1"/>
          </p:cNvPicPr>
          <p:nvPr/>
        </p:nvPicPr>
        <p:blipFill>
          <a:blip r:embed="rId7"/>
          <a:stretch>
            <a:fillRect/>
          </a:stretch>
        </p:blipFill>
        <p:spPr>
          <a:xfrm>
            <a:off x="5859475" y="4725619"/>
            <a:ext cx="351130" cy="351130"/>
          </a:xfrm>
          <a:prstGeom prst="rect">
            <a:avLst/>
          </a:prstGeom>
        </p:spPr>
      </p:pic>
      <p:sp>
        <p:nvSpPr>
          <p:cNvPr id="20" name="Text 12"/>
          <p:cNvSpPr txBox="1"/>
          <p:nvPr/>
        </p:nvSpPr>
        <p:spPr>
          <a:xfrm>
            <a:off x="6629400" y="4535424"/>
            <a:ext cx="4937760" cy="731520"/>
          </a:xfrm>
          <a:prstGeom prst="rect">
            <a:avLst/>
          </a:prstGeom>
          <a:noFill/>
          <a:ln/>
        </p:spPr>
        <p:txBody>
          <a:bodyPr wrap="square" lIns="0" tIns="0" rIns="0" bIns="0" rtlCol="0" anchor="ctr"/>
          <a:lstStyle/>
          <a:p>
            <a:pPr marL="0" indent="0">
              <a:buNone/>
            </a:pPr>
            <a:r>
              <a:rPr lang="en-US" sz="2200" dirty="0">
                <a:solidFill>
                  <a:schemeClr val="accent1"/>
                </a:solidFill>
              </a:rPr>
              <a:t>En az bir yıllık takip</a:t>
            </a:r>
            <a:endParaRPr lang="en-US" sz="2200" dirty="0"/>
          </a:p>
        </p:txBody>
      </p:sp>
      <p:sp>
        <p:nvSpPr>
          <p:cNvPr id="21" name="Text 13"/>
          <p:cNvSpPr txBox="1"/>
          <p:nvPr/>
        </p:nvSpPr>
        <p:spPr>
          <a:xfrm>
            <a:off x="548640" y="5349240"/>
            <a:ext cx="11064240" cy="502920"/>
          </a:xfrm>
          <a:prstGeom prst="rect">
            <a:avLst/>
          </a:prstGeom>
          <a:noFill/>
          <a:ln/>
        </p:spPr>
        <p:txBody>
          <a:bodyPr wrap="square" lIns="0" tIns="0" rIns="0" bIns="0" rtlCol="0" anchor="ctr"/>
          <a:lstStyle/>
          <a:p>
            <a:pPr marL="0" indent="0">
              <a:buNone/>
            </a:pPr>
            <a:r>
              <a:rPr lang="en-US" sz="2000" i="1" dirty="0">
                <a:solidFill>
                  <a:schemeClr val="accent3"/>
                </a:solidFill>
              </a:rPr>
              <a:t>Tüm kayıtlar alındığı için örneklem hesabı yapılmamıştır.</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Veri toplama ve bağımlılık ölçümü</a:t>
            </a:r>
            <a:endParaRPr lang="en-US" sz="3600" dirty="0"/>
          </a:p>
        </p:txBody>
      </p:sp>
      <p:sp>
        <p:nvSpPr>
          <p:cNvPr id="4" name="Text 1"/>
          <p:cNvSpPr txBox="1"/>
          <p:nvPr/>
        </p:nvSpPr>
        <p:spPr>
          <a:xfrm>
            <a:off x="548640" y="132588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Hasta dosyalarından elde edilen veriler</a:t>
            </a:r>
            <a:endParaRPr lang="en-US" sz="2200" dirty="0"/>
          </a:p>
        </p:txBody>
      </p:sp>
      <p:sp>
        <p:nvSpPr>
          <p:cNvPr id="5" name="Veri etiketi"/>
          <p:cNvSpPr/>
          <p:nvPr/>
        </p:nvSpPr>
        <p:spPr>
          <a:xfrm>
            <a:off x="548640" y="1874520"/>
            <a:ext cx="1737360" cy="685800"/>
          </a:xfrm>
          <a:prstGeom prst="roundRect">
            <a:avLst>
              <a:gd name="adj" fmla="val 13333"/>
            </a:avLst>
          </a:prstGeom>
          <a:solidFill>
            <a:schemeClr val="bg2"/>
          </a:solidFill>
          <a:ln w="12700">
            <a:solidFill>
              <a:schemeClr val="bg2"/>
            </a:solidFill>
            <a:prstDash val="solid"/>
          </a:ln>
        </p:spPr>
      </p:sp>
      <p:sp>
        <p:nvSpPr>
          <p:cNvPr id="6" name="Text 3"/>
          <p:cNvSpPr txBox="1"/>
          <p:nvPr/>
        </p:nvSpPr>
        <p:spPr>
          <a:xfrm>
            <a:off x="548640"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Yaş, cinsiyet</a:t>
            </a:r>
            <a:endParaRPr lang="en-US" sz="1800" dirty="0"/>
          </a:p>
        </p:txBody>
      </p:sp>
      <p:sp>
        <p:nvSpPr>
          <p:cNvPr id="7" name="Veri etiketi"/>
          <p:cNvSpPr/>
          <p:nvPr/>
        </p:nvSpPr>
        <p:spPr>
          <a:xfrm>
            <a:off x="2404872" y="1874520"/>
            <a:ext cx="1737360" cy="685800"/>
          </a:xfrm>
          <a:prstGeom prst="roundRect">
            <a:avLst>
              <a:gd name="adj" fmla="val 13333"/>
            </a:avLst>
          </a:prstGeom>
          <a:solidFill>
            <a:schemeClr val="bg2"/>
          </a:solidFill>
          <a:ln w="12700">
            <a:solidFill>
              <a:schemeClr val="bg2"/>
            </a:solidFill>
            <a:prstDash val="solid"/>
          </a:ln>
        </p:spPr>
      </p:sp>
      <p:sp>
        <p:nvSpPr>
          <p:cNvPr id="8" name="Text 5"/>
          <p:cNvSpPr txBox="1"/>
          <p:nvPr/>
        </p:nvSpPr>
        <p:spPr>
          <a:xfrm>
            <a:off x="2404872"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Meslek</a:t>
            </a:r>
            <a:endParaRPr lang="en-US" sz="1800" dirty="0"/>
          </a:p>
        </p:txBody>
      </p:sp>
      <p:sp>
        <p:nvSpPr>
          <p:cNvPr id="9" name="Veri etiketi"/>
          <p:cNvSpPr/>
          <p:nvPr/>
        </p:nvSpPr>
        <p:spPr>
          <a:xfrm>
            <a:off x="4261104" y="1874520"/>
            <a:ext cx="1737360" cy="685800"/>
          </a:xfrm>
          <a:prstGeom prst="roundRect">
            <a:avLst>
              <a:gd name="adj" fmla="val 13333"/>
            </a:avLst>
          </a:prstGeom>
          <a:solidFill>
            <a:schemeClr val="bg2"/>
          </a:solidFill>
          <a:ln w="12700">
            <a:solidFill>
              <a:schemeClr val="bg2"/>
            </a:solidFill>
            <a:prstDash val="solid"/>
          </a:ln>
        </p:spPr>
      </p:sp>
      <p:sp>
        <p:nvSpPr>
          <p:cNvPr id="10" name="Text 7"/>
          <p:cNvSpPr txBox="1"/>
          <p:nvPr/>
        </p:nvSpPr>
        <p:spPr>
          <a:xfrm>
            <a:off x="4261104"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Alkol kullanımı</a:t>
            </a:r>
            <a:endParaRPr lang="en-US" sz="1800" dirty="0"/>
          </a:p>
        </p:txBody>
      </p:sp>
      <p:sp>
        <p:nvSpPr>
          <p:cNvPr id="11" name="Veri etiketi"/>
          <p:cNvSpPr/>
          <p:nvPr/>
        </p:nvSpPr>
        <p:spPr>
          <a:xfrm>
            <a:off x="6117336" y="1874520"/>
            <a:ext cx="1737360" cy="685800"/>
          </a:xfrm>
          <a:prstGeom prst="roundRect">
            <a:avLst>
              <a:gd name="adj" fmla="val 13333"/>
            </a:avLst>
          </a:prstGeom>
          <a:solidFill>
            <a:schemeClr val="bg2"/>
          </a:solidFill>
          <a:ln w="12700">
            <a:solidFill>
              <a:schemeClr val="bg2"/>
            </a:solidFill>
            <a:prstDash val="solid"/>
          </a:ln>
        </p:spPr>
      </p:sp>
      <p:sp>
        <p:nvSpPr>
          <p:cNvPr id="12" name="Text 9"/>
          <p:cNvSpPr txBox="1"/>
          <p:nvPr/>
        </p:nvSpPr>
        <p:spPr>
          <a:xfrm>
            <a:off x="6117336"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Kronik hastalık</a:t>
            </a:r>
            <a:endParaRPr lang="en-US" sz="1800" dirty="0"/>
          </a:p>
        </p:txBody>
      </p:sp>
      <p:sp>
        <p:nvSpPr>
          <p:cNvPr id="13" name="Veri etiketi"/>
          <p:cNvSpPr/>
          <p:nvPr/>
        </p:nvSpPr>
        <p:spPr>
          <a:xfrm>
            <a:off x="7973568" y="1874520"/>
            <a:ext cx="1737360" cy="685800"/>
          </a:xfrm>
          <a:prstGeom prst="roundRect">
            <a:avLst>
              <a:gd name="adj" fmla="val 13333"/>
            </a:avLst>
          </a:prstGeom>
          <a:solidFill>
            <a:schemeClr val="bg2"/>
          </a:solidFill>
          <a:ln w="12700">
            <a:solidFill>
              <a:schemeClr val="bg2"/>
            </a:solidFill>
            <a:prstDash val="solid"/>
          </a:ln>
        </p:spPr>
      </p:sp>
      <p:sp>
        <p:nvSpPr>
          <p:cNvPr id="14" name="Text 11"/>
          <p:cNvSpPr txBox="1"/>
          <p:nvPr/>
        </p:nvSpPr>
        <p:spPr>
          <a:xfrm>
            <a:off x="7973568"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Paket-yıl</a:t>
            </a:r>
            <a:endParaRPr lang="en-US" sz="1800" dirty="0"/>
          </a:p>
        </p:txBody>
      </p:sp>
      <p:sp>
        <p:nvSpPr>
          <p:cNvPr id="15" name="Veri etiketi"/>
          <p:cNvSpPr/>
          <p:nvPr/>
        </p:nvSpPr>
        <p:spPr>
          <a:xfrm>
            <a:off x="9829800" y="1874520"/>
            <a:ext cx="1737360" cy="685800"/>
          </a:xfrm>
          <a:prstGeom prst="roundRect">
            <a:avLst>
              <a:gd name="adj" fmla="val 13333"/>
            </a:avLst>
          </a:prstGeom>
          <a:solidFill>
            <a:schemeClr val="bg2"/>
          </a:solidFill>
          <a:ln w="12700">
            <a:solidFill>
              <a:schemeClr val="bg2"/>
            </a:solidFill>
            <a:prstDash val="solid"/>
          </a:ln>
        </p:spPr>
      </p:sp>
      <p:sp>
        <p:nvSpPr>
          <p:cNvPr id="16" name="Text 13"/>
          <p:cNvSpPr txBox="1"/>
          <p:nvPr/>
        </p:nvSpPr>
        <p:spPr>
          <a:xfrm>
            <a:off x="9829800" y="1874520"/>
            <a:ext cx="1737360" cy="685800"/>
          </a:xfrm>
          <a:prstGeom prst="rect">
            <a:avLst/>
          </a:prstGeom>
          <a:noFill/>
          <a:ln/>
        </p:spPr>
        <p:txBody>
          <a:bodyPr wrap="square" lIns="0" tIns="0" rIns="0" bIns="0" rtlCol="0" anchor="ctr"/>
          <a:lstStyle/>
          <a:p>
            <a:pPr marL="0" indent="0" algn="ctr">
              <a:buNone/>
            </a:pPr>
            <a:r>
              <a:rPr lang="en-US" sz="1800" dirty="0">
                <a:solidFill>
                  <a:schemeClr val="accent1"/>
                </a:solidFill>
              </a:rPr>
              <a:t>Uygulanan tedavi</a:t>
            </a:r>
            <a:endParaRPr lang="en-US" sz="1800" dirty="0"/>
          </a:p>
        </p:txBody>
      </p:sp>
      <p:sp>
        <p:nvSpPr>
          <p:cNvPr id="17" name="Text 14"/>
          <p:cNvSpPr txBox="1"/>
          <p:nvPr/>
        </p:nvSpPr>
        <p:spPr>
          <a:xfrm>
            <a:off x="548640" y="292608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Fagerström Nikotin Bağımlılık Testi (FNBT)</a:t>
            </a:r>
            <a:endParaRPr lang="en-US" sz="2200" dirty="0"/>
          </a:p>
        </p:txBody>
      </p:sp>
      <p:sp>
        <p:nvSpPr>
          <p:cNvPr id="18" name="Ölçek dilimi"/>
          <p:cNvSpPr/>
          <p:nvPr/>
        </p:nvSpPr>
        <p:spPr>
          <a:xfrm>
            <a:off x="548640" y="3520440"/>
            <a:ext cx="3017520" cy="1005840"/>
          </a:xfrm>
          <a:prstGeom prst="rect">
            <a:avLst/>
          </a:prstGeom>
          <a:solidFill>
            <a:schemeClr val="accent5"/>
          </a:solidFill>
          <a:ln w="25400">
            <a:solidFill>
              <a:schemeClr val="bg1"/>
            </a:solidFill>
            <a:prstDash val="solid"/>
          </a:ln>
        </p:spPr>
      </p:sp>
      <p:sp>
        <p:nvSpPr>
          <p:cNvPr id="19" name="Text 16"/>
          <p:cNvSpPr txBox="1"/>
          <p:nvPr/>
        </p:nvSpPr>
        <p:spPr>
          <a:xfrm>
            <a:off x="548640" y="3520440"/>
            <a:ext cx="3017520" cy="1005840"/>
          </a:xfrm>
          <a:prstGeom prst="rect">
            <a:avLst/>
          </a:prstGeom>
          <a:noFill/>
          <a:ln/>
        </p:spPr>
        <p:txBody>
          <a:bodyPr wrap="square" lIns="0" tIns="0" rIns="0" bIns="0" rtlCol="0" anchor="ctr"/>
          <a:lstStyle/>
          <a:p>
            <a:pPr marL="0" indent="0" algn="ctr">
              <a:buNone/>
            </a:pPr>
            <a:r>
              <a:rPr lang="en-US" sz="2400" b="1" dirty="0">
                <a:solidFill>
                  <a:schemeClr val="accent1"/>
                </a:solidFill>
              </a:rPr>
              <a:t>Düşük</a:t>
            </a:r>
            <a:endParaRPr lang="en-US" sz="2400" dirty="0"/>
          </a:p>
          <a:p>
            <a:pPr marL="0" indent="0" algn="ctr">
              <a:buNone/>
            </a:pPr>
            <a:r>
              <a:rPr lang="en-US" sz="1800" dirty="0">
                <a:solidFill>
                  <a:schemeClr val="accent1"/>
                </a:solidFill>
              </a:rPr>
              <a:t>0–2 puan</a:t>
            </a:r>
            <a:endParaRPr lang="en-US" sz="2400" dirty="0"/>
          </a:p>
        </p:txBody>
      </p:sp>
      <p:sp>
        <p:nvSpPr>
          <p:cNvPr id="20" name="Ölçek dilimi"/>
          <p:cNvSpPr/>
          <p:nvPr/>
        </p:nvSpPr>
        <p:spPr>
          <a:xfrm>
            <a:off x="3566160" y="3520440"/>
            <a:ext cx="5029200" cy="1005840"/>
          </a:xfrm>
          <a:prstGeom prst="rect">
            <a:avLst/>
          </a:prstGeom>
          <a:solidFill>
            <a:schemeClr val="accent2"/>
          </a:solidFill>
          <a:ln w="25400">
            <a:solidFill>
              <a:schemeClr val="bg1"/>
            </a:solidFill>
            <a:prstDash val="solid"/>
          </a:ln>
        </p:spPr>
      </p:sp>
      <p:sp>
        <p:nvSpPr>
          <p:cNvPr id="21" name="Text 18"/>
          <p:cNvSpPr txBox="1"/>
          <p:nvPr/>
        </p:nvSpPr>
        <p:spPr>
          <a:xfrm>
            <a:off x="3566160" y="3520440"/>
            <a:ext cx="5029200" cy="1005840"/>
          </a:xfrm>
          <a:prstGeom prst="rect">
            <a:avLst/>
          </a:prstGeom>
          <a:noFill/>
          <a:ln/>
        </p:spPr>
        <p:txBody>
          <a:bodyPr wrap="square" lIns="0" tIns="0" rIns="0" bIns="0" rtlCol="0" anchor="ctr"/>
          <a:lstStyle/>
          <a:p>
            <a:pPr marL="0" indent="0" algn="ctr">
              <a:buNone/>
            </a:pPr>
            <a:r>
              <a:rPr lang="en-US" sz="2400" b="1" dirty="0">
                <a:solidFill>
                  <a:schemeClr val="bg1"/>
                </a:solidFill>
              </a:rPr>
              <a:t>Orta</a:t>
            </a:r>
            <a:endParaRPr lang="en-US" sz="2400" dirty="0"/>
          </a:p>
          <a:p>
            <a:pPr marL="0" indent="0" algn="ctr">
              <a:buNone/>
            </a:pPr>
            <a:r>
              <a:rPr lang="en-US" sz="1800" dirty="0">
                <a:solidFill>
                  <a:schemeClr val="bg1"/>
                </a:solidFill>
              </a:rPr>
              <a:t>3–7 puan</a:t>
            </a:r>
            <a:endParaRPr lang="en-US" sz="2400" dirty="0"/>
          </a:p>
        </p:txBody>
      </p:sp>
      <p:sp>
        <p:nvSpPr>
          <p:cNvPr id="22" name="Ölçek dilimi"/>
          <p:cNvSpPr/>
          <p:nvPr/>
        </p:nvSpPr>
        <p:spPr>
          <a:xfrm>
            <a:off x="8595360" y="3520440"/>
            <a:ext cx="3017520" cy="1005840"/>
          </a:xfrm>
          <a:prstGeom prst="rect">
            <a:avLst/>
          </a:prstGeom>
          <a:solidFill>
            <a:schemeClr val="accent1"/>
          </a:solidFill>
          <a:ln w="25400">
            <a:solidFill>
              <a:schemeClr val="bg1"/>
            </a:solidFill>
            <a:prstDash val="solid"/>
          </a:ln>
        </p:spPr>
      </p:sp>
      <p:sp>
        <p:nvSpPr>
          <p:cNvPr id="23" name="Text 20"/>
          <p:cNvSpPr txBox="1"/>
          <p:nvPr/>
        </p:nvSpPr>
        <p:spPr>
          <a:xfrm>
            <a:off x="8595360" y="3520440"/>
            <a:ext cx="3017520" cy="1005840"/>
          </a:xfrm>
          <a:prstGeom prst="rect">
            <a:avLst/>
          </a:prstGeom>
          <a:noFill/>
          <a:ln/>
        </p:spPr>
        <p:txBody>
          <a:bodyPr wrap="square" lIns="0" tIns="0" rIns="0" bIns="0" rtlCol="0" anchor="ctr"/>
          <a:lstStyle/>
          <a:p>
            <a:pPr marL="0" indent="0" algn="ctr">
              <a:buNone/>
            </a:pPr>
            <a:r>
              <a:rPr lang="en-US" sz="2400" b="1" dirty="0">
                <a:solidFill>
                  <a:schemeClr val="bg1"/>
                </a:solidFill>
              </a:rPr>
              <a:t>Yüksek</a:t>
            </a:r>
            <a:endParaRPr lang="en-US" sz="2400" dirty="0"/>
          </a:p>
          <a:p>
            <a:pPr marL="0" indent="0" algn="ctr">
              <a:buNone/>
            </a:pPr>
            <a:r>
              <a:rPr lang="en-US" sz="1800" dirty="0">
                <a:solidFill>
                  <a:schemeClr val="bg1"/>
                </a:solidFill>
              </a:rPr>
              <a:t>8–10 puan</a:t>
            </a:r>
            <a:endParaRPr lang="en-US" sz="2400" dirty="0"/>
          </a:p>
        </p:txBody>
      </p:sp>
      <p:sp>
        <p:nvSpPr>
          <p:cNvPr id="24" name="Text 21"/>
          <p:cNvSpPr txBox="1"/>
          <p:nvPr/>
        </p:nvSpPr>
        <p:spPr>
          <a:xfrm>
            <a:off x="548640" y="4800600"/>
            <a:ext cx="11064240" cy="502920"/>
          </a:xfrm>
          <a:prstGeom prst="rect">
            <a:avLst/>
          </a:prstGeom>
          <a:noFill/>
          <a:ln/>
        </p:spPr>
        <p:txBody>
          <a:bodyPr wrap="square" lIns="0" tIns="0" rIns="0" bIns="0" rtlCol="0" anchor="ctr"/>
          <a:lstStyle/>
          <a:p>
            <a:pPr marL="0" indent="0">
              <a:buNone/>
            </a:pPr>
            <a:r>
              <a:rPr lang="en-US" sz="2000" dirty="0">
                <a:solidFill>
                  <a:schemeClr val="accent3"/>
                </a:solidFill>
              </a:rPr>
              <a:t>6 soru, 0–10 puan  •  Türkçe geçerlik ve güvenilirlik: Uysal ve ark., 2004</a:t>
            </a:r>
            <a:endParaRPr lang="en-US" sz="2000" dirty="0"/>
          </a:p>
        </p:txBody>
      </p:sp>
      <p:sp>
        <p:nvSpPr>
          <p:cNvPr id="2"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Tedavi yaklaşımı</a:t>
            </a:r>
            <a:endParaRPr lang="en-US" sz="3600" dirty="0"/>
          </a:p>
        </p:txBody>
      </p:sp>
      <p:sp>
        <p:nvSpPr>
          <p:cNvPr id="4" name="Kart"/>
          <p:cNvSpPr/>
          <p:nvPr/>
        </p:nvSpPr>
        <p:spPr>
          <a:xfrm>
            <a:off x="548640" y="1417320"/>
            <a:ext cx="3566160" cy="3063240"/>
          </a:xfrm>
          <a:prstGeom prst="roundRect">
            <a:avLst>
              <a:gd name="adj" fmla="val 3582"/>
            </a:avLst>
          </a:prstGeom>
          <a:solidFill>
            <a:schemeClr val="bg2"/>
          </a:solidFill>
          <a:ln w="12700">
            <a:solidFill>
              <a:schemeClr val="bg2"/>
            </a:solidFill>
            <a:prstDash val="solid"/>
          </a:ln>
        </p:spPr>
      </p:sp>
      <p:sp>
        <p:nvSpPr>
          <p:cNvPr id="5" name="Ikon zemini"/>
          <p:cNvSpPr/>
          <p:nvPr/>
        </p:nvSpPr>
        <p:spPr>
          <a:xfrm>
            <a:off x="1783080" y="1645920"/>
            <a:ext cx="1097280" cy="1097280"/>
          </a:xfrm>
          <a:prstGeom prst="ellipse">
            <a:avLst/>
          </a:prstGeom>
          <a:solidFill>
            <a:schemeClr val="accent3"/>
          </a:solidFill>
          <a:ln w="12700">
            <a:solidFill>
              <a:schemeClr val="accent3"/>
            </a:solidFill>
            <a:prstDash val="solid"/>
          </a:ln>
        </p:spPr>
      </p:sp>
      <p:pic>
        <p:nvPicPr>
          <p:cNvPr id="6" name="Ikon" descr="FaComments"/>
          <p:cNvPicPr>
            <a:picLocks noChangeAspect="1"/>
          </p:cNvPicPr>
          <p:nvPr/>
        </p:nvPicPr>
        <p:blipFill>
          <a:blip r:embed="rId3"/>
          <a:stretch>
            <a:fillRect/>
          </a:stretch>
        </p:blipFill>
        <p:spPr>
          <a:xfrm>
            <a:off x="2068373" y="1931213"/>
            <a:ext cx="526694" cy="526694"/>
          </a:xfrm>
          <a:prstGeom prst="rect">
            <a:avLst/>
          </a:prstGeom>
        </p:spPr>
      </p:pic>
      <p:sp>
        <p:nvSpPr>
          <p:cNvPr id="7" name="Text 3"/>
          <p:cNvSpPr txBox="1"/>
          <p:nvPr/>
        </p:nvSpPr>
        <p:spPr>
          <a:xfrm>
            <a:off x="731520" y="2834640"/>
            <a:ext cx="3200400" cy="548640"/>
          </a:xfrm>
          <a:prstGeom prst="rect">
            <a:avLst/>
          </a:prstGeom>
          <a:noFill/>
          <a:ln/>
        </p:spPr>
        <p:txBody>
          <a:bodyPr wrap="square" lIns="0" tIns="0" rIns="0" bIns="0" rtlCol="0" anchor="ctr"/>
          <a:lstStyle/>
          <a:p>
            <a:pPr marL="0" indent="0" algn="ctr">
              <a:buNone/>
            </a:pPr>
            <a:r>
              <a:rPr lang="en-US" sz="2800" b="1" dirty="0">
                <a:solidFill>
                  <a:schemeClr val="accent3"/>
                </a:solidFill>
              </a:rPr>
              <a:t>Davranışsal</a:t>
            </a:r>
            <a:endParaRPr lang="en-US" sz="2800" dirty="0"/>
          </a:p>
        </p:txBody>
      </p:sp>
      <p:sp>
        <p:nvSpPr>
          <p:cNvPr id="8" name="Text 4"/>
          <p:cNvSpPr txBox="1"/>
          <p:nvPr/>
        </p:nvSpPr>
        <p:spPr>
          <a:xfrm>
            <a:off x="822960" y="3383280"/>
            <a:ext cx="3017520" cy="1005840"/>
          </a:xfrm>
          <a:prstGeom prst="rect">
            <a:avLst/>
          </a:prstGeom>
          <a:noFill/>
          <a:ln/>
        </p:spPr>
        <p:txBody>
          <a:bodyPr wrap="square" lIns="0" tIns="0" rIns="0" bIns="0" rtlCol="0" anchor="t"/>
          <a:lstStyle/>
          <a:p>
            <a:pPr marL="0" indent="0" algn="ctr">
              <a:buNone/>
            </a:pPr>
            <a:r>
              <a:rPr lang="en-US" sz="2000" dirty="0">
                <a:solidFill>
                  <a:schemeClr val="accent1"/>
                </a:solidFill>
              </a:rPr>
              <a:t>Yalnızca danışmanlık</a:t>
            </a:r>
            <a:endParaRPr lang="en-US" sz="2000" dirty="0"/>
          </a:p>
        </p:txBody>
      </p:sp>
      <p:sp>
        <p:nvSpPr>
          <p:cNvPr id="9" name="Kart"/>
          <p:cNvSpPr/>
          <p:nvPr/>
        </p:nvSpPr>
        <p:spPr>
          <a:xfrm>
            <a:off x="4297680" y="1417320"/>
            <a:ext cx="3566160" cy="3063240"/>
          </a:xfrm>
          <a:prstGeom prst="roundRect">
            <a:avLst>
              <a:gd name="adj" fmla="val 3582"/>
            </a:avLst>
          </a:prstGeom>
          <a:solidFill>
            <a:schemeClr val="bg2"/>
          </a:solidFill>
          <a:ln w="12700">
            <a:solidFill>
              <a:schemeClr val="bg2"/>
            </a:solidFill>
            <a:prstDash val="solid"/>
          </a:ln>
        </p:spPr>
      </p:sp>
      <p:sp>
        <p:nvSpPr>
          <p:cNvPr id="10" name="Ikon zemini"/>
          <p:cNvSpPr/>
          <p:nvPr/>
        </p:nvSpPr>
        <p:spPr>
          <a:xfrm>
            <a:off x="5532120" y="1645920"/>
            <a:ext cx="1097280" cy="1097280"/>
          </a:xfrm>
          <a:prstGeom prst="ellipse">
            <a:avLst/>
          </a:prstGeom>
          <a:solidFill>
            <a:schemeClr val="accent2"/>
          </a:solidFill>
          <a:ln w="12700">
            <a:solidFill>
              <a:schemeClr val="accent2"/>
            </a:solidFill>
            <a:prstDash val="solid"/>
          </a:ln>
        </p:spPr>
      </p:sp>
      <p:pic>
        <p:nvPicPr>
          <p:cNvPr id="11" name="Ikon" descr="FaPills"/>
          <p:cNvPicPr>
            <a:picLocks noChangeAspect="1"/>
          </p:cNvPicPr>
          <p:nvPr/>
        </p:nvPicPr>
        <p:blipFill>
          <a:blip r:embed="rId4"/>
          <a:stretch>
            <a:fillRect/>
          </a:stretch>
        </p:blipFill>
        <p:spPr>
          <a:xfrm>
            <a:off x="5817413" y="1931213"/>
            <a:ext cx="526694" cy="526694"/>
          </a:xfrm>
          <a:prstGeom prst="rect">
            <a:avLst/>
          </a:prstGeom>
        </p:spPr>
      </p:pic>
      <p:sp>
        <p:nvSpPr>
          <p:cNvPr id="12" name="Text 7"/>
          <p:cNvSpPr txBox="1"/>
          <p:nvPr/>
        </p:nvSpPr>
        <p:spPr>
          <a:xfrm>
            <a:off x="4480560" y="2834640"/>
            <a:ext cx="3200400" cy="548640"/>
          </a:xfrm>
          <a:prstGeom prst="rect">
            <a:avLst/>
          </a:prstGeom>
          <a:noFill/>
          <a:ln/>
        </p:spPr>
        <p:txBody>
          <a:bodyPr wrap="square" lIns="0" tIns="0" rIns="0" bIns="0" rtlCol="0" anchor="ctr"/>
          <a:lstStyle/>
          <a:p>
            <a:pPr marL="0" indent="0" algn="ctr">
              <a:buNone/>
            </a:pPr>
            <a:r>
              <a:rPr lang="en-US" sz="2800" b="1" dirty="0">
                <a:solidFill>
                  <a:schemeClr val="accent2"/>
                </a:solidFill>
              </a:rPr>
              <a:t>Monoterapi</a:t>
            </a:r>
            <a:endParaRPr lang="en-US" sz="2800" dirty="0"/>
          </a:p>
        </p:txBody>
      </p:sp>
      <p:sp>
        <p:nvSpPr>
          <p:cNvPr id="13" name="Text 8"/>
          <p:cNvSpPr txBox="1"/>
          <p:nvPr/>
        </p:nvSpPr>
        <p:spPr>
          <a:xfrm>
            <a:off x="4572000" y="3383280"/>
            <a:ext cx="3017520" cy="1005840"/>
          </a:xfrm>
          <a:prstGeom prst="rect">
            <a:avLst/>
          </a:prstGeom>
          <a:noFill/>
          <a:ln/>
        </p:spPr>
        <p:txBody>
          <a:bodyPr wrap="square" lIns="0" tIns="0" rIns="0" bIns="0" rtlCol="0" anchor="t"/>
          <a:lstStyle/>
          <a:p>
            <a:pPr marL="0" indent="0" algn="ctr">
              <a:buNone/>
            </a:pPr>
            <a:r>
              <a:rPr lang="en-US" sz="2000" dirty="0">
                <a:solidFill>
                  <a:schemeClr val="accent1"/>
                </a:solidFill>
              </a:rPr>
              <a:t>Vareniklin, bupropion, sitizin veya NRT</a:t>
            </a:r>
            <a:endParaRPr lang="en-US" sz="2000" dirty="0"/>
          </a:p>
        </p:txBody>
      </p:sp>
      <p:sp>
        <p:nvSpPr>
          <p:cNvPr id="14" name="Kart"/>
          <p:cNvSpPr/>
          <p:nvPr/>
        </p:nvSpPr>
        <p:spPr>
          <a:xfrm>
            <a:off x="8046720" y="1417320"/>
            <a:ext cx="3566160" cy="3063240"/>
          </a:xfrm>
          <a:prstGeom prst="roundRect">
            <a:avLst>
              <a:gd name="adj" fmla="val 3582"/>
            </a:avLst>
          </a:prstGeom>
          <a:solidFill>
            <a:schemeClr val="bg2"/>
          </a:solidFill>
          <a:ln w="12700">
            <a:solidFill>
              <a:schemeClr val="bg2"/>
            </a:solidFill>
            <a:prstDash val="solid"/>
          </a:ln>
        </p:spPr>
      </p:sp>
      <p:sp>
        <p:nvSpPr>
          <p:cNvPr id="15" name="Ikon zemini"/>
          <p:cNvSpPr/>
          <p:nvPr/>
        </p:nvSpPr>
        <p:spPr>
          <a:xfrm>
            <a:off x="9281160" y="1645920"/>
            <a:ext cx="1097280" cy="1097280"/>
          </a:xfrm>
          <a:prstGeom prst="ellipse">
            <a:avLst/>
          </a:prstGeom>
          <a:solidFill>
            <a:schemeClr val="accent1"/>
          </a:solidFill>
          <a:ln w="12700">
            <a:solidFill>
              <a:schemeClr val="accent1"/>
            </a:solidFill>
            <a:prstDash val="solid"/>
          </a:ln>
        </p:spPr>
      </p:sp>
      <p:pic>
        <p:nvPicPr>
          <p:cNvPr id="16" name="Ikon" descr="FaExchangeAlt"/>
          <p:cNvPicPr>
            <a:picLocks noChangeAspect="1"/>
          </p:cNvPicPr>
          <p:nvPr/>
        </p:nvPicPr>
        <p:blipFill>
          <a:blip r:embed="rId5"/>
          <a:stretch>
            <a:fillRect/>
          </a:stretch>
        </p:blipFill>
        <p:spPr>
          <a:xfrm>
            <a:off x="9566453" y="1931213"/>
            <a:ext cx="526694" cy="526694"/>
          </a:xfrm>
          <a:prstGeom prst="rect">
            <a:avLst/>
          </a:prstGeom>
        </p:spPr>
      </p:pic>
      <p:sp>
        <p:nvSpPr>
          <p:cNvPr id="17" name="Text 11"/>
          <p:cNvSpPr txBox="1"/>
          <p:nvPr/>
        </p:nvSpPr>
        <p:spPr>
          <a:xfrm>
            <a:off x="8229600" y="2834640"/>
            <a:ext cx="3200400" cy="548640"/>
          </a:xfrm>
          <a:prstGeom prst="rect">
            <a:avLst/>
          </a:prstGeom>
          <a:noFill/>
          <a:ln/>
        </p:spPr>
        <p:txBody>
          <a:bodyPr wrap="square" lIns="0" tIns="0" rIns="0" bIns="0" rtlCol="0" anchor="ctr"/>
          <a:lstStyle/>
          <a:p>
            <a:pPr marL="0" indent="0" algn="ctr">
              <a:buNone/>
            </a:pPr>
            <a:r>
              <a:rPr lang="en-US" sz="2800" b="1" dirty="0">
                <a:solidFill>
                  <a:schemeClr val="accent1"/>
                </a:solidFill>
              </a:rPr>
              <a:t>Kombine</a:t>
            </a:r>
            <a:endParaRPr lang="en-US" sz="2800" dirty="0"/>
          </a:p>
        </p:txBody>
      </p:sp>
      <p:sp>
        <p:nvSpPr>
          <p:cNvPr id="18" name="Text 12"/>
          <p:cNvSpPr txBox="1"/>
          <p:nvPr/>
        </p:nvSpPr>
        <p:spPr>
          <a:xfrm>
            <a:off x="8321040" y="3383280"/>
            <a:ext cx="3017520" cy="1005840"/>
          </a:xfrm>
          <a:prstGeom prst="rect">
            <a:avLst/>
          </a:prstGeom>
          <a:noFill/>
          <a:ln/>
        </p:spPr>
        <p:txBody>
          <a:bodyPr wrap="square" lIns="0" tIns="0" rIns="0" bIns="0" rtlCol="0" anchor="t"/>
          <a:lstStyle/>
          <a:p>
            <a:pPr marL="0" indent="0" algn="ctr">
              <a:buNone/>
            </a:pPr>
            <a:r>
              <a:rPr lang="en-US" sz="2000" dirty="0">
                <a:solidFill>
                  <a:schemeClr val="accent1"/>
                </a:solidFill>
              </a:rPr>
              <a:t>Bupropion, vareniklin veya sitizin + NRT; üçlü</a:t>
            </a:r>
            <a:endParaRPr lang="en-US" sz="2000" dirty="0"/>
          </a:p>
        </p:txBody>
      </p:sp>
      <p:sp>
        <p:nvSpPr>
          <p:cNvPr id="19" name="Text 13"/>
          <p:cNvSpPr txBox="1"/>
          <p:nvPr/>
        </p:nvSpPr>
        <p:spPr>
          <a:xfrm>
            <a:off x="548640" y="4709160"/>
            <a:ext cx="11064240" cy="1234440"/>
          </a:xfrm>
          <a:prstGeom prst="rect">
            <a:avLst/>
          </a:prstGeom>
          <a:noFill/>
          <a:ln/>
        </p:spPr>
        <p:txBody>
          <a:bodyPr wrap="square" lIns="0" tIns="0" rIns="0" bIns="0" rtlCol="0" anchor="ctr"/>
          <a:lstStyle/>
          <a:p>
            <a:pPr marL="279400" indent="-279400" algn="just">
              <a:spcAft>
                <a:spcPts val="1000"/>
              </a:spcAft>
              <a:buSzPct val="100000"/>
              <a:buChar char="•"/>
            </a:pPr>
            <a:r>
              <a:rPr lang="en-US" sz="2200" dirty="0">
                <a:solidFill>
                  <a:schemeClr val="accent1"/>
                </a:solidFill>
              </a:rPr>
              <a:t>Bireyselleştirme: FNBT, komorbidite, kontrendikasyon, uyum</a:t>
            </a:r>
            <a:endParaRPr lang="en-US" sz="2200" dirty="0"/>
          </a:p>
          <a:p>
            <a:pPr marL="279400" indent="-279400" algn="just">
              <a:spcAft>
                <a:spcPts val="1000"/>
              </a:spcAft>
              <a:buSzPct val="100000"/>
              <a:buChar char="•"/>
            </a:pPr>
            <a:r>
              <a:rPr lang="en-US" sz="2200" dirty="0">
                <a:solidFill>
                  <a:schemeClr val="accent1"/>
                </a:solidFill>
              </a:rPr>
              <a:t>NRT ve sitizin dönemsel olarak ücretsiz sağlanmıştır</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İstatistiksel analiz</a:t>
            </a:r>
            <a:endParaRPr lang="en-US" sz="3600" dirty="0"/>
          </a:p>
        </p:txBody>
      </p:sp>
      <p:graphicFrame>
        <p:nvGraphicFramePr>
          <p:cNvPr id="12" name="İstatistik tablosu"/>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4224528"/>
        </p:xfrm>
        <a:graphic>
          <a:graphicData uri="http://schemas.openxmlformats.org/drawingml/2006/table">
            <a:tbl>
              <a:tblPr/>
              <a:tblGrid>
                <a:gridCol w="402336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603504">
                <a:tc>
                  <a:txBody>
                    <a:bodyPr/>
                    <a:lstStyle/>
                    <a:p>
                      <a:pPr marL="0" indent="0">
                        <a:buNone/>
                      </a:pPr>
                      <a:r>
                        <a:rPr lang="en-US" sz="2200" b="1" dirty="0">
                          <a:solidFill>
                            <a:schemeClr val="bg1"/>
                          </a:solidFill>
                        </a:rPr>
                        <a:t>Amaç</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accent1"/>
                    </a:solidFill>
                  </a:tcPr>
                </a:tc>
                <a:tc>
                  <a:txBody>
                    <a:bodyPr/>
                    <a:lstStyle/>
                    <a:p>
                      <a:pPr marL="0" indent="0">
                        <a:buNone/>
                      </a:pPr>
                      <a:r>
                        <a:rPr lang="en-US" sz="2200" b="1" dirty="0">
                          <a:solidFill>
                            <a:schemeClr val="bg1"/>
                          </a:solidFill>
                        </a:rPr>
                        <a:t>Yöntem</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603504">
                <a:tc>
                  <a:txBody>
                    <a:bodyPr/>
                    <a:lstStyle/>
                    <a:p>
                      <a:pPr marL="0" indent="0">
                        <a:buNone/>
                      </a:pPr>
                      <a:r>
                        <a:rPr lang="en-US" sz="2200" b="1" dirty="0">
                          <a:solidFill>
                            <a:schemeClr val="accent1"/>
                          </a:solidFill>
                        </a:rPr>
                        <a:t>Normallik</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marL="0" indent="0">
                        <a:buNone/>
                      </a:pPr>
                      <a:r>
                        <a:rPr lang="en-US" sz="2200" dirty="0">
                          <a:solidFill>
                            <a:schemeClr val="accent1"/>
                          </a:solidFill>
                        </a:rPr>
                        <a:t>Histogram, Kolmogorov–Smirnov</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03504">
                <a:tc>
                  <a:txBody>
                    <a:bodyPr/>
                    <a:lstStyle/>
                    <a:p>
                      <a:pPr marL="0" indent="0">
                        <a:buNone/>
                      </a:pPr>
                      <a:r>
                        <a:rPr lang="en-US" sz="2200" b="1" dirty="0">
                          <a:solidFill>
                            <a:schemeClr val="accent1"/>
                          </a:solidFill>
                        </a:rPr>
                        <a:t>Kategorik değişkenler</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marL="0" indent="0">
                        <a:buNone/>
                      </a:pPr>
                      <a:r>
                        <a:rPr lang="en-US" sz="2200" dirty="0">
                          <a:solidFill>
                            <a:schemeClr val="accent1"/>
                          </a:solidFill>
                        </a:rPr>
                        <a:t>Ki-kare testi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03504">
                <a:tc>
                  <a:txBody>
                    <a:bodyPr/>
                    <a:lstStyle/>
                    <a:p>
                      <a:pPr marL="0" indent="0">
                        <a:buNone/>
                      </a:pPr>
                      <a:r>
                        <a:rPr lang="en-US" sz="2200" b="1" dirty="0">
                          <a:solidFill>
                            <a:schemeClr val="accent1"/>
                          </a:solidFill>
                        </a:rPr>
                        <a:t>İki grup (sürekli)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marL="0" indent="0">
                        <a:buNone/>
                      </a:pPr>
                      <a:r>
                        <a:rPr lang="en-US" sz="2200" dirty="0">
                          <a:solidFill>
                            <a:schemeClr val="accent1"/>
                          </a:solidFill>
                        </a:rPr>
                        <a:t>Mann–Whitney U testi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03504">
                <a:tc>
                  <a:txBody>
                    <a:bodyPr/>
                    <a:lstStyle/>
                    <a:p>
                      <a:pPr marL="0" indent="0">
                        <a:buNone/>
                      </a:pPr>
                      <a:r>
                        <a:rPr lang="en-US" sz="2200" b="1" dirty="0">
                          <a:solidFill>
                            <a:schemeClr val="accent1"/>
                          </a:solidFill>
                        </a:rPr>
                        <a:t>İkiden fazla grup</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marL="0" indent="0">
                        <a:buNone/>
                      </a:pPr>
                      <a:r>
                        <a:rPr lang="en-US" sz="2200" dirty="0">
                          <a:solidFill>
                            <a:schemeClr val="accent1"/>
                          </a:solidFill>
                        </a:rPr>
                        <a:t>Kruskal–Wallis; post-hoc Duncan</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603504">
                <a:tc>
                  <a:txBody>
                    <a:bodyPr/>
                    <a:lstStyle/>
                    <a:p>
                      <a:pPr marL="0" indent="0">
                        <a:buNone/>
                      </a:pPr>
                      <a:r>
                        <a:rPr lang="en-US" sz="2200" b="1" dirty="0">
                          <a:solidFill>
                            <a:schemeClr val="accent1"/>
                          </a:solidFill>
                        </a:rPr>
                        <a:t>Tedavinin etkisi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tc>
                  <a:txBody>
                    <a:bodyPr/>
                    <a:lstStyle/>
                    <a:p>
                      <a:pPr marL="0" indent="0">
                        <a:buNone/>
                      </a:pPr>
                      <a:r>
                        <a:rPr lang="en-US" sz="2200" dirty="0">
                          <a:solidFill>
                            <a:schemeClr val="accent1"/>
                          </a:solidFill>
                        </a:rPr>
                        <a:t>İkili lojistik regresyon</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603504">
                <a:tc>
                  <a:txBody>
                    <a:bodyPr/>
                    <a:lstStyle/>
                    <a:p>
                      <a:pPr marL="0" indent="0">
                        <a:buNone/>
                      </a:pPr>
                      <a:r>
                        <a:rPr lang="en-US" sz="2200" b="1" dirty="0">
                          <a:solidFill>
                            <a:schemeClr val="accent1"/>
                          </a:solidFill>
                        </a:rPr>
                        <a:t>Anlamlılık</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tc>
                  <a:txBody>
                    <a:bodyPr/>
                    <a:lstStyle/>
                    <a:p>
                      <a:pPr marL="0" indent="0">
                        <a:buNone/>
                      </a:pPr>
                      <a:r>
                        <a:rPr lang="en-US" sz="2200" dirty="0">
                          <a:solidFill>
                            <a:schemeClr val="accent1"/>
                          </a:solidFill>
                        </a:rPr>
                        <a:t>p&lt;0,05; Bonferroni düzeltmesi</a:t>
                      </a:r>
                      <a:endParaRPr lang="en-US" sz="2200" dirty="0"/>
                    </a:p>
                  </a:txBody>
                  <a:tcPr marL="137160" marR="137160" anchor="ctr">
                    <a:lnL w="12700" cap="flat" cmpd="sng" algn="ctr">
                      <a:solidFill>
                        <a:srgbClr val="C9DCDF"/>
                      </a:solidFill>
                      <a:prstDash val="solid"/>
                      <a:round/>
                      <a:headEnd type="none" w="med" len="med"/>
                      <a:tailEnd type="none" w="med" len="med"/>
                    </a:lnL>
                    <a:lnR w="12700" cap="flat" cmpd="sng" algn="ctr">
                      <a:solidFill>
                        <a:srgbClr val="C9DCDF"/>
                      </a:solidFill>
                      <a:prstDash val="solid"/>
                      <a:round/>
                      <a:headEnd type="none" w="med" len="med"/>
                      <a:tailEnd type="none" w="med" len="med"/>
                    </a:lnR>
                    <a:lnT w="12700" cap="flat" cmpd="sng" algn="ctr">
                      <a:solidFill>
                        <a:srgbClr val="C9DCDF"/>
                      </a:solidFill>
                      <a:prstDash val="solid"/>
                      <a:round/>
                      <a:headEnd type="none" w="med" len="med"/>
                      <a:tailEnd type="none" w="med" len="med"/>
                    </a:lnT>
                    <a:lnB w="12700" cap="flat" cmpd="sng" algn="ctr">
                      <a:solidFill>
                        <a:srgbClr val="C9DCDF"/>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Katılımcıların genel özellikleri</a:t>
            </a:r>
            <a:endParaRPr lang="en-US" sz="3600" dirty="0"/>
          </a:p>
        </p:txBody>
      </p:sp>
      <p:sp>
        <p:nvSpPr>
          <p:cNvPr id="4" name="Kart"/>
          <p:cNvSpPr/>
          <p:nvPr/>
        </p:nvSpPr>
        <p:spPr>
          <a:xfrm>
            <a:off x="548640" y="1417320"/>
            <a:ext cx="356616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548640" y="1645920"/>
            <a:ext cx="3566160" cy="1005840"/>
          </a:xfrm>
          <a:prstGeom prst="rect">
            <a:avLst/>
          </a:prstGeom>
          <a:noFill/>
          <a:ln/>
        </p:spPr>
        <p:txBody>
          <a:bodyPr wrap="square" lIns="0" tIns="0" rIns="0" bIns="0" rtlCol="0" anchor="ctr"/>
          <a:lstStyle/>
          <a:p>
            <a:pPr marL="0" indent="0" algn="ctr">
              <a:buNone/>
            </a:pPr>
            <a:r>
              <a:rPr lang="en-US" sz="3600" b="1" dirty="0">
                <a:solidFill>
                  <a:schemeClr val="accent1"/>
                </a:solidFill>
              </a:rPr>
              <a:t>399</a:t>
            </a:r>
            <a:endParaRPr lang="en-US" sz="3600" dirty="0"/>
          </a:p>
        </p:txBody>
      </p:sp>
      <p:sp>
        <p:nvSpPr>
          <p:cNvPr id="6" name="Text 3"/>
          <p:cNvSpPr txBox="1"/>
          <p:nvPr/>
        </p:nvSpPr>
        <p:spPr>
          <a:xfrm>
            <a:off x="548640" y="265176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hasta</a:t>
            </a:r>
            <a:endParaRPr lang="en-US" sz="2200" dirty="0"/>
          </a:p>
        </p:txBody>
      </p:sp>
      <p:sp>
        <p:nvSpPr>
          <p:cNvPr id="7" name="Kart"/>
          <p:cNvSpPr/>
          <p:nvPr/>
        </p:nvSpPr>
        <p:spPr>
          <a:xfrm>
            <a:off x="4297680" y="1417320"/>
            <a:ext cx="3566160" cy="2011680"/>
          </a:xfrm>
          <a:prstGeom prst="roundRect">
            <a:avLst>
              <a:gd name="adj" fmla="val 5455"/>
            </a:avLst>
          </a:prstGeom>
          <a:solidFill>
            <a:schemeClr val="bg2"/>
          </a:solidFill>
          <a:ln w="12700">
            <a:solidFill>
              <a:schemeClr val="bg2"/>
            </a:solidFill>
            <a:prstDash val="solid"/>
          </a:ln>
        </p:spPr>
      </p:sp>
      <p:sp>
        <p:nvSpPr>
          <p:cNvPr id="8" name="Text 5"/>
          <p:cNvSpPr txBox="1"/>
          <p:nvPr/>
        </p:nvSpPr>
        <p:spPr>
          <a:xfrm>
            <a:off x="4297680" y="1645920"/>
            <a:ext cx="3566160" cy="1005840"/>
          </a:xfrm>
          <a:prstGeom prst="rect">
            <a:avLst/>
          </a:prstGeom>
          <a:noFill/>
          <a:ln/>
        </p:spPr>
        <p:txBody>
          <a:bodyPr wrap="square" lIns="0" tIns="0" rIns="0" bIns="0" rtlCol="0" anchor="ctr"/>
          <a:lstStyle/>
          <a:p>
            <a:pPr marL="0" indent="0" algn="ctr">
              <a:buNone/>
            </a:pPr>
            <a:r>
              <a:rPr lang="en-US" sz="3600" b="1" dirty="0">
                <a:solidFill>
                  <a:schemeClr val="accent2"/>
                </a:solidFill>
              </a:rPr>
              <a:t>44,</a:t>
            </a:r>
            <a:r>
              <a:rPr lang="tr-TR" sz="3600" b="1" dirty="0">
                <a:solidFill>
                  <a:schemeClr val="accent2"/>
                </a:solidFill>
              </a:rPr>
              <a:t>69</a:t>
            </a:r>
            <a:r>
              <a:rPr lang="en-US" sz="3600" b="1" dirty="0">
                <a:solidFill>
                  <a:schemeClr val="accent2"/>
                </a:solidFill>
              </a:rPr>
              <a:t> ± 12,</a:t>
            </a:r>
            <a:r>
              <a:rPr lang="tr-TR" sz="3600" b="1" dirty="0">
                <a:solidFill>
                  <a:schemeClr val="accent2"/>
                </a:solidFill>
              </a:rPr>
              <a:t>05</a:t>
            </a:r>
            <a:endParaRPr lang="en-US" sz="3600" dirty="0"/>
          </a:p>
        </p:txBody>
      </p:sp>
      <p:sp>
        <p:nvSpPr>
          <p:cNvPr id="9" name="Text 6"/>
          <p:cNvSpPr txBox="1"/>
          <p:nvPr/>
        </p:nvSpPr>
        <p:spPr>
          <a:xfrm>
            <a:off x="4297680" y="265176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yaş ortalaması (yıl)</a:t>
            </a:r>
            <a:endParaRPr lang="en-US" sz="2200" dirty="0"/>
          </a:p>
        </p:txBody>
      </p:sp>
      <p:sp>
        <p:nvSpPr>
          <p:cNvPr id="10" name="Kart"/>
          <p:cNvSpPr/>
          <p:nvPr/>
        </p:nvSpPr>
        <p:spPr>
          <a:xfrm>
            <a:off x="8046720" y="1417320"/>
            <a:ext cx="3566160" cy="2011680"/>
          </a:xfrm>
          <a:prstGeom prst="roundRect">
            <a:avLst>
              <a:gd name="adj" fmla="val 5455"/>
            </a:avLst>
          </a:prstGeom>
          <a:solidFill>
            <a:schemeClr val="bg2"/>
          </a:solidFill>
          <a:ln w="12700">
            <a:solidFill>
              <a:schemeClr val="bg2"/>
            </a:solidFill>
            <a:prstDash val="solid"/>
          </a:ln>
        </p:spPr>
      </p:sp>
      <p:sp>
        <p:nvSpPr>
          <p:cNvPr id="11" name="Text 8"/>
          <p:cNvSpPr txBox="1"/>
          <p:nvPr/>
        </p:nvSpPr>
        <p:spPr>
          <a:xfrm>
            <a:off x="8046720" y="1645920"/>
            <a:ext cx="3566160" cy="1005840"/>
          </a:xfrm>
          <a:prstGeom prst="rect">
            <a:avLst/>
          </a:prstGeom>
          <a:noFill/>
          <a:ln/>
        </p:spPr>
        <p:txBody>
          <a:bodyPr wrap="square" lIns="0" tIns="0" rIns="0" bIns="0" rtlCol="0" anchor="ctr"/>
          <a:lstStyle/>
          <a:p>
            <a:pPr marL="0" indent="0" algn="ctr">
              <a:buNone/>
            </a:pPr>
            <a:r>
              <a:rPr lang="en-US" sz="3600" b="1" dirty="0">
                <a:solidFill>
                  <a:schemeClr val="accent1"/>
                </a:solidFill>
              </a:rPr>
              <a:t>%63,</a:t>
            </a:r>
            <a:r>
              <a:rPr lang="tr-TR" sz="3600" b="1" dirty="0">
                <a:solidFill>
                  <a:schemeClr val="accent1"/>
                </a:solidFill>
              </a:rPr>
              <a:t>66</a:t>
            </a:r>
            <a:endParaRPr lang="en-US" sz="3600" dirty="0"/>
          </a:p>
        </p:txBody>
      </p:sp>
      <p:sp>
        <p:nvSpPr>
          <p:cNvPr id="12" name="Text 9"/>
          <p:cNvSpPr txBox="1"/>
          <p:nvPr/>
        </p:nvSpPr>
        <p:spPr>
          <a:xfrm>
            <a:off x="8046720" y="265176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erkek</a:t>
            </a:r>
            <a:endParaRPr lang="en-US" sz="2200" dirty="0"/>
          </a:p>
        </p:txBody>
      </p:sp>
      <p:sp>
        <p:nvSpPr>
          <p:cNvPr id="13" name="Kart"/>
          <p:cNvSpPr/>
          <p:nvPr/>
        </p:nvSpPr>
        <p:spPr>
          <a:xfrm>
            <a:off x="548640" y="3657600"/>
            <a:ext cx="3566160" cy="2011680"/>
          </a:xfrm>
          <a:prstGeom prst="roundRect">
            <a:avLst>
              <a:gd name="adj" fmla="val 5455"/>
            </a:avLst>
          </a:prstGeom>
          <a:solidFill>
            <a:schemeClr val="bg2"/>
          </a:solidFill>
          <a:ln w="12700">
            <a:solidFill>
              <a:schemeClr val="bg2"/>
            </a:solidFill>
            <a:prstDash val="solid"/>
          </a:ln>
        </p:spPr>
      </p:sp>
      <p:sp>
        <p:nvSpPr>
          <p:cNvPr id="14" name="Text 11"/>
          <p:cNvSpPr txBox="1"/>
          <p:nvPr/>
        </p:nvSpPr>
        <p:spPr>
          <a:xfrm>
            <a:off x="548640" y="3886200"/>
            <a:ext cx="3566160" cy="1005840"/>
          </a:xfrm>
          <a:prstGeom prst="rect">
            <a:avLst/>
          </a:prstGeom>
          <a:noFill/>
          <a:ln/>
        </p:spPr>
        <p:txBody>
          <a:bodyPr wrap="square" lIns="0" tIns="0" rIns="0" bIns="0" rtlCol="0" anchor="ctr"/>
          <a:lstStyle/>
          <a:p>
            <a:pPr marL="0" indent="0" algn="ctr">
              <a:buNone/>
            </a:pPr>
            <a:r>
              <a:rPr lang="en-US" sz="3600" b="1" dirty="0">
                <a:solidFill>
                  <a:schemeClr val="accent1"/>
                </a:solidFill>
              </a:rPr>
              <a:t>5,66 ± 2,43</a:t>
            </a:r>
            <a:endParaRPr lang="en-US" sz="3600" dirty="0"/>
          </a:p>
        </p:txBody>
      </p:sp>
      <p:sp>
        <p:nvSpPr>
          <p:cNvPr id="15" name="Text 12"/>
          <p:cNvSpPr txBox="1"/>
          <p:nvPr/>
        </p:nvSpPr>
        <p:spPr>
          <a:xfrm>
            <a:off x="548640" y="489204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FNBT puanı</a:t>
            </a:r>
            <a:endParaRPr lang="en-US" sz="2200" dirty="0"/>
          </a:p>
        </p:txBody>
      </p:sp>
      <p:sp>
        <p:nvSpPr>
          <p:cNvPr id="16" name="Kart"/>
          <p:cNvSpPr/>
          <p:nvPr/>
        </p:nvSpPr>
        <p:spPr>
          <a:xfrm>
            <a:off x="4297680" y="3657600"/>
            <a:ext cx="3566160" cy="2011680"/>
          </a:xfrm>
          <a:prstGeom prst="roundRect">
            <a:avLst>
              <a:gd name="adj" fmla="val 5455"/>
            </a:avLst>
          </a:prstGeom>
          <a:solidFill>
            <a:schemeClr val="bg2"/>
          </a:solidFill>
          <a:ln w="12700">
            <a:solidFill>
              <a:schemeClr val="bg2"/>
            </a:solidFill>
            <a:prstDash val="solid"/>
          </a:ln>
        </p:spPr>
      </p:sp>
      <p:sp>
        <p:nvSpPr>
          <p:cNvPr id="17" name="Text 14"/>
          <p:cNvSpPr txBox="1"/>
          <p:nvPr/>
        </p:nvSpPr>
        <p:spPr>
          <a:xfrm>
            <a:off x="4297680" y="3886200"/>
            <a:ext cx="3566160" cy="1005840"/>
          </a:xfrm>
          <a:prstGeom prst="rect">
            <a:avLst/>
          </a:prstGeom>
          <a:noFill/>
          <a:ln/>
        </p:spPr>
        <p:txBody>
          <a:bodyPr wrap="square" lIns="0" tIns="0" rIns="0" bIns="0" rtlCol="0" anchor="ctr"/>
          <a:lstStyle/>
          <a:p>
            <a:pPr marL="0" indent="0" algn="ctr">
              <a:buNone/>
            </a:pPr>
            <a:r>
              <a:rPr lang="en-US" sz="3600" b="1" dirty="0">
                <a:solidFill>
                  <a:schemeClr val="accent2"/>
                </a:solidFill>
              </a:rPr>
              <a:t>27,</a:t>
            </a:r>
            <a:r>
              <a:rPr lang="tr-TR" sz="3600" b="1" dirty="0">
                <a:solidFill>
                  <a:schemeClr val="accent2"/>
                </a:solidFill>
              </a:rPr>
              <a:t>38</a:t>
            </a:r>
            <a:r>
              <a:rPr lang="en-US" sz="3600" b="1" dirty="0">
                <a:solidFill>
                  <a:schemeClr val="accent2"/>
                </a:solidFill>
              </a:rPr>
              <a:t> ± 16,</a:t>
            </a:r>
            <a:r>
              <a:rPr lang="tr-TR" sz="3600" b="1" dirty="0">
                <a:solidFill>
                  <a:schemeClr val="accent2"/>
                </a:solidFill>
              </a:rPr>
              <a:t>57</a:t>
            </a:r>
            <a:endParaRPr lang="en-US" sz="3600" dirty="0"/>
          </a:p>
        </p:txBody>
      </p:sp>
      <p:sp>
        <p:nvSpPr>
          <p:cNvPr id="18" name="Text 15"/>
          <p:cNvSpPr txBox="1"/>
          <p:nvPr/>
        </p:nvSpPr>
        <p:spPr>
          <a:xfrm>
            <a:off x="4297680" y="4892040"/>
            <a:ext cx="3566160" cy="548640"/>
          </a:xfrm>
          <a:prstGeom prst="rect">
            <a:avLst/>
          </a:prstGeom>
          <a:noFill/>
          <a:ln/>
        </p:spPr>
        <p:txBody>
          <a:bodyPr wrap="square" lIns="0" tIns="0" rIns="0" bIns="0" rtlCol="0" anchor="ctr"/>
          <a:lstStyle/>
          <a:p>
            <a:pPr marL="0" indent="0" algn="ctr">
              <a:buNone/>
            </a:pPr>
            <a:r>
              <a:rPr lang="en-US" sz="2200" dirty="0">
                <a:solidFill>
                  <a:schemeClr val="accent1"/>
                </a:solidFill>
              </a:rPr>
              <a:t>paket-yıl</a:t>
            </a:r>
            <a:endParaRPr lang="en-US" sz="2200" dirty="0"/>
          </a:p>
        </p:txBody>
      </p:sp>
      <p:sp>
        <p:nvSpPr>
          <p:cNvPr id="19" name="Kart"/>
          <p:cNvSpPr/>
          <p:nvPr/>
        </p:nvSpPr>
        <p:spPr>
          <a:xfrm>
            <a:off x="8046720" y="3657600"/>
            <a:ext cx="3566160" cy="2011680"/>
          </a:xfrm>
          <a:prstGeom prst="roundRect">
            <a:avLst>
              <a:gd name="adj" fmla="val 5455"/>
            </a:avLst>
          </a:prstGeom>
          <a:solidFill>
            <a:schemeClr val="accent1"/>
          </a:solidFill>
          <a:ln w="12700">
            <a:solidFill>
              <a:schemeClr val="accent1"/>
            </a:solidFill>
            <a:prstDash val="solid"/>
          </a:ln>
        </p:spPr>
      </p:sp>
      <p:sp>
        <p:nvSpPr>
          <p:cNvPr id="20" name="Text 17"/>
          <p:cNvSpPr txBox="1"/>
          <p:nvPr/>
        </p:nvSpPr>
        <p:spPr>
          <a:xfrm>
            <a:off x="8046720" y="3886200"/>
            <a:ext cx="3566160" cy="1005840"/>
          </a:xfrm>
          <a:prstGeom prst="rect">
            <a:avLst/>
          </a:prstGeom>
          <a:noFill/>
          <a:ln/>
        </p:spPr>
        <p:txBody>
          <a:bodyPr wrap="square" lIns="0" tIns="0" rIns="0" bIns="0" rtlCol="0" anchor="ctr"/>
          <a:lstStyle/>
          <a:p>
            <a:pPr marL="0" indent="0" algn="ctr">
              <a:buNone/>
            </a:pPr>
            <a:r>
              <a:rPr lang="en-US" sz="3600" b="1" dirty="0">
                <a:solidFill>
                  <a:schemeClr val="bg1"/>
                </a:solidFill>
              </a:rPr>
              <a:t>%34,</a:t>
            </a:r>
            <a:r>
              <a:rPr lang="tr-TR" sz="3600" b="1" dirty="0">
                <a:solidFill>
                  <a:schemeClr val="bg1"/>
                </a:solidFill>
              </a:rPr>
              <a:t>09</a:t>
            </a:r>
            <a:endParaRPr lang="en-US" sz="3600" dirty="0"/>
          </a:p>
        </p:txBody>
      </p:sp>
      <p:sp>
        <p:nvSpPr>
          <p:cNvPr id="21" name="Text 18"/>
          <p:cNvSpPr txBox="1"/>
          <p:nvPr/>
        </p:nvSpPr>
        <p:spPr>
          <a:xfrm>
            <a:off x="8046720" y="4892040"/>
            <a:ext cx="3566160" cy="548640"/>
          </a:xfrm>
          <a:prstGeom prst="rect">
            <a:avLst/>
          </a:prstGeom>
          <a:noFill/>
          <a:ln/>
        </p:spPr>
        <p:txBody>
          <a:bodyPr wrap="square" lIns="0" tIns="0" rIns="0" bIns="0" rtlCol="0" anchor="ctr"/>
          <a:lstStyle/>
          <a:p>
            <a:pPr marL="0" indent="0" algn="ctr">
              <a:buNone/>
            </a:pPr>
            <a:r>
              <a:rPr lang="en-US" sz="2200" dirty="0">
                <a:solidFill>
                  <a:schemeClr val="bg1"/>
                </a:solidFill>
              </a:rPr>
              <a:t>sigarayı bırakan</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Bağımlılık düzeyi ve deneme öyküsü</a:t>
            </a:r>
            <a:endParaRPr lang="en-US" sz="3600" dirty="0"/>
          </a:p>
        </p:txBody>
      </p:sp>
      <p:sp>
        <p:nvSpPr>
          <p:cNvPr id="4" name="Text 1"/>
          <p:cNvSpPr txBox="1"/>
          <p:nvPr/>
        </p:nvSpPr>
        <p:spPr>
          <a:xfrm>
            <a:off x="548640" y="132588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FNBT'ye göre bağımlılık düzeyi</a:t>
            </a:r>
            <a:endParaRPr lang="en-US" sz="2200" dirty="0"/>
          </a:p>
        </p:txBody>
      </p:sp>
      <p:sp>
        <p:nvSpPr>
          <p:cNvPr id="5" name="Kart"/>
          <p:cNvSpPr/>
          <p:nvPr/>
        </p:nvSpPr>
        <p:spPr>
          <a:xfrm>
            <a:off x="548640" y="1828800"/>
            <a:ext cx="3566160" cy="1737360"/>
          </a:xfrm>
          <a:prstGeom prst="roundRect">
            <a:avLst>
              <a:gd name="adj" fmla="val 6316"/>
            </a:avLst>
          </a:prstGeom>
          <a:solidFill>
            <a:schemeClr val="accent5"/>
          </a:solidFill>
          <a:ln w="12700">
            <a:solidFill>
              <a:schemeClr val="accent5"/>
            </a:solidFill>
            <a:prstDash val="solid"/>
          </a:ln>
        </p:spPr>
      </p:sp>
      <p:sp>
        <p:nvSpPr>
          <p:cNvPr id="6" name="Text 3"/>
          <p:cNvSpPr txBox="1"/>
          <p:nvPr/>
        </p:nvSpPr>
        <p:spPr>
          <a:xfrm>
            <a:off x="548640" y="1828800"/>
            <a:ext cx="3566160" cy="1737360"/>
          </a:xfrm>
          <a:prstGeom prst="rect">
            <a:avLst/>
          </a:prstGeom>
          <a:noFill/>
          <a:ln/>
        </p:spPr>
        <p:txBody>
          <a:bodyPr wrap="square" lIns="0" tIns="0" rIns="0" bIns="0" rtlCol="0" anchor="ctr"/>
          <a:lstStyle/>
          <a:p>
            <a:pPr marL="0" indent="0" algn="ctr">
              <a:buNone/>
            </a:pPr>
            <a:r>
              <a:rPr lang="en-US" sz="4000" b="1" dirty="0">
                <a:solidFill>
                  <a:schemeClr val="accent1"/>
                </a:solidFill>
              </a:rPr>
              <a:t>%13,</a:t>
            </a:r>
            <a:r>
              <a:rPr lang="tr-TR" sz="4000" b="1" dirty="0">
                <a:solidFill>
                  <a:schemeClr val="accent1"/>
                </a:solidFill>
              </a:rPr>
              <a:t>19</a:t>
            </a:r>
            <a:endParaRPr lang="en-US" sz="4000" dirty="0"/>
          </a:p>
          <a:p>
            <a:pPr marL="0" indent="0" algn="ctr">
              <a:buNone/>
            </a:pPr>
            <a:r>
              <a:rPr lang="en-US" sz="2200" dirty="0">
                <a:solidFill>
                  <a:schemeClr val="accent1"/>
                </a:solidFill>
              </a:rPr>
              <a:t>düşük (0–2)</a:t>
            </a:r>
            <a:endParaRPr lang="en-US" sz="4000" dirty="0"/>
          </a:p>
        </p:txBody>
      </p:sp>
      <p:sp>
        <p:nvSpPr>
          <p:cNvPr id="7" name="Kart"/>
          <p:cNvSpPr/>
          <p:nvPr/>
        </p:nvSpPr>
        <p:spPr>
          <a:xfrm>
            <a:off x="4297680" y="1828800"/>
            <a:ext cx="3566160" cy="1737360"/>
          </a:xfrm>
          <a:prstGeom prst="roundRect">
            <a:avLst>
              <a:gd name="adj" fmla="val 6316"/>
            </a:avLst>
          </a:prstGeom>
          <a:solidFill>
            <a:schemeClr val="accent2"/>
          </a:solidFill>
          <a:ln w="12700">
            <a:solidFill>
              <a:schemeClr val="accent2"/>
            </a:solidFill>
            <a:prstDash val="solid"/>
          </a:ln>
        </p:spPr>
      </p:sp>
      <p:sp>
        <p:nvSpPr>
          <p:cNvPr id="8" name="Text 5"/>
          <p:cNvSpPr txBox="1"/>
          <p:nvPr/>
        </p:nvSpPr>
        <p:spPr>
          <a:xfrm>
            <a:off x="4297680" y="1828800"/>
            <a:ext cx="3566160" cy="1737360"/>
          </a:xfrm>
          <a:prstGeom prst="rect">
            <a:avLst/>
          </a:prstGeom>
          <a:noFill/>
          <a:ln/>
        </p:spPr>
        <p:txBody>
          <a:bodyPr wrap="square" lIns="0" tIns="0" rIns="0" bIns="0" rtlCol="0" anchor="ctr"/>
          <a:lstStyle/>
          <a:p>
            <a:pPr marL="0" indent="0" algn="ctr">
              <a:buNone/>
            </a:pPr>
            <a:r>
              <a:rPr lang="en-US" sz="4000" b="1" dirty="0">
                <a:solidFill>
                  <a:schemeClr val="bg1"/>
                </a:solidFill>
              </a:rPr>
              <a:t>%61,3</a:t>
            </a:r>
            <a:r>
              <a:rPr lang="tr-TR" sz="4000" b="1" dirty="0">
                <a:solidFill>
                  <a:schemeClr val="bg1"/>
                </a:solidFill>
              </a:rPr>
              <a:t>4</a:t>
            </a:r>
            <a:endParaRPr lang="en-US" sz="4000" dirty="0"/>
          </a:p>
          <a:p>
            <a:pPr marL="0" indent="0" algn="ctr">
              <a:buNone/>
            </a:pPr>
            <a:r>
              <a:rPr lang="en-US" sz="2200" dirty="0">
                <a:solidFill>
                  <a:schemeClr val="bg1"/>
                </a:solidFill>
              </a:rPr>
              <a:t>orta (3–7)</a:t>
            </a:r>
            <a:endParaRPr lang="en-US" sz="4000" dirty="0"/>
          </a:p>
        </p:txBody>
      </p:sp>
      <p:sp>
        <p:nvSpPr>
          <p:cNvPr id="9" name="Kart"/>
          <p:cNvSpPr/>
          <p:nvPr/>
        </p:nvSpPr>
        <p:spPr>
          <a:xfrm>
            <a:off x="8046720" y="1828800"/>
            <a:ext cx="3566160" cy="1737360"/>
          </a:xfrm>
          <a:prstGeom prst="roundRect">
            <a:avLst>
              <a:gd name="adj" fmla="val 6316"/>
            </a:avLst>
          </a:prstGeom>
          <a:solidFill>
            <a:schemeClr val="accent1"/>
          </a:solidFill>
          <a:ln w="12700">
            <a:solidFill>
              <a:schemeClr val="accent1"/>
            </a:solidFill>
            <a:prstDash val="solid"/>
          </a:ln>
        </p:spPr>
      </p:sp>
      <p:sp>
        <p:nvSpPr>
          <p:cNvPr id="10" name="Text 7"/>
          <p:cNvSpPr txBox="1"/>
          <p:nvPr/>
        </p:nvSpPr>
        <p:spPr>
          <a:xfrm>
            <a:off x="8046720" y="1828800"/>
            <a:ext cx="3566160" cy="1737360"/>
          </a:xfrm>
          <a:prstGeom prst="rect">
            <a:avLst/>
          </a:prstGeom>
          <a:noFill/>
          <a:ln/>
        </p:spPr>
        <p:txBody>
          <a:bodyPr wrap="square" lIns="0" tIns="0" rIns="0" bIns="0" rtlCol="0" anchor="ctr"/>
          <a:lstStyle/>
          <a:p>
            <a:pPr marL="0" indent="0" algn="ctr">
              <a:buNone/>
            </a:pPr>
            <a:r>
              <a:rPr lang="en-US" sz="4000" b="1" dirty="0">
                <a:solidFill>
                  <a:schemeClr val="bg1"/>
                </a:solidFill>
              </a:rPr>
              <a:t>%25,</a:t>
            </a:r>
            <a:r>
              <a:rPr lang="tr-TR" sz="4000" b="1" dirty="0">
                <a:solidFill>
                  <a:schemeClr val="bg1"/>
                </a:solidFill>
              </a:rPr>
              <a:t>46</a:t>
            </a:r>
            <a:endParaRPr lang="en-US" sz="4000" dirty="0"/>
          </a:p>
          <a:p>
            <a:pPr marL="0" indent="0" algn="ctr">
              <a:buNone/>
            </a:pPr>
            <a:r>
              <a:rPr lang="en-US" sz="2200" dirty="0">
                <a:solidFill>
                  <a:schemeClr val="bg1"/>
                </a:solidFill>
              </a:rPr>
              <a:t>yüksek (8–10)</a:t>
            </a:r>
            <a:endParaRPr lang="en-US" sz="4000" dirty="0"/>
          </a:p>
        </p:txBody>
      </p:sp>
      <p:sp>
        <p:nvSpPr>
          <p:cNvPr id="11" name="Text 8"/>
          <p:cNvSpPr txBox="1"/>
          <p:nvPr/>
        </p:nvSpPr>
        <p:spPr>
          <a:xfrm>
            <a:off x="548640" y="3794760"/>
            <a:ext cx="10972800" cy="457200"/>
          </a:xfrm>
          <a:prstGeom prst="rect">
            <a:avLst/>
          </a:prstGeom>
          <a:noFill/>
          <a:ln/>
        </p:spPr>
        <p:txBody>
          <a:bodyPr wrap="square" lIns="0" tIns="0" rIns="0" bIns="0" rtlCol="0" anchor="ctr"/>
          <a:lstStyle/>
          <a:p>
            <a:pPr marL="0" indent="0">
              <a:buNone/>
            </a:pPr>
            <a:r>
              <a:rPr lang="en-US" sz="2200" b="1" dirty="0">
                <a:solidFill>
                  <a:schemeClr val="accent2"/>
                </a:solidFill>
              </a:rPr>
              <a:t>Önceki deneyimler</a:t>
            </a:r>
            <a:endParaRPr lang="en-US" sz="2200" dirty="0"/>
          </a:p>
        </p:txBody>
      </p:sp>
      <p:sp>
        <p:nvSpPr>
          <p:cNvPr id="12" name="Kart"/>
          <p:cNvSpPr/>
          <p:nvPr/>
        </p:nvSpPr>
        <p:spPr>
          <a:xfrm>
            <a:off x="548640" y="4297680"/>
            <a:ext cx="3566160" cy="1691640"/>
          </a:xfrm>
          <a:prstGeom prst="roundRect">
            <a:avLst>
              <a:gd name="adj" fmla="val 6486"/>
            </a:avLst>
          </a:prstGeom>
          <a:solidFill>
            <a:schemeClr val="bg2"/>
          </a:solidFill>
          <a:ln w="12700">
            <a:solidFill>
              <a:schemeClr val="bg2"/>
            </a:solidFill>
            <a:prstDash val="solid"/>
          </a:ln>
        </p:spPr>
      </p:sp>
      <p:sp>
        <p:nvSpPr>
          <p:cNvPr id="13" name="Text 10"/>
          <p:cNvSpPr txBox="1"/>
          <p:nvPr/>
        </p:nvSpPr>
        <p:spPr>
          <a:xfrm>
            <a:off x="685800" y="4297680"/>
            <a:ext cx="1417320" cy="1691640"/>
          </a:xfrm>
          <a:prstGeom prst="rect">
            <a:avLst/>
          </a:prstGeom>
          <a:noFill/>
          <a:ln/>
        </p:spPr>
        <p:txBody>
          <a:bodyPr wrap="square" lIns="0" tIns="0" rIns="0" bIns="0" rtlCol="0" anchor="ctr"/>
          <a:lstStyle/>
          <a:p>
            <a:pPr marL="0" indent="0" algn="ctr">
              <a:buNone/>
            </a:pPr>
            <a:r>
              <a:rPr lang="en-US" sz="3200" b="1" dirty="0">
                <a:solidFill>
                  <a:schemeClr val="accent1"/>
                </a:solidFill>
              </a:rPr>
              <a:t>%75,</a:t>
            </a:r>
            <a:r>
              <a:rPr lang="tr-TR" sz="3200" b="1" dirty="0">
                <a:solidFill>
                  <a:schemeClr val="accent1"/>
                </a:solidFill>
              </a:rPr>
              <a:t>69</a:t>
            </a:r>
            <a:endParaRPr lang="en-US" sz="3200" dirty="0"/>
          </a:p>
        </p:txBody>
      </p:sp>
      <p:sp>
        <p:nvSpPr>
          <p:cNvPr id="14" name="Text 11"/>
          <p:cNvSpPr txBox="1"/>
          <p:nvPr/>
        </p:nvSpPr>
        <p:spPr>
          <a:xfrm>
            <a:off x="2148840" y="4297680"/>
            <a:ext cx="1828800" cy="1691640"/>
          </a:xfrm>
          <a:prstGeom prst="rect">
            <a:avLst/>
          </a:prstGeom>
          <a:noFill/>
          <a:ln/>
        </p:spPr>
        <p:txBody>
          <a:bodyPr wrap="square" lIns="0" tIns="0" rIns="0" bIns="0" rtlCol="0" anchor="ctr"/>
          <a:lstStyle/>
          <a:p>
            <a:pPr marL="0" indent="0">
              <a:buNone/>
            </a:pPr>
            <a:r>
              <a:rPr lang="en-US" sz="1800" dirty="0">
                <a:solidFill>
                  <a:schemeClr val="accent1"/>
                </a:solidFill>
              </a:rPr>
              <a:t>daha önce bırakmayı denemiş</a:t>
            </a:r>
            <a:endParaRPr lang="en-US" sz="1800" dirty="0"/>
          </a:p>
        </p:txBody>
      </p:sp>
      <p:sp>
        <p:nvSpPr>
          <p:cNvPr id="15" name="Kart"/>
          <p:cNvSpPr/>
          <p:nvPr/>
        </p:nvSpPr>
        <p:spPr>
          <a:xfrm>
            <a:off x="4297680" y="4297680"/>
            <a:ext cx="3566160" cy="1691640"/>
          </a:xfrm>
          <a:prstGeom prst="roundRect">
            <a:avLst>
              <a:gd name="adj" fmla="val 6486"/>
            </a:avLst>
          </a:prstGeom>
          <a:solidFill>
            <a:schemeClr val="bg2"/>
          </a:solidFill>
          <a:ln w="12700">
            <a:solidFill>
              <a:schemeClr val="bg2"/>
            </a:solidFill>
            <a:prstDash val="solid"/>
          </a:ln>
        </p:spPr>
      </p:sp>
      <p:sp>
        <p:nvSpPr>
          <p:cNvPr id="16" name="Text 13"/>
          <p:cNvSpPr txBox="1"/>
          <p:nvPr/>
        </p:nvSpPr>
        <p:spPr>
          <a:xfrm>
            <a:off x="4434840" y="4297680"/>
            <a:ext cx="1417320" cy="1691640"/>
          </a:xfrm>
          <a:prstGeom prst="rect">
            <a:avLst/>
          </a:prstGeom>
          <a:noFill/>
          <a:ln/>
        </p:spPr>
        <p:txBody>
          <a:bodyPr wrap="square" lIns="0" tIns="0" rIns="0" bIns="0" rtlCol="0" anchor="ctr"/>
          <a:lstStyle/>
          <a:p>
            <a:pPr marL="0" indent="0" algn="ctr">
              <a:buNone/>
            </a:pPr>
            <a:r>
              <a:rPr lang="en-US" sz="3200" b="1" dirty="0">
                <a:solidFill>
                  <a:schemeClr val="accent1"/>
                </a:solidFill>
              </a:rPr>
              <a:t>%49,</a:t>
            </a:r>
            <a:r>
              <a:rPr lang="tr-TR" sz="3200" b="1" dirty="0">
                <a:solidFill>
                  <a:schemeClr val="accent1"/>
                </a:solidFill>
              </a:rPr>
              <a:t>85</a:t>
            </a:r>
            <a:endParaRPr lang="en-US" sz="3200" dirty="0"/>
          </a:p>
        </p:txBody>
      </p:sp>
      <p:sp>
        <p:nvSpPr>
          <p:cNvPr id="17" name="Text 14"/>
          <p:cNvSpPr txBox="1"/>
          <p:nvPr/>
        </p:nvSpPr>
        <p:spPr>
          <a:xfrm>
            <a:off x="5897880" y="4297680"/>
            <a:ext cx="1828800" cy="1691640"/>
          </a:xfrm>
          <a:prstGeom prst="rect">
            <a:avLst/>
          </a:prstGeom>
          <a:noFill/>
          <a:ln/>
        </p:spPr>
        <p:txBody>
          <a:bodyPr wrap="square" lIns="0" tIns="0" rIns="0" bIns="0" rtlCol="0" anchor="ctr"/>
          <a:lstStyle/>
          <a:p>
            <a:pPr marL="0" indent="0">
              <a:buNone/>
            </a:pPr>
            <a:r>
              <a:rPr lang="en-US" sz="1800" dirty="0">
                <a:solidFill>
                  <a:schemeClr val="accent1"/>
                </a:solidFill>
              </a:rPr>
              <a:t>denemede profesyonel destek almış</a:t>
            </a:r>
            <a:endParaRPr lang="en-US" sz="1800" dirty="0"/>
          </a:p>
        </p:txBody>
      </p:sp>
      <p:sp>
        <p:nvSpPr>
          <p:cNvPr id="18" name="Kart"/>
          <p:cNvSpPr/>
          <p:nvPr/>
        </p:nvSpPr>
        <p:spPr>
          <a:xfrm>
            <a:off x="8046720" y="4297680"/>
            <a:ext cx="3566160" cy="1691640"/>
          </a:xfrm>
          <a:prstGeom prst="roundRect">
            <a:avLst>
              <a:gd name="adj" fmla="val 6486"/>
            </a:avLst>
          </a:prstGeom>
          <a:solidFill>
            <a:schemeClr val="bg2"/>
          </a:solidFill>
          <a:ln w="12700">
            <a:solidFill>
              <a:schemeClr val="bg2"/>
            </a:solidFill>
            <a:prstDash val="solid"/>
          </a:ln>
        </p:spPr>
      </p:sp>
      <p:sp>
        <p:nvSpPr>
          <p:cNvPr id="19" name="Text 16"/>
          <p:cNvSpPr txBox="1"/>
          <p:nvPr/>
        </p:nvSpPr>
        <p:spPr>
          <a:xfrm>
            <a:off x="8183880" y="4297680"/>
            <a:ext cx="1417320" cy="1691640"/>
          </a:xfrm>
          <a:prstGeom prst="rect">
            <a:avLst/>
          </a:prstGeom>
          <a:noFill/>
          <a:ln/>
        </p:spPr>
        <p:txBody>
          <a:bodyPr wrap="square" lIns="0" tIns="0" rIns="0" bIns="0" rtlCol="0" anchor="ctr"/>
          <a:lstStyle/>
          <a:p>
            <a:pPr marL="0" indent="0" algn="ctr">
              <a:buNone/>
            </a:pPr>
            <a:r>
              <a:rPr lang="en-US" sz="3200" b="1" dirty="0">
                <a:solidFill>
                  <a:schemeClr val="accent1"/>
                </a:solidFill>
              </a:rPr>
              <a:t>%7,</a:t>
            </a:r>
            <a:r>
              <a:rPr lang="tr-TR" sz="3200" b="1" dirty="0">
                <a:solidFill>
                  <a:schemeClr val="accent1"/>
                </a:solidFill>
              </a:rPr>
              <a:t>19</a:t>
            </a:r>
            <a:endParaRPr lang="en-US" sz="3200" dirty="0"/>
          </a:p>
        </p:txBody>
      </p:sp>
      <p:sp>
        <p:nvSpPr>
          <p:cNvPr id="20" name="Text 17"/>
          <p:cNvSpPr txBox="1"/>
          <p:nvPr/>
        </p:nvSpPr>
        <p:spPr>
          <a:xfrm>
            <a:off x="9646920" y="4297680"/>
            <a:ext cx="1828800" cy="1691640"/>
          </a:xfrm>
          <a:prstGeom prst="rect">
            <a:avLst/>
          </a:prstGeom>
          <a:noFill/>
          <a:ln/>
        </p:spPr>
        <p:txBody>
          <a:bodyPr wrap="square" lIns="0" tIns="0" rIns="0" bIns="0" rtlCol="0" anchor="ctr"/>
          <a:lstStyle/>
          <a:p>
            <a:pPr marL="0" indent="0">
              <a:buNone/>
            </a:pPr>
            <a:r>
              <a:rPr lang="en-US" sz="1800" dirty="0">
                <a:solidFill>
                  <a:schemeClr val="accent1"/>
                </a:solidFill>
              </a:rPr>
              <a:t>sigara dışı tütün ürünü kullanıyor</a:t>
            </a:r>
            <a:endParaRPr lang="en-US" sz="18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err="1">
                <a:solidFill>
                  <a:schemeClr val="accent1"/>
                </a:solidFill>
              </a:rPr>
              <a:t>Sosyodemografik</a:t>
            </a:r>
            <a:r>
              <a:rPr lang="en-US" sz="3600" b="1" dirty="0">
                <a:solidFill>
                  <a:schemeClr val="accent1"/>
                </a:solidFill>
              </a:rPr>
              <a:t> özellikler</a:t>
            </a:r>
            <a:endParaRPr lang="en-US" sz="3600" dirty="0"/>
          </a:p>
        </p:txBody>
      </p:sp>
      <p:sp>
        <p:nvSpPr>
          <p:cNvPr id="4" name="Görsel çerçeve"/>
          <p:cNvSpPr/>
          <p:nvPr/>
        </p:nvSpPr>
        <p:spPr>
          <a:xfrm>
            <a:off x="548640" y="1325880"/>
            <a:ext cx="7191299" cy="4892040"/>
          </a:xfrm>
          <a:prstGeom prst="rect">
            <a:avLst/>
          </a:prstGeom>
          <a:solidFill>
            <a:schemeClr val="bg1"/>
          </a:solidFill>
          <a:ln w="12700">
            <a:solidFill>
              <a:srgbClr val="C9DCDF"/>
            </a:solidFill>
            <a:prstDash val="solid"/>
          </a:ln>
        </p:spPr>
      </p:sp>
      <p:pic>
        <p:nvPicPr>
          <p:cNvPr id="5" name="Tablo 1: Katılımcıların sosyodemografik özellikleri" descr="Tablo 1: Katılımcıların sosyodemografik özellikleri"/>
          <p:cNvPicPr>
            <a:picLocks noChangeAspect="1"/>
          </p:cNvPicPr>
          <p:nvPr/>
        </p:nvPicPr>
        <p:blipFill>
          <a:blip r:embed="rId3"/>
          <a:stretch>
            <a:fillRect/>
          </a:stretch>
        </p:blipFill>
        <p:spPr>
          <a:xfrm>
            <a:off x="548640" y="1325880"/>
            <a:ext cx="7191299" cy="4892040"/>
          </a:xfrm>
          <a:prstGeom prst="rect">
            <a:avLst/>
          </a:prstGeom>
        </p:spPr>
      </p:pic>
      <p:sp>
        <p:nvSpPr>
          <p:cNvPr id="6" name="Kart"/>
          <p:cNvSpPr/>
          <p:nvPr/>
        </p:nvSpPr>
        <p:spPr>
          <a:xfrm>
            <a:off x="8059979" y="1325880"/>
            <a:ext cx="3580333" cy="4892040"/>
          </a:xfrm>
          <a:prstGeom prst="roundRect">
            <a:avLst>
              <a:gd name="adj" fmla="val 3065"/>
            </a:avLst>
          </a:prstGeom>
          <a:solidFill>
            <a:schemeClr val="accent1"/>
          </a:solidFill>
          <a:ln w="12700">
            <a:solidFill>
              <a:schemeClr val="accent1"/>
            </a:solidFill>
            <a:prstDash val="solid"/>
          </a:ln>
        </p:spPr>
      </p:sp>
      <p:sp>
        <p:nvSpPr>
          <p:cNvPr id="7" name="Text 3"/>
          <p:cNvSpPr txBox="1"/>
          <p:nvPr/>
        </p:nvSpPr>
        <p:spPr>
          <a:xfrm>
            <a:off x="8288579" y="1508760"/>
            <a:ext cx="3123133" cy="4526280"/>
          </a:xfrm>
          <a:prstGeom prst="rect">
            <a:avLst/>
          </a:prstGeom>
          <a:noFill/>
          <a:ln/>
        </p:spPr>
        <p:txBody>
          <a:bodyPr wrap="square" lIns="0" tIns="0" rIns="0" bIns="0" rtlCol="0" anchor="t"/>
          <a:lstStyle/>
          <a:p>
            <a:pPr marL="0" indent="0">
              <a:buNone/>
            </a:pPr>
            <a:r>
              <a:rPr lang="en-US" sz="3000" b="1" dirty="0">
                <a:solidFill>
                  <a:schemeClr val="bg1"/>
                </a:solidFill>
              </a:rPr>
              <a:t>%63,</a:t>
            </a:r>
            <a:r>
              <a:rPr lang="tr-TR" sz="3000" b="1" dirty="0">
                <a:solidFill>
                  <a:schemeClr val="bg1"/>
                </a:solidFill>
              </a:rPr>
              <a:t>66</a:t>
            </a:r>
            <a:endParaRPr lang="en-US" sz="3000" dirty="0"/>
          </a:p>
          <a:p>
            <a:pPr marL="0" indent="0">
              <a:spcAft>
                <a:spcPts val="1200"/>
              </a:spcAft>
              <a:buNone/>
            </a:pPr>
            <a:r>
              <a:rPr lang="en-US" sz="2000" dirty="0">
                <a:solidFill>
                  <a:schemeClr val="bg1"/>
                </a:solidFill>
              </a:rPr>
              <a:t>erkek</a:t>
            </a:r>
            <a:endParaRPr lang="en-US" sz="3000" dirty="0"/>
          </a:p>
          <a:p>
            <a:pPr marL="0" indent="0">
              <a:buNone/>
            </a:pPr>
            <a:r>
              <a:rPr lang="en-US" sz="3000" b="1" dirty="0">
                <a:solidFill>
                  <a:schemeClr val="bg1"/>
                </a:solidFill>
              </a:rPr>
              <a:t>%8</a:t>
            </a:r>
            <a:r>
              <a:rPr lang="tr-TR" sz="3000" b="1" dirty="0">
                <a:solidFill>
                  <a:schemeClr val="bg1"/>
                </a:solidFill>
              </a:rPr>
              <a:t>1</a:t>
            </a:r>
            <a:r>
              <a:rPr lang="en-US" sz="3000" b="1" dirty="0">
                <a:solidFill>
                  <a:schemeClr val="bg1"/>
                </a:solidFill>
              </a:rPr>
              <a:t>,</a:t>
            </a:r>
            <a:r>
              <a:rPr lang="tr-TR" sz="3000" b="1" dirty="0">
                <a:solidFill>
                  <a:schemeClr val="bg1"/>
                </a:solidFill>
              </a:rPr>
              <a:t>96</a:t>
            </a:r>
            <a:endParaRPr lang="en-US" sz="3000" dirty="0"/>
          </a:p>
          <a:p>
            <a:pPr marL="0" indent="0">
              <a:spcAft>
                <a:spcPts val="1200"/>
              </a:spcAft>
              <a:buNone/>
            </a:pPr>
            <a:r>
              <a:rPr lang="en-US" sz="2000" dirty="0">
                <a:solidFill>
                  <a:schemeClr val="bg1"/>
                </a:solidFill>
              </a:rPr>
              <a:t>evli</a:t>
            </a:r>
            <a:endParaRPr lang="en-US" sz="3000" dirty="0"/>
          </a:p>
          <a:p>
            <a:pPr marL="0" indent="0">
              <a:buNone/>
            </a:pPr>
            <a:r>
              <a:rPr lang="en-US" sz="3000" b="1" dirty="0">
                <a:solidFill>
                  <a:schemeClr val="bg1"/>
                </a:solidFill>
              </a:rPr>
              <a:t>%43,</a:t>
            </a:r>
            <a:r>
              <a:rPr lang="tr-TR" sz="3000" b="1" dirty="0">
                <a:solidFill>
                  <a:schemeClr val="bg1"/>
                </a:solidFill>
              </a:rPr>
              <a:t>36</a:t>
            </a:r>
            <a:endParaRPr lang="en-US" sz="3000" dirty="0"/>
          </a:p>
          <a:p>
            <a:pPr marL="0" indent="0">
              <a:spcAft>
                <a:spcPts val="1200"/>
              </a:spcAft>
              <a:buNone/>
            </a:pPr>
            <a:r>
              <a:rPr lang="en-US" sz="2000" dirty="0">
                <a:solidFill>
                  <a:schemeClr val="bg1"/>
                </a:solidFill>
              </a:rPr>
              <a:t>yükseköğretim mezunu</a:t>
            </a:r>
            <a:endParaRPr lang="en-US" sz="3000" dirty="0"/>
          </a:p>
          <a:p>
            <a:pPr marL="0" indent="0">
              <a:buNone/>
            </a:pPr>
            <a:r>
              <a:rPr lang="en-US" sz="3000" b="1" dirty="0">
                <a:solidFill>
                  <a:schemeClr val="bg1"/>
                </a:solidFill>
              </a:rPr>
              <a:t>%39,6</a:t>
            </a:r>
            <a:endParaRPr lang="en-US" sz="3000" dirty="0"/>
          </a:p>
          <a:p>
            <a:pPr marL="0" indent="0">
              <a:buNone/>
            </a:pPr>
            <a:r>
              <a:rPr lang="en-US" sz="2000" dirty="0">
                <a:solidFill>
                  <a:schemeClr val="bg1"/>
                </a:solidFill>
              </a:rPr>
              <a:t>hanesinde sigara içen var</a:t>
            </a:r>
            <a:endParaRPr lang="en-US" sz="3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1201400" cy="868680"/>
          </a:xfrm>
          <a:prstGeom prst="rect">
            <a:avLst/>
          </a:prstGeom>
          <a:noFill/>
          <a:ln/>
        </p:spPr>
        <p:txBody>
          <a:bodyPr wrap="square" lIns="0" tIns="0" rIns="0" bIns="0" rtlCol="0" anchor="ctr"/>
          <a:lstStyle/>
          <a:p>
            <a:pPr marL="0" indent="0" algn="l">
              <a:buNone/>
            </a:pPr>
            <a:r>
              <a:rPr lang="en-US" sz="3600" b="1" dirty="0" err="1">
                <a:solidFill>
                  <a:schemeClr val="accent1"/>
                </a:solidFill>
              </a:rPr>
              <a:t>Sosyodemografik</a:t>
            </a:r>
            <a:r>
              <a:rPr lang="en-US" sz="3600" b="1" dirty="0">
                <a:solidFill>
                  <a:schemeClr val="accent1"/>
                </a:solidFill>
              </a:rPr>
              <a:t> </a:t>
            </a:r>
            <a:r>
              <a:rPr lang="en-US" sz="3600" b="1" dirty="0" err="1">
                <a:solidFill>
                  <a:schemeClr val="accent1"/>
                </a:solidFill>
              </a:rPr>
              <a:t>özellikler</a:t>
            </a:r>
            <a:r>
              <a:rPr lang="tr-TR" sz="3600" b="1" dirty="0">
                <a:solidFill>
                  <a:schemeClr val="accent1"/>
                </a:solidFill>
              </a:rPr>
              <a:t>e göre sigara </a:t>
            </a:r>
            <a:r>
              <a:rPr lang="en-US" sz="3600" b="1" dirty="0" err="1">
                <a:solidFill>
                  <a:schemeClr val="accent1"/>
                </a:solidFill>
              </a:rPr>
              <a:t>bırakma</a:t>
            </a:r>
            <a:r>
              <a:rPr lang="tr-TR" sz="3600" b="1" dirty="0">
                <a:solidFill>
                  <a:schemeClr val="accent1"/>
                </a:solidFill>
              </a:rPr>
              <a:t> sonuçları</a:t>
            </a:r>
            <a:endParaRPr lang="en-US" sz="3600" dirty="0"/>
          </a:p>
        </p:txBody>
      </p:sp>
      <p:sp>
        <p:nvSpPr>
          <p:cNvPr id="4" name="Görsel çerçeve"/>
          <p:cNvSpPr/>
          <p:nvPr/>
        </p:nvSpPr>
        <p:spPr>
          <a:xfrm>
            <a:off x="548640" y="1325880"/>
            <a:ext cx="8321040" cy="4575618"/>
          </a:xfrm>
          <a:prstGeom prst="rect">
            <a:avLst/>
          </a:prstGeom>
          <a:solidFill>
            <a:schemeClr val="bg1"/>
          </a:solidFill>
          <a:ln w="12700">
            <a:solidFill>
              <a:srgbClr val="C9DCDF"/>
            </a:solidFill>
            <a:prstDash val="solid"/>
          </a:ln>
        </p:spPr>
      </p:sp>
      <p:pic>
        <p:nvPicPr>
          <p:cNvPr id="5" name="Tablo 2, birinci bölüm" descr="Tablo 2, birinci bölüm"/>
          <p:cNvPicPr>
            <a:picLocks noChangeAspect="1"/>
          </p:cNvPicPr>
          <p:nvPr/>
        </p:nvPicPr>
        <p:blipFill>
          <a:blip r:embed="rId3"/>
          <a:stretch>
            <a:fillRect/>
          </a:stretch>
        </p:blipFill>
        <p:spPr>
          <a:xfrm>
            <a:off x="548640" y="1325880"/>
            <a:ext cx="8321040" cy="4575618"/>
          </a:xfrm>
          <a:prstGeom prst="rect">
            <a:avLst/>
          </a:prstGeom>
        </p:spPr>
      </p:pic>
      <p:sp>
        <p:nvSpPr>
          <p:cNvPr id="6" name="Kart"/>
          <p:cNvSpPr/>
          <p:nvPr/>
        </p:nvSpPr>
        <p:spPr>
          <a:xfrm>
            <a:off x="9189720" y="1325880"/>
            <a:ext cx="2450592" cy="4575618"/>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4209858"/>
          </a:xfrm>
          <a:prstGeom prst="rect">
            <a:avLst/>
          </a:prstGeom>
          <a:noFill/>
          <a:ln/>
        </p:spPr>
        <p:txBody>
          <a:bodyPr wrap="square" lIns="0" tIns="0" rIns="0" bIns="0" rtlCol="0" anchor="t"/>
          <a:lstStyle/>
          <a:p>
            <a:pPr marL="0" indent="0">
              <a:spcAft>
                <a:spcPts val="1200"/>
              </a:spcAft>
              <a:buNone/>
            </a:pPr>
            <a:r>
              <a:rPr lang="en-US" sz="2000" b="1" dirty="0">
                <a:solidFill>
                  <a:schemeClr val="bg1"/>
                </a:solidFill>
              </a:rPr>
              <a:t>Anlamlı fark yok</a:t>
            </a:r>
            <a:endParaRPr lang="en-US" sz="2000" dirty="0"/>
          </a:p>
          <a:p>
            <a:pPr marL="0" indent="0">
              <a:buNone/>
            </a:pPr>
            <a:r>
              <a:rPr lang="en-US" sz="2000" dirty="0">
                <a:solidFill>
                  <a:schemeClr val="bg1"/>
                </a:solidFill>
              </a:rPr>
              <a:t>Cinsiyet, yaş grubu, medeni durum ve eğitim durumu</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863072" cy="868680"/>
          </a:xfrm>
          <a:prstGeom prst="rect">
            <a:avLst/>
          </a:prstGeom>
          <a:noFill/>
          <a:ln/>
        </p:spPr>
        <p:txBody>
          <a:bodyPr wrap="square" lIns="0" tIns="0" rIns="0" bIns="0" rtlCol="0" anchor="ctr"/>
          <a:lstStyle/>
          <a:p>
            <a:r>
              <a:rPr lang="en-US" dirty="0" err="1"/>
              <a:t>Sosyodemografik</a:t>
            </a:r>
            <a:r>
              <a:rPr lang="en-US" dirty="0"/>
              <a:t> </a:t>
            </a:r>
            <a:r>
              <a:rPr lang="en-US" dirty="0" err="1"/>
              <a:t>özellikler</a:t>
            </a:r>
            <a:r>
              <a:rPr lang="tr-TR" dirty="0"/>
              <a:t>e göre sigara </a:t>
            </a:r>
            <a:r>
              <a:rPr lang="en-US" dirty="0" err="1"/>
              <a:t>bırakma</a:t>
            </a:r>
            <a:r>
              <a:rPr lang="tr-TR" dirty="0"/>
              <a:t> </a:t>
            </a:r>
            <a:r>
              <a:rPr lang="en-US" sz="3600" b="1" dirty="0">
                <a:solidFill>
                  <a:schemeClr val="accent1"/>
                </a:solidFill>
              </a:rPr>
              <a:t>(devam)</a:t>
            </a:r>
            <a:endParaRPr lang="en-US" sz="3600" dirty="0"/>
          </a:p>
        </p:txBody>
      </p:sp>
      <p:sp>
        <p:nvSpPr>
          <p:cNvPr id="4" name="Görsel çerçeve"/>
          <p:cNvSpPr/>
          <p:nvPr/>
        </p:nvSpPr>
        <p:spPr>
          <a:xfrm>
            <a:off x="548640" y="1325880"/>
            <a:ext cx="8321040" cy="3688167"/>
          </a:xfrm>
          <a:prstGeom prst="rect">
            <a:avLst/>
          </a:prstGeom>
          <a:solidFill>
            <a:schemeClr val="bg1"/>
          </a:solidFill>
          <a:ln w="12700">
            <a:solidFill>
              <a:srgbClr val="C9DCDF"/>
            </a:solidFill>
            <a:prstDash val="solid"/>
          </a:ln>
        </p:spPr>
      </p:sp>
      <p:pic>
        <p:nvPicPr>
          <p:cNvPr id="5" name="Tablo 2, ikinci bölüm" descr="Tablo 2, ikinci bölüm"/>
          <p:cNvPicPr>
            <a:picLocks noChangeAspect="1"/>
          </p:cNvPicPr>
          <p:nvPr/>
        </p:nvPicPr>
        <p:blipFill>
          <a:blip r:embed="rId3"/>
          <a:stretch>
            <a:fillRect/>
          </a:stretch>
        </p:blipFill>
        <p:spPr>
          <a:xfrm>
            <a:off x="548640" y="1325880"/>
            <a:ext cx="8321040" cy="3688167"/>
          </a:xfrm>
          <a:prstGeom prst="rect">
            <a:avLst/>
          </a:prstGeom>
        </p:spPr>
      </p:pic>
      <p:sp>
        <p:nvSpPr>
          <p:cNvPr id="6" name="Kart"/>
          <p:cNvSpPr/>
          <p:nvPr/>
        </p:nvSpPr>
        <p:spPr>
          <a:xfrm>
            <a:off x="9189720" y="1325880"/>
            <a:ext cx="2450592" cy="3688167"/>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3322407"/>
          </a:xfrm>
          <a:prstGeom prst="rect">
            <a:avLst/>
          </a:prstGeom>
          <a:noFill/>
          <a:ln/>
        </p:spPr>
        <p:txBody>
          <a:bodyPr wrap="square" lIns="0" tIns="0" rIns="0" bIns="0" rtlCol="0" anchor="t"/>
          <a:lstStyle/>
          <a:p>
            <a:pPr marL="0" indent="0">
              <a:spcAft>
                <a:spcPts val="1200"/>
              </a:spcAft>
              <a:buNone/>
            </a:pPr>
            <a:r>
              <a:rPr lang="en-US" sz="2000" b="1" dirty="0">
                <a:solidFill>
                  <a:schemeClr val="bg1"/>
                </a:solidFill>
              </a:rPr>
              <a:t>Tek anlamlı fark:</a:t>
            </a:r>
            <a:endParaRPr lang="en-US" sz="2000" dirty="0"/>
          </a:p>
          <a:p>
            <a:pPr marL="0" indent="0">
              <a:spcAft>
                <a:spcPts val="1200"/>
              </a:spcAft>
              <a:buNone/>
            </a:pPr>
            <a:r>
              <a:rPr lang="en-US" sz="2000" dirty="0">
                <a:solidFill>
                  <a:schemeClr val="bg1"/>
                </a:solidFill>
              </a:rPr>
              <a:t>hanede sigara içen varlığı</a:t>
            </a:r>
            <a:endParaRPr lang="en-US" sz="2000" dirty="0"/>
          </a:p>
          <a:p>
            <a:pPr marL="0" indent="0">
              <a:buNone/>
            </a:pPr>
            <a:r>
              <a:rPr lang="en-US" sz="3000" b="1" dirty="0">
                <a:solidFill>
                  <a:schemeClr val="bg1"/>
                </a:solidFill>
              </a:rPr>
              <a:t>p = 0,003</a:t>
            </a:r>
            <a:endParaRPr lang="en-US" sz="2000" dirty="0"/>
          </a:p>
          <a:p>
            <a:pPr marL="0" indent="0">
              <a:buNone/>
            </a:pPr>
            <a:r>
              <a:rPr lang="en-US" sz="1800" dirty="0">
                <a:solidFill>
                  <a:schemeClr val="bg1"/>
                </a:solidFill>
              </a:rPr>
              <a:t>Bırakma: %39,8 ve %25,3</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tr-TR" dirty="0"/>
              <a:t>Katılımcıların kullandığı </a:t>
            </a:r>
            <a:r>
              <a:rPr lang="en-US" sz="3600" b="1" dirty="0" err="1">
                <a:solidFill>
                  <a:schemeClr val="accent1"/>
                </a:solidFill>
              </a:rPr>
              <a:t>tedavi</a:t>
            </a:r>
            <a:r>
              <a:rPr lang="tr-TR" sz="3600" b="1" dirty="0">
                <a:solidFill>
                  <a:schemeClr val="accent1"/>
                </a:solidFill>
              </a:rPr>
              <a:t> seçenekleri</a:t>
            </a:r>
            <a:endParaRPr lang="en-US" sz="3600" dirty="0"/>
          </a:p>
        </p:txBody>
      </p:sp>
      <p:sp>
        <p:nvSpPr>
          <p:cNvPr id="4" name="Görsel çerçeve"/>
          <p:cNvSpPr/>
          <p:nvPr/>
        </p:nvSpPr>
        <p:spPr>
          <a:xfrm>
            <a:off x="548640" y="1325880"/>
            <a:ext cx="8321040" cy="3485982"/>
          </a:xfrm>
          <a:prstGeom prst="rect">
            <a:avLst/>
          </a:prstGeom>
          <a:solidFill>
            <a:schemeClr val="bg1"/>
          </a:solidFill>
          <a:ln w="12700">
            <a:solidFill>
              <a:srgbClr val="C9DCDF"/>
            </a:solidFill>
            <a:prstDash val="solid"/>
          </a:ln>
        </p:spPr>
      </p:sp>
      <p:pic>
        <p:nvPicPr>
          <p:cNvPr id="5" name="Tablo 3: Katılımcıların kullandığı tedavi seçenekleri" descr="Tablo 3: Katılımcıların kullandığı tedavi seçenekleri"/>
          <p:cNvPicPr>
            <a:picLocks noChangeAspect="1"/>
          </p:cNvPicPr>
          <p:nvPr/>
        </p:nvPicPr>
        <p:blipFill>
          <a:blip r:embed="rId3"/>
          <a:stretch>
            <a:fillRect/>
          </a:stretch>
        </p:blipFill>
        <p:spPr>
          <a:xfrm>
            <a:off x="548640" y="1325880"/>
            <a:ext cx="8321040" cy="3485982"/>
          </a:xfrm>
          <a:prstGeom prst="rect">
            <a:avLst/>
          </a:prstGeom>
        </p:spPr>
      </p:pic>
      <p:sp>
        <p:nvSpPr>
          <p:cNvPr id="6" name="Kart"/>
          <p:cNvSpPr/>
          <p:nvPr/>
        </p:nvSpPr>
        <p:spPr>
          <a:xfrm>
            <a:off x="9189720" y="1325880"/>
            <a:ext cx="2450592" cy="3485982"/>
          </a:xfrm>
          <a:prstGeom prst="roundRect">
            <a:avLst>
              <a:gd name="adj" fmla="val 4478"/>
            </a:avLst>
          </a:prstGeom>
          <a:solidFill>
            <a:schemeClr val="accent1"/>
          </a:solidFill>
          <a:ln w="12700">
            <a:solidFill>
              <a:schemeClr val="accent1"/>
            </a:solidFill>
            <a:prstDash val="solid"/>
          </a:ln>
        </p:spPr>
      </p:sp>
      <p:sp>
        <p:nvSpPr>
          <p:cNvPr id="7" name="Text 3"/>
          <p:cNvSpPr txBox="1"/>
          <p:nvPr/>
        </p:nvSpPr>
        <p:spPr>
          <a:xfrm>
            <a:off x="9418320" y="1508760"/>
            <a:ext cx="1993392" cy="3120222"/>
          </a:xfrm>
          <a:prstGeom prst="rect">
            <a:avLst/>
          </a:prstGeom>
          <a:noFill/>
          <a:ln/>
        </p:spPr>
        <p:txBody>
          <a:bodyPr wrap="square" lIns="0" tIns="0" rIns="0" bIns="0" rtlCol="0" anchor="t"/>
          <a:lstStyle/>
          <a:p>
            <a:pPr marL="0" indent="0">
              <a:buNone/>
            </a:pPr>
            <a:r>
              <a:rPr lang="en-US" sz="3000" b="1" dirty="0">
                <a:solidFill>
                  <a:schemeClr val="bg1"/>
                </a:solidFill>
              </a:rPr>
              <a:t>%35,3</a:t>
            </a:r>
            <a:endParaRPr lang="en-US" sz="3000" dirty="0"/>
          </a:p>
          <a:p>
            <a:pPr marL="0" indent="0">
              <a:spcAft>
                <a:spcPts val="1200"/>
              </a:spcAft>
              <a:buNone/>
            </a:pPr>
            <a:r>
              <a:rPr lang="en-US" sz="2000" dirty="0">
                <a:solidFill>
                  <a:schemeClr val="bg1"/>
                </a:solidFill>
              </a:rPr>
              <a:t>kombine tedavi</a:t>
            </a:r>
            <a:endParaRPr lang="en-US" sz="3000" dirty="0"/>
          </a:p>
          <a:p>
            <a:pPr marL="0" indent="0">
              <a:buNone/>
            </a:pPr>
            <a:r>
              <a:rPr lang="en-US" sz="3000" b="1" dirty="0">
                <a:solidFill>
                  <a:schemeClr val="bg1"/>
                </a:solidFill>
              </a:rPr>
              <a:t>125 / 141</a:t>
            </a:r>
            <a:endParaRPr lang="en-US" sz="3000" dirty="0"/>
          </a:p>
          <a:p>
            <a:pPr marL="0" indent="0">
              <a:buNone/>
            </a:pPr>
            <a:r>
              <a:rPr lang="en-US" sz="1800" dirty="0">
                <a:solidFill>
                  <a:schemeClr val="bg1"/>
                </a:solidFill>
              </a:rPr>
              <a:t>bupropion + NRT</a:t>
            </a:r>
            <a:endParaRPr lang="en-US" sz="3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err="1">
                <a:solidFill>
                  <a:schemeClr val="accent1"/>
                </a:solidFill>
              </a:rPr>
              <a:t>Görüşme</a:t>
            </a:r>
            <a:r>
              <a:rPr lang="en-US" sz="3600" b="1" dirty="0">
                <a:solidFill>
                  <a:schemeClr val="accent1"/>
                </a:solidFill>
              </a:rPr>
              <a:t> sayısı, FNBT ve paket-yıl</a:t>
            </a:r>
            <a:endParaRPr lang="en-US" sz="3600" dirty="0"/>
          </a:p>
        </p:txBody>
      </p:sp>
      <p:sp>
        <p:nvSpPr>
          <p:cNvPr id="4" name="Görsel çerçeve"/>
          <p:cNvSpPr/>
          <p:nvPr/>
        </p:nvSpPr>
        <p:spPr>
          <a:xfrm>
            <a:off x="548640" y="1325880"/>
            <a:ext cx="11091672" cy="2713227"/>
          </a:xfrm>
          <a:prstGeom prst="rect">
            <a:avLst/>
          </a:prstGeom>
          <a:solidFill>
            <a:schemeClr val="bg1"/>
          </a:solidFill>
          <a:ln w="12700">
            <a:solidFill>
              <a:srgbClr val="C9DCDF"/>
            </a:solidFill>
            <a:prstDash val="solid"/>
          </a:ln>
        </p:spPr>
      </p:sp>
      <p:pic>
        <p:nvPicPr>
          <p:cNvPr id="5" name="Tablo 4: Sigara ve tedavi parametrelerinin bırakma durumu ile karşılaştırılması" descr="Tablo 4: Sigara ve tedavi parametrelerinin bırakma durumu ile karşılaştırılması"/>
          <p:cNvPicPr>
            <a:picLocks noChangeAspect="1"/>
          </p:cNvPicPr>
          <p:nvPr/>
        </p:nvPicPr>
        <p:blipFill>
          <a:blip r:embed="rId3"/>
          <a:stretch>
            <a:fillRect/>
          </a:stretch>
        </p:blipFill>
        <p:spPr>
          <a:xfrm>
            <a:off x="548640" y="1325880"/>
            <a:ext cx="11091672" cy="2713227"/>
          </a:xfrm>
          <a:prstGeom prst="rect">
            <a:avLst/>
          </a:prstGeom>
        </p:spPr>
      </p:pic>
      <p:sp>
        <p:nvSpPr>
          <p:cNvPr id="6" name="Kart"/>
          <p:cNvSpPr/>
          <p:nvPr/>
        </p:nvSpPr>
        <p:spPr>
          <a:xfrm>
            <a:off x="548640" y="4359147"/>
            <a:ext cx="3566160" cy="1767333"/>
          </a:xfrm>
          <a:prstGeom prst="roundRect">
            <a:avLst>
              <a:gd name="adj" fmla="val 6209"/>
            </a:avLst>
          </a:prstGeom>
          <a:solidFill>
            <a:schemeClr val="accent1"/>
          </a:solidFill>
          <a:ln w="12700">
            <a:solidFill>
              <a:schemeClr val="accent1"/>
            </a:solidFill>
            <a:prstDash val="solid"/>
          </a:ln>
        </p:spPr>
      </p:sp>
      <p:sp>
        <p:nvSpPr>
          <p:cNvPr id="7" name="Text 3"/>
          <p:cNvSpPr txBox="1"/>
          <p:nvPr/>
        </p:nvSpPr>
        <p:spPr>
          <a:xfrm>
            <a:off x="731520" y="4359147"/>
            <a:ext cx="3200400" cy="1767333"/>
          </a:xfrm>
          <a:prstGeom prst="rect">
            <a:avLst/>
          </a:prstGeom>
          <a:noFill/>
          <a:ln/>
        </p:spPr>
        <p:txBody>
          <a:bodyPr wrap="square" lIns="0" tIns="0" rIns="0" bIns="0" rtlCol="0" anchor="ctr"/>
          <a:lstStyle/>
          <a:p>
            <a:pPr marL="0" indent="0" algn="ctr">
              <a:buNone/>
            </a:pPr>
            <a:r>
              <a:rPr lang="en-US" sz="2000" b="1" dirty="0">
                <a:solidFill>
                  <a:schemeClr val="bg1"/>
                </a:solidFill>
              </a:rPr>
              <a:t>Görüşme sayısı</a:t>
            </a:r>
            <a:endParaRPr lang="en-US" sz="2000" dirty="0"/>
          </a:p>
          <a:p>
            <a:pPr marL="0" indent="0" algn="ctr">
              <a:buNone/>
            </a:pPr>
            <a:r>
              <a:rPr lang="en-US" sz="3000" b="1" dirty="0">
                <a:solidFill>
                  <a:schemeClr val="bg1"/>
                </a:solidFill>
              </a:rPr>
              <a:t>p &lt; 0,001</a:t>
            </a:r>
            <a:endParaRPr lang="en-US" sz="2000" dirty="0"/>
          </a:p>
          <a:p>
            <a:pPr marL="0" indent="0" algn="ctr">
              <a:buNone/>
            </a:pPr>
            <a:r>
              <a:rPr lang="en-US" sz="1800" dirty="0">
                <a:solidFill>
                  <a:schemeClr val="bg1"/>
                </a:solidFill>
              </a:rPr>
              <a:t>Başarılı 2,83; başarısız 1,96</a:t>
            </a:r>
            <a:endParaRPr lang="en-US" sz="2000" dirty="0"/>
          </a:p>
        </p:txBody>
      </p:sp>
      <p:sp>
        <p:nvSpPr>
          <p:cNvPr id="8" name="Kart"/>
          <p:cNvSpPr/>
          <p:nvPr/>
        </p:nvSpPr>
        <p:spPr>
          <a:xfrm>
            <a:off x="4297680" y="4359147"/>
            <a:ext cx="3566160" cy="1767333"/>
          </a:xfrm>
          <a:prstGeom prst="roundRect">
            <a:avLst>
              <a:gd name="adj" fmla="val 6209"/>
            </a:avLst>
          </a:prstGeom>
          <a:solidFill>
            <a:schemeClr val="bg2"/>
          </a:solidFill>
          <a:ln w="12700">
            <a:solidFill>
              <a:schemeClr val="bg2"/>
            </a:solidFill>
            <a:prstDash val="solid"/>
          </a:ln>
        </p:spPr>
      </p:sp>
      <p:sp>
        <p:nvSpPr>
          <p:cNvPr id="9" name="Text 5"/>
          <p:cNvSpPr txBox="1"/>
          <p:nvPr/>
        </p:nvSpPr>
        <p:spPr>
          <a:xfrm>
            <a:off x="4480560" y="4359147"/>
            <a:ext cx="3200400" cy="1767333"/>
          </a:xfrm>
          <a:prstGeom prst="rect">
            <a:avLst/>
          </a:prstGeom>
          <a:noFill/>
          <a:ln/>
        </p:spPr>
        <p:txBody>
          <a:bodyPr wrap="square" lIns="0" tIns="0" rIns="0" bIns="0" rtlCol="0" anchor="ctr"/>
          <a:lstStyle/>
          <a:p>
            <a:pPr marL="0" indent="0" algn="ctr">
              <a:buNone/>
            </a:pPr>
            <a:r>
              <a:rPr lang="en-US" sz="2000" b="1" dirty="0">
                <a:solidFill>
                  <a:schemeClr val="accent1"/>
                </a:solidFill>
              </a:rPr>
              <a:t>FNBT puanı</a:t>
            </a:r>
            <a:endParaRPr lang="en-US" sz="2000" dirty="0"/>
          </a:p>
          <a:p>
            <a:pPr marL="0" indent="0" algn="ctr">
              <a:buNone/>
            </a:pPr>
            <a:r>
              <a:rPr lang="en-US" sz="3000" b="1" dirty="0">
                <a:solidFill>
                  <a:schemeClr val="accent2"/>
                </a:solidFill>
              </a:rPr>
              <a:t>p = 0,024</a:t>
            </a:r>
            <a:endParaRPr lang="en-US" sz="2000" dirty="0"/>
          </a:p>
          <a:p>
            <a:pPr marL="0" indent="0" algn="ctr">
              <a:buNone/>
            </a:pPr>
            <a:r>
              <a:rPr lang="en-US" sz="1800" dirty="0">
                <a:solidFill>
                  <a:schemeClr val="accent1"/>
                </a:solidFill>
              </a:rPr>
              <a:t>Başarılı 5,26; başarısız 5,85</a:t>
            </a:r>
            <a:endParaRPr lang="en-US" sz="2000" dirty="0"/>
          </a:p>
        </p:txBody>
      </p:sp>
      <p:sp>
        <p:nvSpPr>
          <p:cNvPr id="10" name="Kart"/>
          <p:cNvSpPr/>
          <p:nvPr/>
        </p:nvSpPr>
        <p:spPr>
          <a:xfrm>
            <a:off x="8046720" y="4359147"/>
            <a:ext cx="3566160" cy="1767333"/>
          </a:xfrm>
          <a:prstGeom prst="roundRect">
            <a:avLst>
              <a:gd name="adj" fmla="val 6209"/>
            </a:avLst>
          </a:prstGeom>
          <a:solidFill>
            <a:schemeClr val="bg2"/>
          </a:solidFill>
          <a:ln w="12700">
            <a:solidFill>
              <a:schemeClr val="bg2"/>
            </a:solidFill>
            <a:prstDash val="solid"/>
          </a:ln>
        </p:spPr>
      </p:sp>
      <p:sp>
        <p:nvSpPr>
          <p:cNvPr id="11" name="Text 7"/>
          <p:cNvSpPr txBox="1"/>
          <p:nvPr/>
        </p:nvSpPr>
        <p:spPr>
          <a:xfrm>
            <a:off x="8229600" y="4359147"/>
            <a:ext cx="3200400" cy="1767333"/>
          </a:xfrm>
          <a:prstGeom prst="rect">
            <a:avLst/>
          </a:prstGeom>
          <a:noFill/>
          <a:ln/>
        </p:spPr>
        <p:txBody>
          <a:bodyPr wrap="square" lIns="0" tIns="0" rIns="0" bIns="0" rtlCol="0" anchor="ctr"/>
          <a:lstStyle/>
          <a:p>
            <a:pPr marL="0" indent="0" algn="ctr">
              <a:buNone/>
            </a:pPr>
            <a:r>
              <a:rPr lang="en-US" sz="2000" b="1" dirty="0">
                <a:solidFill>
                  <a:schemeClr val="accent1"/>
                </a:solidFill>
              </a:rPr>
              <a:t>Paket-yıl</a:t>
            </a:r>
            <a:endParaRPr lang="en-US" sz="2000" dirty="0"/>
          </a:p>
          <a:p>
            <a:pPr marL="0" indent="0" algn="ctr">
              <a:buNone/>
            </a:pPr>
            <a:r>
              <a:rPr lang="en-US" sz="3000" b="1" dirty="0">
                <a:solidFill>
                  <a:schemeClr val="accent2"/>
                </a:solidFill>
              </a:rPr>
              <a:t>Fark yok</a:t>
            </a:r>
            <a:endParaRPr lang="en-US" sz="2000" dirty="0"/>
          </a:p>
          <a:p>
            <a:pPr marL="0" indent="0" algn="ctr">
              <a:buNone/>
            </a:pPr>
            <a:r>
              <a:rPr lang="en-US" sz="1800" dirty="0">
                <a:solidFill>
                  <a:schemeClr val="accent1"/>
                </a:solidFill>
              </a:rPr>
              <a:t>İki grup benzer</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39" y="320040"/>
            <a:ext cx="11643361" cy="868680"/>
          </a:xfrm>
          <a:prstGeom prst="rect">
            <a:avLst/>
          </a:prstGeom>
          <a:noFill/>
          <a:ln/>
        </p:spPr>
        <p:txBody>
          <a:bodyPr wrap="square" lIns="0" tIns="0" rIns="0" bIns="0" rtlCol="0" anchor="ctr"/>
          <a:lstStyle/>
          <a:p>
            <a:r>
              <a:rPr lang="tr-TR" sz="3200" dirty="0"/>
              <a:t>Tedavi yöntemlerinin sigara bırakma durumu ile karşılaştırılması</a:t>
            </a:r>
            <a:endParaRPr lang="en-US" sz="3200" dirty="0"/>
          </a:p>
        </p:txBody>
      </p:sp>
      <p:sp>
        <p:nvSpPr>
          <p:cNvPr id="4" name="Görsel çerçeve"/>
          <p:cNvSpPr/>
          <p:nvPr/>
        </p:nvSpPr>
        <p:spPr>
          <a:xfrm>
            <a:off x="548640" y="1325880"/>
            <a:ext cx="11091672" cy="3216842"/>
          </a:xfrm>
          <a:prstGeom prst="rect">
            <a:avLst/>
          </a:prstGeom>
          <a:solidFill>
            <a:schemeClr val="bg1"/>
          </a:solidFill>
          <a:ln w="12700">
            <a:solidFill>
              <a:srgbClr val="C9DCDF"/>
            </a:solidFill>
            <a:prstDash val="solid"/>
          </a:ln>
        </p:spPr>
        <p:txBody>
          <a:bodyPr/>
          <a:lstStyle/>
          <a:p>
            <a:endParaRPr/>
          </a:p>
        </p:txBody>
      </p:sp>
      <p:pic>
        <p:nvPicPr>
          <p:cNvPr id="5" name="Tablo 5: Tedavi yöntemlerinin bırakma durumu ile karşılaştırılması" descr="Tablo 5: Tedavi yöntemlerinin bırakma durumu ile karşılaştırılması"/>
          <p:cNvPicPr>
            <a:picLocks noChangeAspect="1"/>
          </p:cNvPicPr>
          <p:nvPr/>
        </p:nvPicPr>
        <p:blipFill>
          <a:blip r:embed="rId3"/>
          <a:stretch>
            <a:fillRect/>
          </a:stretch>
        </p:blipFill>
        <p:spPr>
          <a:xfrm>
            <a:off x="548640" y="1325880"/>
            <a:ext cx="11091672" cy="3216842"/>
          </a:xfrm>
          <a:prstGeom prst="rect">
            <a:avLst/>
          </a:prstGeom>
        </p:spPr>
      </p:pic>
      <p:sp>
        <p:nvSpPr>
          <p:cNvPr id="6" name="Kart"/>
          <p:cNvSpPr/>
          <p:nvPr/>
        </p:nvSpPr>
        <p:spPr>
          <a:xfrm>
            <a:off x="548640" y="4817042"/>
            <a:ext cx="3566160" cy="1309438"/>
          </a:xfrm>
          <a:prstGeom prst="roundRect">
            <a:avLst>
              <a:gd name="adj" fmla="val 8380"/>
            </a:avLst>
          </a:prstGeom>
          <a:solidFill>
            <a:schemeClr val="bg2"/>
          </a:solidFill>
          <a:ln w="12700">
            <a:solidFill>
              <a:schemeClr val="bg2"/>
            </a:solidFill>
            <a:prstDash val="solid"/>
          </a:ln>
        </p:spPr>
        <p:txBody>
          <a:bodyPr/>
          <a:lstStyle/>
          <a:p>
            <a:endParaRPr/>
          </a:p>
        </p:txBody>
      </p:sp>
      <p:sp>
        <p:nvSpPr>
          <p:cNvPr id="7" name="Text 3"/>
          <p:cNvSpPr txBox="1"/>
          <p:nvPr/>
        </p:nvSpPr>
        <p:spPr>
          <a:xfrm>
            <a:off x="731520" y="4817042"/>
            <a:ext cx="3200400" cy="1309438"/>
          </a:xfrm>
          <a:prstGeom prst="rect">
            <a:avLst/>
          </a:prstGeom>
          <a:noFill/>
          <a:ln/>
        </p:spPr>
        <p:txBody>
          <a:bodyPr wrap="square" lIns="0" tIns="0" rIns="0" bIns="0" rtlCol="0" anchor="ctr"/>
          <a:lstStyle/>
          <a:p>
            <a:pPr marL="0" indent="0" algn="ctr">
              <a:buNone/>
            </a:pPr>
            <a:r>
              <a:rPr lang="en-US" sz="2000" b="1" dirty="0">
                <a:solidFill>
                  <a:schemeClr val="accent1"/>
                </a:solidFill>
              </a:rPr>
              <a:t>En yüksek</a:t>
            </a:r>
            <a:endParaRPr lang="en-US" sz="2000" dirty="0"/>
          </a:p>
          <a:p>
            <a:pPr marL="0" indent="0" algn="ctr">
              <a:buNone/>
            </a:pPr>
            <a:r>
              <a:rPr lang="en-US" sz="2200" dirty="0">
                <a:solidFill>
                  <a:schemeClr val="accent1"/>
                </a:solidFill>
              </a:rPr>
              <a:t>Kombine tedavi %4</a:t>
            </a:r>
            <a:r>
              <a:rPr lang="tr-TR" sz="2200" dirty="0">
                <a:solidFill>
                  <a:schemeClr val="accent1"/>
                </a:solidFill>
              </a:rPr>
              <a:t>3</a:t>
            </a:r>
            <a:r>
              <a:rPr lang="en-US" sz="2200" dirty="0">
                <a:solidFill>
                  <a:schemeClr val="accent1"/>
                </a:solidFill>
              </a:rPr>
              <a:t>,</a:t>
            </a:r>
            <a:r>
              <a:rPr lang="tr-TR" sz="2200" dirty="0">
                <a:solidFill>
                  <a:schemeClr val="accent1"/>
                </a:solidFill>
              </a:rPr>
              <a:t>98</a:t>
            </a:r>
            <a:endParaRPr lang="en-US" sz="2000" dirty="0"/>
          </a:p>
        </p:txBody>
      </p:sp>
      <p:sp>
        <p:nvSpPr>
          <p:cNvPr id="8" name="Kart"/>
          <p:cNvSpPr/>
          <p:nvPr/>
        </p:nvSpPr>
        <p:spPr>
          <a:xfrm>
            <a:off x="4297680" y="4817042"/>
            <a:ext cx="3566160" cy="1309438"/>
          </a:xfrm>
          <a:prstGeom prst="roundRect">
            <a:avLst>
              <a:gd name="adj" fmla="val 8380"/>
            </a:avLst>
          </a:prstGeom>
          <a:solidFill>
            <a:schemeClr val="accent1"/>
          </a:solidFill>
          <a:ln w="12700">
            <a:solidFill>
              <a:schemeClr val="accent1"/>
            </a:solidFill>
            <a:prstDash val="solid"/>
          </a:ln>
        </p:spPr>
        <p:txBody>
          <a:bodyPr/>
          <a:lstStyle/>
          <a:p>
            <a:endParaRPr/>
          </a:p>
        </p:txBody>
      </p:sp>
      <p:sp>
        <p:nvSpPr>
          <p:cNvPr id="9" name="Text 5"/>
          <p:cNvSpPr txBox="1"/>
          <p:nvPr/>
        </p:nvSpPr>
        <p:spPr>
          <a:xfrm>
            <a:off x="4480560" y="4826373"/>
            <a:ext cx="3200400" cy="1309438"/>
          </a:xfrm>
          <a:prstGeom prst="rect">
            <a:avLst/>
          </a:prstGeom>
          <a:noFill/>
          <a:ln/>
        </p:spPr>
        <p:txBody>
          <a:bodyPr wrap="square" lIns="0" tIns="0" rIns="0" bIns="0" rtlCol="0" anchor="ctr"/>
          <a:lstStyle/>
          <a:p>
            <a:pPr marL="0" indent="0" algn="ctr">
              <a:buNone/>
            </a:pPr>
            <a:r>
              <a:rPr lang="en-US" sz="2000" b="1" dirty="0">
                <a:solidFill>
                  <a:schemeClr val="bg1"/>
                </a:solidFill>
              </a:rPr>
              <a:t>En düşük</a:t>
            </a:r>
            <a:endParaRPr lang="en-US" sz="2000" dirty="0"/>
          </a:p>
          <a:p>
            <a:pPr marL="0" indent="0" algn="ctr">
              <a:buNone/>
            </a:pPr>
            <a:r>
              <a:rPr lang="en-US" sz="2200" dirty="0">
                <a:solidFill>
                  <a:schemeClr val="bg1"/>
                </a:solidFill>
              </a:rPr>
              <a:t>Bupropion %16,5</a:t>
            </a:r>
            <a:r>
              <a:rPr lang="tr-TR" sz="2200" dirty="0">
                <a:solidFill>
                  <a:schemeClr val="bg1"/>
                </a:solidFill>
              </a:rPr>
              <a:t>2</a:t>
            </a:r>
            <a:endParaRPr lang="en-US" sz="2000" dirty="0"/>
          </a:p>
        </p:txBody>
      </p:sp>
      <p:sp>
        <p:nvSpPr>
          <p:cNvPr id="10" name="Kart"/>
          <p:cNvSpPr/>
          <p:nvPr/>
        </p:nvSpPr>
        <p:spPr>
          <a:xfrm>
            <a:off x="8046720" y="4817042"/>
            <a:ext cx="3566160" cy="1309438"/>
          </a:xfrm>
          <a:prstGeom prst="roundRect">
            <a:avLst>
              <a:gd name="adj" fmla="val 8380"/>
            </a:avLst>
          </a:prstGeom>
          <a:solidFill>
            <a:schemeClr val="bg2"/>
          </a:solidFill>
          <a:ln w="12700">
            <a:solidFill>
              <a:schemeClr val="bg2"/>
            </a:solidFill>
            <a:prstDash val="solid"/>
          </a:ln>
        </p:spPr>
        <p:txBody>
          <a:bodyPr/>
          <a:lstStyle/>
          <a:p>
            <a:endParaRPr/>
          </a:p>
        </p:txBody>
      </p:sp>
      <p:sp>
        <p:nvSpPr>
          <p:cNvPr id="11" name="Text 7"/>
          <p:cNvSpPr txBox="1"/>
          <p:nvPr/>
        </p:nvSpPr>
        <p:spPr>
          <a:xfrm>
            <a:off x="8229600" y="4817042"/>
            <a:ext cx="3200400" cy="1309438"/>
          </a:xfrm>
          <a:prstGeom prst="rect">
            <a:avLst/>
          </a:prstGeom>
          <a:noFill/>
          <a:ln/>
        </p:spPr>
        <p:txBody>
          <a:bodyPr wrap="square" lIns="0" tIns="0" rIns="0" bIns="0" rtlCol="0" anchor="ctr"/>
          <a:lstStyle/>
          <a:p>
            <a:pPr marL="0" indent="0" algn="ctr">
              <a:buNone/>
            </a:pPr>
            <a:r>
              <a:rPr lang="en-US" sz="2000" b="1" dirty="0">
                <a:solidFill>
                  <a:schemeClr val="accent1"/>
                </a:solidFill>
              </a:rPr>
              <a:t>Gruplar arası</a:t>
            </a:r>
            <a:endParaRPr lang="en-US" sz="2000" dirty="0"/>
          </a:p>
          <a:p>
            <a:pPr marL="0" indent="0" algn="ctr">
              <a:buNone/>
            </a:pPr>
            <a:r>
              <a:rPr lang="en-US" sz="2200" dirty="0">
                <a:solidFill>
                  <a:schemeClr val="accent1"/>
                </a:solidFill>
              </a:rPr>
              <a:t>p &lt; 0,001</a:t>
            </a:r>
            <a:endParaRPr lang="en-US" sz="20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r>
              <a:rPr lang="tr-TR" dirty="0"/>
              <a:t>Sigara bırakma durumunu öngören tedavi yöntemleri ve ilişkili özelliklerin ileri analizi (lojistik regresyon)</a:t>
            </a:r>
            <a:endParaRPr lang="en-US" sz="3600" dirty="0"/>
          </a:p>
        </p:txBody>
      </p:sp>
      <p:sp>
        <p:nvSpPr>
          <p:cNvPr id="4" name="Görsel çerçeve"/>
          <p:cNvSpPr/>
          <p:nvPr/>
        </p:nvSpPr>
        <p:spPr>
          <a:xfrm>
            <a:off x="548640" y="1325880"/>
            <a:ext cx="7841940" cy="4892040"/>
          </a:xfrm>
          <a:prstGeom prst="rect">
            <a:avLst/>
          </a:prstGeom>
          <a:solidFill>
            <a:schemeClr val="bg1"/>
          </a:solidFill>
          <a:ln w="12700">
            <a:solidFill>
              <a:srgbClr val="C9DCDF"/>
            </a:solidFill>
            <a:prstDash val="solid"/>
          </a:ln>
        </p:spPr>
      </p:sp>
      <p:pic>
        <p:nvPicPr>
          <p:cNvPr id="5" name="Tablo 6: Lojistik regresyon sonuçları" descr="Tablo 6: Lojistik regresyon sonuçları"/>
          <p:cNvPicPr>
            <a:picLocks noChangeAspect="1"/>
          </p:cNvPicPr>
          <p:nvPr/>
        </p:nvPicPr>
        <p:blipFill>
          <a:blip r:embed="rId3"/>
          <a:stretch>
            <a:fillRect/>
          </a:stretch>
        </p:blipFill>
        <p:spPr>
          <a:xfrm>
            <a:off x="548640" y="1325880"/>
            <a:ext cx="7841940" cy="4892040"/>
          </a:xfrm>
          <a:prstGeom prst="rect">
            <a:avLst/>
          </a:prstGeom>
        </p:spPr>
      </p:pic>
      <p:sp>
        <p:nvSpPr>
          <p:cNvPr id="6" name="Kart"/>
          <p:cNvSpPr/>
          <p:nvPr/>
        </p:nvSpPr>
        <p:spPr>
          <a:xfrm>
            <a:off x="8710620" y="1325880"/>
            <a:ext cx="2929692" cy="4892040"/>
          </a:xfrm>
          <a:prstGeom prst="roundRect">
            <a:avLst>
              <a:gd name="adj" fmla="val 3745"/>
            </a:avLst>
          </a:prstGeom>
          <a:solidFill>
            <a:schemeClr val="accent1"/>
          </a:solidFill>
          <a:ln w="12700">
            <a:solidFill>
              <a:schemeClr val="accent1"/>
            </a:solidFill>
            <a:prstDash val="solid"/>
          </a:ln>
        </p:spPr>
      </p:sp>
      <p:sp>
        <p:nvSpPr>
          <p:cNvPr id="7" name="Text 3"/>
          <p:cNvSpPr txBox="1"/>
          <p:nvPr/>
        </p:nvSpPr>
        <p:spPr>
          <a:xfrm>
            <a:off x="8939220" y="1508760"/>
            <a:ext cx="2472492" cy="4526280"/>
          </a:xfrm>
          <a:prstGeom prst="rect">
            <a:avLst/>
          </a:prstGeom>
          <a:noFill/>
          <a:ln/>
        </p:spPr>
        <p:txBody>
          <a:bodyPr wrap="square" lIns="0" tIns="0" rIns="0" bIns="0" rtlCol="0" anchor="t"/>
          <a:lstStyle/>
          <a:p>
            <a:pPr marL="0" indent="0">
              <a:spcAft>
                <a:spcPts val="1200"/>
              </a:spcAft>
              <a:buNone/>
            </a:pPr>
            <a:r>
              <a:rPr lang="en-US" sz="1800" b="1" dirty="0">
                <a:solidFill>
                  <a:schemeClr val="bg1"/>
                </a:solidFill>
              </a:rPr>
              <a:t>Referans: bupropion</a:t>
            </a:r>
            <a:endParaRPr lang="en-US" sz="1800" dirty="0"/>
          </a:p>
          <a:p>
            <a:pPr marL="0" indent="0">
              <a:buNone/>
            </a:pPr>
            <a:r>
              <a:rPr lang="en-US" sz="3000" b="1" dirty="0">
                <a:solidFill>
                  <a:schemeClr val="bg1"/>
                </a:solidFill>
              </a:rPr>
              <a:t>4,0 kat</a:t>
            </a:r>
            <a:endParaRPr lang="en-US" sz="1800" dirty="0"/>
          </a:p>
          <a:p>
            <a:pPr marL="0" indent="0">
              <a:spcAft>
                <a:spcPts val="1200"/>
              </a:spcAft>
              <a:buNone/>
            </a:pPr>
            <a:r>
              <a:rPr lang="en-US" sz="1800" dirty="0">
                <a:solidFill>
                  <a:schemeClr val="bg1"/>
                </a:solidFill>
              </a:rPr>
              <a:t>vareniklin, kombine</a:t>
            </a:r>
            <a:endParaRPr lang="en-US" sz="1800" dirty="0"/>
          </a:p>
          <a:p>
            <a:pPr marL="0" indent="0">
              <a:buNone/>
            </a:pPr>
            <a:r>
              <a:rPr lang="en-US" sz="3000" b="1" dirty="0">
                <a:solidFill>
                  <a:schemeClr val="bg1"/>
                </a:solidFill>
              </a:rPr>
              <a:t>2,0 kat</a:t>
            </a:r>
            <a:endParaRPr lang="en-US" sz="1800" dirty="0"/>
          </a:p>
          <a:p>
            <a:pPr marL="0" indent="0">
              <a:spcAft>
                <a:spcPts val="1200"/>
              </a:spcAft>
              <a:buNone/>
            </a:pPr>
            <a:r>
              <a:rPr lang="en-US" sz="1800" dirty="0">
                <a:solidFill>
                  <a:schemeClr val="bg1"/>
                </a:solidFill>
              </a:rPr>
              <a:t>hanede sigara içen yok</a:t>
            </a:r>
            <a:endParaRPr lang="en-US" sz="1800" dirty="0"/>
          </a:p>
          <a:p>
            <a:pPr marL="0" indent="0">
              <a:buNone/>
            </a:pPr>
            <a:r>
              <a:rPr lang="en-US" sz="3000" b="1" dirty="0">
                <a:solidFill>
                  <a:schemeClr val="bg1"/>
                </a:solidFill>
              </a:rPr>
              <a:t>1,6 kat</a:t>
            </a:r>
            <a:endParaRPr lang="en-US" sz="1800" dirty="0"/>
          </a:p>
          <a:p>
            <a:pPr marL="0" indent="0">
              <a:buNone/>
            </a:pPr>
            <a:r>
              <a:rPr lang="en-US" sz="1800" dirty="0">
                <a:solidFill>
                  <a:schemeClr val="bg1"/>
                </a:solidFill>
              </a:rPr>
              <a:t>yakınma yok</a:t>
            </a:r>
            <a:endParaRPr lang="en-US" sz="18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Tartışma: tedaviler ve literatür</a:t>
            </a:r>
            <a:endParaRPr lang="en-US" sz="3600" dirty="0"/>
          </a:p>
        </p:txBody>
      </p:sp>
      <p:sp>
        <p:nvSpPr>
          <p:cNvPr id="4" name="Ikon zemini"/>
          <p:cNvSpPr/>
          <p:nvPr/>
        </p:nvSpPr>
        <p:spPr>
          <a:xfrm>
            <a:off x="548640" y="1444752"/>
            <a:ext cx="868680" cy="868680"/>
          </a:xfrm>
          <a:prstGeom prst="ellipse">
            <a:avLst/>
          </a:prstGeom>
          <a:solidFill>
            <a:schemeClr val="accent2"/>
          </a:solidFill>
          <a:ln w="12700">
            <a:solidFill>
              <a:schemeClr val="accent2"/>
            </a:solidFill>
            <a:prstDash val="solid"/>
          </a:ln>
        </p:spPr>
        <p:txBody>
          <a:bodyPr/>
          <a:lstStyle/>
          <a:p>
            <a:endParaRPr/>
          </a:p>
        </p:txBody>
      </p:sp>
      <p:pic>
        <p:nvPicPr>
          <p:cNvPr id="5" name="Ikon" descr="FaPills"/>
          <p:cNvPicPr>
            <a:picLocks noChangeAspect="1"/>
          </p:cNvPicPr>
          <p:nvPr/>
        </p:nvPicPr>
        <p:blipFill>
          <a:blip r:embed="rId3"/>
          <a:stretch>
            <a:fillRect/>
          </a:stretch>
        </p:blipFill>
        <p:spPr>
          <a:xfrm>
            <a:off x="774497" y="1670609"/>
            <a:ext cx="416966" cy="416966"/>
          </a:xfrm>
          <a:prstGeom prst="rect">
            <a:avLst/>
          </a:prstGeom>
        </p:spPr>
      </p:pic>
      <p:sp>
        <p:nvSpPr>
          <p:cNvPr id="6" name="Text 2"/>
          <p:cNvSpPr txBox="1"/>
          <p:nvPr/>
        </p:nvSpPr>
        <p:spPr>
          <a:xfrm>
            <a:off x="1691640" y="1371600"/>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Vareniklin</a:t>
            </a:r>
            <a:endParaRPr lang="en-US" sz="2600" dirty="0"/>
          </a:p>
        </p:txBody>
      </p:sp>
      <p:sp>
        <p:nvSpPr>
          <p:cNvPr id="7" name="Text 3"/>
          <p:cNvSpPr txBox="1"/>
          <p:nvPr/>
        </p:nvSpPr>
        <p:spPr>
          <a:xfrm>
            <a:off x="4937760" y="1371600"/>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Bupropiona üstün; parsiyel agonist etkiyle açıklanmaktadır</a:t>
            </a:r>
            <a:r>
              <a:rPr lang="en-US" sz="1800" dirty="0">
                <a:solidFill>
                  <a:schemeClr val="accent3"/>
                </a:solidFill>
              </a:rPr>
              <a:t>  [8, 9]</a:t>
            </a:r>
            <a:endParaRPr lang="en-US" sz="2200" dirty="0"/>
          </a:p>
        </p:txBody>
      </p:sp>
      <p:sp>
        <p:nvSpPr>
          <p:cNvPr id="8" name="Ikon zemini"/>
          <p:cNvSpPr/>
          <p:nvPr/>
        </p:nvSpPr>
        <p:spPr>
          <a:xfrm>
            <a:off x="548640" y="2651760"/>
            <a:ext cx="868680" cy="868680"/>
          </a:xfrm>
          <a:prstGeom prst="ellipse">
            <a:avLst/>
          </a:prstGeom>
          <a:solidFill>
            <a:schemeClr val="accent1"/>
          </a:solidFill>
          <a:ln w="12700">
            <a:solidFill>
              <a:schemeClr val="accent1"/>
            </a:solidFill>
            <a:prstDash val="solid"/>
          </a:ln>
        </p:spPr>
        <p:txBody>
          <a:bodyPr/>
          <a:lstStyle/>
          <a:p>
            <a:endParaRPr/>
          </a:p>
        </p:txBody>
      </p:sp>
      <p:pic>
        <p:nvPicPr>
          <p:cNvPr id="9" name="Ikon" descr="FaLeaf"/>
          <p:cNvPicPr>
            <a:picLocks noChangeAspect="1"/>
          </p:cNvPicPr>
          <p:nvPr/>
        </p:nvPicPr>
        <p:blipFill>
          <a:blip r:embed="rId4"/>
          <a:stretch>
            <a:fillRect/>
          </a:stretch>
        </p:blipFill>
        <p:spPr>
          <a:xfrm>
            <a:off x="774497" y="2877617"/>
            <a:ext cx="416966" cy="416966"/>
          </a:xfrm>
          <a:prstGeom prst="rect">
            <a:avLst/>
          </a:prstGeom>
        </p:spPr>
      </p:pic>
      <p:sp>
        <p:nvSpPr>
          <p:cNvPr id="10" name="Text 5"/>
          <p:cNvSpPr txBox="1"/>
          <p:nvPr/>
        </p:nvSpPr>
        <p:spPr>
          <a:xfrm>
            <a:off x="1691640" y="2578608"/>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Sitizin</a:t>
            </a:r>
            <a:endParaRPr lang="en-US" sz="2600" dirty="0"/>
          </a:p>
        </p:txBody>
      </p:sp>
      <p:sp>
        <p:nvSpPr>
          <p:cNvPr id="11" name="Text 6"/>
          <p:cNvSpPr txBox="1"/>
          <p:nvPr/>
        </p:nvSpPr>
        <p:spPr>
          <a:xfrm>
            <a:off x="4937760" y="2578608"/>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Plaseboya üstün; NRT </a:t>
            </a:r>
            <a:r>
              <a:rPr lang="tr-TR" sz="2200" dirty="0">
                <a:solidFill>
                  <a:schemeClr val="accent1"/>
                </a:solidFill>
              </a:rPr>
              <a:t>ile benzer etkinlik </a:t>
            </a:r>
            <a:r>
              <a:rPr lang="en-US" sz="2200" dirty="0" err="1">
                <a:solidFill>
                  <a:schemeClr val="accent1"/>
                </a:solidFill>
              </a:rPr>
              <a:t>ve</a:t>
            </a:r>
            <a:r>
              <a:rPr lang="en-US" sz="2200" dirty="0">
                <a:solidFill>
                  <a:schemeClr val="accent1"/>
                </a:solidFill>
              </a:rPr>
              <a:t> </a:t>
            </a:r>
            <a:r>
              <a:rPr lang="en-US" sz="2200" dirty="0" err="1">
                <a:solidFill>
                  <a:schemeClr val="accent1"/>
                </a:solidFill>
              </a:rPr>
              <a:t>vareniklinle</a:t>
            </a:r>
            <a:r>
              <a:rPr lang="en-US" sz="2200" dirty="0">
                <a:solidFill>
                  <a:schemeClr val="accent1"/>
                </a:solidFill>
              </a:rPr>
              <a:t> </a:t>
            </a:r>
            <a:r>
              <a:rPr lang="en-US" sz="2200" dirty="0" err="1">
                <a:solidFill>
                  <a:schemeClr val="accent1"/>
                </a:solidFill>
              </a:rPr>
              <a:t>benzer</a:t>
            </a:r>
            <a:r>
              <a:rPr lang="tr-TR" sz="2200" dirty="0">
                <a:solidFill>
                  <a:schemeClr val="accent1"/>
                </a:solidFill>
              </a:rPr>
              <a:t> etki mekanizması</a:t>
            </a:r>
            <a:r>
              <a:rPr lang="en-US" sz="1800" dirty="0">
                <a:solidFill>
                  <a:schemeClr val="accent3"/>
                </a:solidFill>
              </a:rPr>
              <a:t>  [10, 11]</a:t>
            </a:r>
            <a:endParaRPr lang="en-US" sz="2200" dirty="0"/>
          </a:p>
        </p:txBody>
      </p:sp>
      <p:sp>
        <p:nvSpPr>
          <p:cNvPr id="12" name="Ikon zemini"/>
          <p:cNvSpPr/>
          <p:nvPr/>
        </p:nvSpPr>
        <p:spPr>
          <a:xfrm>
            <a:off x="548640" y="3858768"/>
            <a:ext cx="868680" cy="868680"/>
          </a:xfrm>
          <a:prstGeom prst="ellipse">
            <a:avLst/>
          </a:prstGeom>
          <a:solidFill>
            <a:schemeClr val="accent2"/>
          </a:solidFill>
          <a:ln w="12700">
            <a:solidFill>
              <a:schemeClr val="accent2"/>
            </a:solidFill>
            <a:prstDash val="solid"/>
          </a:ln>
        </p:spPr>
        <p:txBody>
          <a:bodyPr/>
          <a:lstStyle/>
          <a:p>
            <a:endParaRPr/>
          </a:p>
        </p:txBody>
      </p:sp>
      <p:pic>
        <p:nvPicPr>
          <p:cNvPr id="13" name="Ikon" descr="FaExchangeAlt"/>
          <p:cNvPicPr>
            <a:picLocks noChangeAspect="1"/>
          </p:cNvPicPr>
          <p:nvPr/>
        </p:nvPicPr>
        <p:blipFill>
          <a:blip r:embed="rId5"/>
          <a:stretch>
            <a:fillRect/>
          </a:stretch>
        </p:blipFill>
        <p:spPr>
          <a:xfrm>
            <a:off x="774497" y="4084625"/>
            <a:ext cx="416966" cy="416966"/>
          </a:xfrm>
          <a:prstGeom prst="rect">
            <a:avLst/>
          </a:prstGeom>
        </p:spPr>
      </p:pic>
      <p:sp>
        <p:nvSpPr>
          <p:cNvPr id="14" name="Text 8"/>
          <p:cNvSpPr txBox="1"/>
          <p:nvPr/>
        </p:nvSpPr>
        <p:spPr>
          <a:xfrm>
            <a:off x="1691640" y="3785616"/>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Kombine tedavi</a:t>
            </a:r>
            <a:endParaRPr lang="en-US" sz="2600" dirty="0"/>
          </a:p>
        </p:txBody>
      </p:sp>
      <p:sp>
        <p:nvSpPr>
          <p:cNvPr id="15" name="Text 9"/>
          <p:cNvSpPr txBox="1"/>
          <p:nvPr/>
        </p:nvSpPr>
        <p:spPr>
          <a:xfrm>
            <a:off x="4937760" y="3785616"/>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Kılavuz önerileriyle uyumlu</a:t>
            </a:r>
            <a:r>
              <a:rPr lang="en-US" sz="1800" dirty="0">
                <a:solidFill>
                  <a:schemeClr val="accent3"/>
                </a:solidFill>
              </a:rPr>
              <a:t>  [12]</a:t>
            </a:r>
            <a:endParaRPr lang="en-US" sz="2200" dirty="0"/>
          </a:p>
        </p:txBody>
      </p:sp>
      <p:sp>
        <p:nvSpPr>
          <p:cNvPr id="16" name="Ikon zemini"/>
          <p:cNvSpPr/>
          <p:nvPr/>
        </p:nvSpPr>
        <p:spPr>
          <a:xfrm>
            <a:off x="548640" y="5065776"/>
            <a:ext cx="868680" cy="868680"/>
          </a:xfrm>
          <a:prstGeom prst="ellipse">
            <a:avLst/>
          </a:prstGeom>
          <a:solidFill>
            <a:schemeClr val="accent1"/>
          </a:solidFill>
          <a:ln w="12700">
            <a:solidFill>
              <a:schemeClr val="accent1"/>
            </a:solidFill>
            <a:prstDash val="solid"/>
          </a:ln>
        </p:spPr>
        <p:txBody>
          <a:bodyPr/>
          <a:lstStyle/>
          <a:p>
            <a:endParaRPr/>
          </a:p>
        </p:txBody>
      </p:sp>
      <p:pic>
        <p:nvPicPr>
          <p:cNvPr id="17" name="Ikon" descr="FaBookMedical"/>
          <p:cNvPicPr>
            <a:picLocks noChangeAspect="1"/>
          </p:cNvPicPr>
          <p:nvPr/>
        </p:nvPicPr>
        <p:blipFill>
          <a:blip r:embed="rId6"/>
          <a:stretch>
            <a:fillRect/>
          </a:stretch>
        </p:blipFill>
        <p:spPr>
          <a:xfrm>
            <a:off x="774497" y="5291633"/>
            <a:ext cx="416966" cy="416966"/>
          </a:xfrm>
          <a:prstGeom prst="rect">
            <a:avLst/>
          </a:prstGeom>
        </p:spPr>
      </p:pic>
      <p:sp>
        <p:nvSpPr>
          <p:cNvPr id="18" name="Text 11"/>
          <p:cNvSpPr txBox="1"/>
          <p:nvPr/>
        </p:nvSpPr>
        <p:spPr>
          <a:xfrm>
            <a:off x="1691640" y="4992624"/>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Benli ve ark.</a:t>
            </a:r>
            <a:endParaRPr lang="en-US" sz="2600" dirty="0"/>
          </a:p>
        </p:txBody>
      </p:sp>
      <p:sp>
        <p:nvSpPr>
          <p:cNvPr id="19" name="Text 12"/>
          <p:cNvSpPr txBox="1"/>
          <p:nvPr/>
        </p:nvSpPr>
        <p:spPr>
          <a:xfrm>
            <a:off x="4937760" y="4992624"/>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Vareniklin ilk 6 ayda daha etkili</a:t>
            </a:r>
            <a:r>
              <a:rPr lang="en-US" sz="1800" dirty="0">
                <a:solidFill>
                  <a:schemeClr val="accent3"/>
                </a:solidFill>
              </a:rPr>
              <a:t>  [13]</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Tartışma: başarıyı etkileyen faktörler</a:t>
            </a:r>
            <a:endParaRPr lang="en-US" sz="3600" dirty="0"/>
          </a:p>
        </p:txBody>
      </p:sp>
      <p:sp>
        <p:nvSpPr>
          <p:cNvPr id="4" name="Ikon zemini"/>
          <p:cNvSpPr/>
          <p:nvPr/>
        </p:nvSpPr>
        <p:spPr>
          <a:xfrm>
            <a:off x="548640" y="1444752"/>
            <a:ext cx="868680" cy="868680"/>
          </a:xfrm>
          <a:prstGeom prst="ellipse">
            <a:avLst/>
          </a:prstGeom>
          <a:solidFill>
            <a:schemeClr val="accent2"/>
          </a:solidFill>
          <a:ln w="12700">
            <a:solidFill>
              <a:schemeClr val="accent2"/>
            </a:solidFill>
            <a:prstDash val="solid"/>
          </a:ln>
        </p:spPr>
        <p:txBody>
          <a:bodyPr/>
          <a:lstStyle/>
          <a:p>
            <a:endParaRPr/>
          </a:p>
        </p:txBody>
      </p:sp>
      <p:pic>
        <p:nvPicPr>
          <p:cNvPr id="5" name="Ikon" descr="FaComments"/>
          <p:cNvPicPr>
            <a:picLocks noChangeAspect="1"/>
          </p:cNvPicPr>
          <p:nvPr/>
        </p:nvPicPr>
        <p:blipFill>
          <a:blip r:embed="rId3"/>
          <a:stretch>
            <a:fillRect/>
          </a:stretch>
        </p:blipFill>
        <p:spPr>
          <a:xfrm>
            <a:off x="774497" y="1670609"/>
            <a:ext cx="416966" cy="416966"/>
          </a:xfrm>
          <a:prstGeom prst="rect">
            <a:avLst/>
          </a:prstGeom>
        </p:spPr>
      </p:pic>
      <p:sp>
        <p:nvSpPr>
          <p:cNvPr id="6" name="Text 2"/>
          <p:cNvSpPr txBox="1"/>
          <p:nvPr/>
        </p:nvSpPr>
        <p:spPr>
          <a:xfrm>
            <a:off x="1691640" y="1371600"/>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Davranışsal destek</a:t>
            </a:r>
            <a:endParaRPr lang="en-US" sz="2600" dirty="0"/>
          </a:p>
        </p:txBody>
      </p:sp>
      <p:sp>
        <p:nvSpPr>
          <p:cNvPr id="7" name="Text 3"/>
          <p:cNvSpPr txBox="1"/>
          <p:nvPr/>
        </p:nvSpPr>
        <p:spPr>
          <a:xfrm>
            <a:off x="4937760" y="1371600"/>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Görüşme sayısı arttıkça başarı artmaktadır</a:t>
            </a:r>
            <a:endParaRPr lang="en-US" sz="2200" dirty="0"/>
          </a:p>
        </p:txBody>
      </p:sp>
      <p:sp>
        <p:nvSpPr>
          <p:cNvPr id="8" name="Ikon zemini"/>
          <p:cNvSpPr/>
          <p:nvPr/>
        </p:nvSpPr>
        <p:spPr>
          <a:xfrm>
            <a:off x="548640" y="2651760"/>
            <a:ext cx="868680" cy="868680"/>
          </a:xfrm>
          <a:prstGeom prst="ellipse">
            <a:avLst/>
          </a:prstGeom>
          <a:solidFill>
            <a:schemeClr val="accent1"/>
          </a:solidFill>
          <a:ln w="12700">
            <a:solidFill>
              <a:schemeClr val="accent1"/>
            </a:solidFill>
            <a:prstDash val="solid"/>
          </a:ln>
        </p:spPr>
        <p:txBody>
          <a:bodyPr/>
          <a:lstStyle/>
          <a:p>
            <a:endParaRPr/>
          </a:p>
        </p:txBody>
      </p:sp>
      <p:pic>
        <p:nvPicPr>
          <p:cNvPr id="9" name="Ikon" descr="FaHome"/>
          <p:cNvPicPr>
            <a:picLocks noChangeAspect="1"/>
          </p:cNvPicPr>
          <p:nvPr/>
        </p:nvPicPr>
        <p:blipFill>
          <a:blip r:embed="rId4"/>
          <a:stretch>
            <a:fillRect/>
          </a:stretch>
        </p:blipFill>
        <p:spPr>
          <a:xfrm>
            <a:off x="774497" y="2877617"/>
            <a:ext cx="416966" cy="416966"/>
          </a:xfrm>
          <a:prstGeom prst="rect">
            <a:avLst/>
          </a:prstGeom>
        </p:spPr>
      </p:pic>
      <p:sp>
        <p:nvSpPr>
          <p:cNvPr id="10" name="Text 5"/>
          <p:cNvSpPr txBox="1"/>
          <p:nvPr/>
        </p:nvSpPr>
        <p:spPr>
          <a:xfrm>
            <a:off x="1691640" y="2578608"/>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Hane ortamı</a:t>
            </a:r>
            <a:endParaRPr lang="en-US" sz="2600" dirty="0"/>
          </a:p>
        </p:txBody>
      </p:sp>
      <p:sp>
        <p:nvSpPr>
          <p:cNvPr id="11" name="Text 6"/>
          <p:cNvSpPr txBox="1"/>
          <p:nvPr/>
        </p:nvSpPr>
        <p:spPr>
          <a:xfrm>
            <a:off x="4937760" y="2578608"/>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Evde sigara içilmemesi olasılığı ikiye katlamaktadır</a:t>
            </a:r>
            <a:r>
              <a:rPr lang="en-US" sz="1800" dirty="0">
                <a:solidFill>
                  <a:schemeClr val="accent3"/>
                </a:solidFill>
              </a:rPr>
              <a:t>  [14]</a:t>
            </a:r>
            <a:endParaRPr lang="en-US" sz="2200" dirty="0"/>
          </a:p>
        </p:txBody>
      </p:sp>
      <p:sp>
        <p:nvSpPr>
          <p:cNvPr id="12" name="Ikon zemini"/>
          <p:cNvSpPr/>
          <p:nvPr/>
        </p:nvSpPr>
        <p:spPr>
          <a:xfrm>
            <a:off x="548640" y="3858768"/>
            <a:ext cx="868680" cy="868680"/>
          </a:xfrm>
          <a:prstGeom prst="ellipse">
            <a:avLst/>
          </a:prstGeom>
          <a:solidFill>
            <a:schemeClr val="accent2"/>
          </a:solidFill>
          <a:ln w="12700">
            <a:solidFill>
              <a:schemeClr val="accent2"/>
            </a:solidFill>
            <a:prstDash val="solid"/>
          </a:ln>
        </p:spPr>
        <p:txBody>
          <a:bodyPr/>
          <a:lstStyle/>
          <a:p>
            <a:endParaRPr/>
          </a:p>
        </p:txBody>
      </p:sp>
      <p:pic>
        <p:nvPicPr>
          <p:cNvPr id="13" name="Ikon" descr="FaClipboardList"/>
          <p:cNvPicPr>
            <a:picLocks noChangeAspect="1"/>
          </p:cNvPicPr>
          <p:nvPr/>
        </p:nvPicPr>
        <p:blipFill>
          <a:blip r:embed="rId5"/>
          <a:stretch>
            <a:fillRect/>
          </a:stretch>
        </p:blipFill>
        <p:spPr>
          <a:xfrm>
            <a:off x="774497" y="4084625"/>
            <a:ext cx="416966" cy="416966"/>
          </a:xfrm>
          <a:prstGeom prst="rect">
            <a:avLst/>
          </a:prstGeom>
        </p:spPr>
      </p:pic>
      <p:sp>
        <p:nvSpPr>
          <p:cNvPr id="14" name="Text 8"/>
          <p:cNvSpPr txBox="1"/>
          <p:nvPr/>
        </p:nvSpPr>
        <p:spPr>
          <a:xfrm>
            <a:off x="1691640" y="3785616"/>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Bağımlılık düzeyi</a:t>
            </a:r>
            <a:endParaRPr lang="en-US" sz="2600" dirty="0"/>
          </a:p>
        </p:txBody>
      </p:sp>
      <p:sp>
        <p:nvSpPr>
          <p:cNvPr id="15" name="Text 9"/>
          <p:cNvSpPr txBox="1"/>
          <p:nvPr/>
        </p:nvSpPr>
        <p:spPr>
          <a:xfrm>
            <a:off x="4937760" y="3785616"/>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Ortalama puan literatürle uyumlu; yüksek puan düşük başarıyla ilişkili</a:t>
            </a:r>
            <a:r>
              <a:rPr lang="en-US" sz="1800" dirty="0">
                <a:solidFill>
                  <a:schemeClr val="accent3"/>
                </a:solidFill>
              </a:rPr>
              <a:t>  [15]</a:t>
            </a:r>
            <a:endParaRPr lang="en-US" sz="2200" dirty="0"/>
          </a:p>
        </p:txBody>
      </p:sp>
      <p:sp>
        <p:nvSpPr>
          <p:cNvPr id="16" name="Ikon zemini"/>
          <p:cNvSpPr/>
          <p:nvPr/>
        </p:nvSpPr>
        <p:spPr>
          <a:xfrm>
            <a:off x="548640" y="5065776"/>
            <a:ext cx="868680" cy="868680"/>
          </a:xfrm>
          <a:prstGeom prst="ellipse">
            <a:avLst/>
          </a:prstGeom>
          <a:solidFill>
            <a:schemeClr val="accent1"/>
          </a:solidFill>
          <a:ln w="12700">
            <a:solidFill>
              <a:schemeClr val="accent1"/>
            </a:solidFill>
            <a:prstDash val="solid"/>
          </a:ln>
        </p:spPr>
        <p:txBody>
          <a:bodyPr/>
          <a:lstStyle/>
          <a:p>
            <a:endParaRPr/>
          </a:p>
        </p:txBody>
      </p:sp>
      <p:pic>
        <p:nvPicPr>
          <p:cNvPr id="17" name="Ikon" descr="FaLightbulb"/>
          <p:cNvPicPr>
            <a:picLocks noChangeAspect="1"/>
          </p:cNvPicPr>
          <p:nvPr/>
        </p:nvPicPr>
        <p:blipFill>
          <a:blip r:embed="rId6"/>
          <a:stretch>
            <a:fillRect/>
          </a:stretch>
        </p:blipFill>
        <p:spPr>
          <a:xfrm>
            <a:off x="774497" y="5291633"/>
            <a:ext cx="416966" cy="416966"/>
          </a:xfrm>
          <a:prstGeom prst="rect">
            <a:avLst/>
          </a:prstGeom>
        </p:spPr>
      </p:pic>
      <p:sp>
        <p:nvSpPr>
          <p:cNvPr id="18" name="Text 11"/>
          <p:cNvSpPr txBox="1"/>
          <p:nvPr/>
        </p:nvSpPr>
        <p:spPr>
          <a:xfrm>
            <a:off x="1691640" y="4992624"/>
            <a:ext cx="3200400" cy="1005840"/>
          </a:xfrm>
          <a:prstGeom prst="rect">
            <a:avLst/>
          </a:prstGeom>
          <a:noFill/>
          <a:ln/>
        </p:spPr>
        <p:txBody>
          <a:bodyPr wrap="square" lIns="0" tIns="0" rIns="0" bIns="0" rtlCol="0" anchor="ctr"/>
          <a:lstStyle/>
          <a:p>
            <a:pPr marL="0" indent="0">
              <a:buNone/>
            </a:pPr>
            <a:r>
              <a:rPr lang="en-US" sz="2600" b="1" dirty="0">
                <a:solidFill>
                  <a:schemeClr val="accent1"/>
                </a:solidFill>
              </a:rPr>
              <a:t>İçsel motivasyon</a:t>
            </a:r>
            <a:endParaRPr lang="en-US" sz="2600" dirty="0"/>
          </a:p>
        </p:txBody>
      </p:sp>
      <p:sp>
        <p:nvSpPr>
          <p:cNvPr id="19" name="Text 12"/>
          <p:cNvSpPr txBox="1"/>
          <p:nvPr/>
        </p:nvSpPr>
        <p:spPr>
          <a:xfrm>
            <a:off x="4937760" y="4992624"/>
            <a:ext cx="6675120" cy="1005840"/>
          </a:xfrm>
          <a:prstGeom prst="rect">
            <a:avLst/>
          </a:prstGeom>
          <a:noFill/>
          <a:ln/>
        </p:spPr>
        <p:txBody>
          <a:bodyPr wrap="square" lIns="0" tIns="0" rIns="0" bIns="0" rtlCol="0" anchor="ctr"/>
          <a:lstStyle/>
          <a:p>
            <a:pPr marL="0" indent="0">
              <a:buNone/>
            </a:pPr>
            <a:r>
              <a:rPr lang="en-US" sz="2200" dirty="0">
                <a:solidFill>
                  <a:schemeClr val="accent1"/>
                </a:solidFill>
              </a:rPr>
              <a:t>Yakınması olmayanlarda başarı daha yüksektir</a:t>
            </a:r>
            <a:r>
              <a:rPr lang="en-US" sz="1800" dirty="0">
                <a:solidFill>
                  <a:schemeClr val="accent3"/>
                </a:solidFill>
              </a:rPr>
              <a:t>  [16]</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Kısıtlılıklar ve güçlü yönler</a:t>
            </a:r>
            <a:endParaRPr lang="en-US" sz="3600" dirty="0"/>
          </a:p>
        </p:txBody>
      </p:sp>
      <p:sp>
        <p:nvSpPr>
          <p:cNvPr id="4" name="Kart"/>
          <p:cNvSpPr/>
          <p:nvPr/>
        </p:nvSpPr>
        <p:spPr>
          <a:xfrm>
            <a:off x="548640" y="1371600"/>
            <a:ext cx="5440680" cy="4572000"/>
          </a:xfrm>
          <a:prstGeom prst="roundRect">
            <a:avLst>
              <a:gd name="adj" fmla="val 2400"/>
            </a:avLst>
          </a:prstGeom>
          <a:solidFill>
            <a:schemeClr val="bg2"/>
          </a:solidFill>
          <a:ln w="12700">
            <a:solidFill>
              <a:schemeClr val="bg2"/>
            </a:solidFill>
            <a:prstDash val="solid"/>
          </a:ln>
        </p:spPr>
      </p:sp>
      <p:sp>
        <p:nvSpPr>
          <p:cNvPr id="5" name="Ikon zemini"/>
          <p:cNvSpPr/>
          <p:nvPr/>
        </p:nvSpPr>
        <p:spPr>
          <a:xfrm>
            <a:off x="822960" y="1572768"/>
            <a:ext cx="822960" cy="822960"/>
          </a:xfrm>
          <a:prstGeom prst="ellipse">
            <a:avLst/>
          </a:prstGeom>
          <a:solidFill>
            <a:schemeClr val="accent1"/>
          </a:solidFill>
          <a:ln w="12700">
            <a:solidFill>
              <a:schemeClr val="accent1"/>
            </a:solidFill>
            <a:prstDash val="solid"/>
          </a:ln>
        </p:spPr>
      </p:sp>
      <p:pic>
        <p:nvPicPr>
          <p:cNvPr id="6" name="Ikon" descr="FaExclamationCircle"/>
          <p:cNvPicPr>
            <a:picLocks noChangeAspect="1"/>
          </p:cNvPicPr>
          <p:nvPr/>
        </p:nvPicPr>
        <p:blipFill>
          <a:blip r:embed="rId3"/>
          <a:stretch>
            <a:fillRect/>
          </a:stretch>
        </p:blipFill>
        <p:spPr>
          <a:xfrm>
            <a:off x="1036930" y="1786738"/>
            <a:ext cx="395021" cy="395021"/>
          </a:xfrm>
          <a:prstGeom prst="rect">
            <a:avLst/>
          </a:prstGeom>
        </p:spPr>
      </p:pic>
      <p:sp>
        <p:nvSpPr>
          <p:cNvPr id="7" name="Text 3"/>
          <p:cNvSpPr txBox="1"/>
          <p:nvPr/>
        </p:nvSpPr>
        <p:spPr>
          <a:xfrm>
            <a:off x="1828800" y="1572768"/>
            <a:ext cx="4023360" cy="822960"/>
          </a:xfrm>
          <a:prstGeom prst="rect">
            <a:avLst/>
          </a:prstGeom>
          <a:noFill/>
          <a:ln/>
        </p:spPr>
        <p:txBody>
          <a:bodyPr wrap="square" lIns="0" tIns="0" rIns="0" bIns="0" rtlCol="0" anchor="ctr"/>
          <a:lstStyle/>
          <a:p>
            <a:pPr marL="0" indent="0">
              <a:buNone/>
            </a:pPr>
            <a:r>
              <a:rPr lang="en-US" sz="2800" b="1" dirty="0">
                <a:solidFill>
                  <a:schemeClr val="accent1"/>
                </a:solidFill>
              </a:rPr>
              <a:t>Kısıtlılıklar</a:t>
            </a:r>
            <a:endParaRPr lang="en-US" sz="2800" dirty="0"/>
          </a:p>
        </p:txBody>
      </p:sp>
      <p:sp>
        <p:nvSpPr>
          <p:cNvPr id="8" name="Text 4"/>
          <p:cNvSpPr txBox="1"/>
          <p:nvPr/>
        </p:nvSpPr>
        <p:spPr>
          <a:xfrm>
            <a:off x="914400" y="2651760"/>
            <a:ext cx="4846320" cy="3154680"/>
          </a:xfrm>
          <a:prstGeom prst="rect">
            <a:avLst/>
          </a:prstGeom>
          <a:noFill/>
          <a:ln/>
        </p:spPr>
        <p:txBody>
          <a:bodyPr wrap="square" lIns="0" tIns="0" rIns="0" bIns="0" rtlCol="0" anchor="t"/>
          <a:lstStyle/>
          <a:p>
            <a:pPr marL="279400" indent="-279400" algn="just">
              <a:spcAft>
                <a:spcPts val="1400"/>
              </a:spcAft>
              <a:buSzPct val="100000"/>
              <a:buChar char="•"/>
            </a:pPr>
            <a:r>
              <a:rPr lang="en-US" sz="2200" dirty="0">
                <a:solidFill>
                  <a:schemeClr val="accent1"/>
                </a:solidFill>
              </a:rPr>
              <a:t>Asistan rotasyonu</a:t>
            </a:r>
            <a:endParaRPr lang="en-US" sz="2200" dirty="0"/>
          </a:p>
          <a:p>
            <a:pPr marL="279400" indent="-279400" algn="just">
              <a:spcAft>
                <a:spcPts val="1400"/>
              </a:spcAft>
              <a:buSzPct val="100000"/>
              <a:buChar char="•"/>
            </a:pPr>
            <a:r>
              <a:rPr lang="en-US" sz="2200" dirty="0">
                <a:solidFill>
                  <a:schemeClr val="accent1"/>
                </a:solidFill>
              </a:rPr>
              <a:t>Telefonla tamamlanan veriler</a:t>
            </a:r>
            <a:endParaRPr lang="en-US" sz="2200" dirty="0"/>
          </a:p>
          <a:p>
            <a:pPr marL="279400" indent="-279400" algn="just">
              <a:spcAft>
                <a:spcPts val="1400"/>
              </a:spcAft>
              <a:buSzPct val="100000"/>
              <a:buChar char="•"/>
            </a:pPr>
            <a:r>
              <a:rPr lang="en-US" sz="2200" dirty="0">
                <a:solidFill>
                  <a:schemeClr val="accent1"/>
                </a:solidFill>
              </a:rPr>
              <a:t>Vareniklinin piyasadan çekilmesi</a:t>
            </a:r>
            <a:endParaRPr lang="en-US" sz="2200" dirty="0"/>
          </a:p>
        </p:txBody>
      </p:sp>
      <p:sp>
        <p:nvSpPr>
          <p:cNvPr id="9" name="Kart"/>
          <p:cNvSpPr/>
          <p:nvPr/>
        </p:nvSpPr>
        <p:spPr>
          <a:xfrm>
            <a:off x="6172200" y="1371600"/>
            <a:ext cx="5440680" cy="4572000"/>
          </a:xfrm>
          <a:prstGeom prst="roundRect">
            <a:avLst>
              <a:gd name="adj" fmla="val 2400"/>
            </a:avLst>
          </a:prstGeom>
          <a:solidFill>
            <a:schemeClr val="bg2"/>
          </a:solidFill>
          <a:ln w="12700">
            <a:solidFill>
              <a:schemeClr val="bg2"/>
            </a:solidFill>
            <a:prstDash val="solid"/>
          </a:ln>
        </p:spPr>
      </p:sp>
      <p:sp>
        <p:nvSpPr>
          <p:cNvPr id="10" name="Ikon zemini"/>
          <p:cNvSpPr/>
          <p:nvPr/>
        </p:nvSpPr>
        <p:spPr>
          <a:xfrm>
            <a:off x="6446520" y="1572768"/>
            <a:ext cx="822960" cy="822960"/>
          </a:xfrm>
          <a:prstGeom prst="ellipse">
            <a:avLst/>
          </a:prstGeom>
          <a:solidFill>
            <a:schemeClr val="accent2"/>
          </a:solidFill>
          <a:ln w="12700">
            <a:solidFill>
              <a:schemeClr val="accent2"/>
            </a:solidFill>
            <a:prstDash val="solid"/>
          </a:ln>
        </p:spPr>
      </p:sp>
      <p:pic>
        <p:nvPicPr>
          <p:cNvPr id="11" name="Ikon" descr="FaStar"/>
          <p:cNvPicPr>
            <a:picLocks noChangeAspect="1"/>
          </p:cNvPicPr>
          <p:nvPr/>
        </p:nvPicPr>
        <p:blipFill>
          <a:blip r:embed="rId4"/>
          <a:stretch>
            <a:fillRect/>
          </a:stretch>
        </p:blipFill>
        <p:spPr>
          <a:xfrm>
            <a:off x="6660490" y="1786738"/>
            <a:ext cx="395021" cy="395021"/>
          </a:xfrm>
          <a:prstGeom prst="rect">
            <a:avLst/>
          </a:prstGeom>
        </p:spPr>
      </p:pic>
      <p:sp>
        <p:nvSpPr>
          <p:cNvPr id="12" name="Text 7"/>
          <p:cNvSpPr txBox="1"/>
          <p:nvPr/>
        </p:nvSpPr>
        <p:spPr>
          <a:xfrm>
            <a:off x="7452360" y="1572768"/>
            <a:ext cx="4023360" cy="822960"/>
          </a:xfrm>
          <a:prstGeom prst="rect">
            <a:avLst/>
          </a:prstGeom>
          <a:noFill/>
          <a:ln/>
        </p:spPr>
        <p:txBody>
          <a:bodyPr wrap="square" lIns="0" tIns="0" rIns="0" bIns="0" rtlCol="0" anchor="ctr"/>
          <a:lstStyle/>
          <a:p>
            <a:pPr marL="0" indent="0">
              <a:buNone/>
            </a:pPr>
            <a:r>
              <a:rPr lang="en-US" sz="2800" b="1" dirty="0">
                <a:solidFill>
                  <a:schemeClr val="accent2"/>
                </a:solidFill>
              </a:rPr>
              <a:t>Güçlü yönler</a:t>
            </a:r>
            <a:endParaRPr lang="en-US" sz="2800" dirty="0"/>
          </a:p>
        </p:txBody>
      </p:sp>
      <p:sp>
        <p:nvSpPr>
          <p:cNvPr id="13" name="Text 8"/>
          <p:cNvSpPr txBox="1"/>
          <p:nvPr/>
        </p:nvSpPr>
        <p:spPr>
          <a:xfrm>
            <a:off x="6537960" y="2651760"/>
            <a:ext cx="4846320" cy="3154680"/>
          </a:xfrm>
          <a:prstGeom prst="rect">
            <a:avLst/>
          </a:prstGeom>
          <a:noFill/>
          <a:ln/>
        </p:spPr>
        <p:txBody>
          <a:bodyPr wrap="square" lIns="0" tIns="0" rIns="0" bIns="0" rtlCol="0" anchor="t"/>
          <a:lstStyle/>
          <a:p>
            <a:pPr marL="279400" indent="-279400" algn="just">
              <a:spcAft>
                <a:spcPts val="1400"/>
              </a:spcAft>
              <a:buSzPct val="100000"/>
              <a:buChar char="•"/>
            </a:pPr>
            <a:r>
              <a:rPr lang="en-US" sz="2200" dirty="0">
                <a:solidFill>
                  <a:schemeClr val="accent1"/>
                </a:solidFill>
              </a:rPr>
              <a:t>Sitizin ile ilk erişilebilir tez çalışması</a:t>
            </a:r>
            <a:endParaRPr lang="en-US" sz="2200" dirty="0"/>
          </a:p>
          <a:p>
            <a:pPr marL="279400" indent="-279400" algn="just">
              <a:spcAft>
                <a:spcPts val="1400"/>
              </a:spcAft>
              <a:buSzPct val="100000"/>
              <a:buChar char="•"/>
            </a:pPr>
            <a:r>
              <a:rPr lang="en-US" sz="2200" dirty="0">
                <a:solidFill>
                  <a:schemeClr val="accent1"/>
                </a:solidFill>
              </a:rPr>
              <a:t>Birçok tedavi seçeneğini kapsaması</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Sonuç ve öneriler</a:t>
            </a:r>
            <a:endParaRPr lang="en-US" sz="3600" dirty="0"/>
          </a:p>
        </p:txBody>
      </p:sp>
      <p:sp>
        <p:nvSpPr>
          <p:cNvPr id="4" name="Kart"/>
          <p:cNvSpPr/>
          <p:nvPr/>
        </p:nvSpPr>
        <p:spPr>
          <a:xfrm>
            <a:off x="548640" y="1508760"/>
            <a:ext cx="356616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548640" y="1828800"/>
            <a:ext cx="3566160" cy="1097280"/>
          </a:xfrm>
          <a:prstGeom prst="rect">
            <a:avLst/>
          </a:prstGeom>
          <a:noFill/>
          <a:ln/>
        </p:spPr>
        <p:txBody>
          <a:bodyPr wrap="square" lIns="0" tIns="0" rIns="0" bIns="0" rtlCol="0" anchor="ctr"/>
          <a:lstStyle/>
          <a:p>
            <a:pPr marL="0" indent="0" algn="ctr">
              <a:buNone/>
            </a:pPr>
            <a:r>
              <a:rPr lang="en-US" sz="4400" b="1" dirty="0">
                <a:solidFill>
                  <a:schemeClr val="accent2"/>
                </a:solidFill>
              </a:rPr>
              <a:t>Üçte bir</a:t>
            </a:r>
            <a:endParaRPr lang="en-US" sz="4400" dirty="0"/>
          </a:p>
        </p:txBody>
      </p:sp>
      <p:sp>
        <p:nvSpPr>
          <p:cNvPr id="6" name="Text 3"/>
          <p:cNvSpPr txBox="1"/>
          <p:nvPr/>
        </p:nvSpPr>
        <p:spPr>
          <a:xfrm>
            <a:off x="822960" y="3017520"/>
            <a:ext cx="3017520" cy="1554480"/>
          </a:xfrm>
          <a:prstGeom prst="rect">
            <a:avLst/>
          </a:prstGeom>
          <a:noFill/>
          <a:ln/>
        </p:spPr>
        <p:txBody>
          <a:bodyPr wrap="square" lIns="0" tIns="0" rIns="0" bIns="0" rtlCol="0" anchor="t"/>
          <a:lstStyle/>
          <a:p>
            <a:pPr marL="0" indent="0" algn="ctr">
              <a:buNone/>
            </a:pPr>
            <a:r>
              <a:rPr lang="en-US" sz="2200" dirty="0">
                <a:solidFill>
                  <a:schemeClr val="accent1"/>
                </a:solidFill>
              </a:rPr>
              <a:t>hasta sigarayı bırakmıştır</a:t>
            </a:r>
            <a:endParaRPr lang="en-US" sz="2200" dirty="0"/>
          </a:p>
        </p:txBody>
      </p:sp>
      <p:sp>
        <p:nvSpPr>
          <p:cNvPr id="7" name="Kart"/>
          <p:cNvSpPr/>
          <p:nvPr/>
        </p:nvSpPr>
        <p:spPr>
          <a:xfrm>
            <a:off x="4297680" y="1508760"/>
            <a:ext cx="3566160" cy="3291840"/>
          </a:xfrm>
          <a:prstGeom prst="roundRect">
            <a:avLst>
              <a:gd name="adj" fmla="val 3333"/>
            </a:avLst>
          </a:prstGeom>
          <a:solidFill>
            <a:schemeClr val="accent1"/>
          </a:solidFill>
          <a:ln w="12700">
            <a:solidFill>
              <a:schemeClr val="accent1"/>
            </a:solidFill>
            <a:prstDash val="solid"/>
          </a:ln>
        </p:spPr>
      </p:sp>
      <p:sp>
        <p:nvSpPr>
          <p:cNvPr id="8" name="Text 5"/>
          <p:cNvSpPr txBox="1"/>
          <p:nvPr/>
        </p:nvSpPr>
        <p:spPr>
          <a:xfrm>
            <a:off x="4297680" y="1828800"/>
            <a:ext cx="3566160" cy="1097280"/>
          </a:xfrm>
          <a:prstGeom prst="rect">
            <a:avLst/>
          </a:prstGeom>
          <a:noFill/>
          <a:ln/>
        </p:spPr>
        <p:txBody>
          <a:bodyPr wrap="square" lIns="0" tIns="0" rIns="0" bIns="0" rtlCol="0" anchor="ctr"/>
          <a:lstStyle/>
          <a:p>
            <a:pPr marL="0" indent="0" algn="ctr">
              <a:buNone/>
            </a:pPr>
            <a:r>
              <a:rPr lang="en-US" sz="4400" b="1" dirty="0">
                <a:solidFill>
                  <a:schemeClr val="bg1"/>
                </a:solidFill>
              </a:rPr>
              <a:t>Kombine</a:t>
            </a:r>
            <a:endParaRPr lang="en-US" sz="4400" dirty="0"/>
          </a:p>
        </p:txBody>
      </p:sp>
      <p:sp>
        <p:nvSpPr>
          <p:cNvPr id="9" name="Text 6"/>
          <p:cNvSpPr txBox="1"/>
          <p:nvPr/>
        </p:nvSpPr>
        <p:spPr>
          <a:xfrm>
            <a:off x="4572000" y="3017520"/>
            <a:ext cx="3017520" cy="1554480"/>
          </a:xfrm>
          <a:prstGeom prst="rect">
            <a:avLst/>
          </a:prstGeom>
          <a:noFill/>
          <a:ln/>
        </p:spPr>
        <p:txBody>
          <a:bodyPr wrap="square" lIns="0" tIns="0" rIns="0" bIns="0" rtlCol="0" anchor="t"/>
          <a:lstStyle/>
          <a:p>
            <a:pPr marL="0" indent="0" algn="ctr">
              <a:buNone/>
            </a:pPr>
            <a:r>
              <a:rPr lang="en-US" sz="2200" dirty="0">
                <a:solidFill>
                  <a:schemeClr val="bg1"/>
                </a:solidFill>
              </a:rPr>
              <a:t>tedavide bırakma oranı daha yüksektir</a:t>
            </a:r>
            <a:endParaRPr lang="en-US" sz="2200" dirty="0"/>
          </a:p>
        </p:txBody>
      </p:sp>
      <p:sp>
        <p:nvSpPr>
          <p:cNvPr id="10" name="Kart"/>
          <p:cNvSpPr/>
          <p:nvPr/>
        </p:nvSpPr>
        <p:spPr>
          <a:xfrm>
            <a:off x="8046720" y="1508760"/>
            <a:ext cx="3566160" cy="3291840"/>
          </a:xfrm>
          <a:prstGeom prst="roundRect">
            <a:avLst>
              <a:gd name="adj" fmla="val 3333"/>
            </a:avLst>
          </a:prstGeom>
          <a:solidFill>
            <a:schemeClr val="bg2"/>
          </a:solidFill>
          <a:ln w="12700">
            <a:solidFill>
              <a:schemeClr val="bg2"/>
            </a:solidFill>
            <a:prstDash val="solid"/>
          </a:ln>
        </p:spPr>
      </p:sp>
      <p:sp>
        <p:nvSpPr>
          <p:cNvPr id="11" name="Text 8"/>
          <p:cNvSpPr txBox="1"/>
          <p:nvPr/>
        </p:nvSpPr>
        <p:spPr>
          <a:xfrm>
            <a:off x="8046720" y="1828800"/>
            <a:ext cx="3566160" cy="1097280"/>
          </a:xfrm>
          <a:prstGeom prst="rect">
            <a:avLst/>
          </a:prstGeom>
          <a:noFill/>
          <a:ln/>
        </p:spPr>
        <p:txBody>
          <a:bodyPr wrap="square" lIns="0" tIns="0" rIns="0" bIns="0" rtlCol="0" anchor="ctr"/>
          <a:lstStyle/>
          <a:p>
            <a:pPr marL="0" indent="0" algn="ctr">
              <a:buNone/>
            </a:pPr>
            <a:r>
              <a:rPr lang="en-US" sz="4400" b="1" dirty="0">
                <a:solidFill>
                  <a:schemeClr val="accent2"/>
                </a:solidFill>
              </a:rPr>
              <a:t>Uyum</a:t>
            </a:r>
            <a:endParaRPr lang="en-US" sz="4400" dirty="0"/>
          </a:p>
        </p:txBody>
      </p:sp>
      <p:sp>
        <p:nvSpPr>
          <p:cNvPr id="12" name="Text 9"/>
          <p:cNvSpPr txBox="1"/>
          <p:nvPr/>
        </p:nvSpPr>
        <p:spPr>
          <a:xfrm>
            <a:off x="8321040" y="3017520"/>
            <a:ext cx="3017520" cy="1554480"/>
          </a:xfrm>
          <a:prstGeom prst="rect">
            <a:avLst/>
          </a:prstGeom>
          <a:noFill/>
          <a:ln/>
        </p:spPr>
        <p:txBody>
          <a:bodyPr wrap="square" lIns="0" tIns="0" rIns="0" bIns="0" rtlCol="0" anchor="t"/>
          <a:lstStyle/>
          <a:p>
            <a:pPr marL="0" indent="0" algn="ctr">
              <a:buNone/>
            </a:pPr>
            <a:r>
              <a:rPr lang="en-US" sz="2200" dirty="0">
                <a:solidFill>
                  <a:schemeClr val="accent1"/>
                </a:solidFill>
              </a:rPr>
              <a:t>arttıkça başarı artmaktadır</a:t>
            </a:r>
            <a:endParaRPr lang="en-US" sz="2200" dirty="0"/>
          </a:p>
        </p:txBody>
      </p:sp>
      <p:sp>
        <p:nvSpPr>
          <p:cNvPr id="13" name="Text 10"/>
          <p:cNvSpPr txBox="1"/>
          <p:nvPr/>
        </p:nvSpPr>
        <p:spPr>
          <a:xfrm>
            <a:off x="548640" y="5120640"/>
            <a:ext cx="11064240" cy="822960"/>
          </a:xfrm>
          <a:prstGeom prst="rect">
            <a:avLst/>
          </a:prstGeom>
          <a:noFill/>
          <a:ln/>
        </p:spPr>
        <p:txBody>
          <a:bodyPr wrap="square" lIns="0" tIns="0" rIns="0" bIns="0" rtlCol="0" anchor="ctr"/>
          <a:lstStyle/>
          <a:p>
            <a:pPr marL="0" indent="0" algn="just">
              <a:buNone/>
            </a:pPr>
            <a:r>
              <a:rPr lang="en-US" sz="2200" i="1" dirty="0">
                <a:solidFill>
                  <a:schemeClr val="accent1"/>
                </a:solidFill>
              </a:rPr>
              <a:t>Öneri: Tedavi seanslarında motivasyonu artırmaya yönelik çabalar yoğunlaştırılmalıdır.</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Akılda kalacak mesajlar</a:t>
            </a:r>
            <a:endParaRPr lang="en-US" sz="3600" dirty="0"/>
          </a:p>
        </p:txBody>
      </p:sp>
      <p:sp>
        <p:nvSpPr>
          <p:cNvPr id="4" name="Onay zemini"/>
          <p:cNvSpPr/>
          <p:nvPr/>
        </p:nvSpPr>
        <p:spPr>
          <a:xfrm>
            <a:off x="548640" y="1463040"/>
            <a:ext cx="640080" cy="640080"/>
          </a:xfrm>
          <a:prstGeom prst="ellipse">
            <a:avLst/>
          </a:prstGeom>
          <a:solidFill>
            <a:schemeClr val="accent2"/>
          </a:solidFill>
          <a:ln w="12700">
            <a:solidFill>
              <a:schemeClr val="accent2"/>
            </a:solidFill>
            <a:prstDash val="solid"/>
          </a:ln>
        </p:spPr>
        <p:txBody>
          <a:bodyPr/>
          <a:lstStyle/>
          <a:p>
            <a:endParaRPr/>
          </a:p>
        </p:txBody>
      </p:sp>
      <p:pic>
        <p:nvPicPr>
          <p:cNvPr id="5" name="Image 0" descr="onay"/>
          <p:cNvPicPr>
            <a:picLocks noChangeAspect="1"/>
          </p:cNvPicPr>
          <p:nvPr/>
        </p:nvPicPr>
        <p:blipFill>
          <a:blip r:embed="rId3"/>
          <a:stretch>
            <a:fillRect/>
          </a:stretch>
        </p:blipFill>
        <p:spPr>
          <a:xfrm>
            <a:off x="713232" y="1627632"/>
            <a:ext cx="310896" cy="310896"/>
          </a:xfrm>
          <a:prstGeom prst="rect">
            <a:avLst/>
          </a:prstGeom>
        </p:spPr>
      </p:pic>
      <p:sp>
        <p:nvSpPr>
          <p:cNvPr id="6" name="Text 2"/>
          <p:cNvSpPr txBox="1"/>
          <p:nvPr/>
        </p:nvSpPr>
        <p:spPr>
          <a:xfrm>
            <a:off x="1463040" y="1371600"/>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Hastaların üçte biri sigarayı bırakmıştır</a:t>
            </a:r>
            <a:endParaRPr lang="en-US" sz="2600" dirty="0"/>
          </a:p>
        </p:txBody>
      </p:sp>
      <p:sp>
        <p:nvSpPr>
          <p:cNvPr id="7" name="Onay zemini"/>
          <p:cNvSpPr/>
          <p:nvPr/>
        </p:nvSpPr>
        <p:spPr>
          <a:xfrm>
            <a:off x="548640" y="2395728"/>
            <a:ext cx="640080" cy="640080"/>
          </a:xfrm>
          <a:prstGeom prst="ellipse">
            <a:avLst/>
          </a:prstGeom>
          <a:solidFill>
            <a:schemeClr val="accent2"/>
          </a:solidFill>
          <a:ln w="12700">
            <a:solidFill>
              <a:schemeClr val="accent2"/>
            </a:solidFill>
            <a:prstDash val="solid"/>
          </a:ln>
        </p:spPr>
        <p:txBody>
          <a:bodyPr/>
          <a:lstStyle/>
          <a:p>
            <a:endParaRPr/>
          </a:p>
        </p:txBody>
      </p:sp>
      <p:pic>
        <p:nvPicPr>
          <p:cNvPr id="8" name="Image 1" descr="onay"/>
          <p:cNvPicPr>
            <a:picLocks noChangeAspect="1"/>
          </p:cNvPicPr>
          <p:nvPr/>
        </p:nvPicPr>
        <p:blipFill>
          <a:blip r:embed="rId3"/>
          <a:stretch>
            <a:fillRect/>
          </a:stretch>
        </p:blipFill>
        <p:spPr>
          <a:xfrm>
            <a:off x="713232" y="2560320"/>
            <a:ext cx="310896" cy="310896"/>
          </a:xfrm>
          <a:prstGeom prst="rect">
            <a:avLst/>
          </a:prstGeom>
        </p:spPr>
      </p:pic>
      <p:sp>
        <p:nvSpPr>
          <p:cNvPr id="9" name="Text 4"/>
          <p:cNvSpPr txBox="1"/>
          <p:nvPr/>
        </p:nvSpPr>
        <p:spPr>
          <a:xfrm>
            <a:off x="1463040" y="2304288"/>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Kombine tedavide başarı daha yüksektir</a:t>
            </a:r>
            <a:endParaRPr lang="en-US" sz="2600" dirty="0"/>
          </a:p>
        </p:txBody>
      </p:sp>
      <p:sp>
        <p:nvSpPr>
          <p:cNvPr id="10" name="Onay zemini"/>
          <p:cNvSpPr/>
          <p:nvPr/>
        </p:nvSpPr>
        <p:spPr>
          <a:xfrm>
            <a:off x="548640" y="3328416"/>
            <a:ext cx="640080" cy="640080"/>
          </a:xfrm>
          <a:prstGeom prst="ellipse">
            <a:avLst/>
          </a:prstGeom>
          <a:solidFill>
            <a:schemeClr val="accent2"/>
          </a:solidFill>
          <a:ln w="12700">
            <a:solidFill>
              <a:schemeClr val="accent2"/>
            </a:solidFill>
            <a:prstDash val="solid"/>
          </a:ln>
        </p:spPr>
        <p:txBody>
          <a:bodyPr/>
          <a:lstStyle/>
          <a:p>
            <a:endParaRPr/>
          </a:p>
        </p:txBody>
      </p:sp>
      <p:pic>
        <p:nvPicPr>
          <p:cNvPr id="11" name="Image 2" descr="onay"/>
          <p:cNvPicPr>
            <a:picLocks noChangeAspect="1"/>
          </p:cNvPicPr>
          <p:nvPr/>
        </p:nvPicPr>
        <p:blipFill>
          <a:blip r:embed="rId3"/>
          <a:stretch>
            <a:fillRect/>
          </a:stretch>
        </p:blipFill>
        <p:spPr>
          <a:xfrm>
            <a:off x="713232" y="3493008"/>
            <a:ext cx="310896" cy="310896"/>
          </a:xfrm>
          <a:prstGeom prst="rect">
            <a:avLst/>
          </a:prstGeom>
        </p:spPr>
      </p:pic>
      <p:sp>
        <p:nvSpPr>
          <p:cNvPr id="12" name="Text 6"/>
          <p:cNvSpPr txBox="1"/>
          <p:nvPr/>
        </p:nvSpPr>
        <p:spPr>
          <a:xfrm>
            <a:off x="1463040" y="3236976"/>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En düşük başarı bupropion monoterapisindedir</a:t>
            </a:r>
            <a:endParaRPr lang="en-US" sz="2600" dirty="0"/>
          </a:p>
        </p:txBody>
      </p:sp>
      <p:sp>
        <p:nvSpPr>
          <p:cNvPr id="13" name="Onay zemini"/>
          <p:cNvSpPr/>
          <p:nvPr/>
        </p:nvSpPr>
        <p:spPr>
          <a:xfrm>
            <a:off x="548640" y="4261104"/>
            <a:ext cx="640080" cy="640080"/>
          </a:xfrm>
          <a:prstGeom prst="ellipse">
            <a:avLst/>
          </a:prstGeom>
          <a:solidFill>
            <a:schemeClr val="accent2"/>
          </a:solidFill>
          <a:ln w="12700">
            <a:solidFill>
              <a:schemeClr val="accent2"/>
            </a:solidFill>
            <a:prstDash val="solid"/>
          </a:ln>
        </p:spPr>
        <p:txBody>
          <a:bodyPr/>
          <a:lstStyle/>
          <a:p>
            <a:endParaRPr/>
          </a:p>
        </p:txBody>
      </p:sp>
      <p:pic>
        <p:nvPicPr>
          <p:cNvPr id="14" name="Image 3" descr="onay"/>
          <p:cNvPicPr>
            <a:picLocks noChangeAspect="1"/>
          </p:cNvPicPr>
          <p:nvPr/>
        </p:nvPicPr>
        <p:blipFill>
          <a:blip r:embed="rId3"/>
          <a:stretch>
            <a:fillRect/>
          </a:stretch>
        </p:blipFill>
        <p:spPr>
          <a:xfrm>
            <a:off x="713232" y="4425696"/>
            <a:ext cx="310896" cy="310896"/>
          </a:xfrm>
          <a:prstGeom prst="rect">
            <a:avLst/>
          </a:prstGeom>
        </p:spPr>
      </p:pic>
      <p:sp>
        <p:nvSpPr>
          <p:cNvPr id="15" name="Text 8"/>
          <p:cNvSpPr txBox="1"/>
          <p:nvPr/>
        </p:nvSpPr>
        <p:spPr>
          <a:xfrm>
            <a:off x="1463040" y="4169664"/>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Hanede sigara içen olması başarıyı azaltmaktadır</a:t>
            </a:r>
            <a:endParaRPr lang="en-US" sz="2600" dirty="0"/>
          </a:p>
        </p:txBody>
      </p:sp>
      <p:sp>
        <p:nvSpPr>
          <p:cNvPr id="16" name="Onay zemini"/>
          <p:cNvSpPr/>
          <p:nvPr/>
        </p:nvSpPr>
        <p:spPr>
          <a:xfrm>
            <a:off x="548640" y="5193792"/>
            <a:ext cx="640080" cy="640080"/>
          </a:xfrm>
          <a:prstGeom prst="ellipse">
            <a:avLst/>
          </a:prstGeom>
          <a:solidFill>
            <a:schemeClr val="accent2"/>
          </a:solidFill>
          <a:ln w="12700">
            <a:solidFill>
              <a:schemeClr val="accent2"/>
            </a:solidFill>
            <a:prstDash val="solid"/>
          </a:ln>
        </p:spPr>
        <p:txBody>
          <a:bodyPr/>
          <a:lstStyle/>
          <a:p>
            <a:endParaRPr/>
          </a:p>
        </p:txBody>
      </p:sp>
      <p:pic>
        <p:nvPicPr>
          <p:cNvPr id="17" name="Image 4" descr="onay"/>
          <p:cNvPicPr>
            <a:picLocks noChangeAspect="1"/>
          </p:cNvPicPr>
          <p:nvPr/>
        </p:nvPicPr>
        <p:blipFill>
          <a:blip r:embed="rId3"/>
          <a:stretch>
            <a:fillRect/>
          </a:stretch>
        </p:blipFill>
        <p:spPr>
          <a:xfrm>
            <a:off x="713232" y="5358384"/>
            <a:ext cx="310896" cy="310896"/>
          </a:xfrm>
          <a:prstGeom prst="rect">
            <a:avLst/>
          </a:prstGeom>
        </p:spPr>
      </p:pic>
      <p:sp>
        <p:nvSpPr>
          <p:cNvPr id="18" name="Text 10"/>
          <p:cNvSpPr txBox="1"/>
          <p:nvPr/>
        </p:nvSpPr>
        <p:spPr>
          <a:xfrm>
            <a:off x="1463040" y="5102352"/>
            <a:ext cx="10149840" cy="822960"/>
          </a:xfrm>
          <a:prstGeom prst="rect">
            <a:avLst/>
          </a:prstGeom>
          <a:noFill/>
          <a:ln/>
        </p:spPr>
        <p:txBody>
          <a:bodyPr wrap="square" lIns="0" tIns="0" rIns="0" bIns="0" rtlCol="0" anchor="ctr"/>
          <a:lstStyle/>
          <a:p>
            <a:pPr marL="0" indent="0">
              <a:buNone/>
            </a:pPr>
            <a:r>
              <a:rPr lang="en-US" sz="2600" dirty="0">
                <a:solidFill>
                  <a:schemeClr val="accent1"/>
                </a:solidFill>
              </a:rPr>
              <a:t>Sık takip başarıyla ilişkilidir</a:t>
            </a:r>
            <a:endParaRPr lang="en-US" sz="26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548640" y="320040"/>
            <a:ext cx="10607040" cy="868680"/>
          </a:xfrm>
          <a:prstGeom prst="rect">
            <a:avLst/>
          </a:prstGeom>
          <a:noFill/>
          <a:ln/>
        </p:spPr>
        <p:txBody>
          <a:bodyPr wrap="square" lIns="0" tIns="0" rIns="0" bIns="0" rtlCol="0" anchor="ctr"/>
          <a:lstStyle/>
          <a:p>
            <a:pPr marL="0" indent="0" algn="l">
              <a:buNone/>
            </a:pPr>
            <a:r>
              <a:rPr lang="en-US" sz="3600" b="1" dirty="0">
                <a:solidFill>
                  <a:schemeClr val="accent1"/>
                </a:solidFill>
              </a:rPr>
              <a:t>Kaynaklar</a:t>
            </a:r>
            <a:endParaRPr lang="en-US" sz="3600" dirty="0"/>
          </a:p>
        </p:txBody>
      </p:sp>
      <p:sp>
        <p:nvSpPr>
          <p:cNvPr id="4" name="Kaynaklar 1-8"/>
          <p:cNvSpPr txBox="1"/>
          <p:nvPr/>
        </p:nvSpPr>
        <p:spPr>
          <a:xfrm>
            <a:off x="548640" y="1234440"/>
            <a:ext cx="5440680" cy="5074920"/>
          </a:xfrm>
          <a:prstGeom prst="rect">
            <a:avLst/>
          </a:prstGeom>
          <a:noFill/>
          <a:ln/>
        </p:spPr>
        <p:txBody>
          <a:bodyPr wrap="square" lIns="0" tIns="0" rIns="0" bIns="0" rtlCol="0" anchor="t"/>
          <a:lstStyle/>
          <a:p>
            <a:pPr marL="342900" indent="-342900" algn="just">
              <a:spcAft>
                <a:spcPts val="400"/>
              </a:spcAft>
              <a:buSzPct val="100000"/>
              <a:buFont typeface="+mj-lt"/>
              <a:buAutoNum type="arabicPeriod"/>
            </a:pPr>
            <a:r>
              <a:rPr lang="en-US" sz="1100" dirty="0">
                <a:solidFill>
                  <a:schemeClr val="accent1"/>
                </a:solidFill>
              </a:rPr>
              <a:t>Cenberlitaş E, Gökçe A, Öztürk O. Demographic and clinical characteristics of patients applying to a smoking cessation clinic affiliated with a university hospital and factors affecting their smoking cessation status. Turk J Fam Pract. 2026;30(2):97-106.</a:t>
            </a:r>
            <a:endParaRPr lang="en-US" sz="1100" dirty="0"/>
          </a:p>
          <a:p>
            <a:pPr marL="342900" indent="-342900" algn="just">
              <a:spcAft>
                <a:spcPts val="400"/>
              </a:spcAft>
              <a:buSzPct val="100000"/>
              <a:buFont typeface="+mj-lt"/>
              <a:buAutoNum type="arabicPeriod"/>
            </a:pPr>
            <a:r>
              <a:rPr lang="en-US" sz="1100" dirty="0">
                <a:solidFill>
                  <a:schemeClr val="accent1"/>
                </a:solidFill>
              </a:rPr>
              <a:t>Summers AD, Sirin H, Palipudi K, Erguder T, Ciobanu A, Ahluwalia IB. Changes in prevalence and predictors of tobacco smoking and interest in smoking cessation in Turkey: evidence from the Global Adult Tobacco Survey, 2008-2016. Tob Prev Cessat. 2022;8:35.</a:t>
            </a:r>
            <a:endParaRPr lang="en-US" sz="1100" dirty="0"/>
          </a:p>
          <a:p>
            <a:pPr marL="342900" indent="-342900" algn="just">
              <a:spcAft>
                <a:spcPts val="400"/>
              </a:spcAft>
              <a:buSzPct val="100000"/>
              <a:buFont typeface="+mj-lt"/>
              <a:buAutoNum type="arabicPeriod"/>
            </a:pPr>
            <a:r>
              <a:rPr lang="en-US" sz="1100" dirty="0">
                <a:solidFill>
                  <a:schemeClr val="accent1"/>
                </a:solidFill>
              </a:rPr>
              <a:t>Sigarayı bırakma polikliniklerinden 2,5 milyon kişi hizmet aldı [İnternet]. Anadolu Ajansı. Erişim: 25.09.2025. https://www.aa.com.tr/tr/saglik/sigarayi-birakma-polikliniklerinden-2-5-milyon-kisi-hizmet-aldi/1533870</a:t>
            </a:r>
            <a:endParaRPr lang="en-US" sz="1100" dirty="0"/>
          </a:p>
          <a:p>
            <a:pPr marL="342900" indent="-342900" algn="just">
              <a:spcAft>
                <a:spcPts val="400"/>
              </a:spcAft>
              <a:buSzPct val="100000"/>
              <a:buFont typeface="+mj-lt"/>
              <a:buAutoNum type="arabicPeriod"/>
            </a:pPr>
            <a:r>
              <a:rPr lang="en-US" sz="1100" dirty="0">
                <a:solidFill>
                  <a:schemeClr val="accent1"/>
                </a:solidFill>
              </a:rPr>
              <a:t>Fidanci I, Ozturk O, Unal M. Transtheoretic Model in smoking cessation. J Exp Clin Med. 2017;34(1):9-13.</a:t>
            </a:r>
            <a:endParaRPr lang="en-US" sz="1100" dirty="0"/>
          </a:p>
          <a:p>
            <a:pPr marL="342900" indent="-342900" algn="just">
              <a:spcAft>
                <a:spcPts val="400"/>
              </a:spcAft>
              <a:buSzPct val="100000"/>
              <a:buFont typeface="+mj-lt"/>
              <a:buAutoNum type="arabicPeriod"/>
            </a:pPr>
            <a:r>
              <a:rPr lang="en-US" sz="1100" dirty="0">
                <a:solidFill>
                  <a:schemeClr val="accent1"/>
                </a:solidFill>
              </a:rPr>
              <a:t>McDonough M. Update on medicines for smoking cessation. Aust Prescr. 2015;38(4):106-11.</a:t>
            </a:r>
            <a:endParaRPr lang="en-US" sz="1100" dirty="0"/>
          </a:p>
          <a:p>
            <a:pPr marL="342900" indent="-342900" algn="just">
              <a:spcAft>
                <a:spcPts val="400"/>
              </a:spcAft>
              <a:buSzPct val="100000"/>
              <a:buFont typeface="+mj-lt"/>
              <a:buAutoNum type="arabicPeriod"/>
            </a:pPr>
            <a:r>
              <a:rPr lang="en-US" sz="1100" dirty="0">
                <a:solidFill>
                  <a:schemeClr val="accent1"/>
                </a:solidFill>
              </a:rPr>
              <a:t>Heatherton TF, Kozlowski LT, Frecker RC, Fagerström KO. The Fagerström test for nicotine dependence: a revision of the Fagerström Tolerance Questionnaire. Br J Addict. 1991;86(9):1119-27.</a:t>
            </a:r>
            <a:endParaRPr lang="en-US" sz="1100" dirty="0"/>
          </a:p>
          <a:p>
            <a:pPr marL="342900" indent="-342900" algn="just">
              <a:spcAft>
                <a:spcPts val="400"/>
              </a:spcAft>
              <a:buSzPct val="100000"/>
              <a:buFont typeface="+mj-lt"/>
              <a:buAutoNum type="arabicPeriod"/>
            </a:pPr>
            <a:r>
              <a:rPr lang="en-US" sz="1100" dirty="0">
                <a:solidFill>
                  <a:schemeClr val="accent1"/>
                </a:solidFill>
              </a:rPr>
              <a:t>Uysal M, Kadakal F, Karşıdağ Ç, Bayram N, Uysal O, Yilmaz V. Fagerström test for nicotine dependence: reliability in a Turkish sample and factor analysis. Tuberk Toraks. 2004;52(2):175-82.</a:t>
            </a:r>
            <a:endParaRPr lang="en-US" sz="1100" dirty="0"/>
          </a:p>
          <a:p>
            <a:pPr marL="342900" indent="-342900" algn="just">
              <a:spcAft>
                <a:spcPts val="400"/>
              </a:spcAft>
              <a:buSzPct val="100000"/>
              <a:buFont typeface="+mj-lt"/>
              <a:buAutoNum type="arabicPeriod"/>
            </a:pPr>
            <a:r>
              <a:rPr lang="en-US" sz="1100" dirty="0">
                <a:solidFill>
                  <a:schemeClr val="accent1"/>
                </a:solidFill>
              </a:rPr>
              <a:t>Cahill K, Stevens S, Perera R, Lancaster T. Pharmacological interventions for smoking cessation: an overview and network meta-analysis. Cochrane Database Syst Rev. 2013;(5):CD009329.</a:t>
            </a:r>
            <a:endParaRPr lang="en-US" sz="1100" dirty="0"/>
          </a:p>
        </p:txBody>
      </p:sp>
      <p:sp>
        <p:nvSpPr>
          <p:cNvPr id="5" name="Kaynaklar 9-16"/>
          <p:cNvSpPr txBox="1"/>
          <p:nvPr/>
        </p:nvSpPr>
        <p:spPr>
          <a:xfrm>
            <a:off x="6263640" y="1234440"/>
            <a:ext cx="5349240" cy="5074920"/>
          </a:xfrm>
          <a:prstGeom prst="rect">
            <a:avLst/>
          </a:prstGeom>
          <a:noFill/>
          <a:ln/>
        </p:spPr>
        <p:txBody>
          <a:bodyPr wrap="square" lIns="0" tIns="0" rIns="0" bIns="0" rtlCol="0" anchor="t"/>
          <a:lstStyle/>
          <a:p>
            <a:pPr marL="342900" indent="-342900" algn="just">
              <a:spcAft>
                <a:spcPts val="400"/>
              </a:spcAft>
              <a:buSzPct val="100000"/>
              <a:buFont typeface="+mj-lt"/>
              <a:buAutoNum type="arabicPeriod" startAt="9"/>
            </a:pPr>
            <a:r>
              <a:rPr lang="en-US" sz="1100" dirty="0">
                <a:solidFill>
                  <a:schemeClr val="accent1"/>
                </a:solidFill>
              </a:rPr>
              <a:t>Anthenelli RM, Benowitz NL, West R, et al. Neuropsychiatric safety and efficacy of varenicline, bupropion, and nicotine patch in smokers with and without psychiatric disorders (EAGLES). Lancet. 2016;387(10037):2507-20.</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Walker N, Howe C, Glover M, et al. Cytisine versus nicotine for smoking cessation. N Engl J Med. 2014;371(25):2353-62.</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Courtney RJ, McRobbie H, Tutka P, et al. Effect of cytisine vs varenicline on smoking cessation: a randomized clinical trial. JAMA. 2021;326(1):56-64.</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Koegelenberg CFN, Noor F, Bateman ED, et al. Efficacy of varenicline combined with nicotine replacement therapy vs varenicline alone for smoking cessation: a randomized clinical trial. JAMA. 2014;312(2):155-61.</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Benli AR, Erturhan S, Oruc MA, Kalpakci P, Sunay D, Demirel Y. A comparison of the efficacy of varenicline and bupropion and an evaluation of the effect of the medications in the context of the smoking cessation programme. Tob Induc Dis. 2017;15:10.</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Park EW, Schultz JK, Tudiver F, Campbell T, Becker L. Enhancing partner support to improve smoking cessation. Cochrane Database Syst Rev. 2004;(3):CD002928.</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Davis JM, Masclans L, Rose JE. Adaptive smoking cessation using precessation varenicline or nicotine patch: a randomized clinical trial. JAMA Netw Open. 2023;6(9):e2332214.</a:t>
            </a:r>
            <a:endParaRPr lang="en-US" sz="1100" dirty="0"/>
          </a:p>
          <a:p>
            <a:pPr marL="342900" indent="-342900" algn="just">
              <a:spcAft>
                <a:spcPts val="400"/>
              </a:spcAft>
              <a:buSzPct val="100000"/>
              <a:buFont typeface="+mj-lt"/>
              <a:buAutoNum type="arabicPeriod" startAt="9"/>
            </a:pPr>
            <a:r>
              <a:rPr lang="en-US" sz="1100" dirty="0">
                <a:solidFill>
                  <a:schemeClr val="accent1"/>
                </a:solidFill>
              </a:rPr>
              <a:t>Curry S, Wagner EH, Grothaus LC. Intrinsic and extrinsic motivation for smoking cessation. J Consult Clin Psychol. 1990;58(3):310-6.</a:t>
            </a:r>
            <a:endParaRPr lang="en-US" sz="11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7A8C94"/>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a:spLocks noGrp="1"/>
          </p:cNvSpPr>
          <p:nvPr>
            <p:ph type="title" idx="100" hasCustomPrompt="1"/>
          </p:nvPr>
        </p:nvSpPr>
        <p:spPr>
          <a:xfrm>
            <a:off x="731520" y="914400"/>
            <a:ext cx="6949440" cy="2011680"/>
          </a:xfrm>
          <a:prstGeom prst="rect">
            <a:avLst/>
          </a:prstGeom>
          <a:noFill/>
          <a:ln/>
        </p:spPr>
        <p:txBody>
          <a:bodyPr wrap="square" lIns="0" tIns="0" rIns="0" bIns="0" rtlCol="0" anchor="t"/>
          <a:lstStyle/>
          <a:p>
            <a:pPr marL="0" indent="0" algn="l">
              <a:buNone/>
            </a:pPr>
            <a:r>
              <a:rPr lang="en-US" sz="4000" b="1" dirty="0">
                <a:solidFill>
                  <a:schemeClr val="bg1"/>
                </a:solidFill>
              </a:rPr>
              <a:t>İlginiz ve katkılarınız için teşekkür ederim</a:t>
            </a:r>
            <a:endParaRPr lang="en-US" sz="4000" dirty="0"/>
          </a:p>
        </p:txBody>
      </p:sp>
      <p:sp>
        <p:nvSpPr>
          <p:cNvPr id="4" name="Text 1"/>
          <p:cNvSpPr txBox="1"/>
          <p:nvPr/>
        </p:nvSpPr>
        <p:spPr>
          <a:xfrm>
            <a:off x="731520" y="4344202"/>
            <a:ext cx="6766560" cy="2377440"/>
          </a:xfrm>
          <a:prstGeom prst="rect">
            <a:avLst/>
          </a:prstGeom>
          <a:noFill/>
          <a:ln/>
        </p:spPr>
        <p:txBody>
          <a:bodyPr wrap="square" lIns="0" tIns="0" rIns="0" bIns="0" rtlCol="0" anchor="t"/>
          <a:lstStyle/>
          <a:p>
            <a:pPr marL="0" indent="0">
              <a:buNone/>
            </a:pPr>
            <a:r>
              <a:rPr lang="en-US" sz="1200" dirty="0">
                <a:solidFill>
                  <a:schemeClr val="bg2"/>
                </a:solidFill>
              </a:rPr>
              <a:t> </a:t>
            </a:r>
            <a:endParaRPr lang="en-US" sz="2600" dirty="0"/>
          </a:p>
          <a:p>
            <a:pPr marL="0" indent="0">
              <a:buNone/>
            </a:pPr>
            <a:r>
              <a:rPr lang="en-US" sz="2200" dirty="0">
                <a:solidFill>
                  <a:schemeClr val="bg2"/>
                </a:solidFill>
              </a:rPr>
              <a:t>Asst. Dr. Ahmet KIRAN</a:t>
            </a:r>
            <a:endParaRPr lang="tr-TR" sz="2200" dirty="0">
              <a:solidFill>
                <a:schemeClr val="bg2"/>
              </a:solidFill>
            </a:endParaRPr>
          </a:p>
          <a:p>
            <a:pPr marL="0" indent="0">
              <a:buNone/>
            </a:pPr>
            <a:r>
              <a:rPr lang="tr-TR" sz="2200" dirty="0">
                <a:solidFill>
                  <a:schemeClr val="bg2"/>
                </a:solidFill>
              </a:rPr>
              <a:t>Mail: kiranahmet@gmail.com</a:t>
            </a:r>
            <a:endParaRPr lang="en-US" sz="2600" dirty="0"/>
          </a:p>
        </p:txBody>
      </p:sp>
      <p:sp>
        <p:nvSpPr>
          <p:cNvPr id="5" name="Görsel zemini"/>
          <p:cNvSpPr/>
          <p:nvPr/>
        </p:nvSpPr>
        <p:spPr>
          <a:xfrm>
            <a:off x="8183880" y="1325880"/>
            <a:ext cx="3291840" cy="3291840"/>
          </a:xfrm>
          <a:prstGeom prst="ellipse">
            <a:avLst/>
          </a:prstGeom>
          <a:solidFill>
            <a:schemeClr val="bg2"/>
          </a:solidFill>
          <a:ln w="12700">
            <a:solidFill>
              <a:schemeClr val="bg2"/>
            </a:solidFill>
            <a:prstDash val="solid"/>
          </a:ln>
        </p:spPr>
        <p:txBody>
          <a:bodyPr/>
          <a:lstStyle/>
          <a:p>
            <a:endParaRPr/>
          </a:p>
        </p:txBody>
      </p:sp>
      <p:pic>
        <p:nvPicPr>
          <p:cNvPr id="6" name="Dumansız simge" descr="Sigara içilmez simgesi"/>
          <p:cNvPicPr>
            <a:picLocks noChangeAspect="1"/>
          </p:cNvPicPr>
          <p:nvPr/>
        </p:nvPicPr>
        <p:blipFill>
          <a:blip r:embed="rId3"/>
          <a:stretch>
            <a:fillRect/>
          </a:stretch>
        </p:blipFill>
        <p:spPr>
          <a:xfrm>
            <a:off x="8915400" y="2057400"/>
            <a:ext cx="1828800" cy="1828800"/>
          </a:xfrm>
          <a:prstGeom prst="rect">
            <a:avLst/>
          </a:prstGeom>
        </p:spPr>
      </p:pic>
      <p:sp>
        <p:nvSpPr>
          <p:cNvPr id="7" name="Text 3"/>
          <p:cNvSpPr txBox="1"/>
          <p:nvPr/>
        </p:nvSpPr>
        <p:spPr>
          <a:xfrm>
            <a:off x="7726680" y="4846320"/>
            <a:ext cx="4206240" cy="548640"/>
          </a:xfrm>
          <a:prstGeom prst="rect">
            <a:avLst/>
          </a:prstGeom>
          <a:noFill/>
          <a:ln/>
        </p:spPr>
        <p:txBody>
          <a:bodyPr wrap="square" lIns="0" tIns="0" rIns="0" bIns="0" rtlCol="0" anchor="ctr"/>
          <a:lstStyle/>
          <a:p>
            <a:pPr marL="0" indent="0" algn="ctr">
              <a:buNone/>
            </a:pPr>
            <a:r>
              <a:rPr lang="en-US" sz="2200" i="1" dirty="0">
                <a:solidFill>
                  <a:schemeClr val="bg2"/>
                </a:solidFill>
              </a:rPr>
              <a:t>Dumansız bir gelecek için</a:t>
            </a:r>
            <a:endParaRPr lang="en-US" sz="2200" dirty="0"/>
          </a:p>
        </p:txBody>
      </p:sp>
      <p:sp>
        <p:nvSpPr>
          <p:cNvPr id="25" name="Slide Number Placeholder 0"/>
          <p:cNvSpPr>
            <a:spLocks noGrp="1"/>
          </p:cNvSpPr>
          <p:nvPr>
            <p:ph type="sldNum" sz="quarter" idx="4294967295"/>
          </p:nvPr>
        </p:nvSpPr>
        <p:spPr>
          <a:xfrm>
            <a:off x="11201400" y="6382512"/>
            <a:ext cx="548640" cy="292608"/>
          </a:xfrm>
          <a:prstGeom prst="rect">
            <a:avLst/>
          </a:prstGeom>
          <a:extLst>
            <a:ext uri="{C572A759-6A51-4108-AA02-DFA0A04FC94B}">
              <ma14:wrappingTextBoxFlag xmlns:ma14="http://schemas.microsoft.com/office/mac/drawingml/2011/main" xmlns="" val="0"/>
            </a:ext>
          </a:extLst>
        </p:spPr>
        <p:txBody>
          <a:bodyPr/>
          <a:lstStyle>
            <a:lvl1pPr>
              <a:defRPr sz="1400">
                <a:solidFill>
                  <a:srgbClr val="E6F0F1"/>
                </a:solidFill>
              </a:defRPr>
            </a:lvl1pPr>
          </a:lstStyle>
          <a:p>
            <a:pPr algn="r"/>
            <a:fld id="{F7021451-1387-4CA6-816F-3879F97B5CBC}" type="slidenum">
              <a:rPr lang="en-US" b="0"/>
              <a:t>26</a:t>
            </a:fld>
            <a:endParaRPr lang="en-US"/>
          </a:p>
        </p:txBody>
      </p:sp>
    </p:spTree>
  </p:cSld>
  <p:clrMapOvr>
    <a:masterClrMapping/>
  </p:clrMapOvr>
</p:sld>
</file>

<file path=ppt/theme/theme1.xml><?xml version="1.0" encoding="utf-8"?>
<a:theme xmlns:a="http://schemas.openxmlformats.org/drawingml/2006/main" name="Sigara Birakma Sunumu">
  <a:themeElements>
    <a:clrScheme name="Sigara Birakma Sunumu">
      <a:dk1>
        <a:srgbClr val="123A45"/>
      </a:dk1>
      <a:lt1>
        <a:srgbClr val="FFFFFF"/>
      </a:lt1>
      <a:dk2>
        <a:srgbClr val="0F4C5C"/>
      </a:dk2>
      <a:lt2>
        <a:srgbClr val="E6F0F1"/>
      </a:lt2>
      <a:accent1>
        <a:srgbClr val="0F4C5C"/>
      </a:accent1>
      <a:accent2>
        <a:srgbClr val="2A9D8F"/>
      </a:accent2>
      <a:accent3>
        <a:srgbClr val="7A8C94"/>
      </a:accent3>
      <a:accent4>
        <a:srgbClr val="5C8A93"/>
      </a:accent4>
      <a:accent5>
        <a:srgbClr val="B9D9D5"/>
      </a:accent5>
      <a:accent6>
        <a:srgbClr val="3D6B78"/>
      </a:accent6>
      <a:hlink>
        <a:srgbClr val="2A9D8F"/>
      </a:hlink>
      <a:folHlink>
        <a:srgbClr val="7A8C94"/>
      </a:folHlink>
    </a:clrScheme>
    <a:fontScheme name="Sigara Birakma Sunum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1907</TotalTime>
  <Words>2779</Words>
  <Application>Microsoft Office PowerPoint</Application>
  <PresentationFormat>Geniş ekran</PresentationFormat>
  <Paragraphs>330</Paragraphs>
  <Slides>26</Slides>
  <Notes>26</Notes>
  <HiddenSlides>0</HiddenSlides>
  <MMClips>0</MMClips>
  <ScaleCrop>false</ScaleCrop>
  <HeadingPairs>
    <vt:vector size="6" baseType="variant">
      <vt:variant>
        <vt:lpstr>Kullanılan Yazı Tipleri</vt:lpstr>
      </vt:variant>
      <vt:variant>
        <vt:i4>2</vt:i4>
      </vt:variant>
      <vt:variant>
        <vt:lpstr>Tema</vt:lpstr>
      </vt:variant>
      <vt:variant>
        <vt:i4>1</vt:i4>
      </vt:variant>
      <vt:variant>
        <vt:lpstr>Slayt Başlıkları</vt:lpstr>
      </vt:variant>
      <vt:variant>
        <vt:i4>26</vt:i4>
      </vt:variant>
    </vt:vector>
  </HeadingPairs>
  <TitlesOfParts>
    <vt:vector size="29" baseType="lpstr">
      <vt:lpstr>Arial</vt:lpstr>
      <vt:lpstr>Calibri</vt:lpstr>
      <vt:lpstr>Sigara Birakma Sunumu</vt:lpstr>
      <vt:lpstr>Bir üniversite hastanesine bağlı sigara bırakma polikliniğine başvuran hastaların demografik ve klinik özellikleri ile sigara bırakma durumlarını etkileyen faktörler</vt:lpstr>
      <vt:lpstr>PowerPoint Sunusu</vt:lpstr>
      <vt:lpstr>İçerik</vt:lpstr>
      <vt:lpstr>Sorunun büyüklüğü</vt:lpstr>
      <vt:lpstr>Tedavi seçenekleri</vt:lpstr>
      <vt:lpstr>Çalışmanın amacı</vt:lpstr>
      <vt:lpstr>Tasarım ve örneklem</vt:lpstr>
      <vt:lpstr>Veri toplama ve bağımlılık ölçümü</vt:lpstr>
      <vt:lpstr>Tedavi yaklaşımı</vt:lpstr>
      <vt:lpstr>İstatistiksel analiz</vt:lpstr>
      <vt:lpstr>Katılımcıların genel özellikleri</vt:lpstr>
      <vt:lpstr>Bağımlılık düzeyi ve deneme öyküsü</vt:lpstr>
      <vt:lpstr>Sosyodemografik özellikler</vt:lpstr>
      <vt:lpstr>Sosyodemografik özelliklere göre sigara bırakma sonuçları</vt:lpstr>
      <vt:lpstr>Sosyodemografik özelliklere göre sigara bırakma (devam)</vt:lpstr>
      <vt:lpstr>Katılımcıların kullandığı tedavi seçenekleri</vt:lpstr>
      <vt:lpstr>Görüşme sayısı, FNBT ve paket-yıl</vt:lpstr>
      <vt:lpstr>Tedavi yöntemlerinin sigara bırakma durumu ile karşılaştırılması</vt:lpstr>
      <vt:lpstr>Sigara bırakma durumunu öngören tedavi yöntemleri ve ilişkili özelliklerin ileri analizi (lojistik regresyon)</vt:lpstr>
      <vt:lpstr>Tartışma: tedaviler ve literatür</vt:lpstr>
      <vt:lpstr>Tartışma: başarıyı etkileyen faktörler</vt:lpstr>
      <vt:lpstr>Kısıtlılıklar ve güçlü yönler</vt:lpstr>
      <vt:lpstr>Sonuç ve öneriler</vt:lpstr>
      <vt:lpstr>Akılda kalacak mesajlar</vt:lpstr>
      <vt:lpstr>Kaynaklar</vt:lpstr>
      <vt:lpstr>İlginiz ve katkılarınız için teşekkür ederim</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Sigara bırakma polikliniği: makale sunumu</dc:title>
  <dc:subject>Makale sunumu</dc:subject>
  <dc:creator>PptxGenJS</dc:creator>
  <cp:lastModifiedBy>Ahmet Kıran</cp:lastModifiedBy>
  <cp:revision>3</cp:revision>
  <dcterms:created xsi:type="dcterms:W3CDTF">2026-10-12T20:59:45Z</dcterms:created>
  <dcterms:modified xsi:type="dcterms:W3CDTF">2026-10-20T21:42:32Z</dcterms:modified>
</cp:coreProperties>
</file>