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CBD3B5D9-2F93-2580-60F6-41F54A367A1E}">
          <p14:sldIdLst>
            <p14:sldId id="256"/>
            <p14:sldId id="257"/>
            <p14:sldId id="259"/>
            <p14:sldId id="260"/>
            <p14:sldId id="261"/>
            <p14:sldId id="262"/>
          </p14:sldIdLst>
        </p14:section>
        <p14:section name="Gereç ve yöntem" id="{04071607-34FB-0E23-AD47-B8414C83E64F}">
          <p14:sldIdLst>
            <p14:sldId id="263"/>
            <p14:sldId id="264"/>
            <p14:sldId id="265"/>
            <p14:sldId id="266"/>
          </p14:sldIdLst>
        </p14:section>
        <p14:section name="Bulgular" id="{68D7AA3F-A07B-6D95-8EB4-AFF56FC4ECE4}">
          <p14:sldIdLst>
            <p14:sldId id="267"/>
            <p14:sldId id="268"/>
            <p14:sldId id="269"/>
            <p14:sldId id="270"/>
            <p14:sldId id="271"/>
            <p14:sldId id="272"/>
            <p14:sldId id="273"/>
            <p14:sldId id="274"/>
            <p14:sldId id="275"/>
          </p14:sldIdLst>
        </p14:section>
        <p14:section name="Tartışma" id="{0B6DA766-F717-08AA-80F2-D174BC057A12}">
          <p14:sldIdLst>
            <p14:sldId id="276"/>
            <p14:sldId id="277"/>
            <p14:sldId id="278"/>
          </p14:sldIdLst>
        </p14:section>
        <p14:section name="Sonuç" id="{D7D5B8D7-35CC-0BDF-FC0E-24C71FE0EBF6}">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t Kıran" userId="79d1f92f95b4ea5f" providerId="LiveId" clId="{731B8B29-0491-457A-988D-17AFD8C29442}"/>
    <pc:docChg chg="undo redo custSel delSld modSld modSection">
      <pc:chgData name="Ahmet Kıran" userId="79d1f92f95b4ea5f" providerId="LiveId" clId="{731B8B29-0491-457A-988D-17AFD8C29442}" dt="2026-10-14T19:04:15.953" v="136" actId="6549"/>
      <pc:docMkLst>
        <pc:docMk/>
      </pc:docMkLst>
      <pc:sldChg chg="modSp mod">
        <pc:chgData name="Ahmet Kıran" userId="79d1f92f95b4ea5f" providerId="LiveId" clId="{731B8B29-0491-457A-988D-17AFD8C29442}" dt="2026-10-14T18:31:35.752" v="134" actId="20577"/>
        <pc:sldMkLst>
          <pc:docMk/>
          <pc:sldMk cId="0" sldId="256"/>
        </pc:sldMkLst>
        <pc:spChg chg="mod">
          <ac:chgData name="Ahmet Kıran" userId="79d1f92f95b4ea5f" providerId="LiveId" clId="{731B8B29-0491-457A-988D-17AFD8C29442}" dt="2026-10-14T18:31:35.752" v="134" actId="20577"/>
          <ac:spMkLst>
            <pc:docMk/>
            <pc:sldMk cId="0" sldId="256"/>
            <ac:spMk id="3" creationId="{00000000-0000-0000-0000-000000000000}"/>
          </ac:spMkLst>
        </pc:spChg>
        <pc:spChg chg="mod">
          <ac:chgData name="Ahmet Kıran" userId="79d1f92f95b4ea5f" providerId="LiveId" clId="{731B8B29-0491-457A-988D-17AFD8C29442}" dt="2026-10-14T18:03:36.972" v="94" actId="20577"/>
          <ac:spMkLst>
            <pc:docMk/>
            <pc:sldMk cId="0" sldId="256"/>
            <ac:spMk id="5" creationId="{00000000-0000-0000-0000-000000000000}"/>
          </ac:spMkLst>
        </pc:spChg>
      </pc:sldChg>
      <pc:sldChg chg="delSp modSp mod">
        <pc:chgData name="Ahmet Kıran" userId="79d1f92f95b4ea5f" providerId="LiveId" clId="{731B8B29-0491-457A-988D-17AFD8C29442}" dt="2026-10-14T18:04:40.524" v="99" actId="478"/>
        <pc:sldMkLst>
          <pc:docMk/>
          <pc:sldMk cId="0" sldId="257"/>
        </pc:sldMkLst>
        <pc:spChg chg="del">
          <ac:chgData name="Ahmet Kıran" userId="79d1f92f95b4ea5f" providerId="LiveId" clId="{731B8B29-0491-457A-988D-17AFD8C29442}" dt="2026-10-14T18:04:30.937" v="95" actId="478"/>
          <ac:spMkLst>
            <pc:docMk/>
            <pc:sldMk cId="0" sldId="257"/>
            <ac:spMk id="24" creationId="{00000000-0000-0000-0000-000000000000}"/>
          </ac:spMkLst>
        </pc:spChg>
        <pc:spChg chg="del">
          <ac:chgData name="Ahmet Kıran" userId="79d1f92f95b4ea5f" providerId="LiveId" clId="{731B8B29-0491-457A-988D-17AFD8C29442}" dt="2026-10-14T18:04:34.614" v="97" actId="478"/>
          <ac:spMkLst>
            <pc:docMk/>
            <pc:sldMk cId="0" sldId="257"/>
            <ac:spMk id="25" creationId="{00000000-0000-0000-0000-000000000000}"/>
          </ac:spMkLst>
        </pc:spChg>
        <pc:spChg chg="del">
          <ac:chgData name="Ahmet Kıran" userId="79d1f92f95b4ea5f" providerId="LiveId" clId="{731B8B29-0491-457A-988D-17AFD8C29442}" dt="2026-10-14T18:04:32.992" v="96" actId="478"/>
          <ac:spMkLst>
            <pc:docMk/>
            <pc:sldMk cId="0" sldId="257"/>
            <ac:spMk id="26" creationId="{00000000-0000-0000-0000-000000000000}"/>
          </ac:spMkLst>
        </pc:spChg>
        <pc:spChg chg="del mod">
          <ac:chgData name="Ahmet Kıran" userId="79d1f92f95b4ea5f" providerId="LiveId" clId="{731B8B29-0491-457A-988D-17AFD8C29442}" dt="2026-10-14T18:04:40.524" v="99" actId="478"/>
          <ac:spMkLst>
            <pc:docMk/>
            <pc:sldMk cId="0" sldId="257"/>
            <ac:spMk id="27" creationId="{00000000-0000-0000-0000-000000000000}"/>
          </ac:spMkLst>
        </pc:spChg>
      </pc:sldChg>
      <pc:sldChg chg="addSp delSp del mod">
        <pc:chgData name="Ahmet Kıran" userId="79d1f92f95b4ea5f" providerId="LiveId" clId="{731B8B29-0491-457A-988D-17AFD8C29442}" dt="2026-10-14T18:35:30.027" v="135" actId="2696"/>
        <pc:sldMkLst>
          <pc:docMk/>
          <pc:sldMk cId="0" sldId="258"/>
        </pc:sldMkLst>
        <pc:spChg chg="del">
          <ac:chgData name="Ahmet Kıran" userId="79d1f92f95b4ea5f" providerId="LiveId" clId="{731B8B29-0491-457A-988D-17AFD8C29442}" dt="2026-10-14T18:05:01.802" v="101" actId="478"/>
          <ac:spMkLst>
            <pc:docMk/>
            <pc:sldMk cId="0" sldId="258"/>
            <ac:spMk id="12" creationId="{00000000-0000-0000-0000-000000000000}"/>
          </ac:spMkLst>
        </pc:spChg>
        <pc:spChg chg="del">
          <ac:chgData name="Ahmet Kıran" userId="79d1f92f95b4ea5f" providerId="LiveId" clId="{731B8B29-0491-457A-988D-17AFD8C29442}" dt="2026-10-14T18:05:05.042" v="102" actId="478"/>
          <ac:spMkLst>
            <pc:docMk/>
            <pc:sldMk cId="0" sldId="258"/>
            <ac:spMk id="14" creationId="{00000000-0000-0000-0000-000000000000}"/>
          </ac:spMkLst>
        </pc:spChg>
        <pc:spChg chg="add del">
          <ac:chgData name="Ahmet Kıran" userId="79d1f92f95b4ea5f" providerId="LiveId" clId="{731B8B29-0491-457A-988D-17AFD8C29442}" dt="2026-10-14T18:28:00.627" v="124" actId="478"/>
          <ac:spMkLst>
            <pc:docMk/>
            <pc:sldMk cId="0" sldId="258"/>
            <ac:spMk id="15" creationId="{00000000-0000-0000-0000-000000000000}"/>
          </ac:spMkLst>
        </pc:spChg>
        <pc:picChg chg="del">
          <ac:chgData name="Ahmet Kıran" userId="79d1f92f95b4ea5f" providerId="LiveId" clId="{731B8B29-0491-457A-988D-17AFD8C29442}" dt="2026-10-14T18:04:59.822" v="100" actId="478"/>
          <ac:picMkLst>
            <pc:docMk/>
            <pc:sldMk cId="0" sldId="258"/>
            <ac:picMk id="13" creationId="{00000000-0000-0000-0000-000000000000}"/>
          </ac:picMkLst>
        </pc:picChg>
      </pc:sldChg>
      <pc:sldChg chg="addSp delSp modSp mod">
        <pc:chgData name="Ahmet Kıran" userId="79d1f92f95b4ea5f" providerId="LiveId" clId="{731B8B29-0491-457A-988D-17AFD8C29442}" dt="2026-10-14T18:28:10.708" v="126" actId="478"/>
        <pc:sldMkLst>
          <pc:docMk/>
          <pc:sldMk cId="0" sldId="259"/>
        </pc:sldMkLst>
        <pc:spChg chg="mod">
          <ac:chgData name="Ahmet Kıran" userId="79d1f92f95b4ea5f" providerId="LiveId" clId="{731B8B29-0491-457A-988D-17AFD8C29442}" dt="2026-10-14T18:27:54.157" v="122"/>
          <ac:spMkLst>
            <pc:docMk/>
            <pc:sldMk cId="0" sldId="259"/>
            <ac:spMk id="7" creationId="{00000000-0000-0000-0000-000000000000}"/>
          </ac:spMkLst>
        </pc:spChg>
        <pc:spChg chg="add del">
          <ac:chgData name="Ahmet Kıran" userId="79d1f92f95b4ea5f" providerId="LiveId" clId="{731B8B29-0491-457A-988D-17AFD8C29442}" dt="2026-10-14T18:28:07.667" v="125" actId="478"/>
          <ac:spMkLst>
            <pc:docMk/>
            <pc:sldMk cId="0" sldId="259"/>
            <ac:spMk id="10" creationId="{00000000-0000-0000-0000-000000000000}"/>
          </ac:spMkLst>
        </pc:spChg>
        <pc:spChg chg="add del">
          <ac:chgData name="Ahmet Kıran" userId="79d1f92f95b4ea5f" providerId="LiveId" clId="{731B8B29-0491-457A-988D-17AFD8C29442}" dt="2026-10-14T18:28:10.708" v="126" actId="478"/>
          <ac:spMkLst>
            <pc:docMk/>
            <pc:sldMk cId="0" sldId="259"/>
            <ac:spMk id="11" creationId="{00000000-0000-0000-0000-000000000000}"/>
          </ac:spMkLst>
        </pc:spChg>
      </pc:sldChg>
      <pc:sldChg chg="modSp mod">
        <pc:chgData name="Ahmet Kıran" userId="79d1f92f95b4ea5f" providerId="LiveId" clId="{731B8B29-0491-457A-988D-17AFD8C29442}" dt="2026-10-14T19:04:15.953" v="136" actId="6549"/>
        <pc:sldMkLst>
          <pc:docMk/>
          <pc:sldMk cId="0" sldId="261"/>
        </pc:sldMkLst>
        <pc:spChg chg="mod">
          <ac:chgData name="Ahmet Kıran" userId="79d1f92f95b4ea5f" providerId="LiveId" clId="{731B8B29-0491-457A-988D-17AFD8C29442}" dt="2026-10-14T19:04:15.953" v="136" actId="6549"/>
          <ac:spMkLst>
            <pc:docMk/>
            <pc:sldMk cId="0" sldId="261"/>
            <ac:spMk id="13" creationId="{00000000-0000-0000-0000-000000000000}"/>
          </ac:spMkLst>
        </pc:spChg>
      </pc:sldChg>
      <pc:sldChg chg="modSp mod">
        <pc:chgData name="Ahmet Kıran" userId="79d1f92f95b4ea5f" providerId="LiveId" clId="{731B8B29-0491-457A-988D-17AFD8C29442}" dt="2026-10-13T18:42:58.784" v="8" actId="1036"/>
        <pc:sldMkLst>
          <pc:docMk/>
          <pc:sldMk cId="0" sldId="274"/>
        </pc:sldMkLst>
        <pc:spChg chg="mod">
          <ac:chgData name="Ahmet Kıran" userId="79d1f92f95b4ea5f" providerId="LiveId" clId="{731B8B29-0491-457A-988D-17AFD8C29442}" dt="2026-10-13T18:42:41.582" v="7" actId="20577"/>
          <ac:spMkLst>
            <pc:docMk/>
            <pc:sldMk cId="0" sldId="274"/>
            <ac:spMk id="7" creationId="{00000000-0000-0000-0000-000000000000}"/>
          </ac:spMkLst>
        </pc:spChg>
        <pc:spChg chg="mod">
          <ac:chgData name="Ahmet Kıran" userId="79d1f92f95b4ea5f" providerId="LiveId" clId="{731B8B29-0491-457A-988D-17AFD8C29442}" dt="2026-10-13T18:42:58.784" v="8" actId="1036"/>
          <ac:spMkLst>
            <pc:docMk/>
            <pc:sldMk cId="0" sldId="274"/>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8704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Günaydın hocalarım, değerli arkadaşlarım. Ben Asistan Dr. Ahmet Kıran.</a:t>
            </a:r>
          </a:p>
          <a:p>
            <a:r>
              <a:t>Bugün sizlere Turkish Journal of Family Practice dergisinin 2026 yılı 30. cilt 2. sayısında yayımlanan, Uzm. Dr. Emre Cenberlitaş ve hocalarımızdan Aksanur ve Onur hocamızın “Bir üniversite hastanesine bağlı sigara bırakma polikliniğine başvuran hastaların demografik ve klinik özellikleri ile sigara bırakma durumlarını etkileyen faktörler” başlıklı makalesini sunacağım.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Sunum 27 slayttan oluşmakta ve yaklaşık yarım saat sürecektir.</a:t>
            </a:r>
          </a:p>
          <a:p>
            <a:r>
              <a:t>Makalenin künyesi ve giriş bölümüyle başlayıp gereç ve yöntemi aktaracağım. Bulgular bölümünde makaledeki altı tabloyu özgün halleriyle göstereceğim. Ardından hocalarımızın tartışma ve sonuçlarını aktaracak, son olarak kısa bir olgu üzerinden görüşlerinizi alacağım.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Solda makalenin ilk sayfasını görüyorsunuz. Makale Türkiye Aile Hekimleri Uzmanlık Derneği'nin yayın organı olan Turkish Journal of Family Practice'te 2026 yılında yayımlanmıştır.</a:t>
            </a:r>
          </a:p>
          <a:p>
            <a:r>
              <a:t>Çalışma retrospektif, kesitsel bir araştırmadır. Veriler Samsun Eğitim ve Araştırma Hastanesi Sigara Bırakma Polikliniği'nden elde edilmiştir.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Giriş bölümünde tütün bağımlılığının önlenebilir ölüm nedenlerinin başında geldiği vurgulanmaktadır. Küresel Yetişkin Tütün Araştırması 2016 verilerine göre Türkiye'de sigara içme sıklığı erkeklerde yüzde 44,1, kadınlarda yüzde 19,2'dir.</a:t>
            </a:r>
          </a:p>
          <a:p>
            <a:r>
              <a:t>Ülkemizde 500'ün üzerinde sigara bırakma polikliniği bulunmakta, bu polikliniklere 2,5 milyondan fazla kişi başvurmuş bulunmaktadır. Polikliniklerde bırakma oranları yüzde 20 ile 50 arasında değişmektedir.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Sigara bırakma tedavisi Onur hocamızın da dersinde anlattığı gibi davranışsal yaklaşımlar ve farmakoterapiden oluşmakta. Davranışsal tarafta Sağlık İnanç Modeli, Sağlık Kontrol Odağı, Yeniliklerin Yayılımı Modeli, Pender'in Sağlığı Geliştirme Modeli ve Transteorik Model gibi davranış değişikliği modelleri kullanılmaktadır.</a:t>
            </a:r>
          </a:p>
          <a:p>
            <a:r>
              <a:t>Farmakoterapi nikotin replasman tedavisi, bupropion ve vareniklinden oluşmaktadır. Sitizin de yine Onur hocamızın bahsettiği gibi son yıllarda ek bir seçenek olarak kullanıma girmiştir. Farmakoterapinin davranışsal destekle birlikte verilmesi ve gerektiğinde kombinasyonların düşünülmesi önerilmektedir.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Yazarların amacı, kombine tedavinin ve yakın takibin sigara bırakma başarısı üzerindeki etkisini değerlendirmek ve bırakmayı etkileyen hasta özelliklerini belirlemektir.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Çalışma 1 Ağustos 2020 ile 31 Ağustos 2024 arasını kapsamaktadır. Polikliniğe başvuran, 18 yaş ve üzeri, sigara içen 432 hastanın dosyası taranmıştır.</a:t>
            </a:r>
          </a:p>
          <a:p>
            <a:r>
              <a:t>Verilerine eksiksiz ulaşılan 399 hasta analize alınmıştır. Tüm kayıtlar kullanıldığından örneklem büyüklüğü hesaplanmamıştır. Yıllık kontrolüne gelmeyen hastaların takip bilgileri asistan hekimlerin yaptığı uzaktan görüşmelerle tamamlanmıştır.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Hasta dosyalarından yaş, cinsiyet, meslek, alkol kullanımı, kronik hastalık, sigara öyküsü ve uygulanan tedaviler kaydedilmiştir.</a:t>
            </a:r>
          </a:p>
          <a:p>
            <a:r>
              <a:t>Nikotin bağımlılığı ilk vizitte Fagerström Nikotin Bağımlılık Testi ile değerlendirilmiştir. 0–2 puan düşük, 3–7 puan orta, 8–10 puan yüksek bağımlılık olarak sınıflanmıştır. Testin Türkçe geçerlik ve güvenilirlik çalışması 2004 yılında Uysal ve arkadaşları tarafından yapılmıştır.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Tedavi FNBT puanı, kronik hastalıklar, kullanılan ilaçlar, kontrendikasyonlar ve hasta uyumuna göre bireyselleştirilmiştir.</a:t>
            </a:r>
          </a:p>
          <a:p>
            <a:r>
              <a:t>Hastalara yalnızca davranışsal tedavi, monoterapi ya da kombine tedavi uygulanmıştır. Kombine tedavi seçenekleri bupropion ile NRT, vareniklin ile NRT, sitizin ile NRT ve üçlü tedavidir. Sağlık Bakanlığı politikaları doğrultusunda NRT ve sitizin belirli dönemlerde ücretsiz sağlanmıştır.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Analizler SPSS 25 ile yapılmıştır. Normallik histogram ve Kolmogorov–Smirnov testiyle değerlendirilmiştir.</a:t>
            </a:r>
          </a:p>
          <a:p>
            <a:r>
              <a:t>Kategorik değişkenler ki-kare testiyle, iki grup karşılaştırmaları Mann–Whitney U, ikiden fazla grup karşılaştırmaları Kruskal–Wallis testiyle yapılmıştır. Post-hoc karşılaştırmalarda Duncan testi kullanılmıştır.</a:t>
            </a:r>
          </a:p>
          <a:p>
            <a:r>
              <a:t>Tedavi yöntemlerinin bırakma üzerindeki etkisi ikili lojistik regresyonla değerlendirilmiş ve Bonferroni düzeltmesi uygulanmıştır.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Bulgulara geçiyorum. Analize 399 hasta alınmıştır. Yaş ortalaması 44,7 yıldır ve hastaların yüzde 63,7'si erkektir.</a:t>
            </a:r>
          </a:p>
          <a:p>
            <a:r>
              <a:t>Ortalama FNBT puanı 5,66, ortalama tüketim 27,4 paket-yıl, hasta başına ortalama görüşme sayısı 2,21'dir. Hastaların yüzde 34,1'i, yani yaklaşık üçte biri sigarayı bırakmıştır.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FNBT puanlarına göre hastaların yüzde 13,2'si düşük, yüzde 61,3'ü orta, yüzde 25,5'i yüksek bağımlılık düzeyindedir.</a:t>
            </a:r>
          </a:p>
          <a:p>
            <a:r>
              <a:t>Hastaların yüzde 75,7'si daha önce sigarayı bırakmayı denemiş ve bunların yaklaşık yarısı bu denemede profesyonel destek almıştır. Yüzde 7,2'si sigara dışında elektronik sigara, nargile veya puro gibi tütün ürünleri kullanmaktadır.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1'de katılımcıların sosyodemografik özellikleri yer almaktadır. En kalabalık yaş grubu yüzde 45,6 ile 26–44 yaş grubudur. Hastaların yüzde 82'si evlidir ve yüzde 43'ü yükseköğretim mezunudur.</a:t>
            </a:r>
          </a:p>
          <a:p>
            <a:r>
              <a:t>Hastaların yüzde 86'sı il merkezinde yaşamaktadır. Yüzde 39,6'sının hanesinde sigara içen başka biri bulunmaktadır.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2'de sosyodemografik özelliklere göre bırakma durumu karşılaştırılmıştır. Bu tablo aslında uzun bir tablo ikiye böldüm yarısı diğer slaytta. Tablonun ilk bölümünde cinsiyet, yaş grubu, medeni durum ve eğitim durumu yer almaktadır.</a:t>
            </a:r>
          </a:p>
          <a:p>
            <a:r>
              <a:t>Bu değişkenlerin hiçbirinde başarılı ve başarısız gruplar arasında anlamlı fark bulunmamıştır.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Tablonun ikinci bölümünde yerleşim yeri, çalışma durumu, hanede başka sigara içen varlığı ve alkol kullanımı yer almaktadır.</a:t>
            </a:r>
          </a:p>
          <a:p>
            <a:r>
              <a:t>Anlamlı fark yalnızca hanede başka sigara içen varlığında bulunmuştur. Hanesinde sigara içen olmayanların yüzde 39,8'i, olanların yüzde 25,3'ü sigarayı bırakmıştır; p değeri 0,003'tür.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3'te uygulanan tedaviler görülmektedir. En sık uygulanan yöntem 141 hasta ile kombine tedavidir. Bunu 109 hasta ile bupropion ve 80 hasta ile NRT monoterapisi izlemektedir.</a:t>
            </a:r>
          </a:p>
          <a:p>
            <a:r>
              <a:t>Kombine tedavi alan hastaların 125'i bupropion ile NRT almıştır. Vareniklin 18, sitizin 34 hastada tek başına kullanılmış; 17 hastaya yalnızca farmakolojik olmayan tedavi uygulanmıştır.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4'te sürekli değişkenler bırakma durumuna göre karşılaştırılmıştır. Sigarayı bırakanlar ortalama 2,83 kez, bırakamayanlar 1,96 kez görüşmeye gelmiştir; fark anlamlıdır, p&lt;0,001.</a:t>
            </a:r>
          </a:p>
          <a:p>
            <a:r>
              <a:t>Bırakanların FNBT puanı daha düşüktür: 5,26'ya karşı 5,85; p değeri 0,024'tür. Paket-yıl açısından iki grup arasında anlamlı fark bulunmamıştır.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5'te tedavi yöntemlerine göre bırakma oranları yer almaktadır. Yazarlara göre en yüksek bırakma oranı yüzde 44,0 ile kombine tedavi grubundadır ve kombine tedavi diğer tüm seçeneklerden anlamlı derecede üstündür.</a:t>
            </a:r>
          </a:p>
          <a:p>
            <a:r>
              <a:t>NRT grubunda oran yüzde 37,5, sitizin ve yalnızca davranışsal tedavi gruplarında yüzde 35,3'tür. En düşük oran yüzde 16,5 ile bupropion monoterapisindedir. Gruplar arasındaki fark anlamlıdır, p&lt;0,001.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6'da lojistik regresyon sonuçları görülmektedir. Referans grup bupropion monoterapisidir ve Exp(B) sütunu odds oranını vermektedir.</a:t>
            </a:r>
          </a:p>
          <a:p>
            <a:r>
              <a:t>Bupropiona göre bırakma olasılığı vareniklinde 4,0, kombine tedavide 4,0, NRT'de 3,0, sitizinde 2,8 kat yüksektir. Farmakolojik tedavi almayanlarda görülen 2,8 katlık fark anlamlı değildir.</a:t>
            </a:r>
          </a:p>
          <a:p>
            <a:r>
              <a:t>Hanede sigara içen olmaması bırakma olasılığını yaklaşık iki katına, sigaraya bağlı yakınma olmaması 1,6 katına çıkarmaktadır. Yazarlar ayrıca FNBT puanının bırakma başarısının negatif bir öngörücüsü olduğunu bildirmektedir.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Yazarlar bulgularını literatürle karşılaştırmıştır. Vareniklinin bupropiona üstünlüğü büyük ölçekli meta-analizler ve randomize kontrollü çalışmalarla uyumludur. Bu üstünlüğün, vareniklinin α4β2 nikotinik reseptördeki parsiyel agonist etkisiyle ilişkili olduğu düşünülmektedir.</a:t>
            </a:r>
          </a:p>
          <a:p>
            <a:r>
              <a:t>Sitizin vareniklinle benzer mekanizmaya sahip, maliyet-etkin bir seçenektir; plaseboya üstün ve NRT ile benzer etkinlikte bulunmuştur. Kombine tedavinin üstünlüğü, monoterapi yetersiz kaldığında kombinasyon öneren kılavuzlarla uyumludur.</a:t>
            </a:r>
          </a:p>
          <a:p>
            <a:r>
              <a:t>Benli ve arkadaşlarının çalışmasında da vareniklin ilk altı ayda bupropiondan daha yüksek bırakma oranı sağlamıştır.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Yazarlar davranışsal desteğin önemini vurgulamaktadır: Daha fazla görüşmeye gelen hastalarda bırakma oranı daha yüksektir.</a:t>
            </a:r>
          </a:p>
          <a:p>
            <a:r>
              <a:t>Hanede sigara içen olmaması bırakma olasılığını neredeyse iki katına çıkarmaktadır. Literatürde eşin veya aile bireylerinin sigara içmesi hem tetikleyici hem de motivasyon engeli olarak tanımlanmaktadır.</a:t>
            </a:r>
          </a:p>
          <a:p>
            <a:r>
              <a:t>Hastaların ortalama FNBT puanı, tedavi arayan sigara içicilerinde bildirilen yaklaşık 5 puanla uyumludur ve yüksek puan düşük başarıyla ilişkilidir. Yakınması olmayan hastalarda başarının daha yüksek olması uzun vadeli sağlığı korumaya yönelik içsel motivasyonla açıklanmaktadır. Yazarlar ikinci bir olasılık olarak, kronik hastalığı veya semptomu olan bireylerin sigarayı bir baş etme aracı olarak kullanıyor olabileceğini ve bunun bırakmayı zorlaştırabileceğini belirtmektedir.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Yazarlar kısıtlılık olarak asistan rotasyonlarının takip sürekliliğini etkileyebileceğini, eksik verilerin telefonla ve hasta beyanıyla tamamlandığını ve vareniklinin piyasadan çekilmesinin ilaç seçimini etkilediğini belirtmektedir.</a:t>
            </a:r>
          </a:p>
          <a:p>
            <a:r>
              <a:t>Güçlü yön olarak bu çalışmanın, bildikleri kadarıyla sitizin ile sigara bırakma tedavisini ele alan erişilebilir ilk tez çalışması olduğunu ve birçok tedavi seçeneğini bir arada değerlendirdiğini vurgulamaktadırlar.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Yazarların sonucuna göre hastaların yaklaşık üçte biri sigarayı bırakmıştır. Kombine tedavi alanlarda bırakma oranı diğer seçeneklere göre daha yüksektir ve tedaviye uyum arttıkça başarı da artmaktadır.</a:t>
            </a:r>
          </a:p>
          <a:p>
            <a:r>
              <a:t>Yazarlar tedavi seanslarında hastaların bırakma motivasyonunu artırmaya yönelik çabaların yoğunlaştırılmasını önermektedir.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Bulguları pratiğe aktarmak için kısa bir olgu üzerinden görüşlerinizi almak istiyorum.</a:t>
            </a:r>
          </a:p>
          <a:p>
            <a:r>
              <a:t>52 yaşında erkek hasta; günde 25 sigara içiyor, 30 paket-yıl öyküsü var, FNBT puanı 8. Daha önce bupropion ile denemiş ve başaramamış. Eşi de sigara içiyor.</a:t>
            </a:r>
          </a:p>
          <a:p>
            <a:r>
              <a:t>Bu hastada hangi tedaviyi seçerdiniz? Takibi nasıl planlardınız? Eşini sürece nasıl dahil ederdiniz?</a:t>
            </a:r>
          </a:p>
          <a:p>
            <a:r>
              <a:t>[Burada 2–3 dakika görüş alın. Makalenin bulgularına göre tartışmayı şu noktalara yönlendirebilirsiniz: Kombine tedavi veya vareniklin/sitizin temelli tedavi, sık kontrol görüşmeleri ve eşe de bırakma danışmanlığı önerilmesi.]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Sunumu beş mesajla özetlemek istiyorum.</a:t>
            </a:r>
          </a:p>
          <a:p>
            <a:r>
              <a:t>Hastaların yaklaşık üçte biri sigarayı bırakmıştır. Kombine tedavide başarı daha yüksektir. Bupropion monoterapisi en düşük başarının görüldüğü seçenektir. Hanede sigara içen olması başarıyı azaltmaktadır. Sık takip başarıyla ilişkilidir.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Kaynaklar Vancouver stiline uygun olarak, kullanım sırasıyla listelenmiştir. Birinci kaynak sunulan makalenin kendisidir; diğerleri makalenin atıf yaptığı çalışmalardır.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İlginiz ve katkılarınız için teşekkür ederim. Sorularınızı ve görüşlerinizi almaktan memnuniyet duyarım.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0F4C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80160"/>
            <a:ext cx="10698480" cy="27889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731520" y="4434840"/>
            <a:ext cx="10698480" cy="15544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F0F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607040" cy="868680"/>
          </a:xfrm>
          <a:prstGeom prst="rect">
            <a:avLst/>
          </a:prstGeom>
          <a:noFill/>
          <a:ln/>
        </p:spPr>
        <p:txBody>
          <a:bodyPr wrap="square" rtlCol="0"/>
          <a:lstStyle>
            <a:lvl1pPr marL="0" indent="0" algn="l">
              <a:buNone/>
              <a:defRPr lang="en-US" sz="3600" b="1" dirty="0">
                <a:solidFill>
                  <a:schemeClr val="accent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ANIS">
    <p:bg>
      <p:bgPr>
        <a:solidFill>
          <a:srgbClr val="0F4C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6949440" cy="20116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F0F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F0F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11.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685800"/>
            <a:ext cx="5486400" cy="457200"/>
          </a:xfrm>
          <a:prstGeom prst="rect">
            <a:avLst/>
          </a:prstGeom>
          <a:noFill/>
          <a:ln/>
        </p:spPr>
        <p:txBody>
          <a:bodyPr wrap="square" lIns="0" tIns="0" rIns="0" bIns="0" rtlCol="0" anchor="ctr"/>
          <a:lstStyle/>
          <a:p>
            <a:pPr marL="0" indent="0">
              <a:buNone/>
            </a:pPr>
            <a:endParaRPr lang="tr-TR" sz="2200" b="1" kern="0" spc="100" dirty="0">
              <a:solidFill>
                <a:schemeClr val="accent5"/>
              </a:solidFill>
            </a:endParaRPr>
          </a:p>
          <a:p>
            <a:pPr marL="0" indent="0">
              <a:buNone/>
            </a:pPr>
            <a:endParaRPr lang="en-US" sz="2200" dirty="0"/>
          </a:p>
        </p:txBody>
      </p:sp>
      <p:sp>
        <p:nvSpPr>
          <p:cNvPr id="4" name="Text 0"/>
          <p:cNvSpPr>
            <a:spLocks noGrp="1"/>
          </p:cNvSpPr>
          <p:nvPr>
            <p:ph type="title" idx="100" hasCustomPrompt="1"/>
          </p:nvPr>
        </p:nvSpPr>
        <p:spPr>
          <a:xfrm>
            <a:off x="731520" y="1280160"/>
            <a:ext cx="10698480" cy="2788920"/>
          </a:xfrm>
          <a:prstGeom prst="rect">
            <a:avLst/>
          </a:prstGeom>
          <a:noFill/>
          <a:ln/>
        </p:spPr>
        <p:txBody>
          <a:bodyPr wrap="square" lIns="0" tIns="0" rIns="0" bIns="0" rtlCol="0" anchor="t"/>
          <a:lstStyle/>
          <a:p>
            <a:pPr marL="0" indent="0" algn="l">
              <a:buNone/>
            </a:pPr>
            <a:r>
              <a:rPr lang="en-US" sz="3600" b="1" dirty="0">
                <a:solidFill>
                  <a:schemeClr val="bg1"/>
                </a:solidFill>
              </a:rPr>
              <a:t>Bir üniversite hastanesine bağlı sigara bırakma polikliniğine başvuran hastaların demografik ve klinik özellikleri ile sigara bırakma durumlarını etkileyen faktörler</a:t>
            </a:r>
            <a:endParaRPr lang="en-US" sz="3600" dirty="0"/>
          </a:p>
        </p:txBody>
      </p:sp>
      <p:sp>
        <p:nvSpPr>
          <p:cNvPr id="5" name="Text 0"/>
          <p:cNvSpPr>
            <a:spLocks noGrp="1"/>
          </p:cNvSpPr>
          <p:nvPr>
            <p:ph type="body" idx="101" hasCustomPrompt="1"/>
          </p:nvPr>
        </p:nvSpPr>
        <p:spPr>
          <a:xfrm>
            <a:off x="731520" y="4434840"/>
            <a:ext cx="10698480" cy="1554480"/>
          </a:xfrm>
          <a:prstGeom prst="rect">
            <a:avLst/>
          </a:prstGeom>
          <a:noFill/>
          <a:ln/>
        </p:spPr>
        <p:txBody>
          <a:bodyPr wrap="square" lIns="0" tIns="0" rIns="0" bIns="0" rtlCol="0" anchor="t"/>
          <a:lstStyle/>
          <a:p>
            <a:pPr marL="0" indent="0" algn="l">
              <a:buNone/>
            </a:pPr>
            <a:r>
              <a:rPr lang="en-US" sz="2000" dirty="0">
                <a:solidFill>
                  <a:schemeClr val="bg2"/>
                </a:solidFill>
              </a:rPr>
              <a:t>Cenberlitaş E, Gökçe A, Öztürk O. Turk J Fam Pract. 2026;30(2):97-106</a:t>
            </a:r>
            <a:endParaRPr lang="en-US" sz="2000" dirty="0"/>
          </a:p>
          <a:p>
            <a:pPr marL="0" indent="0" algn="l">
              <a:buNone/>
            </a:pPr>
            <a:r>
              <a:rPr lang="en-US" sz="1000" dirty="0">
                <a:solidFill>
                  <a:schemeClr val="bg2"/>
                </a:solidFill>
              </a:rPr>
              <a:t> </a:t>
            </a:r>
            <a:endParaRPr lang="en-US" sz="2000" dirty="0"/>
          </a:p>
          <a:p>
            <a:pPr marL="0" indent="0" algn="l">
              <a:buNone/>
            </a:pPr>
            <a:r>
              <a:rPr lang="tr-TR" sz="2000" b="1" dirty="0">
                <a:solidFill>
                  <a:schemeClr val="bg2"/>
                </a:solidFill>
              </a:rPr>
              <a:t>	</a:t>
            </a:r>
            <a:r>
              <a:rPr lang="en-US" sz="2000" b="1" dirty="0">
                <a:solidFill>
                  <a:schemeClr val="bg2"/>
                </a:solidFill>
              </a:rPr>
              <a:t>Suna</a:t>
            </a:r>
            <a:r>
              <a:rPr lang="tr-TR" sz="2000" b="1" dirty="0">
                <a:solidFill>
                  <a:schemeClr val="bg2"/>
                </a:solidFill>
              </a:rPr>
              <a:t>n		</a:t>
            </a:r>
            <a:r>
              <a:rPr lang="en-US" sz="2000" b="1" dirty="0">
                <a:solidFill>
                  <a:schemeClr val="bg2"/>
                </a:solidFill>
              </a:rPr>
              <a:t>: Dr. </a:t>
            </a:r>
            <a:r>
              <a:rPr lang="tr-TR" sz="2000" b="1" dirty="0">
                <a:solidFill>
                  <a:schemeClr val="bg2"/>
                </a:solidFill>
              </a:rPr>
              <a:t>Ahmet KIRAN</a:t>
            </a:r>
            <a:br>
              <a:rPr lang="tr-TR" sz="2000" b="1" dirty="0">
                <a:solidFill>
                  <a:schemeClr val="bg2"/>
                </a:solidFill>
              </a:rPr>
            </a:br>
            <a:r>
              <a:rPr lang="tr-TR" sz="2000" b="1" dirty="0">
                <a:solidFill>
                  <a:schemeClr val="bg2"/>
                </a:solidFill>
              </a:rPr>
              <a:t>	Danışman	:Prof. Dr. Onur ÖZTÜRK</a:t>
            </a:r>
            <a:endParaRPr lang="en-US" sz="20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F0F1"/>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İçerik</a:t>
            </a:r>
            <a:endParaRPr lang="en-US" sz="3600" dirty="0"/>
          </a:p>
        </p:txBody>
      </p:sp>
      <p:sp>
        <p:nvSpPr>
          <p:cNvPr id="4" name="Kart"/>
          <p:cNvSpPr/>
          <p:nvPr/>
        </p:nvSpPr>
        <p:spPr>
          <a:xfrm>
            <a:off x="548640" y="1463040"/>
            <a:ext cx="5440680" cy="1280160"/>
          </a:xfrm>
          <a:prstGeom prst="roundRect">
            <a:avLst>
              <a:gd name="adj" fmla="val 8571"/>
            </a:avLst>
          </a:prstGeom>
          <a:solidFill>
            <a:schemeClr val="bg2"/>
          </a:solidFill>
          <a:ln w="12700">
            <a:solidFill>
              <a:schemeClr val="bg2"/>
            </a:solidFill>
            <a:prstDash val="solid"/>
          </a:ln>
        </p:spPr>
        <p:txBody>
          <a:bodyPr/>
          <a:p/>
        </p:txBody>
      </p:sp>
      <p:sp>
        <p:nvSpPr>
          <p:cNvPr id="5" name="Sıra"/>
          <p:cNvSpPr/>
          <p:nvPr/>
        </p:nvSpPr>
        <p:spPr>
          <a:xfrm>
            <a:off x="822960" y="1709928"/>
            <a:ext cx="786384" cy="786384"/>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22960" y="1709928"/>
            <a:ext cx="786384" cy="786384"/>
          </a:xfrm>
          <a:prstGeom prst="rect">
            <a:avLst/>
          </a:prstGeom>
          <a:noFill/>
          <a:ln/>
        </p:spPr>
        <p:txBody>
          <a:bodyPr wrap="square" lIns="0" tIns="0" rIns="0" bIns="0" rtlCol="0" anchor="ctr"/>
          <a:lstStyle/>
          <a:p>
            <a:pPr marL="0" indent="0" algn="ctr">
              <a:buNone/>
            </a:pPr>
            <a:r>
              <a:rPr lang="en-US" sz="2800" b="1" dirty="0">
                <a:solidFill>
                  <a:schemeClr val="bg1"/>
                </a:solidFill>
              </a:rPr>
              <a:t>1</a:t>
            </a:r>
            <a:endParaRPr lang="en-US" sz="2800" dirty="0"/>
          </a:p>
        </p:txBody>
      </p:sp>
      <p:sp>
        <p:nvSpPr>
          <p:cNvPr id="7" name="Text 4"/>
          <p:cNvSpPr txBox="1"/>
          <p:nvPr/>
        </p:nvSpPr>
        <p:spPr>
          <a:xfrm>
            <a:off x="1874520" y="1463040"/>
            <a:ext cx="3931920" cy="1280160"/>
          </a:xfrm>
          <a:prstGeom prst="rect">
            <a:avLst/>
          </a:prstGeom>
          <a:noFill/>
          <a:ln/>
        </p:spPr>
        <p:txBody>
          <a:bodyPr wrap="square" lIns="0" tIns="0" rIns="0" bIns="0" rtlCol="0" anchor="ctr"/>
          <a:lstStyle/>
          <a:p>
            <a:pPr marL="0" indent="0">
              <a:buNone/>
            </a:pPr>
            <a:r>
              <a:rPr lang="en-US" sz="2600" dirty="0">
                <a:solidFill>
                  <a:schemeClr val="accent1"/>
                </a:solidFill>
              </a:rPr>
              <a:t>Künye ve giriş</a:t>
            </a:r>
            <a:endParaRPr lang="en-US" sz="2600" dirty="0"/>
          </a:p>
        </p:txBody>
      </p:sp>
      <p:sp>
        <p:nvSpPr>
          <p:cNvPr id="8" name="Kart"/>
          <p:cNvSpPr/>
          <p:nvPr/>
        </p:nvSpPr>
        <p:spPr>
          <a:xfrm>
            <a:off x="6172200" y="1463040"/>
            <a:ext cx="5440680" cy="1280160"/>
          </a:xfrm>
          <a:prstGeom prst="roundRect">
            <a:avLst>
              <a:gd name="adj" fmla="val 8571"/>
            </a:avLst>
          </a:prstGeom>
          <a:solidFill>
            <a:schemeClr val="bg2"/>
          </a:solidFill>
          <a:ln w="12700">
            <a:solidFill>
              <a:schemeClr val="bg2"/>
            </a:solidFill>
            <a:prstDash val="solid"/>
          </a:ln>
        </p:spPr>
        <p:txBody>
          <a:bodyPr/>
          <a:p/>
        </p:txBody>
      </p:sp>
      <p:sp>
        <p:nvSpPr>
          <p:cNvPr id="9" name="Sıra"/>
          <p:cNvSpPr/>
          <p:nvPr/>
        </p:nvSpPr>
        <p:spPr>
          <a:xfrm>
            <a:off x="6446520" y="1709928"/>
            <a:ext cx="786384" cy="786384"/>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446520" y="1709928"/>
            <a:ext cx="786384" cy="786384"/>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1" name="Text 8"/>
          <p:cNvSpPr txBox="1"/>
          <p:nvPr/>
        </p:nvSpPr>
        <p:spPr>
          <a:xfrm>
            <a:off x="7498080" y="1463040"/>
            <a:ext cx="3931920" cy="1280160"/>
          </a:xfrm>
          <a:prstGeom prst="rect">
            <a:avLst/>
          </a:prstGeom>
          <a:noFill/>
          <a:ln/>
        </p:spPr>
        <p:txBody>
          <a:bodyPr wrap="square" lIns="0" tIns="0" rIns="0" bIns="0" rtlCol="0" anchor="ctr"/>
          <a:lstStyle/>
          <a:p>
            <a:pPr marL="0" indent="0">
              <a:buNone/>
            </a:pPr>
            <a:r>
              <a:rPr lang="en-US" sz="2600" dirty="0">
                <a:solidFill>
                  <a:schemeClr val="accent1"/>
                </a:solidFill>
              </a:rPr>
              <a:t>Gereç ve yöntem</a:t>
            </a:r>
            <a:endParaRPr lang="en-US" sz="2600" dirty="0"/>
          </a:p>
        </p:txBody>
      </p:sp>
      <p:sp>
        <p:nvSpPr>
          <p:cNvPr id="12" name="Kart"/>
          <p:cNvSpPr/>
          <p:nvPr/>
        </p:nvSpPr>
        <p:spPr>
          <a:xfrm>
            <a:off x="548640" y="3017520"/>
            <a:ext cx="5440680" cy="1280160"/>
          </a:xfrm>
          <a:prstGeom prst="roundRect">
            <a:avLst>
              <a:gd name="adj" fmla="val 8571"/>
            </a:avLst>
          </a:prstGeom>
          <a:solidFill>
            <a:schemeClr val="bg2"/>
          </a:solidFill>
          <a:ln w="12700">
            <a:solidFill>
              <a:schemeClr val="bg2"/>
            </a:solidFill>
            <a:prstDash val="solid"/>
          </a:ln>
        </p:spPr>
        <p:txBody>
          <a:bodyPr/>
          <a:p/>
        </p:txBody>
      </p:sp>
      <p:sp>
        <p:nvSpPr>
          <p:cNvPr id="13" name="Sıra"/>
          <p:cNvSpPr/>
          <p:nvPr/>
        </p:nvSpPr>
        <p:spPr>
          <a:xfrm>
            <a:off x="822960" y="3264408"/>
            <a:ext cx="786384" cy="786384"/>
          </a:xfrm>
          <a:prstGeom prst="ellipse">
            <a:avLst/>
          </a:prstGeom>
          <a:solidFill>
            <a:schemeClr val="accent1"/>
          </a:solidFill>
          <a:ln w="12700">
            <a:solidFill>
              <a:schemeClr val="accent1"/>
            </a:solidFill>
            <a:prstDash val="solid"/>
          </a:ln>
        </p:spPr>
        <p:txBody>
          <a:bodyPr/>
          <a:p/>
        </p:txBody>
      </p:sp>
      <p:sp>
        <p:nvSpPr>
          <p:cNvPr id="14" name="Text 11"/>
          <p:cNvSpPr txBox="1"/>
          <p:nvPr/>
        </p:nvSpPr>
        <p:spPr>
          <a:xfrm>
            <a:off x="822960" y="3264408"/>
            <a:ext cx="786384" cy="786384"/>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5" name="Text 12"/>
          <p:cNvSpPr txBox="1"/>
          <p:nvPr/>
        </p:nvSpPr>
        <p:spPr>
          <a:xfrm>
            <a:off x="1874520" y="3017520"/>
            <a:ext cx="3931920" cy="1280160"/>
          </a:xfrm>
          <a:prstGeom prst="rect">
            <a:avLst/>
          </a:prstGeom>
          <a:noFill/>
          <a:ln/>
        </p:spPr>
        <p:txBody>
          <a:bodyPr wrap="square" lIns="0" tIns="0" rIns="0" bIns="0" rtlCol="0" anchor="ctr"/>
          <a:lstStyle/>
          <a:p>
            <a:pPr marL="0" indent="0">
              <a:buNone/>
            </a:pPr>
            <a:r>
              <a:rPr lang="en-US" sz="2600" dirty="0">
                <a:solidFill>
                  <a:schemeClr val="accent1"/>
                </a:solidFill>
              </a:rPr>
              <a:t>Bulgular</a:t>
            </a:r>
            <a:endParaRPr lang="en-US" sz="2600" dirty="0"/>
          </a:p>
        </p:txBody>
      </p:sp>
      <p:sp>
        <p:nvSpPr>
          <p:cNvPr id="16" name="Kart"/>
          <p:cNvSpPr/>
          <p:nvPr/>
        </p:nvSpPr>
        <p:spPr>
          <a:xfrm>
            <a:off x="6172200" y="3017520"/>
            <a:ext cx="5440680" cy="1280160"/>
          </a:xfrm>
          <a:prstGeom prst="roundRect">
            <a:avLst>
              <a:gd name="adj" fmla="val 8571"/>
            </a:avLst>
          </a:prstGeom>
          <a:solidFill>
            <a:schemeClr val="bg2"/>
          </a:solidFill>
          <a:ln w="12700">
            <a:solidFill>
              <a:schemeClr val="bg2"/>
            </a:solidFill>
            <a:prstDash val="solid"/>
          </a:ln>
        </p:spPr>
        <p:txBody>
          <a:bodyPr/>
          <a:p/>
        </p:txBody>
      </p:sp>
      <p:sp>
        <p:nvSpPr>
          <p:cNvPr id="17" name="Sıra"/>
          <p:cNvSpPr/>
          <p:nvPr/>
        </p:nvSpPr>
        <p:spPr>
          <a:xfrm>
            <a:off x="6446520" y="3264408"/>
            <a:ext cx="786384" cy="786384"/>
          </a:xfrm>
          <a:prstGeom prst="ellipse">
            <a:avLst/>
          </a:prstGeom>
          <a:solidFill>
            <a:schemeClr val="accent2"/>
          </a:solidFill>
          <a:ln w="12700">
            <a:solidFill>
              <a:schemeClr val="accent2"/>
            </a:solidFill>
            <a:prstDash val="solid"/>
          </a:ln>
        </p:spPr>
        <p:txBody>
          <a:bodyPr/>
          <a:p/>
        </p:txBody>
      </p:sp>
      <p:sp>
        <p:nvSpPr>
          <p:cNvPr id="18" name="Text 15"/>
          <p:cNvSpPr txBox="1"/>
          <p:nvPr/>
        </p:nvSpPr>
        <p:spPr>
          <a:xfrm>
            <a:off x="6446520" y="3264408"/>
            <a:ext cx="786384" cy="786384"/>
          </a:xfrm>
          <a:prstGeom prst="rect">
            <a:avLst/>
          </a:prstGeom>
          <a:noFill/>
          <a:ln/>
        </p:spPr>
        <p:txBody>
          <a:bodyPr wrap="square" lIns="0" tIns="0" rIns="0" bIns="0" rtlCol="0" anchor="ctr"/>
          <a:lstStyle/>
          <a:p>
            <a:pPr marL="0" indent="0" algn="ctr">
              <a:buNone/>
            </a:pPr>
            <a:r>
              <a:rPr lang="en-US" sz="2800" b="1" dirty="0">
                <a:solidFill>
                  <a:schemeClr val="bg1"/>
                </a:solidFill>
              </a:rPr>
              <a:t>4</a:t>
            </a:r>
            <a:endParaRPr lang="en-US" sz="2800" dirty="0"/>
          </a:p>
        </p:txBody>
      </p:sp>
      <p:sp>
        <p:nvSpPr>
          <p:cNvPr id="19" name="Text 16"/>
          <p:cNvSpPr txBox="1"/>
          <p:nvPr/>
        </p:nvSpPr>
        <p:spPr>
          <a:xfrm>
            <a:off x="7498080" y="3017520"/>
            <a:ext cx="3931920" cy="1280160"/>
          </a:xfrm>
          <a:prstGeom prst="rect">
            <a:avLst/>
          </a:prstGeom>
          <a:noFill/>
          <a:ln/>
        </p:spPr>
        <p:txBody>
          <a:bodyPr wrap="square" lIns="0" tIns="0" rIns="0" bIns="0" rtlCol="0" anchor="ctr"/>
          <a:lstStyle/>
          <a:p>
            <a:pPr marL="0" indent="0">
              <a:buNone/>
            </a:pPr>
            <a:r>
              <a:rPr lang="en-US" sz="2600" dirty="0">
                <a:solidFill>
                  <a:schemeClr val="accent1"/>
                </a:solidFill>
              </a:rPr>
              <a:t>Tartışma</a:t>
            </a:r>
            <a:endParaRPr lang="en-US" sz="2600" dirty="0"/>
          </a:p>
        </p:txBody>
      </p:sp>
      <p:sp>
        <p:nvSpPr>
          <p:cNvPr id="20" name="Kart"/>
          <p:cNvSpPr/>
          <p:nvPr/>
        </p:nvSpPr>
        <p:spPr>
          <a:xfrm>
            <a:off x="548640" y="4572000"/>
            <a:ext cx="5440680" cy="1280160"/>
          </a:xfrm>
          <a:prstGeom prst="roundRect">
            <a:avLst>
              <a:gd name="adj" fmla="val 8571"/>
            </a:avLst>
          </a:prstGeom>
          <a:solidFill>
            <a:schemeClr val="bg2"/>
          </a:solidFill>
          <a:ln w="12700">
            <a:solidFill>
              <a:schemeClr val="bg2"/>
            </a:solidFill>
            <a:prstDash val="solid"/>
          </a:ln>
        </p:spPr>
        <p:txBody>
          <a:bodyPr/>
          <a:p/>
        </p:txBody>
      </p:sp>
      <p:sp>
        <p:nvSpPr>
          <p:cNvPr id="21" name="Sıra"/>
          <p:cNvSpPr/>
          <p:nvPr/>
        </p:nvSpPr>
        <p:spPr>
          <a:xfrm>
            <a:off x="822960" y="4818888"/>
            <a:ext cx="786384" cy="786384"/>
          </a:xfrm>
          <a:prstGeom prst="ellipse">
            <a:avLst/>
          </a:prstGeom>
          <a:solidFill>
            <a:schemeClr val="accent1"/>
          </a:solidFill>
          <a:ln w="12700">
            <a:solidFill>
              <a:schemeClr val="accent1"/>
            </a:solidFill>
            <a:prstDash val="solid"/>
          </a:ln>
        </p:spPr>
        <p:txBody>
          <a:bodyPr/>
          <a:p/>
        </p:txBody>
      </p:sp>
      <p:sp>
        <p:nvSpPr>
          <p:cNvPr id="22" name="Text 19"/>
          <p:cNvSpPr txBox="1"/>
          <p:nvPr/>
        </p:nvSpPr>
        <p:spPr>
          <a:xfrm>
            <a:off x="822960" y="4818888"/>
            <a:ext cx="786384" cy="786384"/>
          </a:xfrm>
          <a:prstGeom prst="rect">
            <a:avLst/>
          </a:prstGeom>
          <a:noFill/>
          <a:ln/>
        </p:spPr>
        <p:txBody>
          <a:bodyPr wrap="square" lIns="0" tIns="0" rIns="0" bIns="0" rtlCol="0" anchor="ctr"/>
          <a:lstStyle/>
          <a:p>
            <a:pPr marL="0" indent="0" algn="ctr">
              <a:buNone/>
            </a:pPr>
            <a:r>
              <a:rPr lang="en-US" sz="2800" b="1" dirty="0">
                <a:solidFill>
                  <a:schemeClr val="bg1"/>
                </a:solidFill>
              </a:rPr>
              <a:t>5</a:t>
            </a:r>
            <a:endParaRPr lang="en-US" sz="2800" dirty="0"/>
          </a:p>
        </p:txBody>
      </p:sp>
      <p:sp>
        <p:nvSpPr>
          <p:cNvPr id="23" name="Text 20"/>
          <p:cNvSpPr txBox="1"/>
          <p:nvPr/>
        </p:nvSpPr>
        <p:spPr>
          <a:xfrm>
            <a:off x="1874520" y="4572000"/>
            <a:ext cx="3931920" cy="1280160"/>
          </a:xfrm>
          <a:prstGeom prst="rect">
            <a:avLst/>
          </a:prstGeom>
          <a:noFill/>
          <a:ln/>
        </p:spPr>
        <p:txBody>
          <a:bodyPr wrap="square" lIns="0" tIns="0" rIns="0" bIns="0" rtlCol="0" anchor="ctr"/>
          <a:lstStyle/>
          <a:p>
            <a:pPr marL="0" indent="0">
              <a:buNone/>
            </a:pPr>
            <a:r>
              <a:rPr lang="en-US" sz="2600" dirty="0">
                <a:solidFill>
                  <a:schemeClr val="accent1"/>
                </a:solidFill>
              </a:rPr>
              <a:t>Sonuç ve öneriler</a:t>
            </a:r>
            <a:endParaRPr lang="en-US" sz="2600" dirty="0"/>
          </a:p>
        </p:txBody>
      </p:sp>
      <p:sp>
        <p:nvSpPr>
          <p:cNvPr id="2"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a:t>
            </a:fld>
            <a:endParaRPr lang="en-US"/>
          </a:p>
        </p:txBody>
      </p:sp>
      <p:sp>
        <p:nvSpPr>
          <p:cNvPr id="24" name="Kart"/>
          <p:cNvSpPr/>
          <p:nvPr/>
        </p:nvSpPr>
        <p:spPr>
          <a:xfrm>
            <a:off x="6172200" y="4572000"/>
            <a:ext cx="5440680" cy="1280160"/>
          </a:xfrm>
          <a:prstGeom prst="roundRect">
            <a:avLst>
              <a:gd name="adj" fmla="val 8571"/>
            </a:avLst>
          </a:prstGeom>
          <a:solidFill>
            <a:schemeClr val="bg2"/>
          </a:solidFill>
          <a:ln w="12700">
            <a:solidFill>
              <a:schemeClr val="bg2"/>
            </a:solidFill>
            <a:prstDash val="solid"/>
          </a:ln>
        </p:spPr>
        <p:txBody>
          <a:bodyPr/>
          <a:p/>
        </p:txBody>
      </p:sp>
      <p:sp>
        <p:nvSpPr>
          <p:cNvPr id="25" name="Sıra"/>
          <p:cNvSpPr/>
          <p:nvPr/>
        </p:nvSpPr>
        <p:spPr>
          <a:xfrm>
            <a:off x="6446520" y="4818888"/>
            <a:ext cx="786384" cy="786384"/>
          </a:xfrm>
          <a:prstGeom prst="ellipse">
            <a:avLst/>
          </a:prstGeom>
          <a:solidFill>
            <a:schemeClr val="accent2"/>
          </a:solidFill>
          <a:ln w="12700">
            <a:solidFill>
              <a:schemeClr val="accent2"/>
            </a:solidFill>
            <a:prstDash val="solid"/>
          </a:ln>
        </p:spPr>
        <p:txBody>
          <a:bodyPr/>
          <a:p/>
        </p:txBody>
      </p:sp>
      <p:sp>
        <p:nvSpPr>
          <p:cNvPr id="26" name="Text 15"/>
          <p:cNvSpPr txBox="1"/>
          <p:nvPr/>
        </p:nvSpPr>
        <p:spPr>
          <a:xfrm>
            <a:off x="6446520" y="4818888"/>
            <a:ext cx="786384" cy="786384"/>
          </a:xfrm>
          <a:prstGeom prst="rect">
            <a:avLst/>
          </a:prstGeom>
          <a:noFill/>
          <a:ln/>
        </p:spPr>
        <p:txBody>
          <a:bodyPr wrap="square" lIns="0" tIns="0" rIns="0" bIns="0" rtlCol="0" anchor="ctr"/>
          <a:lstStyle/>
          <a:p>
            <a:pPr marL="0" indent="0" algn="ctr">
              <a:buNone/>
            </a:pPr>
            <a:r>
              <a:rPr lang="en-US" sz="2800" b="1" dirty="0">
                <a:solidFill>
                  <a:schemeClr val="bg1"/>
                </a:solidFill>
              </a:rPr>
              <a:t>6</a:t>
            </a:r>
            <a:endParaRPr lang="en-US" sz="2800" dirty="0"/>
          </a:p>
        </p:txBody>
      </p:sp>
      <p:sp>
        <p:nvSpPr>
          <p:cNvPr id="27" name="Text 16"/>
          <p:cNvSpPr txBox="1"/>
          <p:nvPr/>
        </p:nvSpPr>
        <p:spPr>
          <a:xfrm>
            <a:off x="7498080" y="4572000"/>
            <a:ext cx="3931920" cy="1280160"/>
          </a:xfrm>
          <a:prstGeom prst="rect">
            <a:avLst/>
          </a:prstGeom>
          <a:noFill/>
          <a:ln/>
        </p:spPr>
        <p:txBody>
          <a:bodyPr wrap="square" lIns="0" tIns="0" rIns="0" bIns="0" rtlCol="0" anchor="ctr"/>
          <a:lstStyle/>
          <a:p>
            <a:pPr marL="0" indent="0">
              <a:buNone/>
            </a:pPr>
            <a:r>
              <a:rPr lang="en-US" sz="2600" dirty="0">
                <a:solidFill>
                  <a:schemeClr val="accent1"/>
                </a:solidFill>
              </a:rPr>
              <a:t>Olgu ve özet</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Makale künyesi</a:t>
            </a:r>
            <a:endParaRPr lang="en-US" sz="3600" dirty="0"/>
          </a:p>
        </p:txBody>
      </p:sp>
      <p:sp>
        <p:nvSpPr>
          <p:cNvPr id="4" name="Görsel çerçeve"/>
          <p:cNvSpPr/>
          <p:nvPr/>
        </p:nvSpPr>
        <p:spPr>
          <a:xfrm>
            <a:off x="548640" y="1371600"/>
            <a:ext cx="4161732" cy="4892040"/>
          </a:xfrm>
          <a:prstGeom prst="rect">
            <a:avLst/>
          </a:prstGeom>
          <a:solidFill>
            <a:schemeClr val="bg1"/>
          </a:solidFill>
          <a:ln w="12700">
            <a:solidFill>
              <a:srgbClr val="C9DCDF"/>
            </a:solidFill>
            <a:prstDash val="solid"/>
          </a:ln>
          <a:effectLst>
            <a:outerShdw blurRad="76200" dist="25400" dir="5400000" algn="bl" rotWithShape="0">
              <a:srgbClr val="000000">
                <a:alpha val="18000"/>
              </a:srgbClr>
            </a:outerShdw>
          </a:effectLst>
        </p:spPr>
      </p:sp>
      <p:pic>
        <p:nvPicPr>
          <p:cNvPr id="5" name="Makale ilk sayfa" descr="Makalenin ilk sayfası"/>
          <p:cNvPicPr>
            <a:picLocks noChangeAspect="1"/>
          </p:cNvPicPr>
          <p:nvPr/>
        </p:nvPicPr>
        <p:blipFill>
          <a:blip r:embed="rId3"/>
          <a:stretch>
            <a:fillRect/>
          </a:stretch>
        </p:blipFill>
        <p:spPr>
          <a:xfrm>
            <a:off x="548640" y="1371600"/>
            <a:ext cx="4161732" cy="4892040"/>
          </a:xfrm>
          <a:prstGeom prst="rect">
            <a:avLst/>
          </a:prstGeom>
        </p:spPr>
      </p:pic>
      <p:sp>
        <p:nvSpPr>
          <p:cNvPr id="6" name="Text 2"/>
          <p:cNvSpPr txBox="1"/>
          <p:nvPr/>
        </p:nvSpPr>
        <p:spPr>
          <a:xfrm>
            <a:off x="5259012" y="1417320"/>
            <a:ext cx="1508760" cy="640080"/>
          </a:xfrm>
          <a:prstGeom prst="rect">
            <a:avLst/>
          </a:prstGeom>
          <a:noFill/>
          <a:ln/>
        </p:spPr>
        <p:txBody>
          <a:bodyPr wrap="square" lIns="0" tIns="0" rIns="0" bIns="0" rtlCol="0" anchor="ctr"/>
          <a:lstStyle/>
          <a:p>
            <a:pPr marL="0" indent="0">
              <a:buNone/>
            </a:pPr>
            <a:r>
              <a:rPr lang="en-US" sz="2200" b="1" dirty="0">
                <a:solidFill>
                  <a:schemeClr val="accent2"/>
                </a:solidFill>
              </a:rPr>
              <a:t>Dergi</a:t>
            </a:r>
            <a:endParaRPr lang="en-US" sz="2200" dirty="0"/>
          </a:p>
        </p:txBody>
      </p:sp>
      <p:sp>
        <p:nvSpPr>
          <p:cNvPr id="7" name="Text 3"/>
          <p:cNvSpPr txBox="1"/>
          <p:nvPr/>
        </p:nvSpPr>
        <p:spPr>
          <a:xfrm>
            <a:off x="6813492" y="1417320"/>
            <a:ext cx="4826820" cy="640080"/>
          </a:xfrm>
          <a:prstGeom prst="rect">
            <a:avLst/>
          </a:prstGeom>
          <a:noFill/>
          <a:ln/>
        </p:spPr>
        <p:txBody>
          <a:bodyPr wrap="square" lIns="0" tIns="0" rIns="0" bIns="0" rtlCol="0" anchor="ctr">
            <a:normAutofit/>
          </a:bodyPr>
          <a:lstStyle/>
          <a:p>
            <a:pPr marL="0" indent="0">
              <a:buNone/>
            </a:pPr>
            <a:r>
              <a:rPr lang="en-US" sz="2200" dirty="0">
                <a:solidFill>
                  <a:schemeClr val="accent1"/>
                </a:solidFill>
              </a:rPr>
              <a:t>Turk J Fam </a:t>
            </a:r>
            <a:r>
              <a:rPr lang="en-US" sz="2200" dirty="0" err="1">
                <a:solidFill>
                  <a:schemeClr val="accent1"/>
                </a:solidFill>
              </a:rPr>
              <a:t>Pract</a:t>
            </a:r>
            <a:endParaRPr lang="en-US" sz="2200" dirty="0"/>
          </a:p>
        </p:txBody>
      </p:sp>
      <p:sp>
        <p:nvSpPr>
          <p:cNvPr id="8" name="Text 4"/>
          <p:cNvSpPr txBox="1"/>
          <p:nvPr/>
        </p:nvSpPr>
        <p:spPr>
          <a:xfrm>
            <a:off x="5259012" y="2203704"/>
            <a:ext cx="1508760" cy="640080"/>
          </a:xfrm>
          <a:prstGeom prst="rect">
            <a:avLst/>
          </a:prstGeom>
          <a:noFill/>
          <a:ln/>
        </p:spPr>
        <p:txBody>
          <a:bodyPr wrap="square" lIns="0" tIns="0" rIns="0" bIns="0" rtlCol="0" anchor="ctr"/>
          <a:lstStyle/>
          <a:p>
            <a:pPr marL="0" indent="0">
              <a:buNone/>
            </a:pPr>
            <a:r>
              <a:rPr lang="en-US" sz="2200" b="1" dirty="0">
                <a:solidFill>
                  <a:schemeClr val="accent2"/>
                </a:solidFill>
              </a:rPr>
              <a:t>Künye</a:t>
            </a:r>
            <a:endParaRPr lang="en-US" sz="2200" dirty="0"/>
          </a:p>
        </p:txBody>
      </p:sp>
      <p:sp>
        <p:nvSpPr>
          <p:cNvPr id="9" name="Text 5"/>
          <p:cNvSpPr txBox="1"/>
          <p:nvPr/>
        </p:nvSpPr>
        <p:spPr>
          <a:xfrm>
            <a:off x="6813492" y="2203704"/>
            <a:ext cx="4826820" cy="640080"/>
          </a:xfrm>
          <a:prstGeom prst="rect">
            <a:avLst/>
          </a:prstGeom>
          <a:noFill/>
          <a:ln/>
        </p:spPr>
        <p:txBody>
          <a:bodyPr wrap="square" lIns="0" tIns="0" rIns="0" bIns="0" rtlCol="0" anchor="ctr">
            <a:normAutofit/>
          </a:bodyPr>
          <a:lstStyle/>
          <a:p>
            <a:pPr marL="0" indent="0">
              <a:buNone/>
            </a:pPr>
            <a:r>
              <a:rPr lang="en-US" sz="2200" dirty="0">
                <a:solidFill>
                  <a:schemeClr val="accent1"/>
                </a:solidFill>
              </a:rPr>
              <a:t>2026;30(2):97-106</a:t>
            </a:r>
            <a:endParaRPr lang="en-US" sz="2200" dirty="0"/>
          </a:p>
        </p:txBody>
      </p:sp>
      <p:sp>
        <p:nvSpPr>
          <p:cNvPr id="12" name="Text 8"/>
          <p:cNvSpPr txBox="1"/>
          <p:nvPr/>
        </p:nvSpPr>
        <p:spPr>
          <a:xfrm>
            <a:off x="5259012" y="3776472"/>
            <a:ext cx="1508760" cy="640080"/>
          </a:xfrm>
          <a:prstGeom prst="rect">
            <a:avLst/>
          </a:prstGeom>
          <a:noFill/>
          <a:ln/>
        </p:spPr>
        <p:txBody>
          <a:bodyPr wrap="square" lIns="0" tIns="0" rIns="0" bIns="0" rtlCol="0" anchor="ctr"/>
          <a:lstStyle/>
          <a:p>
            <a:pPr marL="0" indent="0">
              <a:buNone/>
            </a:pPr>
            <a:r>
              <a:rPr lang="en-US" sz="2200" b="1" dirty="0">
                <a:solidFill>
                  <a:schemeClr val="accent2"/>
                </a:solidFill>
              </a:rPr>
              <a:t>Tasarım</a:t>
            </a:r>
            <a:endParaRPr lang="en-US" sz="2200" dirty="0"/>
          </a:p>
        </p:txBody>
      </p:sp>
      <p:sp>
        <p:nvSpPr>
          <p:cNvPr id="13" name="Text 9"/>
          <p:cNvSpPr txBox="1"/>
          <p:nvPr/>
        </p:nvSpPr>
        <p:spPr>
          <a:xfrm>
            <a:off x="6813492" y="3776472"/>
            <a:ext cx="4826820" cy="640080"/>
          </a:xfrm>
          <a:prstGeom prst="rect">
            <a:avLst/>
          </a:prstGeom>
          <a:noFill/>
          <a:ln/>
        </p:spPr>
        <p:txBody>
          <a:bodyPr wrap="square" lIns="0" tIns="0" rIns="0" bIns="0" rtlCol="0" anchor="ctr">
            <a:normAutofit/>
          </a:bodyPr>
          <a:lstStyle/>
          <a:p>
            <a:pPr marL="0" indent="0">
              <a:buNone/>
            </a:pPr>
            <a:r>
              <a:rPr lang="en-US" sz="2200" dirty="0">
                <a:solidFill>
                  <a:schemeClr val="accent1"/>
                </a:solidFill>
              </a:rPr>
              <a:t>Retrospektif, kesitsel</a:t>
            </a:r>
            <a:endParaRPr lang="en-US" sz="2200" dirty="0"/>
          </a:p>
        </p:txBody>
      </p:sp>
      <p:sp>
        <p:nvSpPr>
          <p:cNvPr id="14" name="Text 10"/>
          <p:cNvSpPr txBox="1"/>
          <p:nvPr/>
        </p:nvSpPr>
        <p:spPr>
          <a:xfrm>
            <a:off x="5259012" y="4562856"/>
            <a:ext cx="1508760" cy="640080"/>
          </a:xfrm>
          <a:prstGeom prst="rect">
            <a:avLst/>
          </a:prstGeom>
          <a:noFill/>
          <a:ln/>
        </p:spPr>
        <p:txBody>
          <a:bodyPr wrap="square" lIns="0" tIns="0" rIns="0" bIns="0" rtlCol="0" anchor="ctr"/>
          <a:lstStyle/>
          <a:p>
            <a:pPr marL="0" indent="0">
              <a:buNone/>
            </a:pPr>
            <a:r>
              <a:rPr lang="en-US" sz="2200" b="1" dirty="0">
                <a:solidFill>
                  <a:schemeClr val="accent2"/>
                </a:solidFill>
              </a:rPr>
              <a:t>Merkez</a:t>
            </a:r>
            <a:endParaRPr lang="en-US" sz="2200" dirty="0"/>
          </a:p>
        </p:txBody>
      </p:sp>
      <p:sp>
        <p:nvSpPr>
          <p:cNvPr id="15" name="Text 11"/>
          <p:cNvSpPr txBox="1"/>
          <p:nvPr/>
        </p:nvSpPr>
        <p:spPr>
          <a:xfrm>
            <a:off x="6813492" y="4562856"/>
            <a:ext cx="4826820" cy="640080"/>
          </a:xfrm>
          <a:prstGeom prst="rect">
            <a:avLst/>
          </a:prstGeom>
          <a:noFill/>
          <a:ln/>
        </p:spPr>
        <p:txBody>
          <a:bodyPr wrap="square" lIns="0" tIns="0" rIns="0" bIns="0" rtlCol="0" anchor="ctr">
            <a:normAutofit/>
          </a:bodyPr>
          <a:lstStyle/>
          <a:p>
            <a:pPr marL="0" indent="0">
              <a:buNone/>
            </a:pPr>
            <a:r>
              <a:rPr lang="en-US" sz="2200" dirty="0">
                <a:solidFill>
                  <a:schemeClr val="accent1"/>
                </a:solidFill>
              </a:rPr>
              <a:t>Samsun EAH Sigara Bırakma Polikliniği</a:t>
            </a:r>
            <a:endParaRPr lang="en-US" sz="2200" dirty="0"/>
          </a:p>
        </p:txBody>
      </p:sp>
      <p:sp>
        <p:nvSpPr>
          <p:cNvPr id="16" name="Text 12"/>
          <p:cNvSpPr txBox="1"/>
          <p:nvPr/>
        </p:nvSpPr>
        <p:spPr>
          <a:xfrm>
            <a:off x="5259012" y="5349240"/>
            <a:ext cx="1508760" cy="640080"/>
          </a:xfrm>
          <a:prstGeom prst="rect">
            <a:avLst/>
          </a:prstGeom>
          <a:noFill/>
          <a:ln/>
        </p:spPr>
        <p:txBody>
          <a:bodyPr wrap="square" lIns="0" tIns="0" rIns="0" bIns="0" rtlCol="0" anchor="ctr"/>
          <a:lstStyle/>
          <a:p>
            <a:pPr marL="0" indent="0">
              <a:buNone/>
            </a:pPr>
            <a:r>
              <a:rPr lang="en-US" sz="2200" b="1" dirty="0">
                <a:solidFill>
                  <a:schemeClr val="accent2"/>
                </a:solidFill>
              </a:rPr>
              <a:t>DOI</a:t>
            </a:r>
            <a:endParaRPr lang="en-US" sz="2200" dirty="0"/>
          </a:p>
        </p:txBody>
      </p:sp>
      <p:sp>
        <p:nvSpPr>
          <p:cNvPr id="17" name="Text 13"/>
          <p:cNvSpPr txBox="1"/>
          <p:nvPr/>
        </p:nvSpPr>
        <p:spPr>
          <a:xfrm>
            <a:off x="6813492" y="5349240"/>
            <a:ext cx="4826820" cy="640080"/>
          </a:xfrm>
          <a:prstGeom prst="rect">
            <a:avLst/>
          </a:prstGeom>
          <a:noFill/>
          <a:ln/>
        </p:spPr>
        <p:txBody>
          <a:bodyPr wrap="square" lIns="0" tIns="0" rIns="0" bIns="0" rtlCol="0" anchor="ctr">
            <a:normAutofit/>
          </a:bodyPr>
          <a:lstStyle/>
          <a:p>
            <a:pPr marL="0" indent="0">
              <a:buNone/>
            </a:pPr>
            <a:r>
              <a:rPr lang="en-US" sz="2200" dirty="0">
                <a:solidFill>
                  <a:schemeClr val="accent1"/>
                </a:solidFill>
              </a:rPr>
              <a:t>10.54308/TJFP.2026.912</a:t>
            </a:r>
            <a:endParaRPr lang="en-US" sz="2200" dirty="0"/>
          </a:p>
        </p:txBody>
      </p:sp>
      <p:sp>
        <p:nvSpPr>
          <p:cNvPr id="1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(CC BY)</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Sorunun büyüklüğü</a:t>
            </a:r>
            <a:endParaRPr lang="en-US" sz="3600" dirty="0"/>
          </a:p>
        </p:txBody>
      </p:sp>
      <p:sp>
        <p:nvSpPr>
          <p:cNvPr id="4" name="Kart"/>
          <p:cNvSpPr/>
          <p:nvPr/>
        </p:nvSpPr>
        <p:spPr>
          <a:xfrm>
            <a:off x="548640" y="1508760"/>
            <a:ext cx="2633472" cy="4206240"/>
          </a:xfrm>
          <a:prstGeom prst="roundRect">
            <a:avLst>
              <a:gd name="adj" fmla="val 4167"/>
            </a:avLst>
          </a:prstGeom>
          <a:solidFill>
            <a:schemeClr val="bg2"/>
          </a:solidFill>
          <a:ln w="12700">
            <a:solidFill>
              <a:schemeClr val="bg2"/>
            </a:solidFill>
            <a:prstDash val="solid"/>
          </a:ln>
        </p:spPr>
      </p:sp>
      <p:sp>
        <p:nvSpPr>
          <p:cNvPr id="5" name="Ikon zemini"/>
          <p:cNvSpPr/>
          <p:nvPr/>
        </p:nvSpPr>
        <p:spPr>
          <a:xfrm>
            <a:off x="1408176" y="1783080"/>
            <a:ext cx="914400" cy="914400"/>
          </a:xfrm>
          <a:prstGeom prst="ellipse">
            <a:avLst/>
          </a:prstGeom>
          <a:solidFill>
            <a:schemeClr val="accent1"/>
          </a:solidFill>
          <a:ln w="12700">
            <a:solidFill>
              <a:schemeClr val="accent1"/>
            </a:solidFill>
            <a:prstDash val="solid"/>
          </a:ln>
        </p:spPr>
      </p:sp>
      <p:pic>
        <p:nvPicPr>
          <p:cNvPr id="6" name="Ikon" descr="FaUserFriends"/>
          <p:cNvPicPr>
            <a:picLocks noChangeAspect="1"/>
          </p:cNvPicPr>
          <p:nvPr/>
        </p:nvPicPr>
        <p:blipFill>
          <a:blip r:embed="rId3"/>
          <a:stretch>
            <a:fillRect/>
          </a:stretch>
        </p:blipFill>
        <p:spPr>
          <a:xfrm>
            <a:off x="1645920" y="2020824"/>
            <a:ext cx="438912" cy="438912"/>
          </a:xfrm>
          <a:prstGeom prst="rect">
            <a:avLst/>
          </a:prstGeom>
        </p:spPr>
      </p:pic>
      <p:sp>
        <p:nvSpPr>
          <p:cNvPr id="7" name="Text 3"/>
          <p:cNvSpPr txBox="1"/>
          <p:nvPr/>
        </p:nvSpPr>
        <p:spPr>
          <a:xfrm>
            <a:off x="640080" y="2880360"/>
            <a:ext cx="2450592" cy="1097280"/>
          </a:xfrm>
          <a:prstGeom prst="rect">
            <a:avLst/>
          </a:prstGeom>
          <a:noFill/>
          <a:ln/>
        </p:spPr>
        <p:txBody>
          <a:bodyPr wrap="square" lIns="0" tIns="0" rIns="0" bIns="0" rtlCol="0" anchor="ctr"/>
          <a:lstStyle/>
          <a:p>
            <a:pPr marL="0" indent="0" algn="ctr">
              <a:buNone/>
            </a:pPr>
            <a:r>
              <a:rPr lang="en-US" sz="4000" b="1" dirty="0">
                <a:solidFill>
                  <a:schemeClr val="accent1"/>
                </a:solidFill>
              </a:rPr>
              <a:t>%44,1</a:t>
            </a:r>
            <a:endParaRPr lang="en-US" sz="4000" dirty="0"/>
          </a:p>
        </p:txBody>
      </p:sp>
      <p:sp>
        <p:nvSpPr>
          <p:cNvPr id="8" name="Text 4"/>
          <p:cNvSpPr txBox="1"/>
          <p:nvPr/>
        </p:nvSpPr>
        <p:spPr>
          <a:xfrm>
            <a:off x="777240" y="4069080"/>
            <a:ext cx="2176272" cy="1371600"/>
          </a:xfrm>
          <a:prstGeom prst="rect">
            <a:avLst/>
          </a:prstGeom>
          <a:noFill/>
          <a:ln/>
        </p:spPr>
        <p:txBody>
          <a:bodyPr wrap="square" lIns="0" tIns="0" rIns="0" bIns="0" rtlCol="0" anchor="t"/>
          <a:lstStyle/>
          <a:p>
            <a:pPr marL="0" indent="0" algn="ctr">
              <a:buNone/>
            </a:pPr>
            <a:r>
              <a:rPr lang="en-US" sz="2000" dirty="0">
                <a:solidFill>
                  <a:schemeClr val="accent1"/>
                </a:solidFill>
              </a:rPr>
              <a:t>Erkeklerde sigara içme sıklığı</a:t>
            </a:r>
            <a:endParaRPr lang="en-US" sz="2000" dirty="0"/>
          </a:p>
        </p:txBody>
      </p:sp>
      <p:sp>
        <p:nvSpPr>
          <p:cNvPr id="9" name="Kart"/>
          <p:cNvSpPr/>
          <p:nvPr/>
        </p:nvSpPr>
        <p:spPr>
          <a:xfrm>
            <a:off x="3364992" y="1508760"/>
            <a:ext cx="2633472" cy="4206240"/>
          </a:xfrm>
          <a:prstGeom prst="roundRect">
            <a:avLst>
              <a:gd name="adj" fmla="val 4167"/>
            </a:avLst>
          </a:prstGeom>
          <a:solidFill>
            <a:schemeClr val="bg2"/>
          </a:solidFill>
          <a:ln w="12700">
            <a:solidFill>
              <a:schemeClr val="bg2"/>
            </a:solidFill>
            <a:prstDash val="solid"/>
          </a:ln>
        </p:spPr>
      </p:sp>
      <p:sp>
        <p:nvSpPr>
          <p:cNvPr id="10" name="Ikon zemini"/>
          <p:cNvSpPr/>
          <p:nvPr/>
        </p:nvSpPr>
        <p:spPr>
          <a:xfrm>
            <a:off x="4224528" y="1783080"/>
            <a:ext cx="914400" cy="914400"/>
          </a:xfrm>
          <a:prstGeom prst="ellipse">
            <a:avLst/>
          </a:prstGeom>
          <a:solidFill>
            <a:schemeClr val="accent1"/>
          </a:solidFill>
          <a:ln w="12700">
            <a:solidFill>
              <a:schemeClr val="accent1"/>
            </a:solidFill>
            <a:prstDash val="solid"/>
          </a:ln>
        </p:spPr>
      </p:sp>
      <p:pic>
        <p:nvPicPr>
          <p:cNvPr id="11" name="Ikon" descr="FaUserFriends"/>
          <p:cNvPicPr>
            <a:picLocks noChangeAspect="1"/>
          </p:cNvPicPr>
          <p:nvPr/>
        </p:nvPicPr>
        <p:blipFill>
          <a:blip r:embed="rId3"/>
          <a:stretch>
            <a:fillRect/>
          </a:stretch>
        </p:blipFill>
        <p:spPr>
          <a:xfrm>
            <a:off x="4462272" y="2020824"/>
            <a:ext cx="438912" cy="438912"/>
          </a:xfrm>
          <a:prstGeom prst="rect">
            <a:avLst/>
          </a:prstGeom>
        </p:spPr>
      </p:pic>
      <p:sp>
        <p:nvSpPr>
          <p:cNvPr id="12" name="Text 7"/>
          <p:cNvSpPr txBox="1"/>
          <p:nvPr/>
        </p:nvSpPr>
        <p:spPr>
          <a:xfrm>
            <a:off x="3456432" y="2880360"/>
            <a:ext cx="2450592" cy="1097280"/>
          </a:xfrm>
          <a:prstGeom prst="rect">
            <a:avLst/>
          </a:prstGeom>
          <a:noFill/>
          <a:ln/>
        </p:spPr>
        <p:txBody>
          <a:bodyPr wrap="square" lIns="0" tIns="0" rIns="0" bIns="0" rtlCol="0" anchor="ctr"/>
          <a:lstStyle/>
          <a:p>
            <a:pPr marL="0" indent="0" algn="ctr">
              <a:buNone/>
            </a:pPr>
            <a:r>
              <a:rPr lang="en-US" sz="4000" b="1" dirty="0">
                <a:solidFill>
                  <a:schemeClr val="accent1"/>
                </a:solidFill>
              </a:rPr>
              <a:t>%19,2</a:t>
            </a:r>
            <a:endParaRPr lang="en-US" sz="4000" dirty="0"/>
          </a:p>
        </p:txBody>
      </p:sp>
      <p:sp>
        <p:nvSpPr>
          <p:cNvPr id="13" name="Text 8"/>
          <p:cNvSpPr txBox="1"/>
          <p:nvPr/>
        </p:nvSpPr>
        <p:spPr>
          <a:xfrm>
            <a:off x="3593592" y="4069080"/>
            <a:ext cx="2176272" cy="1371600"/>
          </a:xfrm>
          <a:prstGeom prst="rect">
            <a:avLst/>
          </a:prstGeom>
          <a:noFill/>
          <a:ln/>
        </p:spPr>
        <p:txBody>
          <a:bodyPr wrap="square" lIns="0" tIns="0" rIns="0" bIns="0" rtlCol="0" anchor="t"/>
          <a:lstStyle/>
          <a:p>
            <a:pPr marL="0" indent="0" algn="ctr">
              <a:buNone/>
            </a:pPr>
            <a:r>
              <a:rPr lang="en-US" sz="2000" dirty="0">
                <a:solidFill>
                  <a:schemeClr val="accent1"/>
                </a:solidFill>
              </a:rPr>
              <a:t>Kadınlarda sigara içme sıklığı</a:t>
            </a:r>
            <a:endParaRPr lang="en-US" sz="2000" dirty="0"/>
          </a:p>
        </p:txBody>
      </p:sp>
      <p:sp>
        <p:nvSpPr>
          <p:cNvPr id="14" name="Kart"/>
          <p:cNvSpPr/>
          <p:nvPr/>
        </p:nvSpPr>
        <p:spPr>
          <a:xfrm>
            <a:off x="6181344" y="1508760"/>
            <a:ext cx="2633472" cy="4206240"/>
          </a:xfrm>
          <a:prstGeom prst="roundRect">
            <a:avLst>
              <a:gd name="adj" fmla="val 4167"/>
            </a:avLst>
          </a:prstGeom>
          <a:solidFill>
            <a:schemeClr val="bg2"/>
          </a:solidFill>
          <a:ln w="12700">
            <a:solidFill>
              <a:schemeClr val="bg2"/>
            </a:solidFill>
            <a:prstDash val="solid"/>
          </a:ln>
        </p:spPr>
      </p:sp>
      <p:sp>
        <p:nvSpPr>
          <p:cNvPr id="15" name="Ikon zemini"/>
          <p:cNvSpPr/>
          <p:nvPr/>
        </p:nvSpPr>
        <p:spPr>
          <a:xfrm>
            <a:off x="7040880" y="1783080"/>
            <a:ext cx="914400" cy="914400"/>
          </a:xfrm>
          <a:prstGeom prst="ellipse">
            <a:avLst/>
          </a:prstGeom>
          <a:solidFill>
            <a:schemeClr val="accent2"/>
          </a:solidFill>
          <a:ln w="12700">
            <a:solidFill>
              <a:schemeClr val="accent2"/>
            </a:solidFill>
            <a:prstDash val="solid"/>
          </a:ln>
        </p:spPr>
      </p:sp>
      <p:pic>
        <p:nvPicPr>
          <p:cNvPr id="16" name="Ikon" descr="FaHospital"/>
          <p:cNvPicPr>
            <a:picLocks noChangeAspect="1"/>
          </p:cNvPicPr>
          <p:nvPr/>
        </p:nvPicPr>
        <p:blipFill>
          <a:blip r:embed="rId4"/>
          <a:stretch>
            <a:fillRect/>
          </a:stretch>
        </p:blipFill>
        <p:spPr>
          <a:xfrm>
            <a:off x="7278624" y="2020824"/>
            <a:ext cx="438912" cy="438912"/>
          </a:xfrm>
          <a:prstGeom prst="rect">
            <a:avLst/>
          </a:prstGeom>
        </p:spPr>
      </p:pic>
      <p:sp>
        <p:nvSpPr>
          <p:cNvPr id="17" name="Text 11"/>
          <p:cNvSpPr txBox="1"/>
          <p:nvPr/>
        </p:nvSpPr>
        <p:spPr>
          <a:xfrm>
            <a:off x="6272784" y="2880360"/>
            <a:ext cx="2450592" cy="1097280"/>
          </a:xfrm>
          <a:prstGeom prst="rect">
            <a:avLst/>
          </a:prstGeom>
          <a:noFill/>
          <a:ln/>
        </p:spPr>
        <p:txBody>
          <a:bodyPr wrap="square" lIns="0" tIns="0" rIns="0" bIns="0" rtlCol="0" anchor="ctr"/>
          <a:lstStyle/>
          <a:p>
            <a:pPr marL="0" indent="0" algn="ctr">
              <a:buNone/>
            </a:pPr>
            <a:r>
              <a:rPr lang="en-US" sz="4000" b="1" dirty="0">
                <a:solidFill>
                  <a:schemeClr val="accent2"/>
                </a:solidFill>
              </a:rPr>
              <a:t>&gt;500</a:t>
            </a:r>
            <a:endParaRPr lang="en-US" sz="4000" dirty="0"/>
          </a:p>
        </p:txBody>
      </p:sp>
      <p:sp>
        <p:nvSpPr>
          <p:cNvPr id="18" name="Text 12"/>
          <p:cNvSpPr txBox="1"/>
          <p:nvPr/>
        </p:nvSpPr>
        <p:spPr>
          <a:xfrm>
            <a:off x="6409944" y="4069080"/>
            <a:ext cx="2176272" cy="1371600"/>
          </a:xfrm>
          <a:prstGeom prst="rect">
            <a:avLst/>
          </a:prstGeom>
          <a:noFill/>
          <a:ln/>
        </p:spPr>
        <p:txBody>
          <a:bodyPr wrap="square" lIns="0" tIns="0" rIns="0" bIns="0" rtlCol="0" anchor="t"/>
          <a:lstStyle/>
          <a:p>
            <a:pPr marL="0" indent="0" algn="ctr">
              <a:buNone/>
            </a:pPr>
            <a:r>
              <a:rPr lang="en-US" sz="2000" dirty="0">
                <a:solidFill>
                  <a:schemeClr val="accent1"/>
                </a:solidFill>
              </a:rPr>
              <a:t>Sigara bırakma polikliniği</a:t>
            </a:r>
            <a:endParaRPr lang="en-US" sz="2000" dirty="0"/>
          </a:p>
        </p:txBody>
      </p:sp>
      <p:sp>
        <p:nvSpPr>
          <p:cNvPr id="19" name="Kart"/>
          <p:cNvSpPr/>
          <p:nvPr/>
        </p:nvSpPr>
        <p:spPr>
          <a:xfrm>
            <a:off x="8997696" y="1508760"/>
            <a:ext cx="2633472" cy="4206240"/>
          </a:xfrm>
          <a:prstGeom prst="roundRect">
            <a:avLst>
              <a:gd name="adj" fmla="val 4167"/>
            </a:avLst>
          </a:prstGeom>
          <a:solidFill>
            <a:schemeClr val="bg2"/>
          </a:solidFill>
          <a:ln w="12700">
            <a:solidFill>
              <a:schemeClr val="bg2"/>
            </a:solidFill>
            <a:prstDash val="solid"/>
          </a:ln>
        </p:spPr>
      </p:sp>
      <p:sp>
        <p:nvSpPr>
          <p:cNvPr id="20" name="Ikon zemini"/>
          <p:cNvSpPr/>
          <p:nvPr/>
        </p:nvSpPr>
        <p:spPr>
          <a:xfrm>
            <a:off x="9857232" y="1783080"/>
            <a:ext cx="914400" cy="914400"/>
          </a:xfrm>
          <a:prstGeom prst="ellipse">
            <a:avLst/>
          </a:prstGeom>
          <a:solidFill>
            <a:schemeClr val="accent2"/>
          </a:solidFill>
          <a:ln w="12700">
            <a:solidFill>
              <a:schemeClr val="accent2"/>
            </a:solidFill>
            <a:prstDash val="solid"/>
          </a:ln>
        </p:spPr>
      </p:sp>
      <p:pic>
        <p:nvPicPr>
          <p:cNvPr id="21" name="Ikon" descr="FaSmokingBan"/>
          <p:cNvPicPr>
            <a:picLocks noChangeAspect="1"/>
          </p:cNvPicPr>
          <p:nvPr/>
        </p:nvPicPr>
        <p:blipFill>
          <a:blip r:embed="rId5"/>
          <a:stretch>
            <a:fillRect/>
          </a:stretch>
        </p:blipFill>
        <p:spPr>
          <a:xfrm>
            <a:off x="10094976" y="2020824"/>
            <a:ext cx="438912" cy="438912"/>
          </a:xfrm>
          <a:prstGeom prst="rect">
            <a:avLst/>
          </a:prstGeom>
        </p:spPr>
      </p:pic>
      <p:sp>
        <p:nvSpPr>
          <p:cNvPr id="22" name="Text 15"/>
          <p:cNvSpPr txBox="1"/>
          <p:nvPr/>
        </p:nvSpPr>
        <p:spPr>
          <a:xfrm>
            <a:off x="9089136" y="2880360"/>
            <a:ext cx="2450592" cy="1097280"/>
          </a:xfrm>
          <a:prstGeom prst="rect">
            <a:avLst/>
          </a:prstGeom>
          <a:noFill/>
          <a:ln/>
        </p:spPr>
        <p:txBody>
          <a:bodyPr wrap="square" lIns="0" tIns="0" rIns="0" bIns="0" rtlCol="0" anchor="ctr"/>
          <a:lstStyle/>
          <a:p>
            <a:pPr marL="0" indent="0" algn="ctr">
              <a:buNone/>
            </a:pPr>
            <a:r>
              <a:rPr lang="en-US" sz="4000" b="1" dirty="0">
                <a:solidFill>
                  <a:schemeClr val="accent2"/>
                </a:solidFill>
              </a:rPr>
              <a:t>%20–50</a:t>
            </a:r>
            <a:endParaRPr lang="en-US" sz="4000" dirty="0"/>
          </a:p>
        </p:txBody>
      </p:sp>
      <p:sp>
        <p:nvSpPr>
          <p:cNvPr id="23" name="Text 16"/>
          <p:cNvSpPr txBox="1"/>
          <p:nvPr/>
        </p:nvSpPr>
        <p:spPr>
          <a:xfrm>
            <a:off x="9226296" y="4069080"/>
            <a:ext cx="2176272" cy="1371600"/>
          </a:xfrm>
          <a:prstGeom prst="rect">
            <a:avLst/>
          </a:prstGeom>
          <a:noFill/>
          <a:ln/>
        </p:spPr>
        <p:txBody>
          <a:bodyPr wrap="square" lIns="0" tIns="0" rIns="0" bIns="0" rtlCol="0" anchor="t"/>
          <a:lstStyle/>
          <a:p>
            <a:pPr marL="0" indent="0" algn="ctr">
              <a:buNone/>
            </a:pPr>
            <a:r>
              <a:rPr lang="en-US" sz="2000" dirty="0">
                <a:solidFill>
                  <a:schemeClr val="accent1"/>
                </a:solidFill>
              </a:rPr>
              <a:t>Polikliniklerde bırakma oranı</a:t>
            </a:r>
            <a:endParaRPr lang="en-US" sz="2000" dirty="0"/>
          </a:p>
        </p:txBody>
      </p:sp>
      <p:sp>
        <p:nvSpPr>
          <p:cNvPr id="24"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2, 3, 4 (Küresel Yetişkin Tütün Araştırması Türkiye 2016 verisi)</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Tedavi seçenekleri</a:t>
            </a:r>
            <a:endParaRPr lang="en-US" sz="3600" dirty="0"/>
          </a:p>
        </p:txBody>
      </p:sp>
      <p:sp>
        <p:nvSpPr>
          <p:cNvPr id="4" name="Kart"/>
          <p:cNvSpPr/>
          <p:nvPr/>
        </p:nvSpPr>
        <p:spPr>
          <a:xfrm>
            <a:off x="548640" y="1417320"/>
            <a:ext cx="5440680" cy="3794760"/>
          </a:xfrm>
          <a:prstGeom prst="roundRect">
            <a:avLst>
              <a:gd name="adj" fmla="val 2892"/>
            </a:avLst>
          </a:prstGeom>
          <a:solidFill>
            <a:schemeClr val="bg2"/>
          </a:solidFill>
          <a:ln w="12700">
            <a:solidFill>
              <a:schemeClr val="bg2"/>
            </a:solidFill>
            <a:prstDash val="solid"/>
          </a:ln>
        </p:spPr>
        <p:txBody>
          <a:bodyPr/>
          <a:p/>
        </p:txBody>
      </p:sp>
      <p:sp>
        <p:nvSpPr>
          <p:cNvPr id="5" name="Ikon zemini"/>
          <p:cNvSpPr/>
          <p:nvPr/>
        </p:nvSpPr>
        <p:spPr>
          <a:xfrm>
            <a:off x="868680" y="1645920"/>
            <a:ext cx="914400" cy="914400"/>
          </a:xfrm>
          <a:prstGeom prst="ellipse">
            <a:avLst/>
          </a:prstGeom>
          <a:solidFill>
            <a:schemeClr val="accent1"/>
          </a:solidFill>
          <a:ln w="12700">
            <a:solidFill>
              <a:schemeClr val="accent1"/>
            </a:solidFill>
            <a:prstDash val="solid"/>
          </a:ln>
        </p:spPr>
        <p:txBody>
          <a:bodyPr/>
          <a:p/>
        </p:txBody>
      </p:sp>
      <p:pic>
        <p:nvPicPr>
          <p:cNvPr id="6" name="Ikon" descr="FaComments"/>
          <p:cNvPicPr>
            <a:picLocks noChangeAspect="1"/>
          </p:cNvPicPr>
          <p:nvPr/>
        </p:nvPicPr>
        <p:blipFill>
          <a:blip r:embed="rId3"/>
          <a:stretch>
            <a:fillRect/>
          </a:stretch>
        </p:blipFill>
        <p:spPr>
          <a:xfrm>
            <a:off x="1106424" y="1883664"/>
            <a:ext cx="438912" cy="438912"/>
          </a:xfrm>
          <a:prstGeom prst="rect">
            <a:avLst/>
          </a:prstGeom>
        </p:spPr>
      </p:pic>
      <p:sp>
        <p:nvSpPr>
          <p:cNvPr id="7" name="Text 3"/>
          <p:cNvSpPr txBox="1"/>
          <p:nvPr/>
        </p:nvSpPr>
        <p:spPr>
          <a:xfrm>
            <a:off x="2011680" y="1645920"/>
            <a:ext cx="3749040" cy="914400"/>
          </a:xfrm>
          <a:prstGeom prst="rect">
            <a:avLst/>
          </a:prstGeom>
          <a:noFill/>
          <a:ln/>
        </p:spPr>
        <p:txBody>
          <a:bodyPr wrap="square" lIns="0" tIns="0" rIns="0" bIns="0" rtlCol="0" anchor="ctr"/>
          <a:lstStyle/>
          <a:p>
            <a:pPr marL="0" indent="0">
              <a:buNone/>
            </a:pPr>
            <a:r>
              <a:rPr lang="en-US" sz="3000" b="1" dirty="0">
                <a:solidFill>
                  <a:schemeClr val="accent1"/>
                </a:solidFill>
              </a:rPr>
              <a:t>Davranışsal</a:t>
            </a:r>
            <a:endParaRPr lang="en-US" sz="3000" dirty="0"/>
          </a:p>
        </p:txBody>
      </p:sp>
      <p:sp>
        <p:nvSpPr>
          <p:cNvPr id="8" name="Text 4"/>
          <p:cNvSpPr txBox="1"/>
          <p:nvPr/>
        </p:nvSpPr>
        <p:spPr>
          <a:xfrm>
            <a:off x="914400" y="2743200"/>
            <a:ext cx="4846320" cy="2331720"/>
          </a:xfrm>
          <a:prstGeom prst="rect">
            <a:avLst/>
          </a:prstGeom>
          <a:noFill/>
          <a:ln/>
        </p:spPr>
        <p:txBody>
          <a:bodyPr wrap="square" lIns="0" tIns="0" rIns="0" bIns="0" rtlCol="0" anchor="t"/>
          <a:lstStyle/>
          <a:p>
            <a:pPr marL="279400" indent="-279400" algn="just">
              <a:spcAft>
                <a:spcPts val="1000"/>
              </a:spcAft>
              <a:buSzPct val="100000"/>
              <a:buChar char="•"/>
            </a:pPr>
            <a:r>
              <a:rPr lang="en-US" sz="2000" dirty="0">
                <a:solidFill>
                  <a:schemeClr val="accent1"/>
                </a:solidFill>
              </a:rPr>
              <a:t>Sağlık İnanç Modeli</a:t>
            </a:r>
            <a:endParaRPr lang="en-US" sz="2200" dirty="0"/>
          </a:p>
          <a:p>
            <a:pPr marL="279400" indent="-279400" algn="just">
              <a:spcAft>
                <a:spcPts val="1000"/>
              </a:spcAft>
              <a:buSzPct val="100000"/>
              <a:buChar char="•"/>
            </a:pPr>
            <a:r>
              <a:rPr lang="en-US" sz="2000" dirty="0">
                <a:solidFill>
                  <a:schemeClr val="accent1"/>
                </a:solidFill>
              </a:rPr>
              <a:t>Sağlık Kontrol Odağı</a:t>
            </a:r>
            <a:endParaRPr lang="en-US" sz="2200" dirty="0"/>
          </a:p>
          <a:p>
            <a:pPr marL="279400" indent="-279400" algn="just">
              <a:spcAft>
                <a:spcPts val="1000"/>
              </a:spcAft>
              <a:buSzPct val="100000"/>
              <a:buChar char="•"/>
            </a:pPr>
            <a:r>
              <a:rPr lang="en-US" sz="2000" dirty="0">
                <a:solidFill>
                  <a:schemeClr val="accent1"/>
                </a:solidFill>
              </a:rPr>
              <a:t>Yeniliklerin Yayılımı Modeli</a:t>
            </a:r>
            <a:endParaRPr lang="en-US" sz="2200" dirty="0"/>
          </a:p>
          <a:p>
            <a:pPr marL="279400" indent="-279400" algn="just">
              <a:spcAft>
                <a:spcPts val="1000"/>
              </a:spcAft>
              <a:buSzPct val="100000"/>
              <a:buChar char="•"/>
            </a:pPr>
            <a:r>
              <a:rPr lang="en-US" sz="2000" dirty="0">
                <a:solidFill>
                  <a:schemeClr val="accent1"/>
                </a:solidFill>
              </a:rPr>
              <a:t>Pender'in Sağlığı Geliştirme Modeli</a:t>
            </a:r>
            <a:endParaRPr lang="en-US" sz="2200" dirty="0"/>
          </a:p>
          <a:p>
            <a:pPr marL="279400" indent="-279400" algn="just">
              <a:spcAft>
                <a:spcPts val="1000"/>
              </a:spcAft>
              <a:buSzPct val="100000"/>
              <a:buChar char="•"/>
            </a:pPr>
            <a:r>
              <a:rPr lang="en-US" sz="2000" dirty="0">
                <a:solidFill>
                  <a:schemeClr val="accent1"/>
                </a:solidFill>
              </a:rPr>
              <a:t>Transteorik Model</a:t>
            </a:r>
            <a:endParaRPr lang="en-US" sz="2200" dirty="0"/>
          </a:p>
        </p:txBody>
      </p:sp>
      <p:sp>
        <p:nvSpPr>
          <p:cNvPr id="9" name="Kart"/>
          <p:cNvSpPr/>
          <p:nvPr/>
        </p:nvSpPr>
        <p:spPr>
          <a:xfrm>
            <a:off x="6172200" y="1417320"/>
            <a:ext cx="5440680" cy="3794760"/>
          </a:xfrm>
          <a:prstGeom prst="roundRect">
            <a:avLst>
              <a:gd name="adj" fmla="val 2892"/>
            </a:avLst>
          </a:prstGeom>
          <a:solidFill>
            <a:schemeClr val="bg2"/>
          </a:solidFill>
          <a:ln w="12700">
            <a:solidFill>
              <a:schemeClr val="bg2"/>
            </a:solidFill>
            <a:prstDash val="solid"/>
          </a:ln>
        </p:spPr>
        <p:txBody>
          <a:bodyPr/>
          <a:p/>
        </p:txBody>
      </p:sp>
      <p:sp>
        <p:nvSpPr>
          <p:cNvPr id="10" name="Ikon zemini"/>
          <p:cNvSpPr/>
          <p:nvPr/>
        </p:nvSpPr>
        <p:spPr>
          <a:xfrm>
            <a:off x="6492240" y="1645920"/>
            <a:ext cx="914400" cy="914400"/>
          </a:xfrm>
          <a:prstGeom prst="ellipse">
            <a:avLst/>
          </a:prstGeom>
          <a:solidFill>
            <a:schemeClr val="accent2"/>
          </a:solidFill>
          <a:ln w="12700">
            <a:solidFill>
              <a:schemeClr val="accent2"/>
            </a:solidFill>
            <a:prstDash val="solid"/>
          </a:ln>
        </p:spPr>
        <p:txBody>
          <a:bodyPr/>
          <a:p/>
        </p:txBody>
      </p:sp>
      <p:pic>
        <p:nvPicPr>
          <p:cNvPr id="11" name="Ikon" descr="FaPills"/>
          <p:cNvPicPr>
            <a:picLocks noChangeAspect="1"/>
          </p:cNvPicPr>
          <p:nvPr/>
        </p:nvPicPr>
        <p:blipFill>
          <a:blip r:embed="rId4"/>
          <a:stretch>
            <a:fillRect/>
          </a:stretch>
        </p:blipFill>
        <p:spPr>
          <a:xfrm>
            <a:off x="6729984" y="1883664"/>
            <a:ext cx="438912" cy="438912"/>
          </a:xfrm>
          <a:prstGeom prst="rect">
            <a:avLst/>
          </a:prstGeom>
        </p:spPr>
      </p:pic>
      <p:sp>
        <p:nvSpPr>
          <p:cNvPr id="12" name="Text 7"/>
          <p:cNvSpPr txBox="1"/>
          <p:nvPr/>
        </p:nvSpPr>
        <p:spPr>
          <a:xfrm>
            <a:off x="7635240" y="1645920"/>
            <a:ext cx="3749040" cy="914400"/>
          </a:xfrm>
          <a:prstGeom prst="rect">
            <a:avLst/>
          </a:prstGeom>
          <a:noFill/>
          <a:ln/>
        </p:spPr>
        <p:txBody>
          <a:bodyPr wrap="square" lIns="0" tIns="0" rIns="0" bIns="0" rtlCol="0" anchor="ctr"/>
          <a:lstStyle/>
          <a:p>
            <a:pPr marL="0" indent="0">
              <a:buNone/>
            </a:pPr>
            <a:r>
              <a:rPr lang="en-US" sz="3000" b="1" dirty="0">
                <a:solidFill>
                  <a:schemeClr val="accent2"/>
                </a:solidFill>
              </a:rPr>
              <a:t>Farmakolojik</a:t>
            </a:r>
            <a:endParaRPr lang="en-US" sz="3000" dirty="0"/>
          </a:p>
        </p:txBody>
      </p:sp>
      <p:sp>
        <p:nvSpPr>
          <p:cNvPr id="13" name="Text 8"/>
          <p:cNvSpPr txBox="1"/>
          <p:nvPr/>
        </p:nvSpPr>
        <p:spPr>
          <a:xfrm>
            <a:off x="6537960" y="2743200"/>
            <a:ext cx="4846320" cy="2331720"/>
          </a:xfrm>
          <a:prstGeom prst="rect">
            <a:avLst/>
          </a:prstGeom>
          <a:noFill/>
          <a:ln/>
        </p:spPr>
        <p:txBody>
          <a:bodyPr wrap="square" lIns="0" tIns="0" rIns="0" bIns="0" rtlCol="0" anchor="t"/>
          <a:lstStyle/>
          <a:p>
            <a:pPr marL="279400" indent="-279400" algn="just">
              <a:spcAft>
                <a:spcPts val="1000"/>
              </a:spcAft>
              <a:buSzPct val="100000"/>
              <a:buChar char="•"/>
            </a:pPr>
            <a:r>
              <a:rPr lang="en-US" sz="2000" dirty="0">
                <a:solidFill>
                  <a:schemeClr val="accent1"/>
                </a:solidFill>
              </a:rPr>
              <a:t>NRT (nikotin replasman)</a:t>
            </a:r>
            <a:endParaRPr lang="en-US" sz="2200" dirty="0"/>
          </a:p>
          <a:p>
            <a:pPr marL="279400" indent="-279400" algn="just">
              <a:spcAft>
                <a:spcPts val="1000"/>
              </a:spcAft>
              <a:buSzPct val="100000"/>
              <a:buChar char="•"/>
            </a:pPr>
            <a:r>
              <a:rPr lang="en-US" sz="2000" dirty="0">
                <a:solidFill>
                  <a:schemeClr val="accent1"/>
                </a:solidFill>
              </a:rPr>
              <a:t>Bupropion</a:t>
            </a:r>
            <a:endParaRPr lang="en-US" sz="2200" dirty="0"/>
          </a:p>
          <a:p>
            <a:pPr marL="279400" indent="-279400" algn="just">
              <a:spcAft>
                <a:spcPts val="1000"/>
              </a:spcAft>
              <a:buSzPct val="100000"/>
              <a:buChar char="•"/>
            </a:pPr>
            <a:r>
              <a:rPr lang="en-US" sz="2000" dirty="0">
                <a:solidFill>
                  <a:schemeClr val="accent1"/>
                </a:solidFill>
              </a:rPr>
              <a:t>Vareniklin</a:t>
            </a:r>
            <a:endParaRPr lang="en-US" sz="2200" dirty="0"/>
          </a:p>
          <a:p>
            <a:pPr marL="279400" indent="-279400" algn="just">
              <a:spcAft>
                <a:spcPts val="1000"/>
              </a:spcAft>
              <a:buSzPct val="100000"/>
              <a:buChar char="•"/>
            </a:pPr>
            <a:r>
              <a:rPr lang="en-US" sz="2000" dirty="0" err="1">
                <a:solidFill>
                  <a:schemeClr val="accent1"/>
                </a:solidFill>
              </a:rPr>
              <a:t>Sitizin</a:t>
            </a:r>
            <a:endParaRPr lang="en-US" sz="2200" dirty="0"/>
          </a:p>
        </p:txBody>
      </p:sp>
      <p:sp>
        <p:nvSpPr>
          <p:cNvPr id="14" name="Text 9"/>
          <p:cNvSpPr txBox="1"/>
          <p:nvPr/>
        </p:nvSpPr>
        <p:spPr>
          <a:xfrm>
            <a:off x="548640" y="5440680"/>
            <a:ext cx="11064240" cy="548640"/>
          </a:xfrm>
          <a:prstGeom prst="rect">
            <a:avLst/>
          </a:prstGeom>
          <a:noFill/>
          <a:ln/>
        </p:spPr>
        <p:txBody>
          <a:bodyPr wrap="square" lIns="0" tIns="0" rIns="0" bIns="0" rtlCol="0" anchor="ctr"/>
          <a:lstStyle/>
          <a:p>
            <a:pPr marL="0" indent="0">
              <a:buNone/>
            </a:pPr>
            <a:r>
              <a:rPr lang="en-US" sz="2200" b="1" i="1" dirty="0">
                <a:solidFill>
                  <a:schemeClr val="accent2"/>
                </a:solidFill>
              </a:rPr>
              <a:t>Farmakoterapi davranışsal destekle birlikte önerilmektedir.</a:t>
            </a:r>
            <a:endParaRPr lang="en-US" sz="2200" dirty="0"/>
          </a:p>
        </p:txBody>
      </p:sp>
      <p:sp>
        <p:nvSpPr>
          <p:cNvPr id="15"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1, 5</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Çalışmanın amacı</a:t>
            </a:r>
            <a:endParaRPr lang="en-US" sz="3600" dirty="0"/>
          </a:p>
        </p:txBody>
      </p:sp>
      <p:sp>
        <p:nvSpPr>
          <p:cNvPr id="4" name="Kart"/>
          <p:cNvSpPr/>
          <p:nvPr/>
        </p:nvSpPr>
        <p:spPr>
          <a:xfrm>
            <a:off x="548640" y="1508760"/>
            <a:ext cx="11064240" cy="4206240"/>
          </a:xfrm>
          <a:prstGeom prst="roundRect">
            <a:avLst>
              <a:gd name="adj" fmla="val 2609"/>
            </a:avLst>
          </a:prstGeom>
          <a:solidFill>
            <a:schemeClr val="accent1"/>
          </a:solidFill>
          <a:ln w="12700">
            <a:solidFill>
              <a:schemeClr val="accent1"/>
            </a:solidFill>
            <a:prstDash val="solid"/>
          </a:ln>
        </p:spPr>
      </p:sp>
      <p:sp>
        <p:nvSpPr>
          <p:cNvPr id="5" name="Ikon zemini"/>
          <p:cNvSpPr/>
          <p:nvPr/>
        </p:nvSpPr>
        <p:spPr>
          <a:xfrm>
            <a:off x="1005840" y="1965960"/>
            <a:ext cx="1280160" cy="1280160"/>
          </a:xfrm>
          <a:prstGeom prst="ellipse">
            <a:avLst/>
          </a:prstGeom>
          <a:solidFill>
            <a:schemeClr val="accent2"/>
          </a:solidFill>
          <a:ln w="12700">
            <a:solidFill>
              <a:schemeClr val="accent2"/>
            </a:solidFill>
            <a:prstDash val="solid"/>
          </a:ln>
        </p:spPr>
      </p:sp>
      <p:pic>
        <p:nvPicPr>
          <p:cNvPr id="6" name="Ikon" descr="FaBullseye"/>
          <p:cNvPicPr>
            <a:picLocks noChangeAspect="1"/>
          </p:cNvPicPr>
          <p:nvPr/>
        </p:nvPicPr>
        <p:blipFill>
          <a:blip r:embed="rId3"/>
          <a:stretch>
            <a:fillRect/>
          </a:stretch>
        </p:blipFill>
        <p:spPr>
          <a:xfrm>
            <a:off x="1338682" y="2298802"/>
            <a:ext cx="614477" cy="614477"/>
          </a:xfrm>
          <a:prstGeom prst="rect">
            <a:avLst/>
          </a:prstGeom>
        </p:spPr>
      </p:pic>
      <p:sp>
        <p:nvSpPr>
          <p:cNvPr id="7" name="Text 3"/>
          <p:cNvSpPr txBox="1"/>
          <p:nvPr/>
        </p:nvSpPr>
        <p:spPr>
          <a:xfrm>
            <a:off x="2743200" y="1920240"/>
            <a:ext cx="8412480" cy="3383280"/>
          </a:xfrm>
          <a:prstGeom prst="rect">
            <a:avLst/>
          </a:prstGeom>
          <a:noFill/>
          <a:ln/>
        </p:spPr>
        <p:txBody>
          <a:bodyPr wrap="square" lIns="0" tIns="0" rIns="0" bIns="0" rtlCol="0" anchor="ctr"/>
          <a:lstStyle/>
          <a:p>
            <a:pPr marL="279400" indent="-279400" algn="just">
              <a:spcAft>
                <a:spcPts val="1800"/>
              </a:spcAft>
              <a:buSzPct val="100000"/>
              <a:buChar char="•"/>
            </a:pPr>
            <a:r>
              <a:rPr lang="en-US" sz="2800" dirty="0">
                <a:solidFill>
                  <a:schemeClr val="bg1"/>
                </a:solidFill>
              </a:rPr>
              <a:t>Kombine tedavi ve yakın takibin bırakma başarısına etkisini değerlendirmek</a:t>
            </a:r>
            <a:endParaRPr lang="en-US" sz="2800" dirty="0"/>
          </a:p>
          <a:p>
            <a:pPr marL="279400" indent="-279400" algn="just">
              <a:spcAft>
                <a:spcPts val="1800"/>
              </a:spcAft>
              <a:buSzPct val="100000"/>
              <a:buChar char="•"/>
            </a:pPr>
            <a:r>
              <a:rPr lang="en-US" sz="2800" dirty="0">
                <a:solidFill>
                  <a:schemeClr val="bg1"/>
                </a:solidFill>
              </a:rPr>
              <a:t>Bırakmayı etkileyen hasta özelliklerini belirlemek</a:t>
            </a:r>
            <a:endParaRPr lang="en-US" sz="2800" dirty="0"/>
          </a:p>
        </p:txBody>
      </p:sp>
      <p:sp>
        <p:nvSpPr>
          <p:cNvPr id="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Tasarım ve örneklem</a:t>
            </a:r>
            <a:endParaRPr lang="en-US" sz="3600" dirty="0"/>
          </a:p>
        </p:txBody>
      </p:sp>
      <p:sp>
        <p:nvSpPr>
          <p:cNvPr id="4" name="Akış kutusu"/>
          <p:cNvSpPr/>
          <p:nvPr/>
        </p:nvSpPr>
        <p:spPr>
          <a:xfrm>
            <a:off x="548640" y="1417320"/>
            <a:ext cx="3840480" cy="1325880"/>
          </a:xfrm>
          <a:prstGeom prst="roundRect">
            <a:avLst>
              <a:gd name="adj" fmla="val 6897"/>
            </a:avLst>
          </a:prstGeom>
          <a:solidFill>
            <a:schemeClr val="bg2"/>
          </a:solidFill>
          <a:ln w="12700">
            <a:solidFill>
              <a:schemeClr val="bg2"/>
            </a:solidFill>
            <a:prstDash val="solid"/>
          </a:ln>
        </p:spPr>
      </p:sp>
      <p:sp>
        <p:nvSpPr>
          <p:cNvPr id="5" name="Text 2"/>
          <p:cNvSpPr txBox="1"/>
          <p:nvPr/>
        </p:nvSpPr>
        <p:spPr>
          <a:xfrm>
            <a:off x="548640" y="1417320"/>
            <a:ext cx="3840480" cy="1325880"/>
          </a:xfrm>
          <a:prstGeom prst="rect">
            <a:avLst/>
          </a:prstGeom>
          <a:noFill/>
          <a:ln/>
        </p:spPr>
        <p:txBody>
          <a:bodyPr wrap="square" lIns="50800" tIns="50800" rIns="50800" bIns="50800" rtlCol="0" anchor="ctr"/>
          <a:lstStyle/>
          <a:p>
            <a:pPr marL="0" indent="0" algn="ctr">
              <a:buNone/>
            </a:pPr>
            <a:r>
              <a:rPr lang="en-US" sz="3600" b="1" dirty="0">
                <a:solidFill>
                  <a:schemeClr val="accent1"/>
                </a:solidFill>
              </a:rPr>
              <a:t>432</a:t>
            </a:r>
            <a:endParaRPr lang="en-US" sz="3600" dirty="0"/>
          </a:p>
          <a:p>
            <a:pPr marL="0" indent="0" algn="ctr">
              <a:buNone/>
            </a:pPr>
            <a:r>
              <a:rPr lang="en-US" sz="2000" dirty="0">
                <a:solidFill>
                  <a:schemeClr val="accent1"/>
                </a:solidFill>
              </a:rPr>
              <a:t>hasta dosyası (≥18 yaş)</a:t>
            </a:r>
            <a:endParaRPr lang="en-US" sz="3600" dirty="0"/>
          </a:p>
        </p:txBody>
      </p:sp>
      <p:pic>
        <p:nvPicPr>
          <p:cNvPr id="6" name="Image 0" descr="ok"/>
          <p:cNvPicPr>
            <a:picLocks noChangeAspect="1"/>
          </p:cNvPicPr>
          <p:nvPr/>
        </p:nvPicPr>
        <p:blipFill>
          <a:blip r:embed="rId3"/>
          <a:stretch>
            <a:fillRect/>
          </a:stretch>
        </p:blipFill>
        <p:spPr>
          <a:xfrm>
            <a:off x="2194560" y="2852928"/>
            <a:ext cx="548640" cy="548640"/>
          </a:xfrm>
          <a:prstGeom prst="rect">
            <a:avLst/>
          </a:prstGeom>
        </p:spPr>
      </p:pic>
      <p:sp>
        <p:nvSpPr>
          <p:cNvPr id="7" name="Akış kutusu"/>
          <p:cNvSpPr/>
          <p:nvPr/>
        </p:nvSpPr>
        <p:spPr>
          <a:xfrm>
            <a:off x="548640" y="3520440"/>
            <a:ext cx="3840480" cy="1325880"/>
          </a:xfrm>
          <a:prstGeom prst="roundRect">
            <a:avLst>
              <a:gd name="adj" fmla="val 6897"/>
            </a:avLst>
          </a:prstGeom>
          <a:solidFill>
            <a:schemeClr val="accent1"/>
          </a:solidFill>
          <a:ln w="12700">
            <a:solidFill>
              <a:schemeClr val="accent1"/>
            </a:solidFill>
            <a:prstDash val="solid"/>
          </a:ln>
        </p:spPr>
      </p:sp>
      <p:sp>
        <p:nvSpPr>
          <p:cNvPr id="8" name="Text 4"/>
          <p:cNvSpPr txBox="1"/>
          <p:nvPr/>
        </p:nvSpPr>
        <p:spPr>
          <a:xfrm>
            <a:off x="548640" y="3520440"/>
            <a:ext cx="3840480" cy="1325880"/>
          </a:xfrm>
          <a:prstGeom prst="rect">
            <a:avLst/>
          </a:prstGeom>
          <a:noFill/>
          <a:ln/>
        </p:spPr>
        <p:txBody>
          <a:bodyPr wrap="square" lIns="50800" tIns="50800" rIns="50800" bIns="50800" rtlCol="0" anchor="ctr"/>
          <a:lstStyle/>
          <a:p>
            <a:pPr marL="0" indent="0" algn="ctr">
              <a:buNone/>
            </a:pPr>
            <a:r>
              <a:rPr lang="en-US" sz="3600" b="1" dirty="0">
                <a:solidFill>
                  <a:schemeClr val="bg1"/>
                </a:solidFill>
              </a:rPr>
              <a:t>399</a:t>
            </a:r>
            <a:endParaRPr lang="en-US" sz="3600" dirty="0"/>
          </a:p>
          <a:p>
            <a:pPr marL="0" indent="0" algn="ctr">
              <a:buNone/>
            </a:pPr>
            <a:r>
              <a:rPr lang="en-US" sz="2000" dirty="0">
                <a:solidFill>
                  <a:schemeClr val="bg1"/>
                </a:solidFill>
              </a:rPr>
              <a:t>hastanın verisi eksiksiz</a:t>
            </a:r>
            <a:endParaRPr lang="en-US" sz="3600" dirty="0"/>
          </a:p>
        </p:txBody>
      </p:sp>
      <p:sp>
        <p:nvSpPr>
          <p:cNvPr id="9" name="Ikon zemini"/>
          <p:cNvSpPr/>
          <p:nvPr/>
        </p:nvSpPr>
        <p:spPr>
          <a:xfrm>
            <a:off x="5669280" y="1463040"/>
            <a:ext cx="731520" cy="731520"/>
          </a:xfrm>
          <a:prstGeom prst="ellipse">
            <a:avLst/>
          </a:prstGeom>
          <a:solidFill>
            <a:schemeClr val="accent2"/>
          </a:solidFill>
          <a:ln w="12700">
            <a:solidFill>
              <a:schemeClr val="accent2"/>
            </a:solidFill>
            <a:prstDash val="solid"/>
          </a:ln>
        </p:spPr>
      </p:sp>
      <p:pic>
        <p:nvPicPr>
          <p:cNvPr id="10" name="Ikon" descr="FaCalendarAlt"/>
          <p:cNvPicPr>
            <a:picLocks noChangeAspect="1"/>
          </p:cNvPicPr>
          <p:nvPr/>
        </p:nvPicPr>
        <p:blipFill>
          <a:blip r:embed="rId4"/>
          <a:stretch>
            <a:fillRect/>
          </a:stretch>
        </p:blipFill>
        <p:spPr>
          <a:xfrm>
            <a:off x="5859475" y="1653235"/>
            <a:ext cx="351130" cy="351130"/>
          </a:xfrm>
          <a:prstGeom prst="rect">
            <a:avLst/>
          </a:prstGeom>
        </p:spPr>
      </p:pic>
      <p:sp>
        <p:nvSpPr>
          <p:cNvPr id="11" name="Text 6"/>
          <p:cNvSpPr txBox="1"/>
          <p:nvPr/>
        </p:nvSpPr>
        <p:spPr>
          <a:xfrm>
            <a:off x="6629400" y="1463040"/>
            <a:ext cx="4937760" cy="731520"/>
          </a:xfrm>
          <a:prstGeom prst="rect">
            <a:avLst/>
          </a:prstGeom>
          <a:noFill/>
          <a:ln/>
        </p:spPr>
        <p:txBody>
          <a:bodyPr wrap="square" lIns="0" tIns="0" rIns="0" bIns="0" rtlCol="0" anchor="ctr"/>
          <a:lstStyle/>
          <a:p>
            <a:pPr marL="0" indent="0">
              <a:buNone/>
            </a:pPr>
            <a:r>
              <a:rPr lang="en-US" sz="2200" dirty="0">
                <a:solidFill>
                  <a:schemeClr val="accent1"/>
                </a:solidFill>
              </a:rPr>
              <a:t>01.08.2020 – 31.08.2024</a:t>
            </a:r>
            <a:endParaRPr lang="en-US" sz="2200" dirty="0"/>
          </a:p>
        </p:txBody>
      </p:sp>
      <p:sp>
        <p:nvSpPr>
          <p:cNvPr id="12" name="Ikon zemini"/>
          <p:cNvSpPr/>
          <p:nvPr/>
        </p:nvSpPr>
        <p:spPr>
          <a:xfrm>
            <a:off x="5669280" y="2487168"/>
            <a:ext cx="731520" cy="731520"/>
          </a:xfrm>
          <a:prstGeom prst="ellipse">
            <a:avLst/>
          </a:prstGeom>
          <a:solidFill>
            <a:schemeClr val="accent1"/>
          </a:solidFill>
          <a:ln w="12700">
            <a:solidFill>
              <a:schemeClr val="accent1"/>
            </a:solidFill>
            <a:prstDash val="solid"/>
          </a:ln>
        </p:spPr>
      </p:sp>
      <p:pic>
        <p:nvPicPr>
          <p:cNvPr id="13" name="Ikon" descr="FaFileMedical"/>
          <p:cNvPicPr>
            <a:picLocks noChangeAspect="1"/>
          </p:cNvPicPr>
          <p:nvPr/>
        </p:nvPicPr>
        <p:blipFill>
          <a:blip r:embed="rId5"/>
          <a:stretch>
            <a:fillRect/>
          </a:stretch>
        </p:blipFill>
        <p:spPr>
          <a:xfrm>
            <a:off x="5859475" y="2677363"/>
            <a:ext cx="351130" cy="351130"/>
          </a:xfrm>
          <a:prstGeom prst="rect">
            <a:avLst/>
          </a:prstGeom>
        </p:spPr>
      </p:pic>
      <p:sp>
        <p:nvSpPr>
          <p:cNvPr id="14" name="Text 8"/>
          <p:cNvSpPr txBox="1"/>
          <p:nvPr/>
        </p:nvSpPr>
        <p:spPr>
          <a:xfrm>
            <a:off x="6629400" y="2487168"/>
            <a:ext cx="4937760" cy="731520"/>
          </a:xfrm>
          <a:prstGeom prst="rect">
            <a:avLst/>
          </a:prstGeom>
          <a:noFill/>
          <a:ln/>
        </p:spPr>
        <p:txBody>
          <a:bodyPr wrap="square" lIns="0" tIns="0" rIns="0" bIns="0" rtlCol="0" anchor="ctr"/>
          <a:lstStyle/>
          <a:p>
            <a:pPr marL="0" indent="0">
              <a:buNone/>
            </a:pPr>
            <a:r>
              <a:rPr lang="en-US" sz="2200" dirty="0">
                <a:solidFill>
                  <a:schemeClr val="accent1"/>
                </a:solidFill>
              </a:rPr>
              <a:t>Hastane otomasyon sistemi</a:t>
            </a:r>
            <a:endParaRPr lang="en-US" sz="2200" dirty="0"/>
          </a:p>
        </p:txBody>
      </p:sp>
      <p:sp>
        <p:nvSpPr>
          <p:cNvPr id="15" name="Ikon zemini"/>
          <p:cNvSpPr/>
          <p:nvPr/>
        </p:nvSpPr>
        <p:spPr>
          <a:xfrm>
            <a:off x="5669280" y="3511296"/>
            <a:ext cx="731520" cy="731520"/>
          </a:xfrm>
          <a:prstGeom prst="ellipse">
            <a:avLst/>
          </a:prstGeom>
          <a:solidFill>
            <a:schemeClr val="accent2"/>
          </a:solidFill>
          <a:ln w="12700">
            <a:solidFill>
              <a:schemeClr val="accent2"/>
            </a:solidFill>
            <a:prstDash val="solid"/>
          </a:ln>
        </p:spPr>
      </p:sp>
      <p:pic>
        <p:nvPicPr>
          <p:cNvPr id="16" name="Ikon" descr="FaClipboardList"/>
          <p:cNvPicPr>
            <a:picLocks noChangeAspect="1"/>
          </p:cNvPicPr>
          <p:nvPr/>
        </p:nvPicPr>
        <p:blipFill>
          <a:blip r:embed="rId6"/>
          <a:stretch>
            <a:fillRect/>
          </a:stretch>
        </p:blipFill>
        <p:spPr>
          <a:xfrm>
            <a:off x="5859475" y="3701491"/>
            <a:ext cx="351130" cy="351130"/>
          </a:xfrm>
          <a:prstGeom prst="rect">
            <a:avLst/>
          </a:prstGeom>
        </p:spPr>
      </p:pic>
      <p:sp>
        <p:nvSpPr>
          <p:cNvPr id="17" name="Text 10"/>
          <p:cNvSpPr txBox="1"/>
          <p:nvPr/>
        </p:nvSpPr>
        <p:spPr>
          <a:xfrm>
            <a:off x="6629400" y="3511296"/>
            <a:ext cx="4937760" cy="731520"/>
          </a:xfrm>
          <a:prstGeom prst="rect">
            <a:avLst/>
          </a:prstGeom>
          <a:noFill/>
          <a:ln/>
        </p:spPr>
        <p:txBody>
          <a:bodyPr wrap="square" lIns="0" tIns="0" rIns="0" bIns="0" rtlCol="0" anchor="ctr"/>
          <a:lstStyle/>
          <a:p>
            <a:pPr marL="0" indent="0">
              <a:buNone/>
            </a:pPr>
            <a:r>
              <a:rPr lang="en-US" sz="2200" dirty="0">
                <a:solidFill>
                  <a:schemeClr val="accent1"/>
                </a:solidFill>
              </a:rPr>
              <a:t>Retrospektif, kesitsel tasarım</a:t>
            </a:r>
            <a:endParaRPr lang="en-US" sz="2200" dirty="0"/>
          </a:p>
        </p:txBody>
      </p:sp>
      <p:sp>
        <p:nvSpPr>
          <p:cNvPr id="18" name="Ikon zemini"/>
          <p:cNvSpPr/>
          <p:nvPr/>
        </p:nvSpPr>
        <p:spPr>
          <a:xfrm>
            <a:off x="5669280" y="4535424"/>
            <a:ext cx="731520" cy="731520"/>
          </a:xfrm>
          <a:prstGeom prst="ellipse">
            <a:avLst/>
          </a:prstGeom>
          <a:solidFill>
            <a:schemeClr val="accent1"/>
          </a:solidFill>
          <a:ln w="12700">
            <a:solidFill>
              <a:schemeClr val="accent1"/>
            </a:solidFill>
            <a:prstDash val="solid"/>
          </a:ln>
        </p:spPr>
      </p:sp>
      <p:pic>
        <p:nvPicPr>
          <p:cNvPr id="19" name="Ikon" descr="FaCheck"/>
          <p:cNvPicPr>
            <a:picLocks noChangeAspect="1"/>
          </p:cNvPicPr>
          <p:nvPr/>
        </p:nvPicPr>
        <p:blipFill>
          <a:blip r:embed="rId7"/>
          <a:stretch>
            <a:fillRect/>
          </a:stretch>
        </p:blipFill>
        <p:spPr>
          <a:xfrm>
            <a:off x="5859475" y="4725619"/>
            <a:ext cx="351130" cy="351130"/>
          </a:xfrm>
          <a:prstGeom prst="rect">
            <a:avLst/>
          </a:prstGeom>
        </p:spPr>
      </p:pic>
      <p:sp>
        <p:nvSpPr>
          <p:cNvPr id="20" name="Text 12"/>
          <p:cNvSpPr txBox="1"/>
          <p:nvPr/>
        </p:nvSpPr>
        <p:spPr>
          <a:xfrm>
            <a:off x="6629400" y="4535424"/>
            <a:ext cx="4937760" cy="731520"/>
          </a:xfrm>
          <a:prstGeom prst="rect">
            <a:avLst/>
          </a:prstGeom>
          <a:noFill/>
          <a:ln/>
        </p:spPr>
        <p:txBody>
          <a:bodyPr wrap="square" lIns="0" tIns="0" rIns="0" bIns="0" rtlCol="0" anchor="ctr"/>
          <a:lstStyle/>
          <a:p>
            <a:pPr marL="0" indent="0">
              <a:buNone/>
            </a:pPr>
            <a:r>
              <a:rPr lang="en-US" sz="2200" dirty="0">
                <a:solidFill>
                  <a:schemeClr val="accent1"/>
                </a:solidFill>
              </a:rPr>
              <a:t>En az bir yıllık takip</a:t>
            </a:r>
            <a:endParaRPr lang="en-US" sz="2200" dirty="0"/>
          </a:p>
        </p:txBody>
      </p:sp>
      <p:sp>
        <p:nvSpPr>
          <p:cNvPr id="21" name="Text 13"/>
          <p:cNvSpPr txBox="1"/>
          <p:nvPr/>
        </p:nvSpPr>
        <p:spPr>
          <a:xfrm>
            <a:off x="548640" y="5349240"/>
            <a:ext cx="11064240" cy="502920"/>
          </a:xfrm>
          <a:prstGeom prst="rect">
            <a:avLst/>
          </a:prstGeom>
          <a:noFill/>
          <a:ln/>
        </p:spPr>
        <p:txBody>
          <a:bodyPr wrap="square" lIns="0" tIns="0" rIns="0" bIns="0" rtlCol="0" anchor="ctr"/>
          <a:lstStyle/>
          <a:p>
            <a:pPr marL="0" indent="0">
              <a:buNone/>
            </a:pPr>
            <a:r>
              <a:rPr lang="en-US" sz="2000" i="1" dirty="0">
                <a:solidFill>
                  <a:schemeClr val="accent3"/>
                </a:solidFill>
              </a:rPr>
              <a:t>Tüm kayıtlar alındığı için örneklem hesabı yapılmamıştır.</a:t>
            </a:r>
            <a:endParaRPr lang="en-US" sz="2000" dirty="0"/>
          </a:p>
        </p:txBody>
      </p:sp>
      <p:sp>
        <p:nvSpPr>
          <p:cNvPr id="22"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Veri toplama ve bağımlılık ölçümü</a:t>
            </a:r>
            <a:endParaRPr lang="en-US" sz="3600" dirty="0"/>
          </a:p>
        </p:txBody>
      </p:sp>
      <p:sp>
        <p:nvSpPr>
          <p:cNvPr id="4" name="Text 1"/>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2200" b="1" dirty="0">
                <a:solidFill>
                  <a:schemeClr val="accent2"/>
                </a:solidFill>
              </a:rPr>
              <a:t>Hasta dosyalarından elde edilen veriler</a:t>
            </a:r>
            <a:endParaRPr lang="en-US" sz="2200" dirty="0"/>
          </a:p>
        </p:txBody>
      </p:sp>
      <p:sp>
        <p:nvSpPr>
          <p:cNvPr id="5" name="Veri etiketi"/>
          <p:cNvSpPr/>
          <p:nvPr/>
        </p:nvSpPr>
        <p:spPr>
          <a:xfrm>
            <a:off x="548640" y="1874520"/>
            <a:ext cx="1737360" cy="685800"/>
          </a:xfrm>
          <a:prstGeom prst="roundRect">
            <a:avLst>
              <a:gd name="adj" fmla="val 13333"/>
            </a:avLst>
          </a:prstGeom>
          <a:solidFill>
            <a:schemeClr val="bg2"/>
          </a:solidFill>
          <a:ln w="12700">
            <a:solidFill>
              <a:schemeClr val="bg2"/>
            </a:solidFill>
            <a:prstDash val="solid"/>
          </a:ln>
        </p:spPr>
      </p:sp>
      <p:sp>
        <p:nvSpPr>
          <p:cNvPr id="6" name="Text 3"/>
          <p:cNvSpPr txBox="1"/>
          <p:nvPr/>
        </p:nvSpPr>
        <p:spPr>
          <a:xfrm>
            <a:off x="548640" y="1874520"/>
            <a:ext cx="1737360" cy="685800"/>
          </a:xfrm>
          <a:prstGeom prst="rect">
            <a:avLst/>
          </a:prstGeom>
          <a:noFill/>
          <a:ln/>
        </p:spPr>
        <p:txBody>
          <a:bodyPr wrap="square" lIns="0" tIns="0" rIns="0" bIns="0" rtlCol="0" anchor="ctr"/>
          <a:lstStyle/>
          <a:p>
            <a:pPr marL="0" indent="0" algn="ctr">
              <a:buNone/>
            </a:pPr>
            <a:r>
              <a:rPr lang="en-US" sz="1800" dirty="0">
                <a:solidFill>
                  <a:schemeClr val="accent1"/>
                </a:solidFill>
              </a:rPr>
              <a:t>Yaş, cinsiyet</a:t>
            </a:r>
            <a:endParaRPr lang="en-US" sz="1800" dirty="0"/>
          </a:p>
        </p:txBody>
      </p:sp>
      <p:sp>
        <p:nvSpPr>
          <p:cNvPr id="7" name="Veri etiketi"/>
          <p:cNvSpPr/>
          <p:nvPr/>
        </p:nvSpPr>
        <p:spPr>
          <a:xfrm>
            <a:off x="2404872" y="1874520"/>
            <a:ext cx="1737360" cy="685800"/>
          </a:xfrm>
          <a:prstGeom prst="roundRect">
            <a:avLst>
              <a:gd name="adj" fmla="val 13333"/>
            </a:avLst>
          </a:prstGeom>
          <a:solidFill>
            <a:schemeClr val="bg2"/>
          </a:solidFill>
          <a:ln w="12700">
            <a:solidFill>
              <a:schemeClr val="bg2"/>
            </a:solidFill>
            <a:prstDash val="solid"/>
          </a:ln>
        </p:spPr>
      </p:sp>
      <p:sp>
        <p:nvSpPr>
          <p:cNvPr id="8" name="Text 5"/>
          <p:cNvSpPr txBox="1"/>
          <p:nvPr/>
        </p:nvSpPr>
        <p:spPr>
          <a:xfrm>
            <a:off x="2404872" y="1874520"/>
            <a:ext cx="1737360" cy="685800"/>
          </a:xfrm>
          <a:prstGeom prst="rect">
            <a:avLst/>
          </a:prstGeom>
          <a:noFill/>
          <a:ln/>
        </p:spPr>
        <p:txBody>
          <a:bodyPr wrap="square" lIns="0" tIns="0" rIns="0" bIns="0" rtlCol="0" anchor="ctr"/>
          <a:lstStyle/>
          <a:p>
            <a:pPr marL="0" indent="0" algn="ctr">
              <a:buNone/>
            </a:pPr>
            <a:r>
              <a:rPr lang="en-US" sz="1800" dirty="0">
                <a:solidFill>
                  <a:schemeClr val="accent1"/>
                </a:solidFill>
              </a:rPr>
              <a:t>Meslek</a:t>
            </a:r>
            <a:endParaRPr lang="en-US" sz="1800" dirty="0"/>
          </a:p>
        </p:txBody>
      </p:sp>
      <p:sp>
        <p:nvSpPr>
          <p:cNvPr id="9" name="Veri etiketi"/>
          <p:cNvSpPr/>
          <p:nvPr/>
        </p:nvSpPr>
        <p:spPr>
          <a:xfrm>
            <a:off x="4261104" y="1874520"/>
            <a:ext cx="1737360" cy="685800"/>
          </a:xfrm>
          <a:prstGeom prst="roundRect">
            <a:avLst>
              <a:gd name="adj" fmla="val 13333"/>
            </a:avLst>
          </a:prstGeom>
          <a:solidFill>
            <a:schemeClr val="bg2"/>
          </a:solidFill>
          <a:ln w="12700">
            <a:solidFill>
              <a:schemeClr val="bg2"/>
            </a:solidFill>
            <a:prstDash val="solid"/>
          </a:ln>
        </p:spPr>
      </p:sp>
      <p:sp>
        <p:nvSpPr>
          <p:cNvPr id="10" name="Text 7"/>
          <p:cNvSpPr txBox="1"/>
          <p:nvPr/>
        </p:nvSpPr>
        <p:spPr>
          <a:xfrm>
            <a:off x="4261104" y="1874520"/>
            <a:ext cx="1737360" cy="685800"/>
          </a:xfrm>
          <a:prstGeom prst="rect">
            <a:avLst/>
          </a:prstGeom>
          <a:noFill/>
          <a:ln/>
        </p:spPr>
        <p:txBody>
          <a:bodyPr wrap="square" lIns="0" tIns="0" rIns="0" bIns="0" rtlCol="0" anchor="ctr"/>
          <a:lstStyle/>
          <a:p>
            <a:pPr marL="0" indent="0" algn="ctr">
              <a:buNone/>
            </a:pPr>
            <a:r>
              <a:rPr lang="en-US" sz="1800" dirty="0">
                <a:solidFill>
                  <a:schemeClr val="accent1"/>
                </a:solidFill>
              </a:rPr>
              <a:t>Alkol kullanımı</a:t>
            </a:r>
            <a:endParaRPr lang="en-US" sz="1800" dirty="0"/>
          </a:p>
        </p:txBody>
      </p:sp>
      <p:sp>
        <p:nvSpPr>
          <p:cNvPr id="11" name="Veri etiketi"/>
          <p:cNvSpPr/>
          <p:nvPr/>
        </p:nvSpPr>
        <p:spPr>
          <a:xfrm>
            <a:off x="6117336" y="1874520"/>
            <a:ext cx="1737360" cy="685800"/>
          </a:xfrm>
          <a:prstGeom prst="roundRect">
            <a:avLst>
              <a:gd name="adj" fmla="val 13333"/>
            </a:avLst>
          </a:prstGeom>
          <a:solidFill>
            <a:schemeClr val="bg2"/>
          </a:solidFill>
          <a:ln w="12700">
            <a:solidFill>
              <a:schemeClr val="bg2"/>
            </a:solidFill>
            <a:prstDash val="solid"/>
          </a:ln>
        </p:spPr>
      </p:sp>
      <p:sp>
        <p:nvSpPr>
          <p:cNvPr id="12" name="Text 9"/>
          <p:cNvSpPr txBox="1"/>
          <p:nvPr/>
        </p:nvSpPr>
        <p:spPr>
          <a:xfrm>
            <a:off x="6117336" y="1874520"/>
            <a:ext cx="1737360" cy="685800"/>
          </a:xfrm>
          <a:prstGeom prst="rect">
            <a:avLst/>
          </a:prstGeom>
          <a:noFill/>
          <a:ln/>
        </p:spPr>
        <p:txBody>
          <a:bodyPr wrap="square" lIns="0" tIns="0" rIns="0" bIns="0" rtlCol="0" anchor="ctr"/>
          <a:lstStyle/>
          <a:p>
            <a:pPr marL="0" indent="0" algn="ctr">
              <a:buNone/>
            </a:pPr>
            <a:r>
              <a:rPr lang="en-US" sz="1800" dirty="0">
                <a:solidFill>
                  <a:schemeClr val="accent1"/>
                </a:solidFill>
              </a:rPr>
              <a:t>Kronik hastalık</a:t>
            </a:r>
            <a:endParaRPr lang="en-US" sz="1800" dirty="0"/>
          </a:p>
        </p:txBody>
      </p:sp>
      <p:sp>
        <p:nvSpPr>
          <p:cNvPr id="13" name="Veri etiketi"/>
          <p:cNvSpPr/>
          <p:nvPr/>
        </p:nvSpPr>
        <p:spPr>
          <a:xfrm>
            <a:off x="7973568" y="1874520"/>
            <a:ext cx="1737360" cy="685800"/>
          </a:xfrm>
          <a:prstGeom prst="roundRect">
            <a:avLst>
              <a:gd name="adj" fmla="val 13333"/>
            </a:avLst>
          </a:prstGeom>
          <a:solidFill>
            <a:schemeClr val="bg2"/>
          </a:solidFill>
          <a:ln w="12700">
            <a:solidFill>
              <a:schemeClr val="bg2"/>
            </a:solidFill>
            <a:prstDash val="solid"/>
          </a:ln>
        </p:spPr>
      </p:sp>
      <p:sp>
        <p:nvSpPr>
          <p:cNvPr id="14" name="Text 11"/>
          <p:cNvSpPr txBox="1"/>
          <p:nvPr/>
        </p:nvSpPr>
        <p:spPr>
          <a:xfrm>
            <a:off x="7973568" y="1874520"/>
            <a:ext cx="1737360" cy="685800"/>
          </a:xfrm>
          <a:prstGeom prst="rect">
            <a:avLst/>
          </a:prstGeom>
          <a:noFill/>
          <a:ln/>
        </p:spPr>
        <p:txBody>
          <a:bodyPr wrap="square" lIns="0" tIns="0" rIns="0" bIns="0" rtlCol="0" anchor="ctr"/>
          <a:lstStyle/>
          <a:p>
            <a:pPr marL="0" indent="0" algn="ctr">
              <a:buNone/>
            </a:pPr>
            <a:r>
              <a:rPr lang="en-US" sz="1800" dirty="0">
                <a:solidFill>
                  <a:schemeClr val="accent1"/>
                </a:solidFill>
              </a:rPr>
              <a:t>Paket-yıl</a:t>
            </a:r>
            <a:endParaRPr lang="en-US" sz="1800" dirty="0"/>
          </a:p>
        </p:txBody>
      </p:sp>
      <p:sp>
        <p:nvSpPr>
          <p:cNvPr id="15" name="Veri etiketi"/>
          <p:cNvSpPr/>
          <p:nvPr/>
        </p:nvSpPr>
        <p:spPr>
          <a:xfrm>
            <a:off x="9829800" y="1874520"/>
            <a:ext cx="1737360" cy="685800"/>
          </a:xfrm>
          <a:prstGeom prst="roundRect">
            <a:avLst>
              <a:gd name="adj" fmla="val 13333"/>
            </a:avLst>
          </a:prstGeom>
          <a:solidFill>
            <a:schemeClr val="bg2"/>
          </a:solidFill>
          <a:ln w="12700">
            <a:solidFill>
              <a:schemeClr val="bg2"/>
            </a:solidFill>
            <a:prstDash val="solid"/>
          </a:ln>
        </p:spPr>
      </p:sp>
      <p:sp>
        <p:nvSpPr>
          <p:cNvPr id="16" name="Text 13"/>
          <p:cNvSpPr txBox="1"/>
          <p:nvPr/>
        </p:nvSpPr>
        <p:spPr>
          <a:xfrm>
            <a:off x="9829800" y="1874520"/>
            <a:ext cx="1737360" cy="685800"/>
          </a:xfrm>
          <a:prstGeom prst="rect">
            <a:avLst/>
          </a:prstGeom>
          <a:noFill/>
          <a:ln/>
        </p:spPr>
        <p:txBody>
          <a:bodyPr wrap="square" lIns="0" tIns="0" rIns="0" bIns="0" rtlCol="0" anchor="ctr"/>
          <a:lstStyle/>
          <a:p>
            <a:pPr marL="0" indent="0" algn="ctr">
              <a:buNone/>
            </a:pPr>
            <a:r>
              <a:rPr lang="en-US" sz="1800" dirty="0">
                <a:solidFill>
                  <a:schemeClr val="accent1"/>
                </a:solidFill>
              </a:rPr>
              <a:t>Uygulanan tedavi</a:t>
            </a:r>
            <a:endParaRPr lang="en-US" sz="1800" dirty="0"/>
          </a:p>
        </p:txBody>
      </p:sp>
      <p:sp>
        <p:nvSpPr>
          <p:cNvPr id="17" name="Text 14"/>
          <p:cNvSpPr txBox="1"/>
          <p:nvPr/>
        </p:nvSpPr>
        <p:spPr>
          <a:xfrm>
            <a:off x="548640" y="2926080"/>
            <a:ext cx="10972800" cy="457200"/>
          </a:xfrm>
          <a:prstGeom prst="rect">
            <a:avLst/>
          </a:prstGeom>
          <a:noFill/>
          <a:ln/>
        </p:spPr>
        <p:txBody>
          <a:bodyPr wrap="square" lIns="0" tIns="0" rIns="0" bIns="0" rtlCol="0" anchor="ctr"/>
          <a:lstStyle/>
          <a:p>
            <a:pPr marL="0" indent="0">
              <a:buNone/>
            </a:pPr>
            <a:r>
              <a:rPr lang="en-US" sz="2200" b="1" dirty="0">
                <a:solidFill>
                  <a:schemeClr val="accent2"/>
                </a:solidFill>
              </a:rPr>
              <a:t>Fagerström Nikotin Bağımlılık Testi (FNBT)</a:t>
            </a:r>
            <a:endParaRPr lang="en-US" sz="2200" dirty="0"/>
          </a:p>
        </p:txBody>
      </p:sp>
      <p:sp>
        <p:nvSpPr>
          <p:cNvPr id="18" name="Ölçek dilimi"/>
          <p:cNvSpPr/>
          <p:nvPr/>
        </p:nvSpPr>
        <p:spPr>
          <a:xfrm>
            <a:off x="548640" y="3520440"/>
            <a:ext cx="3017520" cy="1005840"/>
          </a:xfrm>
          <a:prstGeom prst="rect">
            <a:avLst/>
          </a:prstGeom>
          <a:solidFill>
            <a:schemeClr val="accent5"/>
          </a:solidFill>
          <a:ln w="25400">
            <a:solidFill>
              <a:schemeClr val="bg1"/>
            </a:solidFill>
            <a:prstDash val="solid"/>
          </a:ln>
        </p:spPr>
      </p:sp>
      <p:sp>
        <p:nvSpPr>
          <p:cNvPr id="19" name="Text 16"/>
          <p:cNvSpPr txBox="1"/>
          <p:nvPr/>
        </p:nvSpPr>
        <p:spPr>
          <a:xfrm>
            <a:off x="548640" y="3520440"/>
            <a:ext cx="3017520" cy="1005840"/>
          </a:xfrm>
          <a:prstGeom prst="rect">
            <a:avLst/>
          </a:prstGeom>
          <a:noFill/>
          <a:ln/>
        </p:spPr>
        <p:txBody>
          <a:bodyPr wrap="square" lIns="0" tIns="0" rIns="0" bIns="0" rtlCol="0" anchor="ctr"/>
          <a:lstStyle/>
          <a:p>
            <a:pPr marL="0" indent="0" algn="ctr">
              <a:buNone/>
            </a:pPr>
            <a:r>
              <a:rPr lang="en-US" sz="2400" b="1" dirty="0">
                <a:solidFill>
                  <a:schemeClr val="accent1"/>
                </a:solidFill>
              </a:rPr>
              <a:t>Düşük</a:t>
            </a:r>
            <a:endParaRPr lang="en-US" sz="2400" dirty="0"/>
          </a:p>
          <a:p>
            <a:pPr marL="0" indent="0" algn="ctr">
              <a:buNone/>
            </a:pPr>
            <a:r>
              <a:rPr lang="en-US" sz="1800" dirty="0">
                <a:solidFill>
                  <a:schemeClr val="accent1"/>
                </a:solidFill>
              </a:rPr>
              <a:t>0–2 puan</a:t>
            </a:r>
            <a:endParaRPr lang="en-US" sz="2400" dirty="0"/>
          </a:p>
        </p:txBody>
      </p:sp>
      <p:sp>
        <p:nvSpPr>
          <p:cNvPr id="20" name="Ölçek dilimi"/>
          <p:cNvSpPr/>
          <p:nvPr/>
        </p:nvSpPr>
        <p:spPr>
          <a:xfrm>
            <a:off x="3566160" y="3520440"/>
            <a:ext cx="5029200" cy="1005840"/>
          </a:xfrm>
          <a:prstGeom prst="rect">
            <a:avLst/>
          </a:prstGeom>
          <a:solidFill>
            <a:schemeClr val="accent2"/>
          </a:solidFill>
          <a:ln w="25400">
            <a:solidFill>
              <a:schemeClr val="bg1"/>
            </a:solidFill>
            <a:prstDash val="solid"/>
          </a:ln>
        </p:spPr>
      </p:sp>
      <p:sp>
        <p:nvSpPr>
          <p:cNvPr id="21" name="Text 18"/>
          <p:cNvSpPr txBox="1"/>
          <p:nvPr/>
        </p:nvSpPr>
        <p:spPr>
          <a:xfrm>
            <a:off x="3566160" y="3520440"/>
            <a:ext cx="5029200" cy="1005840"/>
          </a:xfrm>
          <a:prstGeom prst="rect">
            <a:avLst/>
          </a:prstGeom>
          <a:noFill/>
          <a:ln/>
        </p:spPr>
        <p:txBody>
          <a:bodyPr wrap="square" lIns="0" tIns="0" rIns="0" bIns="0" rtlCol="0" anchor="ctr"/>
          <a:lstStyle/>
          <a:p>
            <a:pPr marL="0" indent="0" algn="ctr">
              <a:buNone/>
            </a:pPr>
            <a:r>
              <a:rPr lang="en-US" sz="2400" b="1" dirty="0">
                <a:solidFill>
                  <a:schemeClr val="bg1"/>
                </a:solidFill>
              </a:rPr>
              <a:t>Orta</a:t>
            </a:r>
            <a:endParaRPr lang="en-US" sz="2400" dirty="0"/>
          </a:p>
          <a:p>
            <a:pPr marL="0" indent="0" algn="ctr">
              <a:buNone/>
            </a:pPr>
            <a:r>
              <a:rPr lang="en-US" sz="1800" dirty="0">
                <a:solidFill>
                  <a:schemeClr val="bg1"/>
                </a:solidFill>
              </a:rPr>
              <a:t>3–7 puan</a:t>
            </a:r>
            <a:endParaRPr lang="en-US" sz="2400" dirty="0"/>
          </a:p>
        </p:txBody>
      </p:sp>
      <p:sp>
        <p:nvSpPr>
          <p:cNvPr id="22" name="Ölçek dilimi"/>
          <p:cNvSpPr/>
          <p:nvPr/>
        </p:nvSpPr>
        <p:spPr>
          <a:xfrm>
            <a:off x="8595360" y="3520440"/>
            <a:ext cx="3017520" cy="1005840"/>
          </a:xfrm>
          <a:prstGeom prst="rect">
            <a:avLst/>
          </a:prstGeom>
          <a:solidFill>
            <a:schemeClr val="accent1"/>
          </a:solidFill>
          <a:ln w="25400">
            <a:solidFill>
              <a:schemeClr val="bg1"/>
            </a:solidFill>
            <a:prstDash val="solid"/>
          </a:ln>
        </p:spPr>
      </p:sp>
      <p:sp>
        <p:nvSpPr>
          <p:cNvPr id="23" name="Text 20"/>
          <p:cNvSpPr txBox="1"/>
          <p:nvPr/>
        </p:nvSpPr>
        <p:spPr>
          <a:xfrm>
            <a:off x="8595360" y="3520440"/>
            <a:ext cx="3017520" cy="1005840"/>
          </a:xfrm>
          <a:prstGeom prst="rect">
            <a:avLst/>
          </a:prstGeom>
          <a:noFill/>
          <a:ln/>
        </p:spPr>
        <p:txBody>
          <a:bodyPr wrap="square" lIns="0" tIns="0" rIns="0" bIns="0" rtlCol="0" anchor="ctr"/>
          <a:lstStyle/>
          <a:p>
            <a:pPr marL="0" indent="0" algn="ctr">
              <a:buNone/>
            </a:pPr>
            <a:r>
              <a:rPr lang="en-US" sz="2400" b="1" dirty="0">
                <a:solidFill>
                  <a:schemeClr val="bg1"/>
                </a:solidFill>
              </a:rPr>
              <a:t>Yüksek</a:t>
            </a:r>
            <a:endParaRPr lang="en-US" sz="2400" dirty="0"/>
          </a:p>
          <a:p>
            <a:pPr marL="0" indent="0" algn="ctr">
              <a:buNone/>
            </a:pPr>
            <a:r>
              <a:rPr lang="en-US" sz="1800" dirty="0">
                <a:solidFill>
                  <a:schemeClr val="bg1"/>
                </a:solidFill>
              </a:rPr>
              <a:t>8–10 puan</a:t>
            </a:r>
            <a:endParaRPr lang="en-US" sz="2400" dirty="0"/>
          </a:p>
        </p:txBody>
      </p:sp>
      <p:sp>
        <p:nvSpPr>
          <p:cNvPr id="24" name="Text 21"/>
          <p:cNvSpPr txBox="1"/>
          <p:nvPr/>
        </p:nvSpPr>
        <p:spPr>
          <a:xfrm>
            <a:off x="548640" y="4800600"/>
            <a:ext cx="11064240" cy="502920"/>
          </a:xfrm>
          <a:prstGeom prst="rect">
            <a:avLst/>
          </a:prstGeom>
          <a:noFill/>
          <a:ln/>
        </p:spPr>
        <p:txBody>
          <a:bodyPr wrap="square" lIns="0" tIns="0" rIns="0" bIns="0" rtlCol="0" anchor="ctr"/>
          <a:lstStyle/>
          <a:p>
            <a:pPr marL="0" indent="0">
              <a:buNone/>
            </a:pPr>
            <a:r>
              <a:rPr lang="en-US" sz="2000" dirty="0">
                <a:solidFill>
                  <a:schemeClr val="accent3"/>
                </a:solidFill>
              </a:rPr>
              <a:t>6 soru, 0–10 puan  •  Türkçe geçerlik ve güvenilirlik: Uysal ve ark., 2004</a:t>
            </a:r>
            <a:endParaRPr lang="en-US" sz="2000" dirty="0"/>
          </a:p>
        </p:txBody>
      </p:sp>
      <p:sp>
        <p:nvSpPr>
          <p:cNvPr id="25"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1, 6, 7</a:t>
            </a:r>
            <a:endParaRPr lang="en-US" sz="1200" dirty="0"/>
          </a:p>
        </p:txBody>
      </p:sp>
      <p:sp>
        <p:nvSpPr>
          <p:cNvPr id="2"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Tedavi yaklaşımı</a:t>
            </a:r>
            <a:endParaRPr lang="en-US" sz="3600" dirty="0"/>
          </a:p>
        </p:txBody>
      </p:sp>
      <p:sp>
        <p:nvSpPr>
          <p:cNvPr id="4" name="Kart"/>
          <p:cNvSpPr/>
          <p:nvPr/>
        </p:nvSpPr>
        <p:spPr>
          <a:xfrm>
            <a:off x="548640" y="1417320"/>
            <a:ext cx="3566160" cy="3063240"/>
          </a:xfrm>
          <a:prstGeom prst="roundRect">
            <a:avLst>
              <a:gd name="adj" fmla="val 3582"/>
            </a:avLst>
          </a:prstGeom>
          <a:solidFill>
            <a:schemeClr val="bg2"/>
          </a:solidFill>
          <a:ln w="12700">
            <a:solidFill>
              <a:schemeClr val="bg2"/>
            </a:solidFill>
            <a:prstDash val="solid"/>
          </a:ln>
        </p:spPr>
      </p:sp>
      <p:sp>
        <p:nvSpPr>
          <p:cNvPr id="5" name="Ikon zemini"/>
          <p:cNvSpPr/>
          <p:nvPr/>
        </p:nvSpPr>
        <p:spPr>
          <a:xfrm>
            <a:off x="1783080" y="1645920"/>
            <a:ext cx="1097280" cy="1097280"/>
          </a:xfrm>
          <a:prstGeom prst="ellipse">
            <a:avLst/>
          </a:prstGeom>
          <a:solidFill>
            <a:schemeClr val="accent3"/>
          </a:solidFill>
          <a:ln w="12700">
            <a:solidFill>
              <a:schemeClr val="accent3"/>
            </a:solidFill>
            <a:prstDash val="solid"/>
          </a:ln>
        </p:spPr>
      </p:sp>
      <p:pic>
        <p:nvPicPr>
          <p:cNvPr id="6" name="Ikon" descr="FaComments"/>
          <p:cNvPicPr>
            <a:picLocks noChangeAspect="1"/>
          </p:cNvPicPr>
          <p:nvPr/>
        </p:nvPicPr>
        <p:blipFill>
          <a:blip r:embed="rId3"/>
          <a:stretch>
            <a:fillRect/>
          </a:stretch>
        </p:blipFill>
        <p:spPr>
          <a:xfrm>
            <a:off x="2068373" y="1931213"/>
            <a:ext cx="526694" cy="526694"/>
          </a:xfrm>
          <a:prstGeom prst="rect">
            <a:avLst/>
          </a:prstGeom>
        </p:spPr>
      </p:pic>
      <p:sp>
        <p:nvSpPr>
          <p:cNvPr id="7" name="Text 3"/>
          <p:cNvSpPr txBox="1"/>
          <p:nvPr/>
        </p:nvSpPr>
        <p:spPr>
          <a:xfrm>
            <a:off x="731520" y="2834640"/>
            <a:ext cx="3200400" cy="548640"/>
          </a:xfrm>
          <a:prstGeom prst="rect">
            <a:avLst/>
          </a:prstGeom>
          <a:noFill/>
          <a:ln/>
        </p:spPr>
        <p:txBody>
          <a:bodyPr wrap="square" lIns="0" tIns="0" rIns="0" bIns="0" rtlCol="0" anchor="ctr"/>
          <a:lstStyle/>
          <a:p>
            <a:pPr marL="0" indent="0" algn="ctr">
              <a:buNone/>
            </a:pPr>
            <a:r>
              <a:rPr lang="en-US" sz="2800" b="1" dirty="0">
                <a:solidFill>
                  <a:schemeClr val="accent3"/>
                </a:solidFill>
              </a:rPr>
              <a:t>Davranışsal</a:t>
            </a:r>
            <a:endParaRPr lang="en-US" sz="2800" dirty="0"/>
          </a:p>
        </p:txBody>
      </p:sp>
      <p:sp>
        <p:nvSpPr>
          <p:cNvPr id="8" name="Text 4"/>
          <p:cNvSpPr txBox="1"/>
          <p:nvPr/>
        </p:nvSpPr>
        <p:spPr>
          <a:xfrm>
            <a:off x="822960" y="3383280"/>
            <a:ext cx="3017520" cy="1005840"/>
          </a:xfrm>
          <a:prstGeom prst="rect">
            <a:avLst/>
          </a:prstGeom>
          <a:noFill/>
          <a:ln/>
        </p:spPr>
        <p:txBody>
          <a:bodyPr wrap="square" lIns="0" tIns="0" rIns="0" bIns="0" rtlCol="0" anchor="t"/>
          <a:lstStyle/>
          <a:p>
            <a:pPr marL="0" indent="0" algn="ctr">
              <a:buNone/>
            </a:pPr>
            <a:r>
              <a:rPr lang="en-US" sz="2000" dirty="0">
                <a:solidFill>
                  <a:schemeClr val="accent1"/>
                </a:solidFill>
              </a:rPr>
              <a:t>Yalnızca danışmanlık</a:t>
            </a:r>
            <a:endParaRPr lang="en-US" sz="2000" dirty="0"/>
          </a:p>
        </p:txBody>
      </p:sp>
      <p:sp>
        <p:nvSpPr>
          <p:cNvPr id="9" name="Kart"/>
          <p:cNvSpPr/>
          <p:nvPr/>
        </p:nvSpPr>
        <p:spPr>
          <a:xfrm>
            <a:off x="4297680" y="1417320"/>
            <a:ext cx="3566160" cy="3063240"/>
          </a:xfrm>
          <a:prstGeom prst="roundRect">
            <a:avLst>
              <a:gd name="adj" fmla="val 3582"/>
            </a:avLst>
          </a:prstGeom>
          <a:solidFill>
            <a:schemeClr val="bg2"/>
          </a:solidFill>
          <a:ln w="12700">
            <a:solidFill>
              <a:schemeClr val="bg2"/>
            </a:solidFill>
            <a:prstDash val="solid"/>
          </a:ln>
        </p:spPr>
      </p:sp>
      <p:sp>
        <p:nvSpPr>
          <p:cNvPr id="10" name="Ikon zemini"/>
          <p:cNvSpPr/>
          <p:nvPr/>
        </p:nvSpPr>
        <p:spPr>
          <a:xfrm>
            <a:off x="5532120" y="1645920"/>
            <a:ext cx="1097280" cy="1097280"/>
          </a:xfrm>
          <a:prstGeom prst="ellipse">
            <a:avLst/>
          </a:prstGeom>
          <a:solidFill>
            <a:schemeClr val="accent2"/>
          </a:solidFill>
          <a:ln w="12700">
            <a:solidFill>
              <a:schemeClr val="accent2"/>
            </a:solidFill>
            <a:prstDash val="solid"/>
          </a:ln>
        </p:spPr>
      </p:sp>
      <p:pic>
        <p:nvPicPr>
          <p:cNvPr id="11" name="Ikon" descr="FaPills"/>
          <p:cNvPicPr>
            <a:picLocks noChangeAspect="1"/>
          </p:cNvPicPr>
          <p:nvPr/>
        </p:nvPicPr>
        <p:blipFill>
          <a:blip r:embed="rId4"/>
          <a:stretch>
            <a:fillRect/>
          </a:stretch>
        </p:blipFill>
        <p:spPr>
          <a:xfrm>
            <a:off x="5817413" y="1931213"/>
            <a:ext cx="526694" cy="526694"/>
          </a:xfrm>
          <a:prstGeom prst="rect">
            <a:avLst/>
          </a:prstGeom>
        </p:spPr>
      </p:pic>
      <p:sp>
        <p:nvSpPr>
          <p:cNvPr id="12" name="Text 7"/>
          <p:cNvSpPr txBox="1"/>
          <p:nvPr/>
        </p:nvSpPr>
        <p:spPr>
          <a:xfrm>
            <a:off x="4480560" y="2834640"/>
            <a:ext cx="3200400" cy="548640"/>
          </a:xfrm>
          <a:prstGeom prst="rect">
            <a:avLst/>
          </a:prstGeom>
          <a:noFill/>
          <a:ln/>
        </p:spPr>
        <p:txBody>
          <a:bodyPr wrap="square" lIns="0" tIns="0" rIns="0" bIns="0" rtlCol="0" anchor="ctr"/>
          <a:lstStyle/>
          <a:p>
            <a:pPr marL="0" indent="0" algn="ctr">
              <a:buNone/>
            </a:pPr>
            <a:r>
              <a:rPr lang="en-US" sz="2800" b="1" dirty="0">
                <a:solidFill>
                  <a:schemeClr val="accent2"/>
                </a:solidFill>
              </a:rPr>
              <a:t>Monoterapi</a:t>
            </a:r>
            <a:endParaRPr lang="en-US" sz="2800" dirty="0"/>
          </a:p>
        </p:txBody>
      </p:sp>
      <p:sp>
        <p:nvSpPr>
          <p:cNvPr id="13" name="Text 8"/>
          <p:cNvSpPr txBox="1"/>
          <p:nvPr/>
        </p:nvSpPr>
        <p:spPr>
          <a:xfrm>
            <a:off x="4572000" y="3383280"/>
            <a:ext cx="3017520" cy="1005840"/>
          </a:xfrm>
          <a:prstGeom prst="rect">
            <a:avLst/>
          </a:prstGeom>
          <a:noFill/>
          <a:ln/>
        </p:spPr>
        <p:txBody>
          <a:bodyPr wrap="square" lIns="0" tIns="0" rIns="0" bIns="0" rtlCol="0" anchor="t"/>
          <a:lstStyle/>
          <a:p>
            <a:pPr marL="0" indent="0" algn="ctr">
              <a:buNone/>
            </a:pPr>
            <a:r>
              <a:rPr lang="en-US" sz="2000" dirty="0">
                <a:solidFill>
                  <a:schemeClr val="accent1"/>
                </a:solidFill>
              </a:rPr>
              <a:t>Vareniklin, bupropion, sitizin veya NRT</a:t>
            </a:r>
            <a:endParaRPr lang="en-US" sz="2000" dirty="0"/>
          </a:p>
        </p:txBody>
      </p:sp>
      <p:sp>
        <p:nvSpPr>
          <p:cNvPr id="14" name="Kart"/>
          <p:cNvSpPr/>
          <p:nvPr/>
        </p:nvSpPr>
        <p:spPr>
          <a:xfrm>
            <a:off x="8046720" y="1417320"/>
            <a:ext cx="3566160" cy="3063240"/>
          </a:xfrm>
          <a:prstGeom prst="roundRect">
            <a:avLst>
              <a:gd name="adj" fmla="val 3582"/>
            </a:avLst>
          </a:prstGeom>
          <a:solidFill>
            <a:schemeClr val="bg2"/>
          </a:solidFill>
          <a:ln w="12700">
            <a:solidFill>
              <a:schemeClr val="bg2"/>
            </a:solidFill>
            <a:prstDash val="solid"/>
          </a:ln>
        </p:spPr>
      </p:sp>
      <p:sp>
        <p:nvSpPr>
          <p:cNvPr id="15" name="Ikon zemini"/>
          <p:cNvSpPr/>
          <p:nvPr/>
        </p:nvSpPr>
        <p:spPr>
          <a:xfrm>
            <a:off x="9281160" y="1645920"/>
            <a:ext cx="1097280" cy="1097280"/>
          </a:xfrm>
          <a:prstGeom prst="ellipse">
            <a:avLst/>
          </a:prstGeom>
          <a:solidFill>
            <a:schemeClr val="accent1"/>
          </a:solidFill>
          <a:ln w="12700">
            <a:solidFill>
              <a:schemeClr val="accent1"/>
            </a:solidFill>
            <a:prstDash val="solid"/>
          </a:ln>
        </p:spPr>
      </p:sp>
      <p:pic>
        <p:nvPicPr>
          <p:cNvPr id="16" name="Ikon" descr="FaExchangeAlt"/>
          <p:cNvPicPr>
            <a:picLocks noChangeAspect="1"/>
          </p:cNvPicPr>
          <p:nvPr/>
        </p:nvPicPr>
        <p:blipFill>
          <a:blip r:embed="rId5"/>
          <a:stretch>
            <a:fillRect/>
          </a:stretch>
        </p:blipFill>
        <p:spPr>
          <a:xfrm>
            <a:off x="9566453" y="1931213"/>
            <a:ext cx="526694" cy="526694"/>
          </a:xfrm>
          <a:prstGeom prst="rect">
            <a:avLst/>
          </a:prstGeom>
        </p:spPr>
      </p:pic>
      <p:sp>
        <p:nvSpPr>
          <p:cNvPr id="17" name="Text 11"/>
          <p:cNvSpPr txBox="1"/>
          <p:nvPr/>
        </p:nvSpPr>
        <p:spPr>
          <a:xfrm>
            <a:off x="8229600" y="2834640"/>
            <a:ext cx="3200400" cy="548640"/>
          </a:xfrm>
          <a:prstGeom prst="rect">
            <a:avLst/>
          </a:prstGeom>
          <a:noFill/>
          <a:ln/>
        </p:spPr>
        <p:txBody>
          <a:bodyPr wrap="square" lIns="0" tIns="0" rIns="0" bIns="0" rtlCol="0" anchor="ctr"/>
          <a:lstStyle/>
          <a:p>
            <a:pPr marL="0" indent="0" algn="ctr">
              <a:buNone/>
            </a:pPr>
            <a:r>
              <a:rPr lang="en-US" sz="2800" b="1" dirty="0">
                <a:solidFill>
                  <a:schemeClr val="accent1"/>
                </a:solidFill>
              </a:rPr>
              <a:t>Kombine</a:t>
            </a:r>
            <a:endParaRPr lang="en-US" sz="2800" dirty="0"/>
          </a:p>
        </p:txBody>
      </p:sp>
      <p:sp>
        <p:nvSpPr>
          <p:cNvPr id="18" name="Text 12"/>
          <p:cNvSpPr txBox="1"/>
          <p:nvPr/>
        </p:nvSpPr>
        <p:spPr>
          <a:xfrm>
            <a:off x="8321040" y="3383280"/>
            <a:ext cx="3017520" cy="1005840"/>
          </a:xfrm>
          <a:prstGeom prst="rect">
            <a:avLst/>
          </a:prstGeom>
          <a:noFill/>
          <a:ln/>
        </p:spPr>
        <p:txBody>
          <a:bodyPr wrap="square" lIns="0" tIns="0" rIns="0" bIns="0" rtlCol="0" anchor="t"/>
          <a:lstStyle/>
          <a:p>
            <a:pPr marL="0" indent="0" algn="ctr">
              <a:buNone/>
            </a:pPr>
            <a:r>
              <a:rPr lang="en-US" sz="2000" dirty="0">
                <a:solidFill>
                  <a:schemeClr val="accent1"/>
                </a:solidFill>
              </a:rPr>
              <a:t>Bupropion, vareniklin veya sitizin + NRT; üçlü</a:t>
            </a:r>
            <a:endParaRPr lang="en-US" sz="2000" dirty="0"/>
          </a:p>
        </p:txBody>
      </p:sp>
      <p:sp>
        <p:nvSpPr>
          <p:cNvPr id="19" name="Text 13"/>
          <p:cNvSpPr txBox="1"/>
          <p:nvPr/>
        </p:nvSpPr>
        <p:spPr>
          <a:xfrm>
            <a:off x="548640" y="4709160"/>
            <a:ext cx="11064240" cy="1234440"/>
          </a:xfrm>
          <a:prstGeom prst="rect">
            <a:avLst/>
          </a:prstGeom>
          <a:noFill/>
          <a:ln/>
        </p:spPr>
        <p:txBody>
          <a:bodyPr wrap="square" lIns="0" tIns="0" rIns="0" bIns="0" rtlCol="0" anchor="ctr"/>
          <a:lstStyle/>
          <a:p>
            <a:pPr marL="279400" indent="-279400" algn="just">
              <a:spcAft>
                <a:spcPts val="1000"/>
              </a:spcAft>
              <a:buSzPct val="100000"/>
              <a:buChar char="•"/>
            </a:pPr>
            <a:r>
              <a:rPr lang="en-US" sz="2200" dirty="0">
                <a:solidFill>
                  <a:schemeClr val="accent1"/>
                </a:solidFill>
              </a:rPr>
              <a:t>Bireyselleştirme: FNBT, komorbidite, kontrendikasyon, uyum</a:t>
            </a:r>
            <a:endParaRPr lang="en-US" sz="2200" dirty="0"/>
          </a:p>
          <a:p>
            <a:pPr marL="279400" indent="-279400" algn="just">
              <a:spcAft>
                <a:spcPts val="1000"/>
              </a:spcAft>
              <a:buSzPct val="100000"/>
              <a:buChar char="•"/>
            </a:pPr>
            <a:r>
              <a:rPr lang="en-US" sz="2200" dirty="0">
                <a:solidFill>
                  <a:schemeClr val="accent1"/>
                </a:solidFill>
              </a:rPr>
              <a:t>NRT ve sitizin dönemsel olarak ücretsiz sağlanmıştır</a:t>
            </a:r>
            <a:endParaRPr lang="en-US" sz="2200" dirty="0"/>
          </a:p>
        </p:txBody>
      </p:sp>
      <p:sp>
        <p:nvSpPr>
          <p:cNvPr id="20"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İstatistiksel analiz</a:t>
            </a:r>
            <a:endParaRPr lang="en-US" sz="3600" dirty="0"/>
          </a:p>
        </p:txBody>
      </p:sp>
      <p:graphicFrame>
        <p:nvGraphicFramePr>
          <p:cNvPr id="12" name="İstatistik tablosu"/>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224528"/>
        </p:xfrm>
        <a:graphic>
          <a:graphicData uri="http://schemas.openxmlformats.org/drawingml/2006/table">
            <a:tbl>
              <a:tblPr/>
              <a:tblGrid>
                <a:gridCol w="402336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603504">
                <a:tc>
                  <a:txBody>
                    <a:bodyPr/>
                    <a:lstStyle/>
                    <a:p>
                      <a:pPr marL="0" indent="0">
                        <a:buNone/>
                      </a:pPr>
                      <a:r>
                        <a:rPr lang="en-US" sz="2200" b="1" dirty="0">
                          <a:solidFill>
                            <a:schemeClr val="bg1"/>
                          </a:solidFill>
                        </a:rPr>
                        <a:t>Amaç</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accent1"/>
                    </a:solidFill>
                  </a:tcPr>
                </a:tc>
                <a:tc>
                  <a:txBody>
                    <a:bodyPr/>
                    <a:lstStyle/>
                    <a:p>
                      <a:pPr marL="0" indent="0">
                        <a:buNone/>
                      </a:pPr>
                      <a:r>
                        <a:rPr lang="en-US" sz="2200" b="1" dirty="0">
                          <a:solidFill>
                            <a:schemeClr val="bg1"/>
                          </a:solidFill>
                        </a:rPr>
                        <a:t>Yöntem</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03504">
                <a:tc>
                  <a:txBody>
                    <a:bodyPr/>
                    <a:lstStyle/>
                    <a:p>
                      <a:pPr marL="0" indent="0">
                        <a:buNone/>
                      </a:pPr>
                      <a:r>
                        <a:rPr lang="en-US" sz="2200" b="1" dirty="0">
                          <a:solidFill>
                            <a:schemeClr val="accent1"/>
                          </a:solidFill>
                        </a:rPr>
                        <a:t>Normallik</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2"/>
                    </a:solidFill>
                  </a:tcPr>
                </a:tc>
                <a:tc>
                  <a:txBody>
                    <a:bodyPr/>
                    <a:lstStyle/>
                    <a:p>
                      <a:pPr marL="0" indent="0">
                        <a:buNone/>
                      </a:pPr>
                      <a:r>
                        <a:rPr lang="en-US" sz="2200" dirty="0">
                          <a:solidFill>
                            <a:schemeClr val="accent1"/>
                          </a:solidFill>
                        </a:rPr>
                        <a:t>Histogram, Kolmogorov–Smirnov</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2200" b="1" dirty="0">
                          <a:solidFill>
                            <a:schemeClr val="accent1"/>
                          </a:solidFill>
                        </a:rPr>
                        <a:t>Kategorik değişkenler</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1"/>
                    </a:solidFill>
                  </a:tcPr>
                </a:tc>
                <a:tc>
                  <a:txBody>
                    <a:bodyPr/>
                    <a:lstStyle/>
                    <a:p>
                      <a:pPr marL="0" indent="0">
                        <a:buNone/>
                      </a:pPr>
                      <a:r>
                        <a:rPr lang="en-US" sz="2200" dirty="0">
                          <a:solidFill>
                            <a:schemeClr val="accent1"/>
                          </a:solidFill>
                        </a:rPr>
                        <a:t>Ki-kare testi</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2200" b="1" dirty="0">
                          <a:solidFill>
                            <a:schemeClr val="accent1"/>
                          </a:solidFill>
                        </a:rPr>
                        <a:t>İki grup (sürekli)</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2"/>
                    </a:solidFill>
                  </a:tcPr>
                </a:tc>
                <a:tc>
                  <a:txBody>
                    <a:bodyPr/>
                    <a:lstStyle/>
                    <a:p>
                      <a:pPr marL="0" indent="0">
                        <a:buNone/>
                      </a:pPr>
                      <a:r>
                        <a:rPr lang="en-US" sz="2200" dirty="0">
                          <a:solidFill>
                            <a:schemeClr val="accent1"/>
                          </a:solidFill>
                        </a:rPr>
                        <a:t>Mann–Whitney U testi</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2200" b="1" dirty="0">
                          <a:solidFill>
                            <a:schemeClr val="accent1"/>
                          </a:solidFill>
                        </a:rPr>
                        <a:t>İkiden fazla grup</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1"/>
                    </a:solidFill>
                  </a:tcPr>
                </a:tc>
                <a:tc>
                  <a:txBody>
                    <a:bodyPr/>
                    <a:lstStyle/>
                    <a:p>
                      <a:pPr marL="0" indent="0">
                        <a:buNone/>
                      </a:pPr>
                      <a:r>
                        <a:rPr lang="en-US" sz="2200" dirty="0">
                          <a:solidFill>
                            <a:schemeClr val="accent1"/>
                          </a:solidFill>
                        </a:rPr>
                        <a:t>Kruskal–Wallis; post-hoc Duncan</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2200" b="1" dirty="0">
                          <a:solidFill>
                            <a:schemeClr val="accent1"/>
                          </a:solidFill>
                        </a:rPr>
                        <a:t>Tedavinin etkisi</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2"/>
                    </a:solidFill>
                  </a:tcPr>
                </a:tc>
                <a:tc>
                  <a:txBody>
                    <a:bodyPr/>
                    <a:lstStyle/>
                    <a:p>
                      <a:pPr marL="0" indent="0">
                        <a:buNone/>
                      </a:pPr>
                      <a:r>
                        <a:rPr lang="en-US" sz="2200" dirty="0">
                          <a:solidFill>
                            <a:schemeClr val="accent1"/>
                          </a:solidFill>
                        </a:rPr>
                        <a:t>İkili lojistik regresyon</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buNone/>
                      </a:pPr>
                      <a:r>
                        <a:rPr lang="en-US" sz="2200" b="1" dirty="0">
                          <a:solidFill>
                            <a:schemeClr val="accent1"/>
                          </a:solidFill>
                        </a:rPr>
                        <a:t>Anlamlılık</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1"/>
                    </a:solidFill>
                  </a:tcPr>
                </a:tc>
                <a:tc>
                  <a:txBody>
                    <a:bodyPr/>
                    <a:lstStyle/>
                    <a:p>
                      <a:pPr marL="0" indent="0">
                        <a:buNone/>
                      </a:pPr>
                      <a:r>
                        <a:rPr lang="en-US" sz="2200" dirty="0">
                          <a:solidFill>
                            <a:schemeClr val="accent1"/>
                          </a:solidFill>
                        </a:rPr>
                        <a:t>p&lt;0,05; Bonferroni düzeltmesi</a:t>
                      </a:r>
                      <a:endParaRPr lang="en-US" sz="2200" dirty="0"/>
                    </a:p>
                  </a:txBody>
                  <a:tcPr marL="137160" marR="137160" anchor="ctr">
                    <a:lnL w="12700" cap="flat" cmpd="sng" algn="ctr">
                      <a:solidFill>
                        <a:srgbClr val="C9DCDF"/>
                      </a:solidFill>
                      <a:prstDash val="solid"/>
                      <a:round/>
                      <a:headEnd type="none" w="med" len="med"/>
                      <a:tailEnd type="none" w="med" len="med"/>
                    </a:lnL>
                    <a:lnR w="12700" cap="flat" cmpd="sng" algn="ctr">
                      <a:solidFill>
                        <a:srgbClr val="C9DCDF"/>
                      </a:solidFill>
                      <a:prstDash val="solid"/>
                      <a:round/>
                      <a:headEnd type="none" w="med" len="med"/>
                      <a:tailEnd type="none" w="med" len="med"/>
                    </a:lnR>
                    <a:lnT w="12700" cap="flat" cmpd="sng" algn="ctr">
                      <a:solidFill>
                        <a:srgbClr val="C9DCDF"/>
                      </a:solidFill>
                      <a:prstDash val="solid"/>
                      <a:round/>
                      <a:headEnd type="none" w="med" len="med"/>
                      <a:tailEnd type="none" w="med" len="med"/>
                    </a:lnT>
                    <a:lnB w="12700" cap="flat" cmpd="sng" algn="ctr">
                      <a:solidFill>
                        <a:srgbClr val="C9DCD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Katılımcıların genel özellikleri</a:t>
            </a:r>
            <a:endParaRPr lang="en-US" sz="3600" dirty="0"/>
          </a:p>
        </p:txBody>
      </p:sp>
      <p:sp>
        <p:nvSpPr>
          <p:cNvPr id="4" name="Kart"/>
          <p:cNvSpPr/>
          <p:nvPr/>
        </p:nvSpPr>
        <p:spPr>
          <a:xfrm>
            <a:off x="548640" y="1417320"/>
            <a:ext cx="3566160" cy="2011680"/>
          </a:xfrm>
          <a:prstGeom prst="roundRect">
            <a:avLst>
              <a:gd name="adj" fmla="val 5455"/>
            </a:avLst>
          </a:prstGeom>
          <a:solidFill>
            <a:schemeClr val="bg2"/>
          </a:solidFill>
          <a:ln w="12700">
            <a:solidFill>
              <a:schemeClr val="bg2"/>
            </a:solidFill>
            <a:prstDash val="solid"/>
          </a:ln>
        </p:spPr>
      </p:sp>
      <p:sp>
        <p:nvSpPr>
          <p:cNvPr id="5" name="Text 2"/>
          <p:cNvSpPr txBox="1"/>
          <p:nvPr/>
        </p:nvSpPr>
        <p:spPr>
          <a:xfrm>
            <a:off x="548640" y="1645920"/>
            <a:ext cx="3566160" cy="1005840"/>
          </a:xfrm>
          <a:prstGeom prst="rect">
            <a:avLst/>
          </a:prstGeom>
          <a:noFill/>
          <a:ln/>
        </p:spPr>
        <p:txBody>
          <a:bodyPr wrap="square" lIns="0" tIns="0" rIns="0" bIns="0" rtlCol="0" anchor="ctr"/>
          <a:lstStyle/>
          <a:p>
            <a:pPr marL="0" indent="0" algn="ctr">
              <a:buNone/>
            </a:pPr>
            <a:r>
              <a:rPr lang="en-US" sz="3600" b="1" dirty="0">
                <a:solidFill>
                  <a:schemeClr val="accent1"/>
                </a:solidFill>
              </a:rPr>
              <a:t>399</a:t>
            </a:r>
            <a:endParaRPr lang="en-US" sz="3600" dirty="0"/>
          </a:p>
        </p:txBody>
      </p:sp>
      <p:sp>
        <p:nvSpPr>
          <p:cNvPr id="6" name="Text 3"/>
          <p:cNvSpPr txBox="1"/>
          <p:nvPr/>
        </p:nvSpPr>
        <p:spPr>
          <a:xfrm>
            <a:off x="548640" y="2651760"/>
            <a:ext cx="3566160" cy="548640"/>
          </a:xfrm>
          <a:prstGeom prst="rect">
            <a:avLst/>
          </a:prstGeom>
          <a:noFill/>
          <a:ln/>
        </p:spPr>
        <p:txBody>
          <a:bodyPr wrap="square" lIns="0" tIns="0" rIns="0" bIns="0" rtlCol="0" anchor="ctr"/>
          <a:lstStyle/>
          <a:p>
            <a:pPr marL="0" indent="0" algn="ctr">
              <a:buNone/>
            </a:pPr>
            <a:r>
              <a:rPr lang="en-US" sz="2200" dirty="0">
                <a:solidFill>
                  <a:schemeClr val="accent1"/>
                </a:solidFill>
              </a:rPr>
              <a:t>hasta</a:t>
            </a:r>
            <a:endParaRPr lang="en-US" sz="2200" dirty="0"/>
          </a:p>
        </p:txBody>
      </p:sp>
      <p:sp>
        <p:nvSpPr>
          <p:cNvPr id="7" name="Kart"/>
          <p:cNvSpPr/>
          <p:nvPr/>
        </p:nvSpPr>
        <p:spPr>
          <a:xfrm>
            <a:off x="4297680" y="1417320"/>
            <a:ext cx="3566160" cy="2011680"/>
          </a:xfrm>
          <a:prstGeom prst="roundRect">
            <a:avLst>
              <a:gd name="adj" fmla="val 5455"/>
            </a:avLst>
          </a:prstGeom>
          <a:solidFill>
            <a:schemeClr val="bg2"/>
          </a:solidFill>
          <a:ln w="12700">
            <a:solidFill>
              <a:schemeClr val="bg2"/>
            </a:solidFill>
            <a:prstDash val="solid"/>
          </a:ln>
        </p:spPr>
      </p:sp>
      <p:sp>
        <p:nvSpPr>
          <p:cNvPr id="8" name="Text 5"/>
          <p:cNvSpPr txBox="1"/>
          <p:nvPr/>
        </p:nvSpPr>
        <p:spPr>
          <a:xfrm>
            <a:off x="4297680" y="1645920"/>
            <a:ext cx="3566160" cy="1005840"/>
          </a:xfrm>
          <a:prstGeom prst="rect">
            <a:avLst/>
          </a:prstGeom>
          <a:noFill/>
          <a:ln/>
        </p:spPr>
        <p:txBody>
          <a:bodyPr wrap="square" lIns="0" tIns="0" rIns="0" bIns="0" rtlCol="0" anchor="ctr"/>
          <a:lstStyle/>
          <a:p>
            <a:pPr marL="0" indent="0" algn="ctr">
              <a:buNone/>
            </a:pPr>
            <a:r>
              <a:rPr lang="en-US" sz="3600" b="1" dirty="0">
                <a:solidFill>
                  <a:schemeClr val="accent2"/>
                </a:solidFill>
              </a:rPr>
              <a:t>44,7 ± 12,1</a:t>
            </a:r>
            <a:endParaRPr lang="en-US" sz="3600" dirty="0"/>
          </a:p>
        </p:txBody>
      </p:sp>
      <p:sp>
        <p:nvSpPr>
          <p:cNvPr id="9" name="Text 6"/>
          <p:cNvSpPr txBox="1"/>
          <p:nvPr/>
        </p:nvSpPr>
        <p:spPr>
          <a:xfrm>
            <a:off x="4297680" y="2651760"/>
            <a:ext cx="3566160" cy="548640"/>
          </a:xfrm>
          <a:prstGeom prst="rect">
            <a:avLst/>
          </a:prstGeom>
          <a:noFill/>
          <a:ln/>
        </p:spPr>
        <p:txBody>
          <a:bodyPr wrap="square" lIns="0" tIns="0" rIns="0" bIns="0" rtlCol="0" anchor="ctr"/>
          <a:lstStyle/>
          <a:p>
            <a:pPr marL="0" indent="0" algn="ctr">
              <a:buNone/>
            </a:pPr>
            <a:r>
              <a:rPr lang="en-US" sz="2200" dirty="0">
                <a:solidFill>
                  <a:schemeClr val="accent1"/>
                </a:solidFill>
              </a:rPr>
              <a:t>yaş ortalaması (yıl)</a:t>
            </a:r>
            <a:endParaRPr lang="en-US" sz="2200" dirty="0"/>
          </a:p>
        </p:txBody>
      </p:sp>
      <p:sp>
        <p:nvSpPr>
          <p:cNvPr id="10" name="Kart"/>
          <p:cNvSpPr/>
          <p:nvPr/>
        </p:nvSpPr>
        <p:spPr>
          <a:xfrm>
            <a:off x="8046720" y="1417320"/>
            <a:ext cx="3566160" cy="2011680"/>
          </a:xfrm>
          <a:prstGeom prst="roundRect">
            <a:avLst>
              <a:gd name="adj" fmla="val 5455"/>
            </a:avLst>
          </a:prstGeom>
          <a:solidFill>
            <a:schemeClr val="bg2"/>
          </a:solidFill>
          <a:ln w="12700">
            <a:solidFill>
              <a:schemeClr val="bg2"/>
            </a:solidFill>
            <a:prstDash val="solid"/>
          </a:ln>
        </p:spPr>
      </p:sp>
      <p:sp>
        <p:nvSpPr>
          <p:cNvPr id="11" name="Text 8"/>
          <p:cNvSpPr txBox="1"/>
          <p:nvPr/>
        </p:nvSpPr>
        <p:spPr>
          <a:xfrm>
            <a:off x="8046720" y="1645920"/>
            <a:ext cx="3566160" cy="1005840"/>
          </a:xfrm>
          <a:prstGeom prst="rect">
            <a:avLst/>
          </a:prstGeom>
          <a:noFill/>
          <a:ln/>
        </p:spPr>
        <p:txBody>
          <a:bodyPr wrap="square" lIns="0" tIns="0" rIns="0" bIns="0" rtlCol="0" anchor="ctr"/>
          <a:lstStyle/>
          <a:p>
            <a:pPr marL="0" indent="0" algn="ctr">
              <a:buNone/>
            </a:pPr>
            <a:r>
              <a:rPr lang="en-US" sz="3600" b="1" dirty="0">
                <a:solidFill>
                  <a:schemeClr val="accent1"/>
                </a:solidFill>
              </a:rPr>
              <a:t>%63,7</a:t>
            </a:r>
            <a:endParaRPr lang="en-US" sz="3600" dirty="0"/>
          </a:p>
        </p:txBody>
      </p:sp>
      <p:sp>
        <p:nvSpPr>
          <p:cNvPr id="12" name="Text 9"/>
          <p:cNvSpPr txBox="1"/>
          <p:nvPr/>
        </p:nvSpPr>
        <p:spPr>
          <a:xfrm>
            <a:off x="8046720" y="2651760"/>
            <a:ext cx="3566160" cy="548640"/>
          </a:xfrm>
          <a:prstGeom prst="rect">
            <a:avLst/>
          </a:prstGeom>
          <a:noFill/>
          <a:ln/>
        </p:spPr>
        <p:txBody>
          <a:bodyPr wrap="square" lIns="0" tIns="0" rIns="0" bIns="0" rtlCol="0" anchor="ctr"/>
          <a:lstStyle/>
          <a:p>
            <a:pPr marL="0" indent="0" algn="ctr">
              <a:buNone/>
            </a:pPr>
            <a:r>
              <a:rPr lang="en-US" sz="2200" dirty="0">
                <a:solidFill>
                  <a:schemeClr val="accent1"/>
                </a:solidFill>
              </a:rPr>
              <a:t>erkek</a:t>
            </a:r>
            <a:endParaRPr lang="en-US" sz="2200" dirty="0"/>
          </a:p>
        </p:txBody>
      </p:sp>
      <p:sp>
        <p:nvSpPr>
          <p:cNvPr id="13" name="Kart"/>
          <p:cNvSpPr/>
          <p:nvPr/>
        </p:nvSpPr>
        <p:spPr>
          <a:xfrm>
            <a:off x="548640" y="3657600"/>
            <a:ext cx="3566160" cy="2011680"/>
          </a:xfrm>
          <a:prstGeom prst="roundRect">
            <a:avLst>
              <a:gd name="adj" fmla="val 5455"/>
            </a:avLst>
          </a:prstGeom>
          <a:solidFill>
            <a:schemeClr val="bg2"/>
          </a:solidFill>
          <a:ln w="12700">
            <a:solidFill>
              <a:schemeClr val="bg2"/>
            </a:solidFill>
            <a:prstDash val="solid"/>
          </a:ln>
        </p:spPr>
      </p:sp>
      <p:sp>
        <p:nvSpPr>
          <p:cNvPr id="14" name="Text 11"/>
          <p:cNvSpPr txBox="1"/>
          <p:nvPr/>
        </p:nvSpPr>
        <p:spPr>
          <a:xfrm>
            <a:off x="548640" y="3886200"/>
            <a:ext cx="3566160" cy="1005840"/>
          </a:xfrm>
          <a:prstGeom prst="rect">
            <a:avLst/>
          </a:prstGeom>
          <a:noFill/>
          <a:ln/>
        </p:spPr>
        <p:txBody>
          <a:bodyPr wrap="square" lIns="0" tIns="0" rIns="0" bIns="0" rtlCol="0" anchor="ctr"/>
          <a:lstStyle/>
          <a:p>
            <a:pPr marL="0" indent="0" algn="ctr">
              <a:buNone/>
            </a:pPr>
            <a:r>
              <a:rPr lang="en-US" sz="3600" b="1" dirty="0">
                <a:solidFill>
                  <a:schemeClr val="accent1"/>
                </a:solidFill>
              </a:rPr>
              <a:t>5,66 ± 2,43</a:t>
            </a:r>
            <a:endParaRPr lang="en-US" sz="3600" dirty="0"/>
          </a:p>
        </p:txBody>
      </p:sp>
      <p:sp>
        <p:nvSpPr>
          <p:cNvPr id="15" name="Text 12"/>
          <p:cNvSpPr txBox="1"/>
          <p:nvPr/>
        </p:nvSpPr>
        <p:spPr>
          <a:xfrm>
            <a:off x="548640" y="4892040"/>
            <a:ext cx="3566160" cy="548640"/>
          </a:xfrm>
          <a:prstGeom prst="rect">
            <a:avLst/>
          </a:prstGeom>
          <a:noFill/>
          <a:ln/>
        </p:spPr>
        <p:txBody>
          <a:bodyPr wrap="square" lIns="0" tIns="0" rIns="0" bIns="0" rtlCol="0" anchor="ctr"/>
          <a:lstStyle/>
          <a:p>
            <a:pPr marL="0" indent="0" algn="ctr">
              <a:buNone/>
            </a:pPr>
            <a:r>
              <a:rPr lang="en-US" sz="2200" dirty="0">
                <a:solidFill>
                  <a:schemeClr val="accent1"/>
                </a:solidFill>
              </a:rPr>
              <a:t>FNBT puanı</a:t>
            </a:r>
            <a:endParaRPr lang="en-US" sz="2200" dirty="0"/>
          </a:p>
        </p:txBody>
      </p:sp>
      <p:sp>
        <p:nvSpPr>
          <p:cNvPr id="16" name="Kart"/>
          <p:cNvSpPr/>
          <p:nvPr/>
        </p:nvSpPr>
        <p:spPr>
          <a:xfrm>
            <a:off x="4297680" y="3657600"/>
            <a:ext cx="3566160" cy="2011680"/>
          </a:xfrm>
          <a:prstGeom prst="roundRect">
            <a:avLst>
              <a:gd name="adj" fmla="val 5455"/>
            </a:avLst>
          </a:prstGeom>
          <a:solidFill>
            <a:schemeClr val="bg2"/>
          </a:solidFill>
          <a:ln w="12700">
            <a:solidFill>
              <a:schemeClr val="bg2"/>
            </a:solidFill>
            <a:prstDash val="solid"/>
          </a:ln>
        </p:spPr>
      </p:sp>
      <p:sp>
        <p:nvSpPr>
          <p:cNvPr id="17" name="Text 14"/>
          <p:cNvSpPr txBox="1"/>
          <p:nvPr/>
        </p:nvSpPr>
        <p:spPr>
          <a:xfrm>
            <a:off x="4297680" y="3886200"/>
            <a:ext cx="3566160" cy="1005840"/>
          </a:xfrm>
          <a:prstGeom prst="rect">
            <a:avLst/>
          </a:prstGeom>
          <a:noFill/>
          <a:ln/>
        </p:spPr>
        <p:txBody>
          <a:bodyPr wrap="square" lIns="0" tIns="0" rIns="0" bIns="0" rtlCol="0" anchor="ctr"/>
          <a:lstStyle/>
          <a:p>
            <a:pPr marL="0" indent="0" algn="ctr">
              <a:buNone/>
            </a:pPr>
            <a:r>
              <a:rPr lang="en-US" sz="3600" b="1" dirty="0">
                <a:solidFill>
                  <a:schemeClr val="accent2"/>
                </a:solidFill>
              </a:rPr>
              <a:t>27,4 ± 16,6</a:t>
            </a:r>
            <a:endParaRPr lang="en-US" sz="3600" dirty="0"/>
          </a:p>
        </p:txBody>
      </p:sp>
      <p:sp>
        <p:nvSpPr>
          <p:cNvPr id="18" name="Text 15"/>
          <p:cNvSpPr txBox="1"/>
          <p:nvPr/>
        </p:nvSpPr>
        <p:spPr>
          <a:xfrm>
            <a:off x="4297680" y="4892040"/>
            <a:ext cx="3566160" cy="548640"/>
          </a:xfrm>
          <a:prstGeom prst="rect">
            <a:avLst/>
          </a:prstGeom>
          <a:noFill/>
          <a:ln/>
        </p:spPr>
        <p:txBody>
          <a:bodyPr wrap="square" lIns="0" tIns="0" rIns="0" bIns="0" rtlCol="0" anchor="ctr"/>
          <a:lstStyle/>
          <a:p>
            <a:pPr marL="0" indent="0" algn="ctr">
              <a:buNone/>
            </a:pPr>
            <a:r>
              <a:rPr lang="en-US" sz="2200" dirty="0">
                <a:solidFill>
                  <a:schemeClr val="accent1"/>
                </a:solidFill>
              </a:rPr>
              <a:t>paket-yıl</a:t>
            </a:r>
            <a:endParaRPr lang="en-US" sz="2200" dirty="0"/>
          </a:p>
        </p:txBody>
      </p:sp>
      <p:sp>
        <p:nvSpPr>
          <p:cNvPr id="19" name="Kart"/>
          <p:cNvSpPr/>
          <p:nvPr/>
        </p:nvSpPr>
        <p:spPr>
          <a:xfrm>
            <a:off x="8046720" y="3657600"/>
            <a:ext cx="3566160" cy="2011680"/>
          </a:xfrm>
          <a:prstGeom prst="roundRect">
            <a:avLst>
              <a:gd name="adj" fmla="val 5455"/>
            </a:avLst>
          </a:prstGeom>
          <a:solidFill>
            <a:schemeClr val="accent1"/>
          </a:solidFill>
          <a:ln w="12700">
            <a:solidFill>
              <a:schemeClr val="accent1"/>
            </a:solidFill>
            <a:prstDash val="solid"/>
          </a:ln>
        </p:spPr>
      </p:sp>
      <p:sp>
        <p:nvSpPr>
          <p:cNvPr id="20" name="Text 17"/>
          <p:cNvSpPr txBox="1"/>
          <p:nvPr/>
        </p:nvSpPr>
        <p:spPr>
          <a:xfrm>
            <a:off x="8046720" y="3886200"/>
            <a:ext cx="3566160" cy="1005840"/>
          </a:xfrm>
          <a:prstGeom prst="rect">
            <a:avLst/>
          </a:prstGeom>
          <a:noFill/>
          <a:ln/>
        </p:spPr>
        <p:txBody>
          <a:bodyPr wrap="square" lIns="0" tIns="0" rIns="0" bIns="0" rtlCol="0" anchor="ctr"/>
          <a:lstStyle/>
          <a:p>
            <a:pPr marL="0" indent="0" algn="ctr">
              <a:buNone/>
            </a:pPr>
            <a:r>
              <a:rPr lang="en-US" sz="3600" b="1" dirty="0">
                <a:solidFill>
                  <a:schemeClr val="bg1"/>
                </a:solidFill>
              </a:rPr>
              <a:t>%34,1</a:t>
            </a:r>
            <a:endParaRPr lang="en-US" sz="3600" dirty="0"/>
          </a:p>
        </p:txBody>
      </p:sp>
      <p:sp>
        <p:nvSpPr>
          <p:cNvPr id="21" name="Text 18"/>
          <p:cNvSpPr txBox="1"/>
          <p:nvPr/>
        </p:nvSpPr>
        <p:spPr>
          <a:xfrm>
            <a:off x="8046720" y="4892040"/>
            <a:ext cx="3566160" cy="548640"/>
          </a:xfrm>
          <a:prstGeom prst="rect">
            <a:avLst/>
          </a:prstGeom>
          <a:noFill/>
          <a:ln/>
        </p:spPr>
        <p:txBody>
          <a:bodyPr wrap="square" lIns="0" tIns="0" rIns="0" bIns="0" rtlCol="0" anchor="ctr"/>
          <a:lstStyle/>
          <a:p>
            <a:pPr marL="0" indent="0" algn="ctr">
              <a:buNone/>
            </a:pPr>
            <a:r>
              <a:rPr lang="en-US" sz="2200" dirty="0">
                <a:solidFill>
                  <a:schemeClr val="bg1"/>
                </a:solidFill>
              </a:rPr>
              <a:t>sigarayı bırakan</a:t>
            </a:r>
            <a:endParaRPr lang="en-US" sz="2200" dirty="0"/>
          </a:p>
        </p:txBody>
      </p:sp>
      <p:sp>
        <p:nvSpPr>
          <p:cNvPr id="22"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 Ortalama ± standart sapma.</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Bağımlılık düzeyi ve deneme öyküsü</a:t>
            </a:r>
            <a:endParaRPr lang="en-US" sz="3600" dirty="0"/>
          </a:p>
        </p:txBody>
      </p:sp>
      <p:sp>
        <p:nvSpPr>
          <p:cNvPr id="4" name="Text 1"/>
          <p:cNvSpPr txBox="1"/>
          <p:nvPr/>
        </p:nvSpPr>
        <p:spPr>
          <a:xfrm>
            <a:off x="548640" y="1325880"/>
            <a:ext cx="10972800" cy="457200"/>
          </a:xfrm>
          <a:prstGeom prst="rect">
            <a:avLst/>
          </a:prstGeom>
          <a:noFill/>
          <a:ln/>
        </p:spPr>
        <p:txBody>
          <a:bodyPr wrap="square" lIns="0" tIns="0" rIns="0" bIns="0" rtlCol="0" anchor="ctr"/>
          <a:lstStyle/>
          <a:p>
            <a:pPr marL="0" indent="0">
              <a:buNone/>
            </a:pPr>
            <a:r>
              <a:rPr lang="en-US" sz="2200" b="1" dirty="0">
                <a:solidFill>
                  <a:schemeClr val="accent2"/>
                </a:solidFill>
              </a:rPr>
              <a:t>FNBT'ye göre bağımlılık düzeyi</a:t>
            </a:r>
            <a:endParaRPr lang="en-US" sz="2200" dirty="0"/>
          </a:p>
        </p:txBody>
      </p:sp>
      <p:sp>
        <p:nvSpPr>
          <p:cNvPr id="5" name="Kart"/>
          <p:cNvSpPr/>
          <p:nvPr/>
        </p:nvSpPr>
        <p:spPr>
          <a:xfrm>
            <a:off x="548640" y="1828800"/>
            <a:ext cx="3566160" cy="1737360"/>
          </a:xfrm>
          <a:prstGeom prst="roundRect">
            <a:avLst>
              <a:gd name="adj" fmla="val 6316"/>
            </a:avLst>
          </a:prstGeom>
          <a:solidFill>
            <a:schemeClr val="accent5"/>
          </a:solidFill>
          <a:ln w="12700">
            <a:solidFill>
              <a:schemeClr val="accent5"/>
            </a:solidFill>
            <a:prstDash val="solid"/>
          </a:ln>
        </p:spPr>
      </p:sp>
      <p:sp>
        <p:nvSpPr>
          <p:cNvPr id="6" name="Text 3"/>
          <p:cNvSpPr txBox="1"/>
          <p:nvPr/>
        </p:nvSpPr>
        <p:spPr>
          <a:xfrm>
            <a:off x="548640" y="1828800"/>
            <a:ext cx="3566160" cy="1737360"/>
          </a:xfrm>
          <a:prstGeom prst="rect">
            <a:avLst/>
          </a:prstGeom>
          <a:noFill/>
          <a:ln/>
        </p:spPr>
        <p:txBody>
          <a:bodyPr wrap="square" lIns="0" tIns="0" rIns="0" bIns="0" rtlCol="0" anchor="ctr"/>
          <a:lstStyle/>
          <a:p>
            <a:pPr marL="0" indent="0" algn="ctr">
              <a:buNone/>
            </a:pPr>
            <a:r>
              <a:rPr lang="en-US" sz="4000" b="1" dirty="0">
                <a:solidFill>
                  <a:schemeClr val="accent1"/>
                </a:solidFill>
              </a:rPr>
              <a:t>%13,2</a:t>
            </a:r>
            <a:endParaRPr lang="en-US" sz="4000" dirty="0"/>
          </a:p>
          <a:p>
            <a:pPr marL="0" indent="0" algn="ctr">
              <a:buNone/>
            </a:pPr>
            <a:r>
              <a:rPr lang="en-US" sz="2200" dirty="0">
                <a:solidFill>
                  <a:schemeClr val="accent1"/>
                </a:solidFill>
              </a:rPr>
              <a:t>düşük (0–2)</a:t>
            </a:r>
            <a:endParaRPr lang="en-US" sz="4000" dirty="0"/>
          </a:p>
        </p:txBody>
      </p:sp>
      <p:sp>
        <p:nvSpPr>
          <p:cNvPr id="7" name="Kart"/>
          <p:cNvSpPr/>
          <p:nvPr/>
        </p:nvSpPr>
        <p:spPr>
          <a:xfrm>
            <a:off x="4297680" y="1828800"/>
            <a:ext cx="3566160" cy="1737360"/>
          </a:xfrm>
          <a:prstGeom prst="roundRect">
            <a:avLst>
              <a:gd name="adj" fmla="val 6316"/>
            </a:avLst>
          </a:prstGeom>
          <a:solidFill>
            <a:schemeClr val="accent2"/>
          </a:solidFill>
          <a:ln w="12700">
            <a:solidFill>
              <a:schemeClr val="accent2"/>
            </a:solidFill>
            <a:prstDash val="solid"/>
          </a:ln>
        </p:spPr>
      </p:sp>
      <p:sp>
        <p:nvSpPr>
          <p:cNvPr id="8" name="Text 5"/>
          <p:cNvSpPr txBox="1"/>
          <p:nvPr/>
        </p:nvSpPr>
        <p:spPr>
          <a:xfrm>
            <a:off x="4297680" y="1828800"/>
            <a:ext cx="3566160" cy="1737360"/>
          </a:xfrm>
          <a:prstGeom prst="rect">
            <a:avLst/>
          </a:prstGeom>
          <a:noFill/>
          <a:ln/>
        </p:spPr>
        <p:txBody>
          <a:bodyPr wrap="square" lIns="0" tIns="0" rIns="0" bIns="0" rtlCol="0" anchor="ctr"/>
          <a:lstStyle/>
          <a:p>
            <a:pPr marL="0" indent="0" algn="ctr">
              <a:buNone/>
            </a:pPr>
            <a:r>
              <a:rPr lang="en-US" sz="4000" b="1" dirty="0">
                <a:solidFill>
                  <a:schemeClr val="bg1"/>
                </a:solidFill>
              </a:rPr>
              <a:t>%61,3</a:t>
            </a:r>
            <a:endParaRPr lang="en-US" sz="4000" dirty="0"/>
          </a:p>
          <a:p>
            <a:pPr marL="0" indent="0" algn="ctr">
              <a:buNone/>
            </a:pPr>
            <a:r>
              <a:rPr lang="en-US" sz="2200" dirty="0">
                <a:solidFill>
                  <a:schemeClr val="bg1"/>
                </a:solidFill>
              </a:rPr>
              <a:t>orta (3–7)</a:t>
            </a:r>
            <a:endParaRPr lang="en-US" sz="4000" dirty="0"/>
          </a:p>
        </p:txBody>
      </p:sp>
      <p:sp>
        <p:nvSpPr>
          <p:cNvPr id="9" name="Kart"/>
          <p:cNvSpPr/>
          <p:nvPr/>
        </p:nvSpPr>
        <p:spPr>
          <a:xfrm>
            <a:off x="8046720" y="1828800"/>
            <a:ext cx="3566160" cy="1737360"/>
          </a:xfrm>
          <a:prstGeom prst="roundRect">
            <a:avLst>
              <a:gd name="adj" fmla="val 6316"/>
            </a:avLst>
          </a:prstGeom>
          <a:solidFill>
            <a:schemeClr val="accent1"/>
          </a:solidFill>
          <a:ln w="12700">
            <a:solidFill>
              <a:schemeClr val="accent1"/>
            </a:solidFill>
            <a:prstDash val="solid"/>
          </a:ln>
        </p:spPr>
      </p:sp>
      <p:sp>
        <p:nvSpPr>
          <p:cNvPr id="10" name="Text 7"/>
          <p:cNvSpPr txBox="1"/>
          <p:nvPr/>
        </p:nvSpPr>
        <p:spPr>
          <a:xfrm>
            <a:off x="8046720" y="1828800"/>
            <a:ext cx="3566160" cy="1737360"/>
          </a:xfrm>
          <a:prstGeom prst="rect">
            <a:avLst/>
          </a:prstGeom>
          <a:noFill/>
          <a:ln/>
        </p:spPr>
        <p:txBody>
          <a:bodyPr wrap="square" lIns="0" tIns="0" rIns="0" bIns="0" rtlCol="0" anchor="ctr"/>
          <a:lstStyle/>
          <a:p>
            <a:pPr marL="0" indent="0" algn="ctr">
              <a:buNone/>
            </a:pPr>
            <a:r>
              <a:rPr lang="en-US" sz="4000" b="1" dirty="0">
                <a:solidFill>
                  <a:schemeClr val="bg1"/>
                </a:solidFill>
              </a:rPr>
              <a:t>%25,5</a:t>
            </a:r>
            <a:endParaRPr lang="en-US" sz="4000" dirty="0"/>
          </a:p>
          <a:p>
            <a:pPr marL="0" indent="0" algn="ctr">
              <a:buNone/>
            </a:pPr>
            <a:r>
              <a:rPr lang="en-US" sz="2200" dirty="0">
                <a:solidFill>
                  <a:schemeClr val="bg1"/>
                </a:solidFill>
              </a:rPr>
              <a:t>yüksek (8–10)</a:t>
            </a:r>
            <a:endParaRPr lang="en-US" sz="4000" dirty="0"/>
          </a:p>
        </p:txBody>
      </p:sp>
      <p:sp>
        <p:nvSpPr>
          <p:cNvPr id="11" name="Text 8"/>
          <p:cNvSpPr txBox="1"/>
          <p:nvPr/>
        </p:nvSpPr>
        <p:spPr>
          <a:xfrm>
            <a:off x="548640" y="3794760"/>
            <a:ext cx="10972800" cy="457200"/>
          </a:xfrm>
          <a:prstGeom prst="rect">
            <a:avLst/>
          </a:prstGeom>
          <a:noFill/>
          <a:ln/>
        </p:spPr>
        <p:txBody>
          <a:bodyPr wrap="square" lIns="0" tIns="0" rIns="0" bIns="0" rtlCol="0" anchor="ctr"/>
          <a:lstStyle/>
          <a:p>
            <a:pPr marL="0" indent="0">
              <a:buNone/>
            </a:pPr>
            <a:r>
              <a:rPr lang="en-US" sz="2200" b="1" dirty="0">
                <a:solidFill>
                  <a:schemeClr val="accent2"/>
                </a:solidFill>
              </a:rPr>
              <a:t>Önceki deneyimler</a:t>
            </a:r>
            <a:endParaRPr lang="en-US" sz="2200" dirty="0"/>
          </a:p>
        </p:txBody>
      </p:sp>
      <p:sp>
        <p:nvSpPr>
          <p:cNvPr id="12" name="Kart"/>
          <p:cNvSpPr/>
          <p:nvPr/>
        </p:nvSpPr>
        <p:spPr>
          <a:xfrm>
            <a:off x="548640" y="4297680"/>
            <a:ext cx="3566160" cy="1691640"/>
          </a:xfrm>
          <a:prstGeom prst="roundRect">
            <a:avLst>
              <a:gd name="adj" fmla="val 6486"/>
            </a:avLst>
          </a:prstGeom>
          <a:solidFill>
            <a:schemeClr val="bg2"/>
          </a:solidFill>
          <a:ln w="12700">
            <a:solidFill>
              <a:schemeClr val="bg2"/>
            </a:solidFill>
            <a:prstDash val="solid"/>
          </a:ln>
        </p:spPr>
      </p:sp>
      <p:sp>
        <p:nvSpPr>
          <p:cNvPr id="13" name="Text 10"/>
          <p:cNvSpPr txBox="1"/>
          <p:nvPr/>
        </p:nvSpPr>
        <p:spPr>
          <a:xfrm>
            <a:off x="685800" y="4297680"/>
            <a:ext cx="1417320" cy="1691640"/>
          </a:xfrm>
          <a:prstGeom prst="rect">
            <a:avLst/>
          </a:prstGeom>
          <a:noFill/>
          <a:ln/>
        </p:spPr>
        <p:txBody>
          <a:bodyPr wrap="square" lIns="0" tIns="0" rIns="0" bIns="0" rtlCol="0" anchor="ctr"/>
          <a:lstStyle/>
          <a:p>
            <a:pPr marL="0" indent="0" algn="ctr">
              <a:buNone/>
            </a:pPr>
            <a:r>
              <a:rPr lang="en-US" sz="3200" b="1" dirty="0">
                <a:solidFill>
                  <a:schemeClr val="accent1"/>
                </a:solidFill>
              </a:rPr>
              <a:t>%75,7</a:t>
            </a:r>
            <a:endParaRPr lang="en-US" sz="3200" dirty="0"/>
          </a:p>
        </p:txBody>
      </p:sp>
      <p:sp>
        <p:nvSpPr>
          <p:cNvPr id="14" name="Text 11"/>
          <p:cNvSpPr txBox="1"/>
          <p:nvPr/>
        </p:nvSpPr>
        <p:spPr>
          <a:xfrm>
            <a:off x="2148840" y="4297680"/>
            <a:ext cx="1828800" cy="1691640"/>
          </a:xfrm>
          <a:prstGeom prst="rect">
            <a:avLst/>
          </a:prstGeom>
          <a:noFill/>
          <a:ln/>
        </p:spPr>
        <p:txBody>
          <a:bodyPr wrap="square" lIns="0" tIns="0" rIns="0" bIns="0" rtlCol="0" anchor="ctr"/>
          <a:lstStyle/>
          <a:p>
            <a:pPr marL="0" indent="0">
              <a:buNone/>
            </a:pPr>
            <a:r>
              <a:rPr lang="en-US" sz="1800" dirty="0">
                <a:solidFill>
                  <a:schemeClr val="accent1"/>
                </a:solidFill>
              </a:rPr>
              <a:t>daha önce bırakmayı denemiş</a:t>
            </a:r>
            <a:endParaRPr lang="en-US" sz="1800" dirty="0"/>
          </a:p>
        </p:txBody>
      </p:sp>
      <p:sp>
        <p:nvSpPr>
          <p:cNvPr id="15" name="Kart"/>
          <p:cNvSpPr/>
          <p:nvPr/>
        </p:nvSpPr>
        <p:spPr>
          <a:xfrm>
            <a:off x="4297680" y="4297680"/>
            <a:ext cx="3566160" cy="1691640"/>
          </a:xfrm>
          <a:prstGeom prst="roundRect">
            <a:avLst>
              <a:gd name="adj" fmla="val 6486"/>
            </a:avLst>
          </a:prstGeom>
          <a:solidFill>
            <a:schemeClr val="bg2"/>
          </a:solidFill>
          <a:ln w="12700">
            <a:solidFill>
              <a:schemeClr val="bg2"/>
            </a:solidFill>
            <a:prstDash val="solid"/>
          </a:ln>
        </p:spPr>
      </p:sp>
      <p:sp>
        <p:nvSpPr>
          <p:cNvPr id="16" name="Text 13"/>
          <p:cNvSpPr txBox="1"/>
          <p:nvPr/>
        </p:nvSpPr>
        <p:spPr>
          <a:xfrm>
            <a:off x="4434840" y="4297680"/>
            <a:ext cx="1417320" cy="1691640"/>
          </a:xfrm>
          <a:prstGeom prst="rect">
            <a:avLst/>
          </a:prstGeom>
          <a:noFill/>
          <a:ln/>
        </p:spPr>
        <p:txBody>
          <a:bodyPr wrap="square" lIns="0" tIns="0" rIns="0" bIns="0" rtlCol="0" anchor="ctr"/>
          <a:lstStyle/>
          <a:p>
            <a:pPr marL="0" indent="0" algn="ctr">
              <a:buNone/>
            </a:pPr>
            <a:r>
              <a:rPr lang="en-US" sz="3200" b="1" dirty="0">
                <a:solidFill>
                  <a:schemeClr val="accent1"/>
                </a:solidFill>
              </a:rPr>
              <a:t>%49,9</a:t>
            </a:r>
            <a:endParaRPr lang="en-US" sz="3200" dirty="0"/>
          </a:p>
        </p:txBody>
      </p:sp>
      <p:sp>
        <p:nvSpPr>
          <p:cNvPr id="17" name="Text 14"/>
          <p:cNvSpPr txBox="1"/>
          <p:nvPr/>
        </p:nvSpPr>
        <p:spPr>
          <a:xfrm>
            <a:off x="5897880" y="4297680"/>
            <a:ext cx="1828800" cy="1691640"/>
          </a:xfrm>
          <a:prstGeom prst="rect">
            <a:avLst/>
          </a:prstGeom>
          <a:noFill/>
          <a:ln/>
        </p:spPr>
        <p:txBody>
          <a:bodyPr wrap="square" lIns="0" tIns="0" rIns="0" bIns="0" rtlCol="0" anchor="ctr"/>
          <a:lstStyle/>
          <a:p>
            <a:pPr marL="0" indent="0">
              <a:buNone/>
            </a:pPr>
            <a:r>
              <a:rPr lang="en-US" sz="1800" dirty="0">
                <a:solidFill>
                  <a:schemeClr val="accent1"/>
                </a:solidFill>
              </a:rPr>
              <a:t>denemede profesyonel destek almış</a:t>
            </a:r>
            <a:endParaRPr lang="en-US" sz="1800" dirty="0"/>
          </a:p>
        </p:txBody>
      </p:sp>
      <p:sp>
        <p:nvSpPr>
          <p:cNvPr id="18" name="Kart"/>
          <p:cNvSpPr/>
          <p:nvPr/>
        </p:nvSpPr>
        <p:spPr>
          <a:xfrm>
            <a:off x="8046720" y="4297680"/>
            <a:ext cx="3566160" cy="1691640"/>
          </a:xfrm>
          <a:prstGeom prst="roundRect">
            <a:avLst>
              <a:gd name="adj" fmla="val 6486"/>
            </a:avLst>
          </a:prstGeom>
          <a:solidFill>
            <a:schemeClr val="bg2"/>
          </a:solidFill>
          <a:ln w="12700">
            <a:solidFill>
              <a:schemeClr val="bg2"/>
            </a:solidFill>
            <a:prstDash val="solid"/>
          </a:ln>
        </p:spPr>
      </p:sp>
      <p:sp>
        <p:nvSpPr>
          <p:cNvPr id="19" name="Text 16"/>
          <p:cNvSpPr txBox="1"/>
          <p:nvPr/>
        </p:nvSpPr>
        <p:spPr>
          <a:xfrm>
            <a:off x="8183880" y="4297680"/>
            <a:ext cx="1417320" cy="1691640"/>
          </a:xfrm>
          <a:prstGeom prst="rect">
            <a:avLst/>
          </a:prstGeom>
          <a:noFill/>
          <a:ln/>
        </p:spPr>
        <p:txBody>
          <a:bodyPr wrap="square" lIns="0" tIns="0" rIns="0" bIns="0" rtlCol="0" anchor="ctr"/>
          <a:lstStyle/>
          <a:p>
            <a:pPr marL="0" indent="0" algn="ctr">
              <a:buNone/>
            </a:pPr>
            <a:r>
              <a:rPr lang="en-US" sz="3200" b="1" dirty="0">
                <a:solidFill>
                  <a:schemeClr val="accent1"/>
                </a:solidFill>
              </a:rPr>
              <a:t>%7,2</a:t>
            </a:r>
            <a:endParaRPr lang="en-US" sz="3200" dirty="0"/>
          </a:p>
        </p:txBody>
      </p:sp>
      <p:sp>
        <p:nvSpPr>
          <p:cNvPr id="20" name="Text 17"/>
          <p:cNvSpPr txBox="1"/>
          <p:nvPr/>
        </p:nvSpPr>
        <p:spPr>
          <a:xfrm>
            <a:off x="9646920" y="4297680"/>
            <a:ext cx="1828800" cy="1691640"/>
          </a:xfrm>
          <a:prstGeom prst="rect">
            <a:avLst/>
          </a:prstGeom>
          <a:noFill/>
          <a:ln/>
        </p:spPr>
        <p:txBody>
          <a:bodyPr wrap="square" lIns="0" tIns="0" rIns="0" bIns="0" rtlCol="0" anchor="ctr"/>
          <a:lstStyle/>
          <a:p>
            <a:pPr marL="0" indent="0">
              <a:buNone/>
            </a:pPr>
            <a:r>
              <a:rPr lang="en-US" sz="1800" dirty="0">
                <a:solidFill>
                  <a:schemeClr val="accent1"/>
                </a:solidFill>
              </a:rPr>
              <a:t>sigara dışı tütün ürünü kullanıyor</a:t>
            </a:r>
            <a:endParaRPr lang="en-US" sz="1800" dirty="0"/>
          </a:p>
        </p:txBody>
      </p:sp>
      <p:sp>
        <p:nvSpPr>
          <p:cNvPr id="21"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1: Sosyodemografik özellikler</a:t>
            </a:r>
            <a:endParaRPr lang="en-US" sz="3600" dirty="0"/>
          </a:p>
        </p:txBody>
      </p:sp>
      <p:sp>
        <p:nvSpPr>
          <p:cNvPr id="4" name="Görsel çerçeve"/>
          <p:cNvSpPr/>
          <p:nvPr/>
        </p:nvSpPr>
        <p:spPr>
          <a:xfrm>
            <a:off x="548640" y="1325880"/>
            <a:ext cx="7191299" cy="4892040"/>
          </a:xfrm>
          <a:prstGeom prst="rect">
            <a:avLst/>
          </a:prstGeom>
          <a:solidFill>
            <a:schemeClr val="bg1"/>
          </a:solidFill>
          <a:ln w="12700">
            <a:solidFill>
              <a:srgbClr val="C9DCDF"/>
            </a:solidFill>
            <a:prstDash val="solid"/>
          </a:ln>
        </p:spPr>
      </p:sp>
      <p:pic>
        <p:nvPicPr>
          <p:cNvPr id="5" name="Tablo 1: Katılımcıların sosyodemografik özellikleri" descr="Tablo 1: Katılımcıların sosyodemografik özellikleri"/>
          <p:cNvPicPr>
            <a:picLocks noChangeAspect="1"/>
          </p:cNvPicPr>
          <p:nvPr/>
        </p:nvPicPr>
        <p:blipFill>
          <a:blip r:embed="rId3"/>
          <a:stretch>
            <a:fillRect/>
          </a:stretch>
        </p:blipFill>
        <p:spPr>
          <a:xfrm>
            <a:off x="548640" y="1325880"/>
            <a:ext cx="7191299" cy="4892040"/>
          </a:xfrm>
          <a:prstGeom prst="rect">
            <a:avLst/>
          </a:prstGeom>
        </p:spPr>
      </p:pic>
      <p:sp>
        <p:nvSpPr>
          <p:cNvPr id="6" name="Kart"/>
          <p:cNvSpPr/>
          <p:nvPr/>
        </p:nvSpPr>
        <p:spPr>
          <a:xfrm>
            <a:off x="8059979" y="1325880"/>
            <a:ext cx="3580333" cy="4892040"/>
          </a:xfrm>
          <a:prstGeom prst="roundRect">
            <a:avLst>
              <a:gd name="adj" fmla="val 3065"/>
            </a:avLst>
          </a:prstGeom>
          <a:solidFill>
            <a:schemeClr val="accent1"/>
          </a:solidFill>
          <a:ln w="12700">
            <a:solidFill>
              <a:schemeClr val="accent1"/>
            </a:solidFill>
            <a:prstDash val="solid"/>
          </a:ln>
        </p:spPr>
      </p:sp>
      <p:sp>
        <p:nvSpPr>
          <p:cNvPr id="7" name="Text 3"/>
          <p:cNvSpPr txBox="1"/>
          <p:nvPr/>
        </p:nvSpPr>
        <p:spPr>
          <a:xfrm>
            <a:off x="8288579" y="1508760"/>
            <a:ext cx="3123133" cy="4526280"/>
          </a:xfrm>
          <a:prstGeom prst="rect">
            <a:avLst/>
          </a:prstGeom>
          <a:noFill/>
          <a:ln/>
        </p:spPr>
        <p:txBody>
          <a:bodyPr wrap="square" lIns="0" tIns="0" rIns="0" bIns="0" rtlCol="0" anchor="t"/>
          <a:lstStyle/>
          <a:p>
            <a:pPr marL="0" indent="0">
              <a:buNone/>
            </a:pPr>
            <a:r>
              <a:rPr lang="en-US" sz="3000" b="1" dirty="0">
                <a:solidFill>
                  <a:schemeClr val="bg1"/>
                </a:solidFill>
              </a:rPr>
              <a:t>%63,7</a:t>
            </a:r>
            <a:endParaRPr lang="en-US" sz="3000" dirty="0"/>
          </a:p>
          <a:p>
            <a:pPr marL="0" indent="0">
              <a:spcAft>
                <a:spcPts val="1200"/>
              </a:spcAft>
              <a:buNone/>
            </a:pPr>
            <a:r>
              <a:rPr lang="en-US" sz="2000" dirty="0">
                <a:solidFill>
                  <a:schemeClr val="bg1"/>
                </a:solidFill>
              </a:rPr>
              <a:t>erkek</a:t>
            </a:r>
            <a:endParaRPr lang="en-US" sz="3000" dirty="0"/>
          </a:p>
          <a:p>
            <a:pPr marL="0" indent="0">
              <a:buNone/>
            </a:pPr>
            <a:r>
              <a:rPr lang="en-US" sz="3000" b="1" dirty="0">
                <a:solidFill>
                  <a:schemeClr val="bg1"/>
                </a:solidFill>
              </a:rPr>
              <a:t>%82,0</a:t>
            </a:r>
            <a:endParaRPr lang="en-US" sz="3000" dirty="0"/>
          </a:p>
          <a:p>
            <a:pPr marL="0" indent="0">
              <a:spcAft>
                <a:spcPts val="1200"/>
              </a:spcAft>
              <a:buNone/>
            </a:pPr>
            <a:r>
              <a:rPr lang="en-US" sz="2000" dirty="0">
                <a:solidFill>
                  <a:schemeClr val="bg1"/>
                </a:solidFill>
              </a:rPr>
              <a:t>evli</a:t>
            </a:r>
            <a:endParaRPr lang="en-US" sz="3000" dirty="0"/>
          </a:p>
          <a:p>
            <a:pPr marL="0" indent="0">
              <a:buNone/>
            </a:pPr>
            <a:r>
              <a:rPr lang="en-US" sz="3000" b="1" dirty="0">
                <a:solidFill>
                  <a:schemeClr val="bg1"/>
                </a:solidFill>
              </a:rPr>
              <a:t>%43,4</a:t>
            </a:r>
            <a:endParaRPr lang="en-US" sz="3000" dirty="0"/>
          </a:p>
          <a:p>
            <a:pPr marL="0" indent="0">
              <a:spcAft>
                <a:spcPts val="1200"/>
              </a:spcAft>
              <a:buNone/>
            </a:pPr>
            <a:r>
              <a:rPr lang="en-US" sz="2000" dirty="0">
                <a:solidFill>
                  <a:schemeClr val="bg1"/>
                </a:solidFill>
              </a:rPr>
              <a:t>yükseköğretim mezunu</a:t>
            </a:r>
            <a:endParaRPr lang="en-US" sz="3000" dirty="0"/>
          </a:p>
          <a:p>
            <a:pPr marL="0" indent="0">
              <a:buNone/>
            </a:pPr>
            <a:r>
              <a:rPr lang="en-US" sz="3000" b="1" dirty="0">
                <a:solidFill>
                  <a:schemeClr val="bg1"/>
                </a:solidFill>
              </a:rPr>
              <a:t>%39,6</a:t>
            </a:r>
            <a:endParaRPr lang="en-US" sz="3000" dirty="0"/>
          </a:p>
          <a:p>
            <a:pPr marL="0" indent="0">
              <a:buNone/>
            </a:pPr>
            <a:r>
              <a:rPr lang="en-US" sz="2000" dirty="0">
                <a:solidFill>
                  <a:schemeClr val="bg1"/>
                </a:solidFill>
              </a:rPr>
              <a:t>hanesinde sigara içen var</a:t>
            </a:r>
            <a:endParaRPr lang="en-US" sz="3000" dirty="0"/>
          </a:p>
        </p:txBody>
      </p:sp>
      <p:sp>
        <p:nvSpPr>
          <p:cNvPr id="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1.</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2: Sosyodemografik özellikler ve bırakma</a:t>
            </a:r>
            <a:endParaRPr lang="en-US" sz="3600" dirty="0"/>
          </a:p>
        </p:txBody>
      </p:sp>
      <p:sp>
        <p:nvSpPr>
          <p:cNvPr id="4" name="Görsel çerçeve"/>
          <p:cNvSpPr/>
          <p:nvPr/>
        </p:nvSpPr>
        <p:spPr>
          <a:xfrm>
            <a:off x="548640" y="1325880"/>
            <a:ext cx="8321040" cy="4575618"/>
          </a:xfrm>
          <a:prstGeom prst="rect">
            <a:avLst/>
          </a:prstGeom>
          <a:solidFill>
            <a:schemeClr val="bg1"/>
          </a:solidFill>
          <a:ln w="12700">
            <a:solidFill>
              <a:srgbClr val="C9DCDF"/>
            </a:solidFill>
            <a:prstDash val="solid"/>
          </a:ln>
        </p:spPr>
      </p:sp>
      <p:pic>
        <p:nvPicPr>
          <p:cNvPr id="5" name="Tablo 2, birinci bölüm" descr="Tablo 2, birinci bölüm"/>
          <p:cNvPicPr>
            <a:picLocks noChangeAspect="1"/>
          </p:cNvPicPr>
          <p:nvPr/>
        </p:nvPicPr>
        <p:blipFill>
          <a:blip r:embed="rId3"/>
          <a:stretch>
            <a:fillRect/>
          </a:stretch>
        </p:blipFill>
        <p:spPr>
          <a:xfrm>
            <a:off x="548640" y="1325880"/>
            <a:ext cx="8321040" cy="4575618"/>
          </a:xfrm>
          <a:prstGeom prst="rect">
            <a:avLst/>
          </a:prstGeom>
        </p:spPr>
      </p:pic>
      <p:sp>
        <p:nvSpPr>
          <p:cNvPr id="6" name="Kart"/>
          <p:cNvSpPr/>
          <p:nvPr/>
        </p:nvSpPr>
        <p:spPr>
          <a:xfrm>
            <a:off x="9189720" y="1325880"/>
            <a:ext cx="2450592" cy="4575618"/>
          </a:xfrm>
          <a:prstGeom prst="roundRect">
            <a:avLst>
              <a:gd name="adj" fmla="val 4478"/>
            </a:avLst>
          </a:prstGeom>
          <a:solidFill>
            <a:schemeClr val="accent1"/>
          </a:solidFill>
          <a:ln w="12700">
            <a:solidFill>
              <a:schemeClr val="accent1"/>
            </a:solidFill>
            <a:prstDash val="solid"/>
          </a:ln>
        </p:spPr>
      </p:sp>
      <p:sp>
        <p:nvSpPr>
          <p:cNvPr id="7" name="Text 3"/>
          <p:cNvSpPr txBox="1"/>
          <p:nvPr/>
        </p:nvSpPr>
        <p:spPr>
          <a:xfrm>
            <a:off x="9418320" y="1508760"/>
            <a:ext cx="1993392" cy="4209858"/>
          </a:xfrm>
          <a:prstGeom prst="rect">
            <a:avLst/>
          </a:prstGeom>
          <a:noFill/>
          <a:ln/>
        </p:spPr>
        <p:txBody>
          <a:bodyPr wrap="square" lIns="0" tIns="0" rIns="0" bIns="0" rtlCol="0" anchor="t"/>
          <a:lstStyle/>
          <a:p>
            <a:pPr marL="0" indent="0">
              <a:spcAft>
                <a:spcPts val="1200"/>
              </a:spcAft>
              <a:buNone/>
            </a:pPr>
            <a:r>
              <a:rPr lang="en-US" sz="2000" b="1" dirty="0">
                <a:solidFill>
                  <a:schemeClr val="bg1"/>
                </a:solidFill>
              </a:rPr>
              <a:t>Anlamlı fark yok</a:t>
            </a:r>
            <a:endParaRPr lang="en-US" sz="2000" dirty="0"/>
          </a:p>
          <a:p>
            <a:pPr marL="0" indent="0">
              <a:buNone/>
            </a:pPr>
            <a:r>
              <a:rPr lang="en-US" sz="2000" dirty="0">
                <a:solidFill>
                  <a:schemeClr val="bg1"/>
                </a:solidFill>
              </a:rPr>
              <a:t>Cinsiyet, yaş grubu, medeni durum ve eğitim durumu</a:t>
            </a:r>
            <a:endParaRPr lang="en-US" sz="2000" dirty="0"/>
          </a:p>
        </p:txBody>
      </p:sp>
      <p:sp>
        <p:nvSpPr>
          <p:cNvPr id="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2.</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2 (devam)</a:t>
            </a:r>
            <a:endParaRPr lang="en-US" sz="3600" dirty="0"/>
          </a:p>
        </p:txBody>
      </p:sp>
      <p:sp>
        <p:nvSpPr>
          <p:cNvPr id="4" name="Görsel çerçeve"/>
          <p:cNvSpPr/>
          <p:nvPr/>
        </p:nvSpPr>
        <p:spPr>
          <a:xfrm>
            <a:off x="548640" y="1325880"/>
            <a:ext cx="8321040" cy="3688167"/>
          </a:xfrm>
          <a:prstGeom prst="rect">
            <a:avLst/>
          </a:prstGeom>
          <a:solidFill>
            <a:schemeClr val="bg1"/>
          </a:solidFill>
          <a:ln w="12700">
            <a:solidFill>
              <a:srgbClr val="C9DCDF"/>
            </a:solidFill>
            <a:prstDash val="solid"/>
          </a:ln>
        </p:spPr>
      </p:sp>
      <p:pic>
        <p:nvPicPr>
          <p:cNvPr id="5" name="Tablo 2, ikinci bölüm" descr="Tablo 2, ikinci bölüm"/>
          <p:cNvPicPr>
            <a:picLocks noChangeAspect="1"/>
          </p:cNvPicPr>
          <p:nvPr/>
        </p:nvPicPr>
        <p:blipFill>
          <a:blip r:embed="rId3"/>
          <a:stretch>
            <a:fillRect/>
          </a:stretch>
        </p:blipFill>
        <p:spPr>
          <a:xfrm>
            <a:off x="548640" y="1325880"/>
            <a:ext cx="8321040" cy="3688167"/>
          </a:xfrm>
          <a:prstGeom prst="rect">
            <a:avLst/>
          </a:prstGeom>
        </p:spPr>
      </p:pic>
      <p:sp>
        <p:nvSpPr>
          <p:cNvPr id="6" name="Kart"/>
          <p:cNvSpPr/>
          <p:nvPr/>
        </p:nvSpPr>
        <p:spPr>
          <a:xfrm>
            <a:off x="9189720" y="1325880"/>
            <a:ext cx="2450592" cy="3688167"/>
          </a:xfrm>
          <a:prstGeom prst="roundRect">
            <a:avLst>
              <a:gd name="adj" fmla="val 4478"/>
            </a:avLst>
          </a:prstGeom>
          <a:solidFill>
            <a:schemeClr val="accent1"/>
          </a:solidFill>
          <a:ln w="12700">
            <a:solidFill>
              <a:schemeClr val="accent1"/>
            </a:solidFill>
            <a:prstDash val="solid"/>
          </a:ln>
        </p:spPr>
      </p:sp>
      <p:sp>
        <p:nvSpPr>
          <p:cNvPr id="7" name="Text 3"/>
          <p:cNvSpPr txBox="1"/>
          <p:nvPr/>
        </p:nvSpPr>
        <p:spPr>
          <a:xfrm>
            <a:off x="9418320" y="1508760"/>
            <a:ext cx="1993392" cy="3322407"/>
          </a:xfrm>
          <a:prstGeom prst="rect">
            <a:avLst/>
          </a:prstGeom>
          <a:noFill/>
          <a:ln/>
        </p:spPr>
        <p:txBody>
          <a:bodyPr wrap="square" lIns="0" tIns="0" rIns="0" bIns="0" rtlCol="0" anchor="t"/>
          <a:lstStyle/>
          <a:p>
            <a:pPr marL="0" indent="0">
              <a:spcAft>
                <a:spcPts val="1200"/>
              </a:spcAft>
              <a:buNone/>
            </a:pPr>
            <a:r>
              <a:rPr lang="en-US" sz="2000" b="1" dirty="0">
                <a:solidFill>
                  <a:schemeClr val="bg1"/>
                </a:solidFill>
              </a:rPr>
              <a:t>Tek anlamlı fark:</a:t>
            </a:r>
            <a:endParaRPr lang="en-US" sz="2000" dirty="0"/>
          </a:p>
          <a:p>
            <a:pPr marL="0" indent="0">
              <a:spcAft>
                <a:spcPts val="1200"/>
              </a:spcAft>
              <a:buNone/>
            </a:pPr>
            <a:r>
              <a:rPr lang="en-US" sz="2000" dirty="0">
                <a:solidFill>
                  <a:schemeClr val="bg1"/>
                </a:solidFill>
              </a:rPr>
              <a:t>hanede sigara içen varlığı</a:t>
            </a:r>
            <a:endParaRPr lang="en-US" sz="2000" dirty="0"/>
          </a:p>
          <a:p>
            <a:pPr marL="0" indent="0">
              <a:buNone/>
            </a:pPr>
            <a:r>
              <a:rPr lang="en-US" sz="3000" b="1" dirty="0">
                <a:solidFill>
                  <a:schemeClr val="bg1"/>
                </a:solidFill>
              </a:rPr>
              <a:t>p = 0,003</a:t>
            </a:r>
            <a:endParaRPr lang="en-US" sz="2000" dirty="0"/>
          </a:p>
          <a:p>
            <a:pPr marL="0" indent="0">
              <a:buNone/>
            </a:pPr>
            <a:r>
              <a:rPr lang="en-US" sz="1800" dirty="0">
                <a:solidFill>
                  <a:schemeClr val="bg1"/>
                </a:solidFill>
              </a:rPr>
              <a:t>Bırakma: %39,8 ve %25,3</a:t>
            </a:r>
            <a:endParaRPr lang="en-US" sz="2000" dirty="0"/>
          </a:p>
        </p:txBody>
      </p:sp>
      <p:sp>
        <p:nvSpPr>
          <p:cNvPr id="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2.</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3: Uygulanan tedaviler</a:t>
            </a:r>
            <a:endParaRPr lang="en-US" sz="3600" dirty="0"/>
          </a:p>
        </p:txBody>
      </p:sp>
      <p:sp>
        <p:nvSpPr>
          <p:cNvPr id="4" name="Görsel çerçeve"/>
          <p:cNvSpPr/>
          <p:nvPr/>
        </p:nvSpPr>
        <p:spPr>
          <a:xfrm>
            <a:off x="548640" y="1325880"/>
            <a:ext cx="8321040" cy="3485982"/>
          </a:xfrm>
          <a:prstGeom prst="rect">
            <a:avLst/>
          </a:prstGeom>
          <a:solidFill>
            <a:schemeClr val="bg1"/>
          </a:solidFill>
          <a:ln w="12700">
            <a:solidFill>
              <a:srgbClr val="C9DCDF"/>
            </a:solidFill>
            <a:prstDash val="solid"/>
          </a:ln>
        </p:spPr>
      </p:sp>
      <p:pic>
        <p:nvPicPr>
          <p:cNvPr id="5" name="Tablo 3: Katılımcıların kullandığı tedavi seçenekleri" descr="Tablo 3: Katılımcıların kullandığı tedavi seçenekleri"/>
          <p:cNvPicPr>
            <a:picLocks noChangeAspect="1"/>
          </p:cNvPicPr>
          <p:nvPr/>
        </p:nvPicPr>
        <p:blipFill>
          <a:blip r:embed="rId3"/>
          <a:stretch>
            <a:fillRect/>
          </a:stretch>
        </p:blipFill>
        <p:spPr>
          <a:xfrm>
            <a:off x="548640" y="1325880"/>
            <a:ext cx="8321040" cy="3485982"/>
          </a:xfrm>
          <a:prstGeom prst="rect">
            <a:avLst/>
          </a:prstGeom>
        </p:spPr>
      </p:pic>
      <p:sp>
        <p:nvSpPr>
          <p:cNvPr id="6" name="Kart"/>
          <p:cNvSpPr/>
          <p:nvPr/>
        </p:nvSpPr>
        <p:spPr>
          <a:xfrm>
            <a:off x="9189720" y="1325880"/>
            <a:ext cx="2450592" cy="3485982"/>
          </a:xfrm>
          <a:prstGeom prst="roundRect">
            <a:avLst>
              <a:gd name="adj" fmla="val 4478"/>
            </a:avLst>
          </a:prstGeom>
          <a:solidFill>
            <a:schemeClr val="accent1"/>
          </a:solidFill>
          <a:ln w="12700">
            <a:solidFill>
              <a:schemeClr val="accent1"/>
            </a:solidFill>
            <a:prstDash val="solid"/>
          </a:ln>
        </p:spPr>
      </p:sp>
      <p:sp>
        <p:nvSpPr>
          <p:cNvPr id="7" name="Text 3"/>
          <p:cNvSpPr txBox="1"/>
          <p:nvPr/>
        </p:nvSpPr>
        <p:spPr>
          <a:xfrm>
            <a:off x="9418320" y="1508760"/>
            <a:ext cx="1993392" cy="3120222"/>
          </a:xfrm>
          <a:prstGeom prst="rect">
            <a:avLst/>
          </a:prstGeom>
          <a:noFill/>
          <a:ln/>
        </p:spPr>
        <p:txBody>
          <a:bodyPr wrap="square" lIns="0" tIns="0" rIns="0" bIns="0" rtlCol="0" anchor="t"/>
          <a:lstStyle/>
          <a:p>
            <a:pPr marL="0" indent="0">
              <a:buNone/>
            </a:pPr>
            <a:r>
              <a:rPr lang="en-US" sz="3000" b="1" dirty="0">
                <a:solidFill>
                  <a:schemeClr val="bg1"/>
                </a:solidFill>
              </a:rPr>
              <a:t>%35,3</a:t>
            </a:r>
            <a:endParaRPr lang="en-US" sz="3000" dirty="0"/>
          </a:p>
          <a:p>
            <a:pPr marL="0" indent="0">
              <a:spcAft>
                <a:spcPts val="1200"/>
              </a:spcAft>
              <a:buNone/>
            </a:pPr>
            <a:r>
              <a:rPr lang="en-US" sz="2000" dirty="0">
                <a:solidFill>
                  <a:schemeClr val="bg1"/>
                </a:solidFill>
              </a:rPr>
              <a:t>kombine tedavi</a:t>
            </a:r>
            <a:endParaRPr lang="en-US" sz="3000" dirty="0"/>
          </a:p>
          <a:p>
            <a:pPr marL="0" indent="0">
              <a:buNone/>
            </a:pPr>
            <a:r>
              <a:rPr lang="en-US" sz="3000" b="1" dirty="0">
                <a:solidFill>
                  <a:schemeClr val="bg1"/>
                </a:solidFill>
              </a:rPr>
              <a:t>125 / 141</a:t>
            </a:r>
            <a:endParaRPr lang="en-US" sz="3000" dirty="0"/>
          </a:p>
          <a:p>
            <a:pPr marL="0" indent="0">
              <a:buNone/>
            </a:pPr>
            <a:r>
              <a:rPr lang="en-US" sz="1800" dirty="0">
                <a:solidFill>
                  <a:schemeClr val="bg1"/>
                </a:solidFill>
              </a:rPr>
              <a:t>bupropion + NRT</a:t>
            </a:r>
            <a:endParaRPr lang="en-US" sz="3000" dirty="0"/>
          </a:p>
        </p:txBody>
      </p:sp>
      <p:sp>
        <p:nvSpPr>
          <p:cNvPr id="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3.</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4: Görüşme sayısı, FNBT ve paket-yıl</a:t>
            </a:r>
            <a:endParaRPr lang="en-US" sz="3600" dirty="0"/>
          </a:p>
        </p:txBody>
      </p:sp>
      <p:sp>
        <p:nvSpPr>
          <p:cNvPr id="4" name="Görsel çerçeve"/>
          <p:cNvSpPr/>
          <p:nvPr/>
        </p:nvSpPr>
        <p:spPr>
          <a:xfrm>
            <a:off x="548640" y="1325880"/>
            <a:ext cx="11091672" cy="2713227"/>
          </a:xfrm>
          <a:prstGeom prst="rect">
            <a:avLst/>
          </a:prstGeom>
          <a:solidFill>
            <a:schemeClr val="bg1"/>
          </a:solidFill>
          <a:ln w="12700">
            <a:solidFill>
              <a:srgbClr val="C9DCDF"/>
            </a:solidFill>
            <a:prstDash val="solid"/>
          </a:ln>
        </p:spPr>
      </p:sp>
      <p:pic>
        <p:nvPicPr>
          <p:cNvPr id="5" name="Tablo 4: Sigara ve tedavi parametrelerinin bırakma durumu ile karşılaştırılması" descr="Tablo 4: Sigara ve tedavi parametrelerinin bırakma durumu ile karşılaştırılması"/>
          <p:cNvPicPr>
            <a:picLocks noChangeAspect="1"/>
          </p:cNvPicPr>
          <p:nvPr/>
        </p:nvPicPr>
        <p:blipFill>
          <a:blip r:embed="rId3"/>
          <a:stretch>
            <a:fillRect/>
          </a:stretch>
        </p:blipFill>
        <p:spPr>
          <a:xfrm>
            <a:off x="548640" y="1325880"/>
            <a:ext cx="11091672" cy="2713227"/>
          </a:xfrm>
          <a:prstGeom prst="rect">
            <a:avLst/>
          </a:prstGeom>
        </p:spPr>
      </p:pic>
      <p:sp>
        <p:nvSpPr>
          <p:cNvPr id="6" name="Kart"/>
          <p:cNvSpPr/>
          <p:nvPr/>
        </p:nvSpPr>
        <p:spPr>
          <a:xfrm>
            <a:off x="548640" y="4359147"/>
            <a:ext cx="3566160" cy="1767333"/>
          </a:xfrm>
          <a:prstGeom prst="roundRect">
            <a:avLst>
              <a:gd name="adj" fmla="val 6209"/>
            </a:avLst>
          </a:prstGeom>
          <a:solidFill>
            <a:schemeClr val="accent1"/>
          </a:solidFill>
          <a:ln w="12700">
            <a:solidFill>
              <a:schemeClr val="accent1"/>
            </a:solidFill>
            <a:prstDash val="solid"/>
          </a:ln>
        </p:spPr>
      </p:sp>
      <p:sp>
        <p:nvSpPr>
          <p:cNvPr id="7" name="Text 3"/>
          <p:cNvSpPr txBox="1"/>
          <p:nvPr/>
        </p:nvSpPr>
        <p:spPr>
          <a:xfrm>
            <a:off x="731520" y="4359147"/>
            <a:ext cx="3200400" cy="1767333"/>
          </a:xfrm>
          <a:prstGeom prst="rect">
            <a:avLst/>
          </a:prstGeom>
          <a:noFill/>
          <a:ln/>
        </p:spPr>
        <p:txBody>
          <a:bodyPr wrap="square" lIns="0" tIns="0" rIns="0" bIns="0" rtlCol="0" anchor="ctr"/>
          <a:lstStyle/>
          <a:p>
            <a:pPr marL="0" indent="0" algn="ctr">
              <a:buNone/>
            </a:pPr>
            <a:r>
              <a:rPr lang="en-US" sz="2000" b="1" dirty="0">
                <a:solidFill>
                  <a:schemeClr val="bg1"/>
                </a:solidFill>
              </a:rPr>
              <a:t>Görüşme sayısı</a:t>
            </a:r>
            <a:endParaRPr lang="en-US" sz="2000" dirty="0"/>
          </a:p>
          <a:p>
            <a:pPr marL="0" indent="0" algn="ctr">
              <a:buNone/>
            </a:pPr>
            <a:r>
              <a:rPr lang="en-US" sz="3000" b="1" dirty="0">
                <a:solidFill>
                  <a:schemeClr val="bg1"/>
                </a:solidFill>
              </a:rPr>
              <a:t>p &lt; 0,001</a:t>
            </a:r>
            <a:endParaRPr lang="en-US" sz="2000" dirty="0"/>
          </a:p>
          <a:p>
            <a:pPr marL="0" indent="0" algn="ctr">
              <a:buNone/>
            </a:pPr>
            <a:r>
              <a:rPr lang="en-US" sz="1800" dirty="0">
                <a:solidFill>
                  <a:schemeClr val="bg1"/>
                </a:solidFill>
              </a:rPr>
              <a:t>Başarılı 2,83; başarısız 1,96</a:t>
            </a:r>
            <a:endParaRPr lang="en-US" sz="2000" dirty="0"/>
          </a:p>
        </p:txBody>
      </p:sp>
      <p:sp>
        <p:nvSpPr>
          <p:cNvPr id="8" name="Kart"/>
          <p:cNvSpPr/>
          <p:nvPr/>
        </p:nvSpPr>
        <p:spPr>
          <a:xfrm>
            <a:off x="4297680" y="4359147"/>
            <a:ext cx="3566160" cy="1767333"/>
          </a:xfrm>
          <a:prstGeom prst="roundRect">
            <a:avLst>
              <a:gd name="adj" fmla="val 6209"/>
            </a:avLst>
          </a:prstGeom>
          <a:solidFill>
            <a:schemeClr val="bg2"/>
          </a:solidFill>
          <a:ln w="12700">
            <a:solidFill>
              <a:schemeClr val="bg2"/>
            </a:solidFill>
            <a:prstDash val="solid"/>
          </a:ln>
        </p:spPr>
      </p:sp>
      <p:sp>
        <p:nvSpPr>
          <p:cNvPr id="9" name="Text 5"/>
          <p:cNvSpPr txBox="1"/>
          <p:nvPr/>
        </p:nvSpPr>
        <p:spPr>
          <a:xfrm>
            <a:off x="4480560" y="4359147"/>
            <a:ext cx="3200400" cy="1767333"/>
          </a:xfrm>
          <a:prstGeom prst="rect">
            <a:avLst/>
          </a:prstGeom>
          <a:noFill/>
          <a:ln/>
        </p:spPr>
        <p:txBody>
          <a:bodyPr wrap="square" lIns="0" tIns="0" rIns="0" bIns="0" rtlCol="0" anchor="ctr"/>
          <a:lstStyle/>
          <a:p>
            <a:pPr marL="0" indent="0" algn="ctr">
              <a:buNone/>
            </a:pPr>
            <a:r>
              <a:rPr lang="en-US" sz="2000" b="1" dirty="0">
                <a:solidFill>
                  <a:schemeClr val="accent1"/>
                </a:solidFill>
              </a:rPr>
              <a:t>FNBT puanı</a:t>
            </a:r>
            <a:endParaRPr lang="en-US" sz="2000" dirty="0"/>
          </a:p>
          <a:p>
            <a:pPr marL="0" indent="0" algn="ctr">
              <a:buNone/>
            </a:pPr>
            <a:r>
              <a:rPr lang="en-US" sz="3000" b="1" dirty="0">
                <a:solidFill>
                  <a:schemeClr val="accent2"/>
                </a:solidFill>
              </a:rPr>
              <a:t>p = 0,024</a:t>
            </a:r>
            <a:endParaRPr lang="en-US" sz="2000" dirty="0"/>
          </a:p>
          <a:p>
            <a:pPr marL="0" indent="0" algn="ctr">
              <a:buNone/>
            </a:pPr>
            <a:r>
              <a:rPr lang="en-US" sz="1800" dirty="0">
                <a:solidFill>
                  <a:schemeClr val="accent1"/>
                </a:solidFill>
              </a:rPr>
              <a:t>Başarılı 5,26; başarısız 5,85</a:t>
            </a:r>
            <a:endParaRPr lang="en-US" sz="2000" dirty="0"/>
          </a:p>
        </p:txBody>
      </p:sp>
      <p:sp>
        <p:nvSpPr>
          <p:cNvPr id="10" name="Kart"/>
          <p:cNvSpPr/>
          <p:nvPr/>
        </p:nvSpPr>
        <p:spPr>
          <a:xfrm>
            <a:off x="8046720" y="4359147"/>
            <a:ext cx="3566160" cy="1767333"/>
          </a:xfrm>
          <a:prstGeom prst="roundRect">
            <a:avLst>
              <a:gd name="adj" fmla="val 6209"/>
            </a:avLst>
          </a:prstGeom>
          <a:solidFill>
            <a:schemeClr val="bg2"/>
          </a:solidFill>
          <a:ln w="12700">
            <a:solidFill>
              <a:schemeClr val="bg2"/>
            </a:solidFill>
            <a:prstDash val="solid"/>
          </a:ln>
        </p:spPr>
      </p:sp>
      <p:sp>
        <p:nvSpPr>
          <p:cNvPr id="11" name="Text 7"/>
          <p:cNvSpPr txBox="1"/>
          <p:nvPr/>
        </p:nvSpPr>
        <p:spPr>
          <a:xfrm>
            <a:off x="8229600" y="4359147"/>
            <a:ext cx="3200400" cy="1767333"/>
          </a:xfrm>
          <a:prstGeom prst="rect">
            <a:avLst/>
          </a:prstGeom>
          <a:noFill/>
          <a:ln/>
        </p:spPr>
        <p:txBody>
          <a:bodyPr wrap="square" lIns="0" tIns="0" rIns="0" bIns="0" rtlCol="0" anchor="ctr"/>
          <a:lstStyle/>
          <a:p>
            <a:pPr marL="0" indent="0" algn="ctr">
              <a:buNone/>
            </a:pPr>
            <a:r>
              <a:rPr lang="en-US" sz="2000" b="1" dirty="0">
                <a:solidFill>
                  <a:schemeClr val="accent1"/>
                </a:solidFill>
              </a:rPr>
              <a:t>Paket-yıl</a:t>
            </a:r>
            <a:endParaRPr lang="en-US" sz="2000" dirty="0"/>
          </a:p>
          <a:p>
            <a:pPr marL="0" indent="0" algn="ctr">
              <a:buNone/>
            </a:pPr>
            <a:r>
              <a:rPr lang="en-US" sz="3000" b="1" dirty="0">
                <a:solidFill>
                  <a:schemeClr val="accent2"/>
                </a:solidFill>
              </a:rPr>
              <a:t>Fark yok</a:t>
            </a:r>
            <a:endParaRPr lang="en-US" sz="2000" dirty="0"/>
          </a:p>
          <a:p>
            <a:pPr marL="0" indent="0" algn="ctr">
              <a:buNone/>
            </a:pPr>
            <a:r>
              <a:rPr lang="en-US" sz="1800" dirty="0">
                <a:solidFill>
                  <a:schemeClr val="accent1"/>
                </a:solidFill>
              </a:rPr>
              <a:t>İki grup benzer</a:t>
            </a:r>
            <a:endParaRPr lang="en-US" sz="2000" dirty="0"/>
          </a:p>
        </p:txBody>
      </p:sp>
      <p:sp>
        <p:nvSpPr>
          <p:cNvPr id="12"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4.</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5: Tedavi yöntemine göre bırakma</a:t>
            </a:r>
            <a:endParaRPr lang="en-US" sz="3600" dirty="0"/>
          </a:p>
        </p:txBody>
      </p:sp>
      <p:sp>
        <p:nvSpPr>
          <p:cNvPr id="4" name="Görsel çerçeve"/>
          <p:cNvSpPr/>
          <p:nvPr/>
        </p:nvSpPr>
        <p:spPr>
          <a:xfrm>
            <a:off x="548640" y="1325880"/>
            <a:ext cx="11091672" cy="3216842"/>
          </a:xfrm>
          <a:prstGeom prst="rect">
            <a:avLst/>
          </a:prstGeom>
          <a:solidFill>
            <a:schemeClr val="bg1"/>
          </a:solidFill>
          <a:ln w="12700">
            <a:solidFill>
              <a:srgbClr val="C9DCDF"/>
            </a:solidFill>
            <a:prstDash val="solid"/>
          </a:ln>
        </p:spPr>
        <p:txBody>
          <a:bodyPr/>
          <a:p/>
        </p:txBody>
      </p:sp>
      <p:pic>
        <p:nvPicPr>
          <p:cNvPr id="5" name="Tablo 5: Tedavi yöntemlerinin bırakma durumu ile karşılaştırılması" descr="Tablo 5: Tedavi yöntemlerinin bırakma durumu ile karşılaştırılması"/>
          <p:cNvPicPr>
            <a:picLocks noChangeAspect="1"/>
          </p:cNvPicPr>
          <p:nvPr/>
        </p:nvPicPr>
        <p:blipFill>
          <a:blip r:embed="rId3"/>
          <a:stretch>
            <a:fillRect/>
          </a:stretch>
        </p:blipFill>
        <p:spPr>
          <a:xfrm>
            <a:off x="548640" y="1325880"/>
            <a:ext cx="11091672" cy="3216842"/>
          </a:xfrm>
          <a:prstGeom prst="rect">
            <a:avLst/>
          </a:prstGeom>
        </p:spPr>
      </p:pic>
      <p:sp>
        <p:nvSpPr>
          <p:cNvPr id="6" name="Kart"/>
          <p:cNvSpPr/>
          <p:nvPr/>
        </p:nvSpPr>
        <p:spPr>
          <a:xfrm>
            <a:off x="548640" y="4817042"/>
            <a:ext cx="3566160" cy="1309438"/>
          </a:xfrm>
          <a:prstGeom prst="roundRect">
            <a:avLst>
              <a:gd name="adj" fmla="val 8380"/>
            </a:avLst>
          </a:prstGeom>
          <a:solidFill>
            <a:schemeClr val="bg2"/>
          </a:solidFill>
          <a:ln w="12700">
            <a:solidFill>
              <a:schemeClr val="bg2"/>
            </a:solidFill>
            <a:prstDash val="solid"/>
          </a:ln>
        </p:spPr>
        <p:txBody>
          <a:bodyPr/>
          <a:p/>
        </p:txBody>
      </p:sp>
      <p:sp>
        <p:nvSpPr>
          <p:cNvPr id="7" name="Text 3"/>
          <p:cNvSpPr txBox="1"/>
          <p:nvPr/>
        </p:nvSpPr>
        <p:spPr>
          <a:xfrm>
            <a:off x="731520" y="4817042"/>
            <a:ext cx="3200400" cy="1309438"/>
          </a:xfrm>
          <a:prstGeom prst="rect">
            <a:avLst/>
          </a:prstGeom>
          <a:noFill/>
          <a:ln/>
        </p:spPr>
        <p:txBody>
          <a:bodyPr wrap="square" lIns="0" tIns="0" rIns="0" bIns="0" rtlCol="0" anchor="ctr"/>
          <a:lstStyle/>
          <a:p>
            <a:pPr marL="0" indent="0" algn="ctr">
              <a:buNone/>
            </a:pPr>
            <a:r>
              <a:rPr lang="en-US" sz="2000" b="1" dirty="0">
                <a:solidFill>
                  <a:schemeClr val="accent1"/>
                </a:solidFill>
              </a:rPr>
              <a:t>En yüksek</a:t>
            </a:r>
            <a:endParaRPr lang="en-US" sz="2000" dirty="0"/>
          </a:p>
          <a:p>
            <a:pPr marL="0" indent="0" algn="ctr">
              <a:buNone/>
            </a:pPr>
            <a:r>
              <a:rPr lang="en-US" sz="2200" dirty="0">
                <a:solidFill>
                  <a:schemeClr val="accent1"/>
                </a:solidFill>
              </a:rPr>
              <a:t>Kombine tedavi %44,0</a:t>
            </a:r>
            <a:endParaRPr lang="en-US" sz="2000" dirty="0"/>
          </a:p>
        </p:txBody>
      </p:sp>
      <p:sp>
        <p:nvSpPr>
          <p:cNvPr id="8" name="Kart"/>
          <p:cNvSpPr/>
          <p:nvPr/>
        </p:nvSpPr>
        <p:spPr>
          <a:xfrm>
            <a:off x="4297680" y="4817042"/>
            <a:ext cx="3566160" cy="1309438"/>
          </a:xfrm>
          <a:prstGeom prst="roundRect">
            <a:avLst>
              <a:gd name="adj" fmla="val 8380"/>
            </a:avLst>
          </a:prstGeom>
          <a:solidFill>
            <a:schemeClr val="accent1"/>
          </a:solidFill>
          <a:ln w="12700">
            <a:solidFill>
              <a:schemeClr val="accent1"/>
            </a:solidFill>
            <a:prstDash val="solid"/>
          </a:ln>
        </p:spPr>
        <p:txBody>
          <a:bodyPr/>
          <a:p/>
        </p:txBody>
      </p:sp>
      <p:sp>
        <p:nvSpPr>
          <p:cNvPr id="9" name="Text 5"/>
          <p:cNvSpPr txBox="1"/>
          <p:nvPr/>
        </p:nvSpPr>
        <p:spPr>
          <a:xfrm>
            <a:off x="4480560" y="4826373"/>
            <a:ext cx="3200400" cy="1309438"/>
          </a:xfrm>
          <a:prstGeom prst="rect">
            <a:avLst/>
          </a:prstGeom>
          <a:noFill/>
          <a:ln/>
        </p:spPr>
        <p:txBody>
          <a:bodyPr wrap="square" lIns="0" tIns="0" rIns="0" bIns="0" rtlCol="0" anchor="ctr"/>
          <a:lstStyle/>
          <a:p>
            <a:pPr marL="0" indent="0" algn="ctr">
              <a:buNone/>
            </a:pPr>
            <a:r>
              <a:rPr lang="en-US" sz="2000" b="1" dirty="0">
                <a:solidFill>
                  <a:schemeClr val="bg1"/>
                </a:solidFill>
              </a:rPr>
              <a:t>En düşük</a:t>
            </a:r>
            <a:endParaRPr lang="en-US" sz="2000" dirty="0"/>
          </a:p>
          <a:p>
            <a:pPr marL="0" indent="0" algn="ctr">
              <a:buNone/>
            </a:pPr>
            <a:r>
              <a:rPr lang="en-US" sz="2200" dirty="0">
                <a:solidFill>
                  <a:schemeClr val="bg1"/>
                </a:solidFill>
              </a:rPr>
              <a:t>Bupropion %16,5</a:t>
            </a:r>
            <a:endParaRPr lang="en-US" sz="2000" dirty="0"/>
          </a:p>
        </p:txBody>
      </p:sp>
      <p:sp>
        <p:nvSpPr>
          <p:cNvPr id="10" name="Kart"/>
          <p:cNvSpPr/>
          <p:nvPr/>
        </p:nvSpPr>
        <p:spPr>
          <a:xfrm>
            <a:off x="8046720" y="4817042"/>
            <a:ext cx="3566160" cy="1309438"/>
          </a:xfrm>
          <a:prstGeom prst="roundRect">
            <a:avLst>
              <a:gd name="adj" fmla="val 8380"/>
            </a:avLst>
          </a:prstGeom>
          <a:solidFill>
            <a:schemeClr val="bg2"/>
          </a:solidFill>
          <a:ln w="12700">
            <a:solidFill>
              <a:schemeClr val="bg2"/>
            </a:solidFill>
            <a:prstDash val="solid"/>
          </a:ln>
        </p:spPr>
        <p:txBody>
          <a:bodyPr/>
          <a:p/>
        </p:txBody>
      </p:sp>
      <p:sp>
        <p:nvSpPr>
          <p:cNvPr id="11" name="Text 7"/>
          <p:cNvSpPr txBox="1"/>
          <p:nvPr/>
        </p:nvSpPr>
        <p:spPr>
          <a:xfrm>
            <a:off x="8229600" y="4817042"/>
            <a:ext cx="3200400" cy="1309438"/>
          </a:xfrm>
          <a:prstGeom prst="rect">
            <a:avLst/>
          </a:prstGeom>
          <a:noFill/>
          <a:ln/>
        </p:spPr>
        <p:txBody>
          <a:bodyPr wrap="square" lIns="0" tIns="0" rIns="0" bIns="0" rtlCol="0" anchor="ctr"/>
          <a:lstStyle/>
          <a:p>
            <a:pPr marL="0" indent="0" algn="ctr">
              <a:buNone/>
            </a:pPr>
            <a:r>
              <a:rPr lang="en-US" sz="2000" b="1" dirty="0">
                <a:solidFill>
                  <a:schemeClr val="accent1"/>
                </a:solidFill>
              </a:rPr>
              <a:t>Gruplar arası</a:t>
            </a:r>
            <a:endParaRPr lang="en-US" sz="2000" dirty="0"/>
          </a:p>
          <a:p>
            <a:pPr marL="0" indent="0" algn="ctr">
              <a:buNone/>
            </a:pPr>
            <a:r>
              <a:rPr lang="en-US" sz="2200" dirty="0">
                <a:solidFill>
                  <a:schemeClr val="accent1"/>
                </a:solidFill>
              </a:rPr>
              <a:t>p &lt; 0,001</a:t>
            </a:r>
            <a:endParaRPr lang="en-US" sz="2000" dirty="0"/>
          </a:p>
        </p:txBody>
      </p:sp>
      <p:sp>
        <p:nvSpPr>
          <p:cNvPr id="12"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5.</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Tablo 6: Lojistik regresyon</a:t>
            </a:r>
            <a:endParaRPr lang="en-US" sz="3600" dirty="0"/>
          </a:p>
        </p:txBody>
      </p:sp>
      <p:sp>
        <p:nvSpPr>
          <p:cNvPr id="4" name="Görsel çerçeve"/>
          <p:cNvSpPr/>
          <p:nvPr/>
        </p:nvSpPr>
        <p:spPr>
          <a:xfrm>
            <a:off x="548640" y="1325880"/>
            <a:ext cx="7841940" cy="4892040"/>
          </a:xfrm>
          <a:prstGeom prst="rect">
            <a:avLst/>
          </a:prstGeom>
          <a:solidFill>
            <a:schemeClr val="bg1"/>
          </a:solidFill>
          <a:ln w="12700">
            <a:solidFill>
              <a:srgbClr val="C9DCDF"/>
            </a:solidFill>
            <a:prstDash val="solid"/>
          </a:ln>
        </p:spPr>
      </p:sp>
      <p:pic>
        <p:nvPicPr>
          <p:cNvPr id="5" name="Tablo 6: Lojistik regresyon sonuçları" descr="Tablo 6: Lojistik regresyon sonuçları"/>
          <p:cNvPicPr>
            <a:picLocks noChangeAspect="1"/>
          </p:cNvPicPr>
          <p:nvPr/>
        </p:nvPicPr>
        <p:blipFill>
          <a:blip r:embed="rId3"/>
          <a:stretch>
            <a:fillRect/>
          </a:stretch>
        </p:blipFill>
        <p:spPr>
          <a:xfrm>
            <a:off x="548640" y="1325880"/>
            <a:ext cx="7841940" cy="4892040"/>
          </a:xfrm>
          <a:prstGeom prst="rect">
            <a:avLst/>
          </a:prstGeom>
        </p:spPr>
      </p:pic>
      <p:sp>
        <p:nvSpPr>
          <p:cNvPr id="6" name="Kart"/>
          <p:cNvSpPr/>
          <p:nvPr/>
        </p:nvSpPr>
        <p:spPr>
          <a:xfrm>
            <a:off x="8710620" y="1325880"/>
            <a:ext cx="2929692" cy="4892040"/>
          </a:xfrm>
          <a:prstGeom prst="roundRect">
            <a:avLst>
              <a:gd name="adj" fmla="val 3745"/>
            </a:avLst>
          </a:prstGeom>
          <a:solidFill>
            <a:schemeClr val="accent1"/>
          </a:solidFill>
          <a:ln w="12700">
            <a:solidFill>
              <a:schemeClr val="accent1"/>
            </a:solidFill>
            <a:prstDash val="solid"/>
          </a:ln>
        </p:spPr>
      </p:sp>
      <p:sp>
        <p:nvSpPr>
          <p:cNvPr id="7" name="Text 3"/>
          <p:cNvSpPr txBox="1"/>
          <p:nvPr/>
        </p:nvSpPr>
        <p:spPr>
          <a:xfrm>
            <a:off x="8939220" y="1508760"/>
            <a:ext cx="2472492" cy="4526280"/>
          </a:xfrm>
          <a:prstGeom prst="rect">
            <a:avLst/>
          </a:prstGeom>
          <a:noFill/>
          <a:ln/>
        </p:spPr>
        <p:txBody>
          <a:bodyPr wrap="square" lIns="0" tIns="0" rIns="0" bIns="0" rtlCol="0" anchor="t"/>
          <a:lstStyle/>
          <a:p>
            <a:pPr marL="0" indent="0">
              <a:spcAft>
                <a:spcPts val="1200"/>
              </a:spcAft>
              <a:buNone/>
            </a:pPr>
            <a:r>
              <a:rPr lang="en-US" sz="1800" b="1" dirty="0">
                <a:solidFill>
                  <a:schemeClr val="bg1"/>
                </a:solidFill>
              </a:rPr>
              <a:t>Referans: bupropion</a:t>
            </a:r>
            <a:endParaRPr lang="en-US" sz="1800" dirty="0"/>
          </a:p>
          <a:p>
            <a:pPr marL="0" indent="0">
              <a:buNone/>
            </a:pPr>
            <a:r>
              <a:rPr lang="en-US" sz="3000" b="1" dirty="0">
                <a:solidFill>
                  <a:schemeClr val="bg1"/>
                </a:solidFill>
              </a:rPr>
              <a:t>4,0 kat</a:t>
            </a:r>
            <a:endParaRPr lang="en-US" sz="1800" dirty="0"/>
          </a:p>
          <a:p>
            <a:pPr marL="0" indent="0">
              <a:spcAft>
                <a:spcPts val="1200"/>
              </a:spcAft>
              <a:buNone/>
            </a:pPr>
            <a:r>
              <a:rPr lang="en-US" sz="1800" dirty="0">
                <a:solidFill>
                  <a:schemeClr val="bg1"/>
                </a:solidFill>
              </a:rPr>
              <a:t>vareniklin, kombine</a:t>
            </a:r>
            <a:endParaRPr lang="en-US" sz="1800" dirty="0"/>
          </a:p>
          <a:p>
            <a:pPr marL="0" indent="0">
              <a:buNone/>
            </a:pPr>
            <a:r>
              <a:rPr lang="en-US" sz="3000" b="1" dirty="0">
                <a:solidFill>
                  <a:schemeClr val="bg1"/>
                </a:solidFill>
              </a:rPr>
              <a:t>2,0 kat</a:t>
            </a:r>
            <a:endParaRPr lang="en-US" sz="1800" dirty="0"/>
          </a:p>
          <a:p>
            <a:pPr marL="0" indent="0">
              <a:spcAft>
                <a:spcPts val="1200"/>
              </a:spcAft>
              <a:buNone/>
            </a:pPr>
            <a:r>
              <a:rPr lang="en-US" sz="1800" dirty="0">
                <a:solidFill>
                  <a:schemeClr val="bg1"/>
                </a:solidFill>
              </a:rPr>
              <a:t>hanede sigara içen yok</a:t>
            </a:r>
            <a:endParaRPr lang="en-US" sz="1800" dirty="0"/>
          </a:p>
          <a:p>
            <a:pPr marL="0" indent="0">
              <a:buNone/>
            </a:pPr>
            <a:r>
              <a:rPr lang="en-US" sz="3000" b="1" dirty="0">
                <a:solidFill>
                  <a:schemeClr val="bg1"/>
                </a:solidFill>
              </a:rPr>
              <a:t>1,6 kat</a:t>
            </a:r>
            <a:endParaRPr lang="en-US" sz="1800" dirty="0"/>
          </a:p>
          <a:p>
            <a:pPr marL="0" indent="0">
              <a:buNone/>
            </a:pPr>
            <a:r>
              <a:rPr lang="en-US" sz="1800" dirty="0">
                <a:solidFill>
                  <a:schemeClr val="bg1"/>
                </a:solidFill>
              </a:rPr>
              <a:t>yakınma yok</a:t>
            </a:r>
            <a:endParaRPr lang="en-US" sz="1800" dirty="0"/>
          </a:p>
        </p:txBody>
      </p:sp>
      <p:sp>
        <p:nvSpPr>
          <p:cNvPr id="8"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Görsel: Cenberlitaş E, Gökçe A, Öztürk O. Turk J Fam Pract. 2026;30(2):97-106, Tablo 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Tartışma: tedaviler ve literatür</a:t>
            </a:r>
            <a:endParaRPr lang="en-US" sz="3600" dirty="0"/>
          </a:p>
        </p:txBody>
      </p:sp>
      <p:sp>
        <p:nvSpPr>
          <p:cNvPr id="4" name="Ikon zemini"/>
          <p:cNvSpPr/>
          <p:nvPr/>
        </p:nvSpPr>
        <p:spPr>
          <a:xfrm>
            <a:off x="548640" y="1444752"/>
            <a:ext cx="868680" cy="868680"/>
          </a:xfrm>
          <a:prstGeom prst="ellipse">
            <a:avLst/>
          </a:prstGeom>
          <a:solidFill>
            <a:schemeClr val="accent2"/>
          </a:solidFill>
          <a:ln w="12700">
            <a:solidFill>
              <a:schemeClr val="accent2"/>
            </a:solidFill>
            <a:prstDash val="solid"/>
          </a:ln>
        </p:spPr>
        <p:txBody>
          <a:bodyPr/>
          <a:p/>
        </p:txBody>
      </p:sp>
      <p:pic>
        <p:nvPicPr>
          <p:cNvPr id="5" name="Ikon" descr="FaPills"/>
          <p:cNvPicPr>
            <a:picLocks noChangeAspect="1"/>
          </p:cNvPicPr>
          <p:nvPr/>
        </p:nvPicPr>
        <p:blipFill>
          <a:blip r:embed="rId3"/>
          <a:stretch>
            <a:fillRect/>
          </a:stretch>
        </p:blipFill>
        <p:spPr>
          <a:xfrm>
            <a:off x="774497" y="1670609"/>
            <a:ext cx="416966" cy="416966"/>
          </a:xfrm>
          <a:prstGeom prst="rect">
            <a:avLst/>
          </a:prstGeom>
        </p:spPr>
      </p:pic>
      <p:sp>
        <p:nvSpPr>
          <p:cNvPr id="6" name="Text 2"/>
          <p:cNvSpPr txBox="1"/>
          <p:nvPr/>
        </p:nvSpPr>
        <p:spPr>
          <a:xfrm>
            <a:off x="1691640" y="1371600"/>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Vareniklin</a:t>
            </a:r>
            <a:endParaRPr lang="en-US" sz="2600" dirty="0"/>
          </a:p>
        </p:txBody>
      </p:sp>
      <p:sp>
        <p:nvSpPr>
          <p:cNvPr id="7" name="Text 3"/>
          <p:cNvSpPr txBox="1"/>
          <p:nvPr/>
        </p:nvSpPr>
        <p:spPr>
          <a:xfrm>
            <a:off x="4937760" y="1371600"/>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Bupropiona üstün; parsiyel agonist etkiyle açıklanmaktadır</a:t>
            </a:r>
            <a:r>
              <a:rPr lang="en-US" sz="1800" dirty="0">
                <a:solidFill>
                  <a:schemeClr val="accent3"/>
                </a:solidFill>
              </a:rPr>
              <a:t>  [8, 9]</a:t>
            </a:r>
            <a:endParaRPr lang="en-US" sz="2200" dirty="0"/>
          </a:p>
        </p:txBody>
      </p:sp>
      <p:sp>
        <p:nvSpPr>
          <p:cNvPr id="8" name="Ikon zemini"/>
          <p:cNvSpPr/>
          <p:nvPr/>
        </p:nvSpPr>
        <p:spPr>
          <a:xfrm>
            <a:off x="548640" y="2651760"/>
            <a:ext cx="868680" cy="868680"/>
          </a:xfrm>
          <a:prstGeom prst="ellipse">
            <a:avLst/>
          </a:prstGeom>
          <a:solidFill>
            <a:schemeClr val="accent1"/>
          </a:solidFill>
          <a:ln w="12700">
            <a:solidFill>
              <a:schemeClr val="accent1"/>
            </a:solidFill>
            <a:prstDash val="solid"/>
          </a:ln>
        </p:spPr>
        <p:txBody>
          <a:bodyPr/>
          <a:p/>
        </p:txBody>
      </p:sp>
      <p:pic>
        <p:nvPicPr>
          <p:cNvPr id="9" name="Ikon" descr="FaLeaf"/>
          <p:cNvPicPr>
            <a:picLocks noChangeAspect="1"/>
          </p:cNvPicPr>
          <p:nvPr/>
        </p:nvPicPr>
        <p:blipFill>
          <a:blip r:embed="rId4"/>
          <a:stretch>
            <a:fillRect/>
          </a:stretch>
        </p:blipFill>
        <p:spPr>
          <a:xfrm>
            <a:off x="774497" y="2877617"/>
            <a:ext cx="416966" cy="416966"/>
          </a:xfrm>
          <a:prstGeom prst="rect">
            <a:avLst/>
          </a:prstGeom>
        </p:spPr>
      </p:pic>
      <p:sp>
        <p:nvSpPr>
          <p:cNvPr id="10" name="Text 5"/>
          <p:cNvSpPr txBox="1"/>
          <p:nvPr/>
        </p:nvSpPr>
        <p:spPr>
          <a:xfrm>
            <a:off x="1691640" y="2578608"/>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Sitizin</a:t>
            </a:r>
            <a:endParaRPr lang="en-US" sz="2600" dirty="0"/>
          </a:p>
        </p:txBody>
      </p:sp>
      <p:sp>
        <p:nvSpPr>
          <p:cNvPr id="11" name="Text 6"/>
          <p:cNvSpPr txBox="1"/>
          <p:nvPr/>
        </p:nvSpPr>
        <p:spPr>
          <a:xfrm>
            <a:off x="4937760" y="2578608"/>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Plaseboya üstün; NRT ve vareniklinle benzer</a:t>
            </a:r>
            <a:r>
              <a:rPr lang="en-US" sz="1800" dirty="0">
                <a:solidFill>
                  <a:schemeClr val="accent3"/>
                </a:solidFill>
              </a:rPr>
              <a:t>  [10, 11]</a:t>
            </a:r>
            <a:endParaRPr lang="en-US" sz="2200" dirty="0"/>
          </a:p>
        </p:txBody>
      </p:sp>
      <p:sp>
        <p:nvSpPr>
          <p:cNvPr id="12" name="Ikon zemini"/>
          <p:cNvSpPr/>
          <p:nvPr/>
        </p:nvSpPr>
        <p:spPr>
          <a:xfrm>
            <a:off x="548640" y="3858768"/>
            <a:ext cx="868680" cy="868680"/>
          </a:xfrm>
          <a:prstGeom prst="ellipse">
            <a:avLst/>
          </a:prstGeom>
          <a:solidFill>
            <a:schemeClr val="accent2"/>
          </a:solidFill>
          <a:ln w="12700">
            <a:solidFill>
              <a:schemeClr val="accent2"/>
            </a:solidFill>
            <a:prstDash val="solid"/>
          </a:ln>
        </p:spPr>
        <p:txBody>
          <a:bodyPr/>
          <a:p/>
        </p:txBody>
      </p:sp>
      <p:pic>
        <p:nvPicPr>
          <p:cNvPr id="13" name="Ikon" descr="FaExchangeAlt"/>
          <p:cNvPicPr>
            <a:picLocks noChangeAspect="1"/>
          </p:cNvPicPr>
          <p:nvPr/>
        </p:nvPicPr>
        <p:blipFill>
          <a:blip r:embed="rId5"/>
          <a:stretch>
            <a:fillRect/>
          </a:stretch>
        </p:blipFill>
        <p:spPr>
          <a:xfrm>
            <a:off x="774497" y="4084625"/>
            <a:ext cx="416966" cy="416966"/>
          </a:xfrm>
          <a:prstGeom prst="rect">
            <a:avLst/>
          </a:prstGeom>
        </p:spPr>
      </p:pic>
      <p:sp>
        <p:nvSpPr>
          <p:cNvPr id="14" name="Text 8"/>
          <p:cNvSpPr txBox="1"/>
          <p:nvPr/>
        </p:nvSpPr>
        <p:spPr>
          <a:xfrm>
            <a:off x="1691640" y="3785616"/>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Kombine tedavi</a:t>
            </a:r>
            <a:endParaRPr lang="en-US" sz="2600" dirty="0"/>
          </a:p>
        </p:txBody>
      </p:sp>
      <p:sp>
        <p:nvSpPr>
          <p:cNvPr id="15" name="Text 9"/>
          <p:cNvSpPr txBox="1"/>
          <p:nvPr/>
        </p:nvSpPr>
        <p:spPr>
          <a:xfrm>
            <a:off x="4937760" y="3785616"/>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Kılavuz önerileriyle uyumlu</a:t>
            </a:r>
            <a:r>
              <a:rPr lang="en-US" sz="1800" dirty="0">
                <a:solidFill>
                  <a:schemeClr val="accent3"/>
                </a:solidFill>
              </a:rPr>
              <a:t>  [12]</a:t>
            </a:r>
            <a:endParaRPr lang="en-US" sz="2200" dirty="0"/>
          </a:p>
        </p:txBody>
      </p:sp>
      <p:sp>
        <p:nvSpPr>
          <p:cNvPr id="16" name="Ikon zemini"/>
          <p:cNvSpPr/>
          <p:nvPr/>
        </p:nvSpPr>
        <p:spPr>
          <a:xfrm>
            <a:off x="548640" y="5065776"/>
            <a:ext cx="868680" cy="868680"/>
          </a:xfrm>
          <a:prstGeom prst="ellipse">
            <a:avLst/>
          </a:prstGeom>
          <a:solidFill>
            <a:schemeClr val="accent1"/>
          </a:solidFill>
          <a:ln w="12700">
            <a:solidFill>
              <a:schemeClr val="accent1"/>
            </a:solidFill>
            <a:prstDash val="solid"/>
          </a:ln>
        </p:spPr>
        <p:txBody>
          <a:bodyPr/>
          <a:p/>
        </p:txBody>
      </p:sp>
      <p:pic>
        <p:nvPicPr>
          <p:cNvPr id="17" name="Ikon" descr="FaBookMedical"/>
          <p:cNvPicPr>
            <a:picLocks noChangeAspect="1"/>
          </p:cNvPicPr>
          <p:nvPr/>
        </p:nvPicPr>
        <p:blipFill>
          <a:blip r:embed="rId6"/>
          <a:stretch>
            <a:fillRect/>
          </a:stretch>
        </p:blipFill>
        <p:spPr>
          <a:xfrm>
            <a:off x="774497" y="5291633"/>
            <a:ext cx="416966" cy="416966"/>
          </a:xfrm>
          <a:prstGeom prst="rect">
            <a:avLst/>
          </a:prstGeom>
        </p:spPr>
      </p:pic>
      <p:sp>
        <p:nvSpPr>
          <p:cNvPr id="18" name="Text 11"/>
          <p:cNvSpPr txBox="1"/>
          <p:nvPr/>
        </p:nvSpPr>
        <p:spPr>
          <a:xfrm>
            <a:off x="1691640" y="4992624"/>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Benli ve ark.</a:t>
            </a:r>
            <a:endParaRPr lang="en-US" sz="2600" dirty="0"/>
          </a:p>
        </p:txBody>
      </p:sp>
      <p:sp>
        <p:nvSpPr>
          <p:cNvPr id="19" name="Text 12"/>
          <p:cNvSpPr txBox="1"/>
          <p:nvPr/>
        </p:nvSpPr>
        <p:spPr>
          <a:xfrm>
            <a:off x="4937760" y="4992624"/>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Vareniklin ilk 6 ayda daha etkili</a:t>
            </a:r>
            <a:r>
              <a:rPr lang="en-US" sz="1800" dirty="0">
                <a:solidFill>
                  <a:schemeClr val="accent3"/>
                </a:solidFill>
              </a:rPr>
              <a:t>  [13]</a:t>
            </a:r>
            <a:endParaRPr lang="en-US" sz="2200" dirty="0"/>
          </a:p>
        </p:txBody>
      </p:sp>
      <p:sp>
        <p:nvSpPr>
          <p:cNvPr id="20"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1, 8–13</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Tartışma: başarıyı etkileyen faktörler</a:t>
            </a:r>
            <a:endParaRPr lang="en-US" sz="3600" dirty="0"/>
          </a:p>
        </p:txBody>
      </p:sp>
      <p:sp>
        <p:nvSpPr>
          <p:cNvPr id="4" name="Ikon zemini"/>
          <p:cNvSpPr/>
          <p:nvPr/>
        </p:nvSpPr>
        <p:spPr>
          <a:xfrm>
            <a:off x="548640" y="1444752"/>
            <a:ext cx="868680" cy="868680"/>
          </a:xfrm>
          <a:prstGeom prst="ellipse">
            <a:avLst/>
          </a:prstGeom>
          <a:solidFill>
            <a:schemeClr val="accent2"/>
          </a:solidFill>
          <a:ln w="12700">
            <a:solidFill>
              <a:schemeClr val="accent2"/>
            </a:solidFill>
            <a:prstDash val="solid"/>
          </a:ln>
        </p:spPr>
        <p:txBody>
          <a:bodyPr/>
          <a:p/>
        </p:txBody>
      </p:sp>
      <p:pic>
        <p:nvPicPr>
          <p:cNvPr id="5" name="Ikon" descr="FaComments"/>
          <p:cNvPicPr>
            <a:picLocks noChangeAspect="1"/>
          </p:cNvPicPr>
          <p:nvPr/>
        </p:nvPicPr>
        <p:blipFill>
          <a:blip r:embed="rId3"/>
          <a:stretch>
            <a:fillRect/>
          </a:stretch>
        </p:blipFill>
        <p:spPr>
          <a:xfrm>
            <a:off x="774497" y="1670609"/>
            <a:ext cx="416966" cy="416966"/>
          </a:xfrm>
          <a:prstGeom prst="rect">
            <a:avLst/>
          </a:prstGeom>
        </p:spPr>
      </p:pic>
      <p:sp>
        <p:nvSpPr>
          <p:cNvPr id="6" name="Text 2"/>
          <p:cNvSpPr txBox="1"/>
          <p:nvPr/>
        </p:nvSpPr>
        <p:spPr>
          <a:xfrm>
            <a:off x="1691640" y="1371600"/>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Davranışsal destek</a:t>
            </a:r>
            <a:endParaRPr lang="en-US" sz="2600" dirty="0"/>
          </a:p>
        </p:txBody>
      </p:sp>
      <p:sp>
        <p:nvSpPr>
          <p:cNvPr id="7" name="Text 3"/>
          <p:cNvSpPr txBox="1"/>
          <p:nvPr/>
        </p:nvSpPr>
        <p:spPr>
          <a:xfrm>
            <a:off x="4937760" y="1371600"/>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Görüşme sayısı arttıkça başarı artmaktadır</a:t>
            </a:r>
            <a:endParaRPr lang="en-US" sz="2200" dirty="0"/>
          </a:p>
        </p:txBody>
      </p:sp>
      <p:sp>
        <p:nvSpPr>
          <p:cNvPr id="8" name="Ikon zemini"/>
          <p:cNvSpPr/>
          <p:nvPr/>
        </p:nvSpPr>
        <p:spPr>
          <a:xfrm>
            <a:off x="548640" y="2651760"/>
            <a:ext cx="868680" cy="868680"/>
          </a:xfrm>
          <a:prstGeom prst="ellipse">
            <a:avLst/>
          </a:prstGeom>
          <a:solidFill>
            <a:schemeClr val="accent1"/>
          </a:solidFill>
          <a:ln w="12700">
            <a:solidFill>
              <a:schemeClr val="accent1"/>
            </a:solidFill>
            <a:prstDash val="solid"/>
          </a:ln>
        </p:spPr>
        <p:txBody>
          <a:bodyPr/>
          <a:p/>
        </p:txBody>
      </p:sp>
      <p:pic>
        <p:nvPicPr>
          <p:cNvPr id="9" name="Ikon" descr="FaHome"/>
          <p:cNvPicPr>
            <a:picLocks noChangeAspect="1"/>
          </p:cNvPicPr>
          <p:nvPr/>
        </p:nvPicPr>
        <p:blipFill>
          <a:blip r:embed="rId4"/>
          <a:stretch>
            <a:fillRect/>
          </a:stretch>
        </p:blipFill>
        <p:spPr>
          <a:xfrm>
            <a:off x="774497" y="2877617"/>
            <a:ext cx="416966" cy="416966"/>
          </a:xfrm>
          <a:prstGeom prst="rect">
            <a:avLst/>
          </a:prstGeom>
        </p:spPr>
      </p:pic>
      <p:sp>
        <p:nvSpPr>
          <p:cNvPr id="10" name="Text 5"/>
          <p:cNvSpPr txBox="1"/>
          <p:nvPr/>
        </p:nvSpPr>
        <p:spPr>
          <a:xfrm>
            <a:off x="1691640" y="2578608"/>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Hane ortamı</a:t>
            </a:r>
            <a:endParaRPr lang="en-US" sz="2600" dirty="0"/>
          </a:p>
        </p:txBody>
      </p:sp>
      <p:sp>
        <p:nvSpPr>
          <p:cNvPr id="11" name="Text 6"/>
          <p:cNvSpPr txBox="1"/>
          <p:nvPr/>
        </p:nvSpPr>
        <p:spPr>
          <a:xfrm>
            <a:off x="4937760" y="2578608"/>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Evde sigara içilmemesi olasılığı ikiye katlamaktadır</a:t>
            </a:r>
            <a:r>
              <a:rPr lang="en-US" sz="1800" dirty="0">
                <a:solidFill>
                  <a:schemeClr val="accent3"/>
                </a:solidFill>
              </a:rPr>
              <a:t>  [14]</a:t>
            </a:r>
            <a:endParaRPr lang="en-US" sz="2200" dirty="0"/>
          </a:p>
        </p:txBody>
      </p:sp>
      <p:sp>
        <p:nvSpPr>
          <p:cNvPr id="12" name="Ikon zemini"/>
          <p:cNvSpPr/>
          <p:nvPr/>
        </p:nvSpPr>
        <p:spPr>
          <a:xfrm>
            <a:off x="548640" y="3858768"/>
            <a:ext cx="868680" cy="868680"/>
          </a:xfrm>
          <a:prstGeom prst="ellipse">
            <a:avLst/>
          </a:prstGeom>
          <a:solidFill>
            <a:schemeClr val="accent2"/>
          </a:solidFill>
          <a:ln w="12700">
            <a:solidFill>
              <a:schemeClr val="accent2"/>
            </a:solidFill>
            <a:prstDash val="solid"/>
          </a:ln>
        </p:spPr>
        <p:txBody>
          <a:bodyPr/>
          <a:p/>
        </p:txBody>
      </p:sp>
      <p:pic>
        <p:nvPicPr>
          <p:cNvPr id="13" name="Ikon" descr="FaClipboardList"/>
          <p:cNvPicPr>
            <a:picLocks noChangeAspect="1"/>
          </p:cNvPicPr>
          <p:nvPr/>
        </p:nvPicPr>
        <p:blipFill>
          <a:blip r:embed="rId5"/>
          <a:stretch>
            <a:fillRect/>
          </a:stretch>
        </p:blipFill>
        <p:spPr>
          <a:xfrm>
            <a:off x="774497" y="4084625"/>
            <a:ext cx="416966" cy="416966"/>
          </a:xfrm>
          <a:prstGeom prst="rect">
            <a:avLst/>
          </a:prstGeom>
        </p:spPr>
      </p:pic>
      <p:sp>
        <p:nvSpPr>
          <p:cNvPr id="14" name="Text 8"/>
          <p:cNvSpPr txBox="1"/>
          <p:nvPr/>
        </p:nvSpPr>
        <p:spPr>
          <a:xfrm>
            <a:off x="1691640" y="3785616"/>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Bağımlılık düzeyi</a:t>
            </a:r>
            <a:endParaRPr lang="en-US" sz="2600" dirty="0"/>
          </a:p>
        </p:txBody>
      </p:sp>
      <p:sp>
        <p:nvSpPr>
          <p:cNvPr id="15" name="Text 9"/>
          <p:cNvSpPr txBox="1"/>
          <p:nvPr/>
        </p:nvSpPr>
        <p:spPr>
          <a:xfrm>
            <a:off x="4937760" y="3785616"/>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Ortalama puan literatürle uyumlu; yüksek puan düşük başarıyla ilişkili</a:t>
            </a:r>
            <a:r>
              <a:rPr lang="en-US" sz="1800" dirty="0">
                <a:solidFill>
                  <a:schemeClr val="accent3"/>
                </a:solidFill>
              </a:rPr>
              <a:t>  [15]</a:t>
            </a:r>
            <a:endParaRPr lang="en-US" sz="2200" dirty="0"/>
          </a:p>
        </p:txBody>
      </p:sp>
      <p:sp>
        <p:nvSpPr>
          <p:cNvPr id="16" name="Ikon zemini"/>
          <p:cNvSpPr/>
          <p:nvPr/>
        </p:nvSpPr>
        <p:spPr>
          <a:xfrm>
            <a:off x="548640" y="5065776"/>
            <a:ext cx="868680" cy="868680"/>
          </a:xfrm>
          <a:prstGeom prst="ellipse">
            <a:avLst/>
          </a:prstGeom>
          <a:solidFill>
            <a:schemeClr val="accent1"/>
          </a:solidFill>
          <a:ln w="12700">
            <a:solidFill>
              <a:schemeClr val="accent1"/>
            </a:solidFill>
            <a:prstDash val="solid"/>
          </a:ln>
        </p:spPr>
        <p:txBody>
          <a:bodyPr/>
          <a:p/>
        </p:txBody>
      </p:sp>
      <p:pic>
        <p:nvPicPr>
          <p:cNvPr id="17" name="Ikon" descr="FaLightbulb"/>
          <p:cNvPicPr>
            <a:picLocks noChangeAspect="1"/>
          </p:cNvPicPr>
          <p:nvPr/>
        </p:nvPicPr>
        <p:blipFill>
          <a:blip r:embed="rId6"/>
          <a:stretch>
            <a:fillRect/>
          </a:stretch>
        </p:blipFill>
        <p:spPr>
          <a:xfrm>
            <a:off x="774497" y="5291633"/>
            <a:ext cx="416966" cy="416966"/>
          </a:xfrm>
          <a:prstGeom prst="rect">
            <a:avLst/>
          </a:prstGeom>
        </p:spPr>
      </p:pic>
      <p:sp>
        <p:nvSpPr>
          <p:cNvPr id="18" name="Text 11"/>
          <p:cNvSpPr txBox="1"/>
          <p:nvPr/>
        </p:nvSpPr>
        <p:spPr>
          <a:xfrm>
            <a:off x="1691640" y="4992624"/>
            <a:ext cx="3200400" cy="1005840"/>
          </a:xfrm>
          <a:prstGeom prst="rect">
            <a:avLst/>
          </a:prstGeom>
          <a:noFill/>
          <a:ln/>
        </p:spPr>
        <p:txBody>
          <a:bodyPr wrap="square" lIns="0" tIns="0" rIns="0" bIns="0" rtlCol="0" anchor="ctr"/>
          <a:lstStyle/>
          <a:p>
            <a:pPr marL="0" indent="0">
              <a:buNone/>
            </a:pPr>
            <a:r>
              <a:rPr lang="en-US" sz="2600" b="1" dirty="0">
                <a:solidFill>
                  <a:schemeClr val="accent1"/>
                </a:solidFill>
              </a:rPr>
              <a:t>İçsel motivasyon</a:t>
            </a:r>
            <a:endParaRPr lang="en-US" sz="2600" dirty="0"/>
          </a:p>
        </p:txBody>
      </p:sp>
      <p:sp>
        <p:nvSpPr>
          <p:cNvPr id="19" name="Text 12"/>
          <p:cNvSpPr txBox="1"/>
          <p:nvPr/>
        </p:nvSpPr>
        <p:spPr>
          <a:xfrm>
            <a:off x="4937760" y="4992624"/>
            <a:ext cx="6675120" cy="1005840"/>
          </a:xfrm>
          <a:prstGeom prst="rect">
            <a:avLst/>
          </a:prstGeom>
          <a:noFill/>
          <a:ln/>
        </p:spPr>
        <p:txBody>
          <a:bodyPr wrap="square" lIns="0" tIns="0" rIns="0" bIns="0" rtlCol="0" anchor="ctr"/>
          <a:lstStyle/>
          <a:p>
            <a:pPr marL="0" indent="0">
              <a:buNone/>
            </a:pPr>
            <a:r>
              <a:rPr lang="en-US" sz="2200" dirty="0">
                <a:solidFill>
                  <a:schemeClr val="accent1"/>
                </a:solidFill>
              </a:rPr>
              <a:t>Yakınması olmayanlarda başarı daha yüksektir</a:t>
            </a:r>
            <a:r>
              <a:rPr lang="en-US" sz="1800" dirty="0">
                <a:solidFill>
                  <a:schemeClr val="accent3"/>
                </a:solidFill>
              </a:rPr>
              <a:t>  [16]</a:t>
            </a:r>
            <a:endParaRPr lang="en-US" sz="2200" dirty="0"/>
          </a:p>
        </p:txBody>
      </p:sp>
      <p:sp>
        <p:nvSpPr>
          <p:cNvPr id="20"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1, 14–16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Kısıtlılıklar ve güçlü yönler</a:t>
            </a:r>
            <a:endParaRPr lang="en-US" sz="3600" dirty="0"/>
          </a:p>
        </p:txBody>
      </p:sp>
      <p:sp>
        <p:nvSpPr>
          <p:cNvPr id="4" name="Kart"/>
          <p:cNvSpPr/>
          <p:nvPr/>
        </p:nvSpPr>
        <p:spPr>
          <a:xfrm>
            <a:off x="548640" y="1371600"/>
            <a:ext cx="5440680" cy="4572000"/>
          </a:xfrm>
          <a:prstGeom prst="roundRect">
            <a:avLst>
              <a:gd name="adj" fmla="val 2400"/>
            </a:avLst>
          </a:prstGeom>
          <a:solidFill>
            <a:schemeClr val="bg2"/>
          </a:solidFill>
          <a:ln w="12700">
            <a:solidFill>
              <a:schemeClr val="bg2"/>
            </a:solidFill>
            <a:prstDash val="solid"/>
          </a:ln>
        </p:spPr>
      </p:sp>
      <p:sp>
        <p:nvSpPr>
          <p:cNvPr id="5" name="Ikon zemini"/>
          <p:cNvSpPr/>
          <p:nvPr/>
        </p:nvSpPr>
        <p:spPr>
          <a:xfrm>
            <a:off x="822960" y="1572768"/>
            <a:ext cx="822960" cy="822960"/>
          </a:xfrm>
          <a:prstGeom prst="ellipse">
            <a:avLst/>
          </a:prstGeom>
          <a:solidFill>
            <a:schemeClr val="accent1"/>
          </a:solidFill>
          <a:ln w="12700">
            <a:solidFill>
              <a:schemeClr val="accent1"/>
            </a:solidFill>
            <a:prstDash val="solid"/>
          </a:ln>
        </p:spPr>
      </p:sp>
      <p:pic>
        <p:nvPicPr>
          <p:cNvPr id="6" name="Ikon" descr="FaExclamationCircle"/>
          <p:cNvPicPr>
            <a:picLocks noChangeAspect="1"/>
          </p:cNvPicPr>
          <p:nvPr/>
        </p:nvPicPr>
        <p:blipFill>
          <a:blip r:embed="rId3"/>
          <a:stretch>
            <a:fillRect/>
          </a:stretch>
        </p:blipFill>
        <p:spPr>
          <a:xfrm>
            <a:off x="1036930" y="1786738"/>
            <a:ext cx="395021" cy="395021"/>
          </a:xfrm>
          <a:prstGeom prst="rect">
            <a:avLst/>
          </a:prstGeom>
        </p:spPr>
      </p:pic>
      <p:sp>
        <p:nvSpPr>
          <p:cNvPr id="7" name="Text 3"/>
          <p:cNvSpPr txBox="1"/>
          <p:nvPr/>
        </p:nvSpPr>
        <p:spPr>
          <a:xfrm>
            <a:off x="1828800" y="1572768"/>
            <a:ext cx="4023360" cy="822960"/>
          </a:xfrm>
          <a:prstGeom prst="rect">
            <a:avLst/>
          </a:prstGeom>
          <a:noFill/>
          <a:ln/>
        </p:spPr>
        <p:txBody>
          <a:bodyPr wrap="square" lIns="0" tIns="0" rIns="0" bIns="0" rtlCol="0" anchor="ctr"/>
          <a:lstStyle/>
          <a:p>
            <a:pPr marL="0" indent="0">
              <a:buNone/>
            </a:pPr>
            <a:r>
              <a:rPr lang="en-US" sz="2800" b="1" dirty="0">
                <a:solidFill>
                  <a:schemeClr val="accent1"/>
                </a:solidFill>
              </a:rPr>
              <a:t>Kısıtlılıklar</a:t>
            </a:r>
            <a:endParaRPr lang="en-US" sz="2800" dirty="0"/>
          </a:p>
        </p:txBody>
      </p:sp>
      <p:sp>
        <p:nvSpPr>
          <p:cNvPr id="8" name="Text 4"/>
          <p:cNvSpPr txBox="1"/>
          <p:nvPr/>
        </p:nvSpPr>
        <p:spPr>
          <a:xfrm>
            <a:off x="914400" y="2651760"/>
            <a:ext cx="4846320" cy="3154680"/>
          </a:xfrm>
          <a:prstGeom prst="rect">
            <a:avLst/>
          </a:prstGeom>
          <a:noFill/>
          <a:ln/>
        </p:spPr>
        <p:txBody>
          <a:bodyPr wrap="square" lIns="0" tIns="0" rIns="0" bIns="0" rtlCol="0" anchor="t"/>
          <a:lstStyle/>
          <a:p>
            <a:pPr marL="279400" indent="-279400" algn="just">
              <a:spcAft>
                <a:spcPts val="1400"/>
              </a:spcAft>
              <a:buSzPct val="100000"/>
              <a:buChar char="•"/>
            </a:pPr>
            <a:r>
              <a:rPr lang="en-US" sz="2200" dirty="0">
                <a:solidFill>
                  <a:schemeClr val="accent1"/>
                </a:solidFill>
              </a:rPr>
              <a:t>Asistan rotasyonu</a:t>
            </a:r>
            <a:endParaRPr lang="en-US" sz="2200" dirty="0"/>
          </a:p>
          <a:p>
            <a:pPr marL="279400" indent="-279400" algn="just">
              <a:spcAft>
                <a:spcPts val="1400"/>
              </a:spcAft>
              <a:buSzPct val="100000"/>
              <a:buChar char="•"/>
            </a:pPr>
            <a:r>
              <a:rPr lang="en-US" sz="2200" dirty="0">
                <a:solidFill>
                  <a:schemeClr val="accent1"/>
                </a:solidFill>
              </a:rPr>
              <a:t>Telefonla tamamlanan veriler</a:t>
            </a:r>
            <a:endParaRPr lang="en-US" sz="2200" dirty="0"/>
          </a:p>
          <a:p>
            <a:pPr marL="279400" indent="-279400" algn="just">
              <a:spcAft>
                <a:spcPts val="1400"/>
              </a:spcAft>
              <a:buSzPct val="100000"/>
              <a:buChar char="•"/>
            </a:pPr>
            <a:r>
              <a:rPr lang="en-US" sz="2200" dirty="0">
                <a:solidFill>
                  <a:schemeClr val="accent1"/>
                </a:solidFill>
              </a:rPr>
              <a:t>Vareniklinin piyasadan çekilmesi</a:t>
            </a:r>
            <a:endParaRPr lang="en-US" sz="2200" dirty="0"/>
          </a:p>
        </p:txBody>
      </p:sp>
      <p:sp>
        <p:nvSpPr>
          <p:cNvPr id="9" name="Kart"/>
          <p:cNvSpPr/>
          <p:nvPr/>
        </p:nvSpPr>
        <p:spPr>
          <a:xfrm>
            <a:off x="6172200" y="1371600"/>
            <a:ext cx="5440680" cy="4572000"/>
          </a:xfrm>
          <a:prstGeom prst="roundRect">
            <a:avLst>
              <a:gd name="adj" fmla="val 2400"/>
            </a:avLst>
          </a:prstGeom>
          <a:solidFill>
            <a:schemeClr val="bg2"/>
          </a:solidFill>
          <a:ln w="12700">
            <a:solidFill>
              <a:schemeClr val="bg2"/>
            </a:solidFill>
            <a:prstDash val="solid"/>
          </a:ln>
        </p:spPr>
      </p:sp>
      <p:sp>
        <p:nvSpPr>
          <p:cNvPr id="10" name="Ikon zemini"/>
          <p:cNvSpPr/>
          <p:nvPr/>
        </p:nvSpPr>
        <p:spPr>
          <a:xfrm>
            <a:off x="6446520" y="1572768"/>
            <a:ext cx="822960" cy="822960"/>
          </a:xfrm>
          <a:prstGeom prst="ellipse">
            <a:avLst/>
          </a:prstGeom>
          <a:solidFill>
            <a:schemeClr val="accent2"/>
          </a:solidFill>
          <a:ln w="12700">
            <a:solidFill>
              <a:schemeClr val="accent2"/>
            </a:solidFill>
            <a:prstDash val="solid"/>
          </a:ln>
        </p:spPr>
      </p:sp>
      <p:pic>
        <p:nvPicPr>
          <p:cNvPr id="11" name="Ikon" descr="FaStar"/>
          <p:cNvPicPr>
            <a:picLocks noChangeAspect="1"/>
          </p:cNvPicPr>
          <p:nvPr/>
        </p:nvPicPr>
        <p:blipFill>
          <a:blip r:embed="rId4"/>
          <a:stretch>
            <a:fillRect/>
          </a:stretch>
        </p:blipFill>
        <p:spPr>
          <a:xfrm>
            <a:off x="6660490" y="1786738"/>
            <a:ext cx="395021" cy="395021"/>
          </a:xfrm>
          <a:prstGeom prst="rect">
            <a:avLst/>
          </a:prstGeom>
        </p:spPr>
      </p:pic>
      <p:sp>
        <p:nvSpPr>
          <p:cNvPr id="12" name="Text 7"/>
          <p:cNvSpPr txBox="1"/>
          <p:nvPr/>
        </p:nvSpPr>
        <p:spPr>
          <a:xfrm>
            <a:off x="7452360" y="1572768"/>
            <a:ext cx="4023360" cy="822960"/>
          </a:xfrm>
          <a:prstGeom prst="rect">
            <a:avLst/>
          </a:prstGeom>
          <a:noFill/>
          <a:ln/>
        </p:spPr>
        <p:txBody>
          <a:bodyPr wrap="square" lIns="0" tIns="0" rIns="0" bIns="0" rtlCol="0" anchor="ctr"/>
          <a:lstStyle/>
          <a:p>
            <a:pPr marL="0" indent="0">
              <a:buNone/>
            </a:pPr>
            <a:r>
              <a:rPr lang="en-US" sz="2800" b="1" dirty="0">
                <a:solidFill>
                  <a:schemeClr val="accent2"/>
                </a:solidFill>
              </a:rPr>
              <a:t>Güçlü yönler</a:t>
            </a:r>
            <a:endParaRPr lang="en-US" sz="2800" dirty="0"/>
          </a:p>
        </p:txBody>
      </p:sp>
      <p:sp>
        <p:nvSpPr>
          <p:cNvPr id="13" name="Text 8"/>
          <p:cNvSpPr txBox="1"/>
          <p:nvPr/>
        </p:nvSpPr>
        <p:spPr>
          <a:xfrm>
            <a:off x="6537960" y="2651760"/>
            <a:ext cx="4846320" cy="3154680"/>
          </a:xfrm>
          <a:prstGeom prst="rect">
            <a:avLst/>
          </a:prstGeom>
          <a:noFill/>
          <a:ln/>
        </p:spPr>
        <p:txBody>
          <a:bodyPr wrap="square" lIns="0" tIns="0" rIns="0" bIns="0" rtlCol="0" anchor="t"/>
          <a:lstStyle/>
          <a:p>
            <a:pPr marL="279400" indent="-279400" algn="just">
              <a:spcAft>
                <a:spcPts val="1400"/>
              </a:spcAft>
              <a:buSzPct val="100000"/>
              <a:buChar char="•"/>
            </a:pPr>
            <a:r>
              <a:rPr lang="en-US" sz="2200" dirty="0">
                <a:solidFill>
                  <a:schemeClr val="accent1"/>
                </a:solidFill>
              </a:rPr>
              <a:t>Sitizin ile ilk erişilebilir tez çalışması</a:t>
            </a:r>
            <a:endParaRPr lang="en-US" sz="2200" dirty="0"/>
          </a:p>
          <a:p>
            <a:pPr marL="279400" indent="-279400" algn="just">
              <a:spcAft>
                <a:spcPts val="1400"/>
              </a:spcAft>
              <a:buSzPct val="100000"/>
              <a:buChar char="•"/>
            </a:pPr>
            <a:r>
              <a:rPr lang="en-US" sz="2200" dirty="0">
                <a:solidFill>
                  <a:schemeClr val="accent1"/>
                </a:solidFill>
              </a:rPr>
              <a:t>Birçok tedavi seçeneğini kapsaması</a:t>
            </a:r>
            <a:endParaRPr lang="en-US" sz="2200" dirty="0"/>
          </a:p>
        </p:txBody>
      </p:sp>
      <p:sp>
        <p:nvSpPr>
          <p:cNvPr id="14"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Sonuç ve öneriler</a:t>
            </a:r>
            <a:endParaRPr lang="en-US" sz="3600" dirty="0"/>
          </a:p>
        </p:txBody>
      </p:sp>
      <p:sp>
        <p:nvSpPr>
          <p:cNvPr id="4" name="Kart"/>
          <p:cNvSpPr/>
          <p:nvPr/>
        </p:nvSpPr>
        <p:spPr>
          <a:xfrm>
            <a:off x="548640" y="1508760"/>
            <a:ext cx="356616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548640" y="1828800"/>
            <a:ext cx="3566160" cy="1097280"/>
          </a:xfrm>
          <a:prstGeom prst="rect">
            <a:avLst/>
          </a:prstGeom>
          <a:noFill/>
          <a:ln/>
        </p:spPr>
        <p:txBody>
          <a:bodyPr wrap="square" lIns="0" tIns="0" rIns="0" bIns="0" rtlCol="0" anchor="ctr"/>
          <a:lstStyle/>
          <a:p>
            <a:pPr marL="0" indent="0" algn="ctr">
              <a:buNone/>
            </a:pPr>
            <a:r>
              <a:rPr lang="en-US" sz="4400" b="1" dirty="0">
                <a:solidFill>
                  <a:schemeClr val="accent2"/>
                </a:solidFill>
              </a:rPr>
              <a:t>Üçte bir</a:t>
            </a:r>
            <a:endParaRPr lang="en-US" sz="4400" dirty="0"/>
          </a:p>
        </p:txBody>
      </p:sp>
      <p:sp>
        <p:nvSpPr>
          <p:cNvPr id="6" name="Text 3"/>
          <p:cNvSpPr txBox="1"/>
          <p:nvPr/>
        </p:nvSpPr>
        <p:spPr>
          <a:xfrm>
            <a:off x="822960" y="3017520"/>
            <a:ext cx="3017520" cy="1554480"/>
          </a:xfrm>
          <a:prstGeom prst="rect">
            <a:avLst/>
          </a:prstGeom>
          <a:noFill/>
          <a:ln/>
        </p:spPr>
        <p:txBody>
          <a:bodyPr wrap="square" lIns="0" tIns="0" rIns="0" bIns="0" rtlCol="0" anchor="t"/>
          <a:lstStyle/>
          <a:p>
            <a:pPr marL="0" indent="0" algn="ctr">
              <a:buNone/>
            </a:pPr>
            <a:r>
              <a:rPr lang="en-US" sz="2200" dirty="0">
                <a:solidFill>
                  <a:schemeClr val="accent1"/>
                </a:solidFill>
              </a:rPr>
              <a:t>hasta sigarayı bırakmıştır</a:t>
            </a:r>
            <a:endParaRPr lang="en-US" sz="2200" dirty="0"/>
          </a:p>
        </p:txBody>
      </p:sp>
      <p:sp>
        <p:nvSpPr>
          <p:cNvPr id="7" name="Kart"/>
          <p:cNvSpPr/>
          <p:nvPr/>
        </p:nvSpPr>
        <p:spPr>
          <a:xfrm>
            <a:off x="4297680" y="1508760"/>
            <a:ext cx="3566160" cy="3291840"/>
          </a:xfrm>
          <a:prstGeom prst="roundRect">
            <a:avLst>
              <a:gd name="adj" fmla="val 3333"/>
            </a:avLst>
          </a:prstGeom>
          <a:solidFill>
            <a:schemeClr val="accent1"/>
          </a:solidFill>
          <a:ln w="12700">
            <a:solidFill>
              <a:schemeClr val="accent1"/>
            </a:solidFill>
            <a:prstDash val="solid"/>
          </a:ln>
        </p:spPr>
      </p:sp>
      <p:sp>
        <p:nvSpPr>
          <p:cNvPr id="8" name="Text 5"/>
          <p:cNvSpPr txBox="1"/>
          <p:nvPr/>
        </p:nvSpPr>
        <p:spPr>
          <a:xfrm>
            <a:off x="4297680" y="1828800"/>
            <a:ext cx="3566160" cy="1097280"/>
          </a:xfrm>
          <a:prstGeom prst="rect">
            <a:avLst/>
          </a:prstGeom>
          <a:noFill/>
          <a:ln/>
        </p:spPr>
        <p:txBody>
          <a:bodyPr wrap="square" lIns="0" tIns="0" rIns="0" bIns="0" rtlCol="0" anchor="ctr"/>
          <a:lstStyle/>
          <a:p>
            <a:pPr marL="0" indent="0" algn="ctr">
              <a:buNone/>
            </a:pPr>
            <a:r>
              <a:rPr lang="en-US" sz="4400" b="1" dirty="0">
                <a:solidFill>
                  <a:schemeClr val="bg1"/>
                </a:solidFill>
              </a:rPr>
              <a:t>Kombine</a:t>
            </a:r>
            <a:endParaRPr lang="en-US" sz="4400" dirty="0"/>
          </a:p>
        </p:txBody>
      </p:sp>
      <p:sp>
        <p:nvSpPr>
          <p:cNvPr id="9" name="Text 6"/>
          <p:cNvSpPr txBox="1"/>
          <p:nvPr/>
        </p:nvSpPr>
        <p:spPr>
          <a:xfrm>
            <a:off x="4572000" y="3017520"/>
            <a:ext cx="3017520" cy="1554480"/>
          </a:xfrm>
          <a:prstGeom prst="rect">
            <a:avLst/>
          </a:prstGeom>
          <a:noFill/>
          <a:ln/>
        </p:spPr>
        <p:txBody>
          <a:bodyPr wrap="square" lIns="0" tIns="0" rIns="0" bIns="0" rtlCol="0" anchor="t"/>
          <a:lstStyle/>
          <a:p>
            <a:pPr marL="0" indent="0" algn="ctr">
              <a:buNone/>
            </a:pPr>
            <a:r>
              <a:rPr lang="en-US" sz="2200" dirty="0">
                <a:solidFill>
                  <a:schemeClr val="bg1"/>
                </a:solidFill>
              </a:rPr>
              <a:t>tedavide bırakma oranı daha yüksektir</a:t>
            </a:r>
            <a:endParaRPr lang="en-US" sz="2200" dirty="0"/>
          </a:p>
        </p:txBody>
      </p:sp>
      <p:sp>
        <p:nvSpPr>
          <p:cNvPr id="10" name="Kart"/>
          <p:cNvSpPr/>
          <p:nvPr/>
        </p:nvSpPr>
        <p:spPr>
          <a:xfrm>
            <a:off x="8046720" y="1508760"/>
            <a:ext cx="3566160" cy="3291840"/>
          </a:xfrm>
          <a:prstGeom prst="roundRect">
            <a:avLst>
              <a:gd name="adj" fmla="val 3333"/>
            </a:avLst>
          </a:prstGeom>
          <a:solidFill>
            <a:schemeClr val="bg2"/>
          </a:solidFill>
          <a:ln w="12700">
            <a:solidFill>
              <a:schemeClr val="bg2"/>
            </a:solidFill>
            <a:prstDash val="solid"/>
          </a:ln>
        </p:spPr>
      </p:sp>
      <p:sp>
        <p:nvSpPr>
          <p:cNvPr id="11" name="Text 8"/>
          <p:cNvSpPr txBox="1"/>
          <p:nvPr/>
        </p:nvSpPr>
        <p:spPr>
          <a:xfrm>
            <a:off x="8046720" y="1828800"/>
            <a:ext cx="3566160" cy="1097280"/>
          </a:xfrm>
          <a:prstGeom prst="rect">
            <a:avLst/>
          </a:prstGeom>
          <a:noFill/>
          <a:ln/>
        </p:spPr>
        <p:txBody>
          <a:bodyPr wrap="square" lIns="0" tIns="0" rIns="0" bIns="0" rtlCol="0" anchor="ctr"/>
          <a:lstStyle/>
          <a:p>
            <a:pPr marL="0" indent="0" algn="ctr">
              <a:buNone/>
            </a:pPr>
            <a:r>
              <a:rPr lang="en-US" sz="4400" b="1" dirty="0">
                <a:solidFill>
                  <a:schemeClr val="accent2"/>
                </a:solidFill>
              </a:rPr>
              <a:t>Uyum</a:t>
            </a:r>
            <a:endParaRPr lang="en-US" sz="4400" dirty="0"/>
          </a:p>
        </p:txBody>
      </p:sp>
      <p:sp>
        <p:nvSpPr>
          <p:cNvPr id="12" name="Text 9"/>
          <p:cNvSpPr txBox="1"/>
          <p:nvPr/>
        </p:nvSpPr>
        <p:spPr>
          <a:xfrm>
            <a:off x="8321040" y="3017520"/>
            <a:ext cx="3017520" cy="1554480"/>
          </a:xfrm>
          <a:prstGeom prst="rect">
            <a:avLst/>
          </a:prstGeom>
          <a:noFill/>
          <a:ln/>
        </p:spPr>
        <p:txBody>
          <a:bodyPr wrap="square" lIns="0" tIns="0" rIns="0" bIns="0" rtlCol="0" anchor="t"/>
          <a:lstStyle/>
          <a:p>
            <a:pPr marL="0" indent="0" algn="ctr">
              <a:buNone/>
            </a:pPr>
            <a:r>
              <a:rPr lang="en-US" sz="2200" dirty="0">
                <a:solidFill>
                  <a:schemeClr val="accent1"/>
                </a:solidFill>
              </a:rPr>
              <a:t>arttıkça başarı artmaktadır</a:t>
            </a:r>
            <a:endParaRPr lang="en-US" sz="2200" dirty="0"/>
          </a:p>
        </p:txBody>
      </p:sp>
      <p:sp>
        <p:nvSpPr>
          <p:cNvPr id="13" name="Text 10"/>
          <p:cNvSpPr txBox="1"/>
          <p:nvPr/>
        </p:nvSpPr>
        <p:spPr>
          <a:xfrm>
            <a:off x="548640" y="5120640"/>
            <a:ext cx="11064240" cy="822960"/>
          </a:xfrm>
          <a:prstGeom prst="rect">
            <a:avLst/>
          </a:prstGeom>
          <a:noFill/>
          <a:ln/>
        </p:spPr>
        <p:txBody>
          <a:bodyPr wrap="square" lIns="0" tIns="0" rIns="0" bIns="0" rtlCol="0" anchor="ctr"/>
          <a:lstStyle/>
          <a:p>
            <a:pPr marL="0" indent="0" algn="just">
              <a:buNone/>
            </a:pPr>
            <a:r>
              <a:rPr lang="en-US" sz="2200" i="1" dirty="0">
                <a:solidFill>
                  <a:schemeClr val="accent1"/>
                </a:solidFill>
              </a:rPr>
              <a:t>Öneri: Tedavi seanslarında motivasyonu artırmaya yönelik çabalar yoğunlaştırılmalıdır.</a:t>
            </a:r>
            <a:endParaRPr lang="en-US" sz="2200" dirty="0"/>
          </a:p>
        </p:txBody>
      </p:sp>
      <p:sp>
        <p:nvSpPr>
          <p:cNvPr id="14"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Olgu: Siz ne yapardınız?</a:t>
            </a:r>
            <a:endParaRPr lang="en-US" sz="3600" dirty="0"/>
          </a:p>
        </p:txBody>
      </p:sp>
      <p:sp>
        <p:nvSpPr>
          <p:cNvPr id="4" name="Kart"/>
          <p:cNvSpPr/>
          <p:nvPr/>
        </p:nvSpPr>
        <p:spPr>
          <a:xfrm>
            <a:off x="548640" y="1371600"/>
            <a:ext cx="5760720" cy="4572000"/>
          </a:xfrm>
          <a:prstGeom prst="roundRect">
            <a:avLst>
              <a:gd name="adj" fmla="val 2400"/>
            </a:avLst>
          </a:prstGeom>
          <a:solidFill>
            <a:schemeClr val="bg2"/>
          </a:solidFill>
          <a:ln w="12700">
            <a:solidFill>
              <a:schemeClr val="bg2"/>
            </a:solidFill>
            <a:prstDash val="solid"/>
          </a:ln>
        </p:spPr>
      </p:sp>
      <p:sp>
        <p:nvSpPr>
          <p:cNvPr id="5" name="Ikon zemini"/>
          <p:cNvSpPr/>
          <p:nvPr/>
        </p:nvSpPr>
        <p:spPr>
          <a:xfrm>
            <a:off x="822960" y="1600200"/>
            <a:ext cx="822960" cy="822960"/>
          </a:xfrm>
          <a:prstGeom prst="ellipse">
            <a:avLst/>
          </a:prstGeom>
          <a:solidFill>
            <a:schemeClr val="accent2"/>
          </a:solidFill>
          <a:ln w="12700">
            <a:solidFill>
              <a:schemeClr val="accent2"/>
            </a:solidFill>
            <a:prstDash val="solid"/>
          </a:ln>
        </p:spPr>
      </p:sp>
      <p:pic>
        <p:nvPicPr>
          <p:cNvPr id="6" name="Ikon" descr="FaUserMd"/>
          <p:cNvPicPr>
            <a:picLocks noChangeAspect="1"/>
          </p:cNvPicPr>
          <p:nvPr/>
        </p:nvPicPr>
        <p:blipFill>
          <a:blip r:embed="rId3"/>
          <a:stretch>
            <a:fillRect/>
          </a:stretch>
        </p:blipFill>
        <p:spPr>
          <a:xfrm>
            <a:off x="1036930" y="1814170"/>
            <a:ext cx="395021" cy="395021"/>
          </a:xfrm>
          <a:prstGeom prst="rect">
            <a:avLst/>
          </a:prstGeom>
        </p:spPr>
      </p:pic>
      <p:sp>
        <p:nvSpPr>
          <p:cNvPr id="7" name="Text 3"/>
          <p:cNvSpPr txBox="1"/>
          <p:nvPr/>
        </p:nvSpPr>
        <p:spPr>
          <a:xfrm>
            <a:off x="1828800" y="1600200"/>
            <a:ext cx="4297680" cy="822960"/>
          </a:xfrm>
          <a:prstGeom prst="rect">
            <a:avLst/>
          </a:prstGeom>
          <a:noFill/>
          <a:ln/>
        </p:spPr>
        <p:txBody>
          <a:bodyPr wrap="square" lIns="0" tIns="0" rIns="0" bIns="0" rtlCol="0" anchor="ctr"/>
          <a:lstStyle/>
          <a:p>
            <a:pPr marL="0" indent="0">
              <a:buNone/>
            </a:pPr>
            <a:r>
              <a:rPr lang="en-US" sz="2600" b="1" dirty="0">
                <a:solidFill>
                  <a:schemeClr val="accent1"/>
                </a:solidFill>
              </a:rPr>
              <a:t>52 yaşında erkek hasta</a:t>
            </a:r>
            <a:endParaRPr lang="en-US" sz="2600" dirty="0"/>
          </a:p>
        </p:txBody>
      </p:sp>
      <p:sp>
        <p:nvSpPr>
          <p:cNvPr id="8" name="Text 4"/>
          <p:cNvSpPr txBox="1"/>
          <p:nvPr/>
        </p:nvSpPr>
        <p:spPr>
          <a:xfrm>
            <a:off x="914400" y="2697480"/>
            <a:ext cx="5120640" cy="3017520"/>
          </a:xfrm>
          <a:prstGeom prst="rect">
            <a:avLst/>
          </a:prstGeom>
          <a:noFill/>
          <a:ln/>
        </p:spPr>
        <p:txBody>
          <a:bodyPr wrap="square" lIns="0" tIns="0" rIns="0" bIns="0" rtlCol="0" anchor="t"/>
          <a:lstStyle/>
          <a:p>
            <a:pPr marL="279400" indent="-279400" algn="just">
              <a:spcAft>
                <a:spcPts val="1400"/>
              </a:spcAft>
              <a:buSzPct val="100000"/>
              <a:buChar char="•"/>
            </a:pPr>
            <a:r>
              <a:rPr lang="en-US" sz="2200" dirty="0">
                <a:solidFill>
                  <a:schemeClr val="accent1"/>
                </a:solidFill>
              </a:rPr>
              <a:t>Günde 25 sigara, 30 paket-yıl</a:t>
            </a:r>
            <a:endParaRPr lang="en-US" sz="2200" dirty="0"/>
          </a:p>
          <a:p>
            <a:pPr marL="279400" indent="-279400" algn="just">
              <a:spcAft>
                <a:spcPts val="1400"/>
              </a:spcAft>
              <a:buSzPct val="100000"/>
              <a:buChar char="•"/>
            </a:pPr>
            <a:r>
              <a:rPr lang="en-US" sz="2200" dirty="0">
                <a:solidFill>
                  <a:schemeClr val="accent1"/>
                </a:solidFill>
              </a:rPr>
              <a:t>FNBT: 8 (yüksek bağımlılık)</a:t>
            </a:r>
            <a:endParaRPr lang="en-US" sz="2200" dirty="0"/>
          </a:p>
          <a:p>
            <a:pPr marL="279400" indent="-279400" algn="just">
              <a:spcAft>
                <a:spcPts val="1400"/>
              </a:spcAft>
              <a:buSzPct val="100000"/>
              <a:buChar char="•"/>
            </a:pPr>
            <a:r>
              <a:rPr lang="en-US" sz="2200" dirty="0">
                <a:solidFill>
                  <a:schemeClr val="accent1"/>
                </a:solidFill>
              </a:rPr>
              <a:t>Bupropion ile başarısız deneme</a:t>
            </a:r>
            <a:endParaRPr lang="en-US" sz="2200" dirty="0"/>
          </a:p>
          <a:p>
            <a:pPr marL="279400" indent="-279400" algn="just">
              <a:spcAft>
                <a:spcPts val="1400"/>
              </a:spcAft>
              <a:buSzPct val="100000"/>
              <a:buChar char="•"/>
            </a:pPr>
            <a:r>
              <a:rPr lang="en-US" sz="2200" dirty="0">
                <a:solidFill>
                  <a:schemeClr val="accent1"/>
                </a:solidFill>
              </a:rPr>
              <a:t>Eşi de sigara içiyor</a:t>
            </a:r>
            <a:endParaRPr lang="en-US" sz="2200" dirty="0"/>
          </a:p>
        </p:txBody>
      </p:sp>
      <p:sp>
        <p:nvSpPr>
          <p:cNvPr id="9" name="Kart"/>
          <p:cNvSpPr/>
          <p:nvPr/>
        </p:nvSpPr>
        <p:spPr>
          <a:xfrm>
            <a:off x="6583680" y="1371600"/>
            <a:ext cx="5029200" cy="4572000"/>
          </a:xfrm>
          <a:prstGeom prst="roundRect">
            <a:avLst>
              <a:gd name="adj" fmla="val 2400"/>
            </a:avLst>
          </a:prstGeom>
          <a:solidFill>
            <a:schemeClr val="accent1"/>
          </a:solidFill>
          <a:ln w="12700">
            <a:solidFill>
              <a:schemeClr val="accent1"/>
            </a:solidFill>
            <a:prstDash val="solid"/>
          </a:ln>
        </p:spPr>
      </p:sp>
      <p:sp>
        <p:nvSpPr>
          <p:cNvPr id="10" name="Ikon zemini"/>
          <p:cNvSpPr/>
          <p:nvPr/>
        </p:nvSpPr>
        <p:spPr>
          <a:xfrm>
            <a:off x="6858000" y="1600200"/>
            <a:ext cx="822960" cy="822960"/>
          </a:xfrm>
          <a:prstGeom prst="ellipse">
            <a:avLst/>
          </a:prstGeom>
          <a:solidFill>
            <a:schemeClr val="accent2"/>
          </a:solidFill>
          <a:ln w="12700">
            <a:solidFill>
              <a:schemeClr val="accent2"/>
            </a:solidFill>
            <a:prstDash val="solid"/>
          </a:ln>
        </p:spPr>
      </p:sp>
      <p:pic>
        <p:nvPicPr>
          <p:cNvPr id="11" name="Ikon" descr="FaQuestion"/>
          <p:cNvPicPr>
            <a:picLocks noChangeAspect="1"/>
          </p:cNvPicPr>
          <p:nvPr/>
        </p:nvPicPr>
        <p:blipFill>
          <a:blip r:embed="rId4"/>
          <a:stretch>
            <a:fillRect/>
          </a:stretch>
        </p:blipFill>
        <p:spPr>
          <a:xfrm>
            <a:off x="7071970" y="1814170"/>
            <a:ext cx="395021" cy="395021"/>
          </a:xfrm>
          <a:prstGeom prst="rect">
            <a:avLst/>
          </a:prstGeom>
        </p:spPr>
      </p:pic>
      <p:sp>
        <p:nvSpPr>
          <p:cNvPr id="12" name="Text 7"/>
          <p:cNvSpPr txBox="1"/>
          <p:nvPr/>
        </p:nvSpPr>
        <p:spPr>
          <a:xfrm>
            <a:off x="7863840" y="1600200"/>
            <a:ext cx="3566160" cy="822960"/>
          </a:xfrm>
          <a:prstGeom prst="rect">
            <a:avLst/>
          </a:prstGeom>
          <a:noFill/>
          <a:ln/>
        </p:spPr>
        <p:txBody>
          <a:bodyPr wrap="square" lIns="0" tIns="0" rIns="0" bIns="0" rtlCol="0" anchor="ctr"/>
          <a:lstStyle/>
          <a:p>
            <a:pPr marL="0" indent="0">
              <a:buNone/>
            </a:pPr>
            <a:r>
              <a:rPr lang="en-US" sz="2600" b="1" dirty="0">
                <a:solidFill>
                  <a:schemeClr val="bg1"/>
                </a:solidFill>
              </a:rPr>
              <a:t>Tartışalım</a:t>
            </a:r>
            <a:endParaRPr lang="en-US" sz="2600" dirty="0"/>
          </a:p>
        </p:txBody>
      </p:sp>
      <p:sp>
        <p:nvSpPr>
          <p:cNvPr id="13" name="Text 8"/>
          <p:cNvSpPr txBox="1"/>
          <p:nvPr/>
        </p:nvSpPr>
        <p:spPr>
          <a:xfrm>
            <a:off x="6949440" y="2697480"/>
            <a:ext cx="4389120" cy="3017520"/>
          </a:xfrm>
          <a:prstGeom prst="rect">
            <a:avLst/>
          </a:prstGeom>
          <a:noFill/>
          <a:ln/>
        </p:spPr>
        <p:txBody>
          <a:bodyPr wrap="square" lIns="0" tIns="0" rIns="0" bIns="0" rtlCol="0" anchor="t"/>
          <a:lstStyle/>
          <a:p>
            <a:pPr marL="279400" indent="-279400" algn="just">
              <a:spcAft>
                <a:spcPts val="1800"/>
              </a:spcAft>
              <a:buSzPct val="100000"/>
              <a:buChar char="•"/>
            </a:pPr>
            <a:r>
              <a:rPr lang="en-US" sz="2200" dirty="0">
                <a:solidFill>
                  <a:schemeClr val="bg1"/>
                </a:solidFill>
              </a:rPr>
              <a:t>Hangi tedaviyi seçerdiniz?</a:t>
            </a:r>
            <a:endParaRPr lang="en-US" sz="2200" dirty="0"/>
          </a:p>
          <a:p>
            <a:pPr marL="279400" indent="-279400" algn="just">
              <a:spcAft>
                <a:spcPts val="1800"/>
              </a:spcAft>
              <a:buSzPct val="100000"/>
              <a:buChar char="•"/>
            </a:pPr>
            <a:r>
              <a:rPr lang="en-US" sz="2200" dirty="0">
                <a:solidFill>
                  <a:schemeClr val="bg1"/>
                </a:solidFill>
              </a:rPr>
              <a:t>Takibi nasıl planlardınız?</a:t>
            </a:r>
            <a:endParaRPr lang="en-US" sz="2200" dirty="0"/>
          </a:p>
          <a:p>
            <a:pPr marL="279400" indent="-279400" algn="just">
              <a:spcAft>
                <a:spcPts val="1800"/>
              </a:spcAft>
              <a:buSzPct val="100000"/>
              <a:buChar char="•"/>
            </a:pPr>
            <a:r>
              <a:rPr lang="en-US" sz="2200" dirty="0">
                <a:solidFill>
                  <a:schemeClr val="bg1"/>
                </a:solidFill>
              </a:rPr>
              <a:t>Eşi sürece nasıl katılmalı?</a:t>
            </a:r>
            <a:endParaRPr lang="en-US" sz="2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Akılda kalacak mesajlar</a:t>
            </a:r>
            <a:endParaRPr lang="en-US" sz="3600" dirty="0"/>
          </a:p>
        </p:txBody>
      </p:sp>
      <p:sp>
        <p:nvSpPr>
          <p:cNvPr id="4" name="Onay zemini"/>
          <p:cNvSpPr/>
          <p:nvPr/>
        </p:nvSpPr>
        <p:spPr>
          <a:xfrm>
            <a:off x="548640" y="1463040"/>
            <a:ext cx="640080" cy="640080"/>
          </a:xfrm>
          <a:prstGeom prst="ellipse">
            <a:avLst/>
          </a:prstGeom>
          <a:solidFill>
            <a:schemeClr val="accent2"/>
          </a:solidFill>
          <a:ln w="12700">
            <a:solidFill>
              <a:schemeClr val="accent2"/>
            </a:solidFill>
            <a:prstDash val="solid"/>
          </a:ln>
        </p:spPr>
        <p:txBody>
          <a:bodyPr/>
          <a:p/>
        </p:txBody>
      </p:sp>
      <p:pic>
        <p:nvPicPr>
          <p:cNvPr id="5" name="Image 0" descr="onay"/>
          <p:cNvPicPr>
            <a:picLocks noChangeAspect="1"/>
          </p:cNvPicPr>
          <p:nvPr/>
        </p:nvPicPr>
        <p:blipFill>
          <a:blip r:embed="rId3"/>
          <a:stretch>
            <a:fillRect/>
          </a:stretch>
        </p:blipFill>
        <p:spPr>
          <a:xfrm>
            <a:off x="713232" y="1627632"/>
            <a:ext cx="310896" cy="310896"/>
          </a:xfrm>
          <a:prstGeom prst="rect">
            <a:avLst/>
          </a:prstGeom>
        </p:spPr>
      </p:pic>
      <p:sp>
        <p:nvSpPr>
          <p:cNvPr id="6" name="Text 2"/>
          <p:cNvSpPr txBox="1"/>
          <p:nvPr/>
        </p:nvSpPr>
        <p:spPr>
          <a:xfrm>
            <a:off x="1463040" y="1371600"/>
            <a:ext cx="10149840" cy="822960"/>
          </a:xfrm>
          <a:prstGeom prst="rect">
            <a:avLst/>
          </a:prstGeom>
          <a:noFill/>
          <a:ln/>
        </p:spPr>
        <p:txBody>
          <a:bodyPr wrap="square" lIns="0" tIns="0" rIns="0" bIns="0" rtlCol="0" anchor="ctr"/>
          <a:lstStyle/>
          <a:p>
            <a:pPr marL="0" indent="0">
              <a:buNone/>
            </a:pPr>
            <a:r>
              <a:rPr lang="en-US" sz="2600" dirty="0">
                <a:solidFill>
                  <a:schemeClr val="accent1"/>
                </a:solidFill>
              </a:rPr>
              <a:t>Hastaların üçte biri sigarayı bırakmıştır</a:t>
            </a:r>
            <a:endParaRPr lang="en-US" sz="2600" dirty="0"/>
          </a:p>
        </p:txBody>
      </p:sp>
      <p:sp>
        <p:nvSpPr>
          <p:cNvPr id="7" name="Onay zemini"/>
          <p:cNvSpPr/>
          <p:nvPr/>
        </p:nvSpPr>
        <p:spPr>
          <a:xfrm>
            <a:off x="548640" y="2395728"/>
            <a:ext cx="640080" cy="640080"/>
          </a:xfrm>
          <a:prstGeom prst="ellipse">
            <a:avLst/>
          </a:prstGeom>
          <a:solidFill>
            <a:schemeClr val="accent2"/>
          </a:solidFill>
          <a:ln w="12700">
            <a:solidFill>
              <a:schemeClr val="accent2"/>
            </a:solidFill>
            <a:prstDash val="solid"/>
          </a:ln>
        </p:spPr>
        <p:txBody>
          <a:bodyPr/>
          <a:p/>
        </p:txBody>
      </p:sp>
      <p:pic>
        <p:nvPicPr>
          <p:cNvPr id="8" name="Image 1" descr="onay"/>
          <p:cNvPicPr>
            <a:picLocks noChangeAspect="1"/>
          </p:cNvPicPr>
          <p:nvPr/>
        </p:nvPicPr>
        <p:blipFill>
          <a:blip r:embed="rId3"/>
          <a:stretch>
            <a:fillRect/>
          </a:stretch>
        </p:blipFill>
        <p:spPr>
          <a:xfrm>
            <a:off x="713232" y="2560320"/>
            <a:ext cx="310896" cy="310896"/>
          </a:xfrm>
          <a:prstGeom prst="rect">
            <a:avLst/>
          </a:prstGeom>
        </p:spPr>
      </p:pic>
      <p:sp>
        <p:nvSpPr>
          <p:cNvPr id="9" name="Text 4"/>
          <p:cNvSpPr txBox="1"/>
          <p:nvPr/>
        </p:nvSpPr>
        <p:spPr>
          <a:xfrm>
            <a:off x="1463040" y="2304288"/>
            <a:ext cx="10149840" cy="822960"/>
          </a:xfrm>
          <a:prstGeom prst="rect">
            <a:avLst/>
          </a:prstGeom>
          <a:noFill/>
          <a:ln/>
        </p:spPr>
        <p:txBody>
          <a:bodyPr wrap="square" lIns="0" tIns="0" rIns="0" bIns="0" rtlCol="0" anchor="ctr"/>
          <a:lstStyle/>
          <a:p>
            <a:pPr marL="0" indent="0">
              <a:buNone/>
            </a:pPr>
            <a:r>
              <a:rPr lang="en-US" sz="2600" dirty="0">
                <a:solidFill>
                  <a:schemeClr val="accent1"/>
                </a:solidFill>
              </a:rPr>
              <a:t>Kombine tedavide başarı daha yüksektir</a:t>
            </a:r>
            <a:endParaRPr lang="en-US" sz="2600" dirty="0"/>
          </a:p>
        </p:txBody>
      </p:sp>
      <p:sp>
        <p:nvSpPr>
          <p:cNvPr id="10" name="Onay zemini"/>
          <p:cNvSpPr/>
          <p:nvPr/>
        </p:nvSpPr>
        <p:spPr>
          <a:xfrm>
            <a:off x="548640" y="3328416"/>
            <a:ext cx="640080" cy="640080"/>
          </a:xfrm>
          <a:prstGeom prst="ellipse">
            <a:avLst/>
          </a:prstGeom>
          <a:solidFill>
            <a:schemeClr val="accent2"/>
          </a:solidFill>
          <a:ln w="12700">
            <a:solidFill>
              <a:schemeClr val="accent2"/>
            </a:solidFill>
            <a:prstDash val="solid"/>
          </a:ln>
        </p:spPr>
        <p:txBody>
          <a:bodyPr/>
          <a:p/>
        </p:txBody>
      </p:sp>
      <p:pic>
        <p:nvPicPr>
          <p:cNvPr id="11" name="Image 2" descr="onay"/>
          <p:cNvPicPr>
            <a:picLocks noChangeAspect="1"/>
          </p:cNvPicPr>
          <p:nvPr/>
        </p:nvPicPr>
        <p:blipFill>
          <a:blip r:embed="rId3"/>
          <a:stretch>
            <a:fillRect/>
          </a:stretch>
        </p:blipFill>
        <p:spPr>
          <a:xfrm>
            <a:off x="713232" y="3493008"/>
            <a:ext cx="310896" cy="310896"/>
          </a:xfrm>
          <a:prstGeom prst="rect">
            <a:avLst/>
          </a:prstGeom>
        </p:spPr>
      </p:pic>
      <p:sp>
        <p:nvSpPr>
          <p:cNvPr id="12" name="Text 6"/>
          <p:cNvSpPr txBox="1"/>
          <p:nvPr/>
        </p:nvSpPr>
        <p:spPr>
          <a:xfrm>
            <a:off x="1463040" y="3236976"/>
            <a:ext cx="10149840" cy="822960"/>
          </a:xfrm>
          <a:prstGeom prst="rect">
            <a:avLst/>
          </a:prstGeom>
          <a:noFill/>
          <a:ln/>
        </p:spPr>
        <p:txBody>
          <a:bodyPr wrap="square" lIns="0" tIns="0" rIns="0" bIns="0" rtlCol="0" anchor="ctr"/>
          <a:lstStyle/>
          <a:p>
            <a:pPr marL="0" indent="0">
              <a:buNone/>
            </a:pPr>
            <a:r>
              <a:rPr lang="en-US" sz="2600" dirty="0">
                <a:solidFill>
                  <a:schemeClr val="accent1"/>
                </a:solidFill>
              </a:rPr>
              <a:t>En düşük başarı bupropion monoterapisindedir</a:t>
            </a:r>
            <a:endParaRPr lang="en-US" sz="2600" dirty="0"/>
          </a:p>
        </p:txBody>
      </p:sp>
      <p:sp>
        <p:nvSpPr>
          <p:cNvPr id="13" name="Onay zemini"/>
          <p:cNvSpPr/>
          <p:nvPr/>
        </p:nvSpPr>
        <p:spPr>
          <a:xfrm>
            <a:off x="548640" y="4261104"/>
            <a:ext cx="640080" cy="640080"/>
          </a:xfrm>
          <a:prstGeom prst="ellipse">
            <a:avLst/>
          </a:prstGeom>
          <a:solidFill>
            <a:schemeClr val="accent2"/>
          </a:solidFill>
          <a:ln w="12700">
            <a:solidFill>
              <a:schemeClr val="accent2"/>
            </a:solidFill>
            <a:prstDash val="solid"/>
          </a:ln>
        </p:spPr>
        <p:txBody>
          <a:bodyPr/>
          <a:p/>
        </p:txBody>
      </p:sp>
      <p:pic>
        <p:nvPicPr>
          <p:cNvPr id="14" name="Image 3" descr="onay"/>
          <p:cNvPicPr>
            <a:picLocks noChangeAspect="1"/>
          </p:cNvPicPr>
          <p:nvPr/>
        </p:nvPicPr>
        <p:blipFill>
          <a:blip r:embed="rId3"/>
          <a:stretch>
            <a:fillRect/>
          </a:stretch>
        </p:blipFill>
        <p:spPr>
          <a:xfrm>
            <a:off x="713232" y="4425696"/>
            <a:ext cx="310896" cy="310896"/>
          </a:xfrm>
          <a:prstGeom prst="rect">
            <a:avLst/>
          </a:prstGeom>
        </p:spPr>
      </p:pic>
      <p:sp>
        <p:nvSpPr>
          <p:cNvPr id="15" name="Text 8"/>
          <p:cNvSpPr txBox="1"/>
          <p:nvPr/>
        </p:nvSpPr>
        <p:spPr>
          <a:xfrm>
            <a:off x="1463040" y="4169664"/>
            <a:ext cx="10149840" cy="822960"/>
          </a:xfrm>
          <a:prstGeom prst="rect">
            <a:avLst/>
          </a:prstGeom>
          <a:noFill/>
          <a:ln/>
        </p:spPr>
        <p:txBody>
          <a:bodyPr wrap="square" lIns="0" tIns="0" rIns="0" bIns="0" rtlCol="0" anchor="ctr"/>
          <a:lstStyle/>
          <a:p>
            <a:pPr marL="0" indent="0">
              <a:buNone/>
            </a:pPr>
            <a:r>
              <a:rPr lang="en-US" sz="2600" dirty="0">
                <a:solidFill>
                  <a:schemeClr val="accent1"/>
                </a:solidFill>
              </a:rPr>
              <a:t>Hanede sigara içen olması başarıyı azaltmaktadır</a:t>
            </a:r>
            <a:endParaRPr lang="en-US" sz="2600" dirty="0"/>
          </a:p>
        </p:txBody>
      </p:sp>
      <p:sp>
        <p:nvSpPr>
          <p:cNvPr id="16" name="Onay zemini"/>
          <p:cNvSpPr/>
          <p:nvPr/>
        </p:nvSpPr>
        <p:spPr>
          <a:xfrm>
            <a:off x="548640" y="5193792"/>
            <a:ext cx="640080" cy="640080"/>
          </a:xfrm>
          <a:prstGeom prst="ellipse">
            <a:avLst/>
          </a:prstGeom>
          <a:solidFill>
            <a:schemeClr val="accent2"/>
          </a:solidFill>
          <a:ln w="12700">
            <a:solidFill>
              <a:schemeClr val="accent2"/>
            </a:solidFill>
            <a:prstDash val="solid"/>
          </a:ln>
        </p:spPr>
        <p:txBody>
          <a:bodyPr/>
          <a:p/>
        </p:txBody>
      </p:sp>
      <p:pic>
        <p:nvPicPr>
          <p:cNvPr id="17" name="Image 4" descr="onay"/>
          <p:cNvPicPr>
            <a:picLocks noChangeAspect="1"/>
          </p:cNvPicPr>
          <p:nvPr/>
        </p:nvPicPr>
        <p:blipFill>
          <a:blip r:embed="rId3"/>
          <a:stretch>
            <a:fillRect/>
          </a:stretch>
        </p:blipFill>
        <p:spPr>
          <a:xfrm>
            <a:off x="713232" y="5358384"/>
            <a:ext cx="310896" cy="310896"/>
          </a:xfrm>
          <a:prstGeom prst="rect">
            <a:avLst/>
          </a:prstGeom>
        </p:spPr>
      </p:pic>
      <p:sp>
        <p:nvSpPr>
          <p:cNvPr id="18" name="Text 10"/>
          <p:cNvSpPr txBox="1"/>
          <p:nvPr/>
        </p:nvSpPr>
        <p:spPr>
          <a:xfrm>
            <a:off x="1463040" y="5102352"/>
            <a:ext cx="10149840" cy="822960"/>
          </a:xfrm>
          <a:prstGeom prst="rect">
            <a:avLst/>
          </a:prstGeom>
          <a:noFill/>
          <a:ln/>
        </p:spPr>
        <p:txBody>
          <a:bodyPr wrap="square" lIns="0" tIns="0" rIns="0" bIns="0" rtlCol="0" anchor="ctr"/>
          <a:lstStyle/>
          <a:p>
            <a:pPr marL="0" indent="0">
              <a:buNone/>
            </a:pPr>
            <a:r>
              <a:rPr lang="en-US" sz="2600" dirty="0">
                <a:solidFill>
                  <a:schemeClr val="accent1"/>
                </a:solidFill>
              </a:rPr>
              <a:t>Sık takip başarıyla ilişkilidir</a:t>
            </a:r>
            <a:endParaRPr lang="en-US" sz="2600" dirty="0"/>
          </a:p>
        </p:txBody>
      </p:sp>
      <p:sp>
        <p:nvSpPr>
          <p:cNvPr id="19" name="Kaynak"/>
          <p:cNvSpPr txBox="1"/>
          <p:nvPr/>
        </p:nvSpPr>
        <p:spPr>
          <a:xfrm>
            <a:off x="548640" y="6382512"/>
            <a:ext cx="10424160" cy="292608"/>
          </a:xfrm>
          <a:prstGeom prst="rect">
            <a:avLst/>
          </a:prstGeom>
          <a:noFill/>
          <a:ln/>
        </p:spPr>
        <p:txBody>
          <a:bodyPr wrap="square" lIns="0" tIns="0" rIns="0" bIns="0" rtlCol="0" anchor="ctr"/>
          <a:lstStyle/>
          <a:p>
            <a:pPr marL="0" indent="0">
              <a:buNone/>
            </a:pPr>
            <a:r>
              <a:rPr lang="en-US" sz="1200" i="1" dirty="0">
                <a:solidFill>
                  <a:schemeClr val="accent3"/>
                </a:solidFill>
              </a:rPr>
              <a:t>Kaynak: Cenberlitaş E, Gökçe A, Öztürk O. Turk J Fam Pract. 2026;30(2):97-106.</a:t>
            </a:r>
            <a:endParaRPr lang="en-US" sz="1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0607040" cy="868680"/>
          </a:xfrm>
          <a:prstGeom prst="rect">
            <a:avLst/>
          </a:prstGeom>
          <a:noFill/>
          <a:ln/>
        </p:spPr>
        <p:txBody>
          <a:bodyPr wrap="square" lIns="0" tIns="0" rIns="0" bIns="0" rtlCol="0" anchor="ctr"/>
          <a:lstStyle/>
          <a:p>
            <a:pPr marL="0" indent="0" algn="l">
              <a:buNone/>
            </a:pPr>
            <a:r>
              <a:rPr lang="en-US" sz="3600" b="1" dirty="0">
                <a:solidFill>
                  <a:schemeClr val="accent1"/>
                </a:solidFill>
              </a:rPr>
              <a:t>Kaynaklar</a:t>
            </a:r>
            <a:endParaRPr lang="en-US" sz="3600" dirty="0"/>
          </a:p>
        </p:txBody>
      </p:sp>
      <p:sp>
        <p:nvSpPr>
          <p:cNvPr id="4" name="Kaynaklar 1-8"/>
          <p:cNvSpPr txBox="1"/>
          <p:nvPr/>
        </p:nvSpPr>
        <p:spPr>
          <a:xfrm>
            <a:off x="548640" y="1234440"/>
            <a:ext cx="5440680" cy="5074920"/>
          </a:xfrm>
          <a:prstGeom prst="rect">
            <a:avLst/>
          </a:prstGeom>
          <a:noFill/>
          <a:ln/>
        </p:spPr>
        <p:txBody>
          <a:bodyPr wrap="square" lIns="0" tIns="0" rIns="0" bIns="0" rtlCol="0" anchor="t"/>
          <a:lstStyle/>
          <a:p>
            <a:pPr marL="342900" indent="-342900" algn="just">
              <a:spcAft>
                <a:spcPts val="400"/>
              </a:spcAft>
              <a:buSzPct val="100000"/>
              <a:buFont typeface="+mj-lt"/>
              <a:buAutoNum type="arabicPeriod"/>
            </a:pPr>
            <a:r>
              <a:rPr lang="en-US" sz="1100" dirty="0">
                <a:solidFill>
                  <a:schemeClr val="accent1"/>
                </a:solidFill>
              </a:rPr>
              <a:t>Cenberlitaş E, Gökçe A, Öztürk O. Demographic and clinical characteristics of patients applying to a smoking cessation clinic affiliated with a university hospital and factors affecting their smoking cessation status. Turk J Fam Pract. 2026;30(2):97-106.</a:t>
            </a:r>
            <a:endParaRPr lang="en-US" sz="1100" dirty="0"/>
          </a:p>
          <a:p>
            <a:pPr marL="342900" indent="-342900" algn="just">
              <a:spcAft>
                <a:spcPts val="400"/>
              </a:spcAft>
              <a:buSzPct val="100000"/>
              <a:buFont typeface="+mj-lt"/>
              <a:buAutoNum type="arabicPeriod"/>
            </a:pPr>
            <a:r>
              <a:rPr lang="en-US" sz="1100" dirty="0">
                <a:solidFill>
                  <a:schemeClr val="accent1"/>
                </a:solidFill>
              </a:rPr>
              <a:t>Summers AD, Sirin H, Palipudi K, Erguder T, Ciobanu A, Ahluwalia IB. Changes in prevalence and predictors of tobacco smoking and interest in smoking cessation in Turkey: evidence from the Global Adult Tobacco Survey, 2008-2016. Tob Prev Cessat. 2022;8:35.</a:t>
            </a:r>
            <a:endParaRPr lang="en-US" sz="1100" dirty="0"/>
          </a:p>
          <a:p>
            <a:pPr marL="342900" indent="-342900" algn="just">
              <a:spcAft>
                <a:spcPts val="400"/>
              </a:spcAft>
              <a:buSzPct val="100000"/>
              <a:buFont typeface="+mj-lt"/>
              <a:buAutoNum type="arabicPeriod"/>
            </a:pPr>
            <a:r>
              <a:rPr lang="en-US" sz="1100" dirty="0">
                <a:solidFill>
                  <a:schemeClr val="accent1"/>
                </a:solidFill>
              </a:rPr>
              <a:t>Sigarayı bırakma polikliniklerinden 2,5 milyon kişi hizmet aldı [İnternet]. Anadolu Ajansı. Erişim: 25.09.2025. https://www.aa.com.tr/tr/saglik/sigarayi-birakma-polikliniklerinden-2-5-milyon-kisi-hizmet-aldi/1533870</a:t>
            </a:r>
            <a:endParaRPr lang="en-US" sz="1100" dirty="0"/>
          </a:p>
          <a:p>
            <a:pPr marL="342900" indent="-342900" algn="just">
              <a:spcAft>
                <a:spcPts val="400"/>
              </a:spcAft>
              <a:buSzPct val="100000"/>
              <a:buFont typeface="+mj-lt"/>
              <a:buAutoNum type="arabicPeriod"/>
            </a:pPr>
            <a:r>
              <a:rPr lang="en-US" sz="1100" dirty="0">
                <a:solidFill>
                  <a:schemeClr val="accent1"/>
                </a:solidFill>
              </a:rPr>
              <a:t>Fidanci I, Ozturk O, Unal M. Transtheoretic Model in smoking cessation. J Exp Clin Med. 2017;34(1):9-13.</a:t>
            </a:r>
            <a:endParaRPr lang="en-US" sz="1100" dirty="0"/>
          </a:p>
          <a:p>
            <a:pPr marL="342900" indent="-342900" algn="just">
              <a:spcAft>
                <a:spcPts val="400"/>
              </a:spcAft>
              <a:buSzPct val="100000"/>
              <a:buFont typeface="+mj-lt"/>
              <a:buAutoNum type="arabicPeriod"/>
            </a:pPr>
            <a:r>
              <a:rPr lang="en-US" sz="1100" dirty="0">
                <a:solidFill>
                  <a:schemeClr val="accent1"/>
                </a:solidFill>
              </a:rPr>
              <a:t>McDonough M. Update on medicines for smoking cessation. Aust Prescr. 2015;38(4):106-11.</a:t>
            </a:r>
            <a:endParaRPr lang="en-US" sz="1100" dirty="0"/>
          </a:p>
          <a:p>
            <a:pPr marL="342900" indent="-342900" algn="just">
              <a:spcAft>
                <a:spcPts val="400"/>
              </a:spcAft>
              <a:buSzPct val="100000"/>
              <a:buFont typeface="+mj-lt"/>
              <a:buAutoNum type="arabicPeriod"/>
            </a:pPr>
            <a:r>
              <a:rPr lang="en-US" sz="1100" dirty="0">
                <a:solidFill>
                  <a:schemeClr val="accent1"/>
                </a:solidFill>
              </a:rPr>
              <a:t>Heatherton TF, Kozlowski LT, Frecker RC, Fagerström KO. The Fagerström test for nicotine dependence: a revision of the Fagerström Tolerance Questionnaire. Br J Addict. 1991;86(9):1119-27.</a:t>
            </a:r>
            <a:endParaRPr lang="en-US" sz="1100" dirty="0"/>
          </a:p>
          <a:p>
            <a:pPr marL="342900" indent="-342900" algn="just">
              <a:spcAft>
                <a:spcPts val="400"/>
              </a:spcAft>
              <a:buSzPct val="100000"/>
              <a:buFont typeface="+mj-lt"/>
              <a:buAutoNum type="arabicPeriod"/>
            </a:pPr>
            <a:r>
              <a:rPr lang="en-US" sz="1100" dirty="0">
                <a:solidFill>
                  <a:schemeClr val="accent1"/>
                </a:solidFill>
              </a:rPr>
              <a:t>Uysal M, Kadakal F, Karşıdağ Ç, Bayram N, Uysal O, Yilmaz V. Fagerström test for nicotine dependence: reliability in a Turkish sample and factor analysis. Tuberk Toraks. 2004;52(2):175-82.</a:t>
            </a:r>
            <a:endParaRPr lang="en-US" sz="1100" dirty="0"/>
          </a:p>
          <a:p>
            <a:pPr marL="342900" indent="-342900" algn="just">
              <a:spcAft>
                <a:spcPts val="400"/>
              </a:spcAft>
              <a:buSzPct val="100000"/>
              <a:buFont typeface="+mj-lt"/>
              <a:buAutoNum type="arabicPeriod"/>
            </a:pPr>
            <a:r>
              <a:rPr lang="en-US" sz="1100" dirty="0">
                <a:solidFill>
                  <a:schemeClr val="accent1"/>
                </a:solidFill>
              </a:rPr>
              <a:t>Cahill K, Stevens S, Perera R, Lancaster T. Pharmacological interventions for smoking cessation: an overview and network meta-analysis. Cochrane Database Syst Rev. 2013;(5):CD009329.</a:t>
            </a:r>
            <a:endParaRPr lang="en-US" sz="1100" dirty="0"/>
          </a:p>
        </p:txBody>
      </p:sp>
      <p:sp>
        <p:nvSpPr>
          <p:cNvPr id="5" name="Kaynaklar 9-16"/>
          <p:cNvSpPr txBox="1"/>
          <p:nvPr/>
        </p:nvSpPr>
        <p:spPr>
          <a:xfrm>
            <a:off x="6263640" y="1234440"/>
            <a:ext cx="5349240" cy="5074920"/>
          </a:xfrm>
          <a:prstGeom prst="rect">
            <a:avLst/>
          </a:prstGeom>
          <a:noFill/>
          <a:ln/>
        </p:spPr>
        <p:txBody>
          <a:bodyPr wrap="square" lIns="0" tIns="0" rIns="0" bIns="0" rtlCol="0" anchor="t"/>
          <a:lstStyle/>
          <a:p>
            <a:pPr marL="342900" indent="-342900" algn="just">
              <a:spcAft>
                <a:spcPts val="400"/>
              </a:spcAft>
              <a:buSzPct val="100000"/>
              <a:buFont typeface="+mj-lt"/>
              <a:buAutoNum type="arabicPeriod" startAt="9"/>
            </a:pPr>
            <a:r>
              <a:rPr lang="en-US" sz="1100" dirty="0">
                <a:solidFill>
                  <a:schemeClr val="accent1"/>
                </a:solidFill>
              </a:rPr>
              <a:t>Anthenelli RM, Benowitz NL, West R, et al. Neuropsychiatric safety and efficacy of varenicline, bupropion, and nicotine patch in smokers with and without psychiatric disorders (EAGLES). Lancet. 2016;387(10037):2507-20.</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Walker N, Howe C, Glover M, et al. Cytisine versus nicotine for smoking cessation. N Engl J Med. 2014;371(25):2353-62.</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Courtney RJ, McRobbie H, Tutka P, et al. Effect of cytisine vs varenicline on smoking cessation: a randomized clinical trial. JAMA. 2021;326(1):56-64.</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Koegelenberg CFN, Noor F, Bateman ED, et al. Efficacy of varenicline combined with nicotine replacement therapy vs varenicline alone for smoking cessation: a randomized clinical trial. JAMA. 2014;312(2):155-61.</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Benli AR, Erturhan S, Oruc MA, Kalpakci P, Sunay D, Demirel Y. A comparison of the efficacy of varenicline and bupropion and an evaluation of the effect of the medications in the context of the smoking cessation programme. Tob Induc Dis. 2017;15:10.</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Park EW, Schultz JK, Tudiver F, Campbell T, Becker L. Enhancing partner support to improve smoking cessation. Cochrane Database Syst Rev. 2004;(3):CD002928.</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Davis JM, Masclans L, Rose JE. Adaptive smoking cessation using precessation varenicline or nicotine patch: a randomized clinical trial. JAMA Netw Open. 2023;6(9):e2332214.</a:t>
            </a:r>
            <a:endParaRPr lang="en-US" sz="1100" dirty="0"/>
          </a:p>
          <a:p>
            <a:pPr marL="342900" indent="-342900" algn="just">
              <a:spcAft>
                <a:spcPts val="400"/>
              </a:spcAft>
              <a:buSzPct val="100000"/>
              <a:buFont typeface="+mj-lt"/>
              <a:buAutoNum type="arabicPeriod" startAt="9"/>
            </a:pPr>
            <a:r>
              <a:rPr lang="en-US" sz="1100" dirty="0">
                <a:solidFill>
                  <a:schemeClr val="accent1"/>
                </a:solidFill>
              </a:rPr>
              <a:t>Curry S, Wagner EH, Grothaus LC. Intrinsic and extrinsic motivation for smoking cessation. J Consult Clin Psychol. 1990;58(3):310-6.</a:t>
            </a:r>
            <a:endParaRPr lang="en-US" sz="11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7A8C94"/>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731520" y="914400"/>
            <a:ext cx="6949440" cy="2011680"/>
          </a:xfrm>
          <a:prstGeom prst="rect">
            <a:avLst/>
          </a:prstGeom>
          <a:noFill/>
          <a:ln/>
        </p:spPr>
        <p:txBody>
          <a:bodyPr wrap="square" lIns="0" tIns="0" rIns="0" bIns="0" rtlCol="0" anchor="t"/>
          <a:lstStyle/>
          <a:p>
            <a:pPr marL="0" indent="0" algn="l">
              <a:buNone/>
            </a:pPr>
            <a:r>
              <a:rPr lang="en-US" sz="4000" b="1" dirty="0">
                <a:solidFill>
                  <a:schemeClr val="bg1"/>
                </a:solidFill>
              </a:rPr>
              <a:t>İlginiz ve katkılarınız için teşekkür ederim</a:t>
            </a:r>
            <a:endParaRPr lang="en-US" sz="4000" dirty="0"/>
          </a:p>
        </p:txBody>
      </p:sp>
      <p:sp>
        <p:nvSpPr>
          <p:cNvPr id="4" name="Text 1"/>
          <p:cNvSpPr txBox="1"/>
          <p:nvPr/>
        </p:nvSpPr>
        <p:spPr>
          <a:xfrm>
            <a:off x="731520" y="3383280"/>
            <a:ext cx="6766560" cy="2377440"/>
          </a:xfrm>
          <a:prstGeom prst="rect">
            <a:avLst/>
          </a:prstGeom>
          <a:noFill/>
          <a:ln/>
        </p:spPr>
        <p:txBody>
          <a:bodyPr wrap="square" lIns="0" tIns="0" rIns="0" bIns="0" rtlCol="0" anchor="t"/>
          <a:lstStyle/>
          <a:p>
            <a:pPr marL="0" indent="0">
              <a:buNone/>
            </a:pPr>
            <a:r>
              <a:rPr lang="en-US" sz="2600" b="1" dirty="0">
                <a:solidFill>
                  <a:schemeClr val="bg2"/>
                </a:solidFill>
              </a:rPr>
              <a:t>Sorular ve tartışma</a:t>
            </a:r>
            <a:endParaRPr lang="en-US" sz="2600" dirty="0"/>
          </a:p>
          <a:p>
            <a:pPr marL="0" indent="0">
              <a:buNone/>
            </a:pPr>
            <a:r>
              <a:rPr lang="en-US" sz="1200" dirty="0">
                <a:solidFill>
                  <a:schemeClr val="bg2"/>
                </a:solidFill>
              </a:rPr>
              <a:t> </a:t>
            </a:r>
            <a:endParaRPr lang="en-US" sz="2600" dirty="0"/>
          </a:p>
          <a:p>
            <a:pPr marL="0" indent="0">
              <a:buNone/>
            </a:pPr>
            <a:r>
              <a:rPr lang="en-US" sz="2200" dirty="0">
                <a:solidFill>
                  <a:schemeClr val="bg2"/>
                </a:solidFill>
              </a:rPr>
              <a:t>Dr. Ahmet KIRAN</a:t>
            </a:r>
            <a:endParaRPr lang="en-US" sz="2600" dirty="0"/>
          </a:p>
        </p:txBody>
      </p:sp>
      <p:sp>
        <p:nvSpPr>
          <p:cNvPr id="5" name="Görsel zemini"/>
          <p:cNvSpPr/>
          <p:nvPr/>
        </p:nvSpPr>
        <p:spPr>
          <a:xfrm>
            <a:off x="8183880" y="1325880"/>
            <a:ext cx="3291840" cy="3291840"/>
          </a:xfrm>
          <a:prstGeom prst="ellipse">
            <a:avLst/>
          </a:prstGeom>
          <a:solidFill>
            <a:schemeClr val="bg2"/>
          </a:solidFill>
          <a:ln w="12700">
            <a:solidFill>
              <a:schemeClr val="bg2"/>
            </a:solidFill>
            <a:prstDash val="solid"/>
          </a:ln>
        </p:spPr>
        <p:txBody>
          <a:bodyPr/>
          <a:p/>
        </p:txBody>
      </p:sp>
      <p:pic>
        <p:nvPicPr>
          <p:cNvPr id="6" name="Dumansız simge" descr="Sigara içilmez simgesi"/>
          <p:cNvPicPr>
            <a:picLocks noChangeAspect="1"/>
          </p:cNvPicPr>
          <p:nvPr/>
        </p:nvPicPr>
        <p:blipFill>
          <a:blip r:embed="rId3"/>
          <a:stretch>
            <a:fillRect/>
          </a:stretch>
        </p:blipFill>
        <p:spPr>
          <a:xfrm>
            <a:off x="8915400" y="2057400"/>
            <a:ext cx="1828800" cy="1828800"/>
          </a:xfrm>
          <a:prstGeom prst="rect">
            <a:avLst/>
          </a:prstGeom>
        </p:spPr>
      </p:pic>
      <p:sp>
        <p:nvSpPr>
          <p:cNvPr id="7" name="Text 3"/>
          <p:cNvSpPr txBox="1"/>
          <p:nvPr/>
        </p:nvSpPr>
        <p:spPr>
          <a:xfrm>
            <a:off x="7726680" y="4846320"/>
            <a:ext cx="4206240" cy="548640"/>
          </a:xfrm>
          <a:prstGeom prst="rect">
            <a:avLst/>
          </a:prstGeom>
          <a:noFill/>
          <a:ln/>
        </p:spPr>
        <p:txBody>
          <a:bodyPr wrap="square" lIns="0" tIns="0" rIns="0" bIns="0" rtlCol="0" anchor="ctr"/>
          <a:lstStyle/>
          <a:p>
            <a:pPr marL="0" indent="0" algn="ctr">
              <a:buNone/>
            </a:pPr>
            <a:r>
              <a:rPr lang="en-US" sz="2200" i="1" dirty="0">
                <a:solidFill>
                  <a:schemeClr val="bg2"/>
                </a:solidFill>
              </a:rPr>
              <a:t>Dumansız bir gelecek için</a:t>
            </a:r>
            <a:endParaRPr lang="en-US" sz="2200" dirty="0"/>
          </a:p>
        </p:txBody>
      </p:sp>
      <p:sp>
        <p:nvSpPr>
          <p:cNvPr id="25" name="Slide Number Placeholder 0"/>
          <p:cNvSpPr>
            <a:spLocks noGrp="1"/>
          </p:cNvSpPr>
          <p:nvPr>
            <p:ph type="sldNum" sz="quarter" idx="4294967295"/>
          </p:nvPr>
        </p:nvSpPr>
        <p:spPr>
          <a:xfrm>
            <a:off x="11201400" y="6382512"/>
            <a:ext cx="548640" cy="292608"/>
          </a:xfrm>
          <a:prstGeom prst="rect">
            <a:avLst/>
          </a:prstGeom>
          <a:extLst>
            <a:ext uri="{C572A759-6A51-4108-AA02-DFA0A04FC94B}">
              <ma14:wrappingTextBoxFlag xmlns:ma14="http://schemas.microsoft.com/office/mac/drawingml/2011/main" xmlns="" val="0"/>
            </a:ext>
          </a:extLst>
        </p:spPr>
        <p:txBody>
          <a:bodyPr/>
          <a:lstStyle>
            <a:lvl1pPr>
              <a:defRPr sz="1400">
                <a:solidFill>
                  <a:srgbClr val="E6F0F1"/>
                </a:solidFill>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Sigara Birakma Sunumu">
  <a:themeElements>
    <a:clrScheme name="Sigara Birakma Sunumu">
      <a:dk1>
        <a:srgbClr val="123A45"/>
      </a:dk1>
      <a:lt1>
        <a:srgbClr val="FFFFFF"/>
      </a:lt1>
      <a:dk2>
        <a:srgbClr val="0F4C5C"/>
      </a:dk2>
      <a:lt2>
        <a:srgbClr val="E6F0F1"/>
      </a:lt2>
      <a:accent1>
        <a:srgbClr val="0F4C5C"/>
      </a:accent1>
      <a:accent2>
        <a:srgbClr val="2A9D8F"/>
      </a:accent2>
      <a:accent3>
        <a:srgbClr val="7A8C94"/>
      </a:accent3>
      <a:accent4>
        <a:srgbClr val="5C8A93"/>
      </a:accent4>
      <a:accent5>
        <a:srgbClr val="B9D9D5"/>
      </a:accent5>
      <a:accent6>
        <a:srgbClr val="3D6B78"/>
      </a:accent6>
      <a:hlink>
        <a:srgbClr val="2A9D8F"/>
      </a:hlink>
      <a:folHlink>
        <a:srgbClr val="7A8C94"/>
      </a:folHlink>
    </a:clrScheme>
    <a:fontScheme name="Sigara Birakma Sunum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1596</TotalTime>
  <Words>3335</Words>
  <Application>Microsoft Office PowerPoint</Application>
  <PresentationFormat>Geniş ekran</PresentationFormat>
  <Paragraphs>350</Paragraphs>
  <Slides>27</Slides>
  <Notes>27</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27</vt:i4>
      </vt:variant>
    </vt:vector>
  </HeadingPairs>
  <TitlesOfParts>
    <vt:vector size="30" baseType="lpstr">
      <vt:lpstr>Arial</vt:lpstr>
      <vt:lpstr>Calibri</vt:lpstr>
      <vt:lpstr>Sigara Birakma Sunumu</vt:lpstr>
      <vt:lpstr>Bir üniversite hastanesine bağlı sigara bırakma polikliniğine başvuran hastaların demografik ve klinik özellikleri ile sigara bırakma durumlarını etkileyen faktörler</vt:lpstr>
      <vt:lpstr>İçerik</vt:lpstr>
      <vt:lpstr>Makale künyesi</vt:lpstr>
      <vt:lpstr>Sorunun büyüklüğü</vt:lpstr>
      <vt:lpstr>Tedavi seçenekleri</vt:lpstr>
      <vt:lpstr>Çalışmanın amacı</vt:lpstr>
      <vt:lpstr>Tasarım ve örneklem</vt:lpstr>
      <vt:lpstr>Veri toplama ve bağımlılık ölçümü</vt:lpstr>
      <vt:lpstr>Tedavi yaklaşımı</vt:lpstr>
      <vt:lpstr>İstatistiksel analiz</vt:lpstr>
      <vt:lpstr>Katılımcıların genel özellikleri</vt:lpstr>
      <vt:lpstr>Bağımlılık düzeyi ve deneme öyküsü</vt:lpstr>
      <vt:lpstr>Tablo 1: Sosyodemografik özellikler</vt:lpstr>
      <vt:lpstr>Tablo 2: Sosyodemografik özellikler ve bırakma</vt:lpstr>
      <vt:lpstr>Tablo 2 (devam)</vt:lpstr>
      <vt:lpstr>Tablo 3: Uygulanan tedaviler</vt:lpstr>
      <vt:lpstr>Tablo 4: Görüşme sayısı, FNBT ve paket-yıl</vt:lpstr>
      <vt:lpstr>Tablo 5: Tedavi yöntemine göre bırakma</vt:lpstr>
      <vt:lpstr>Tablo 6: Lojistik regresyon</vt:lpstr>
      <vt:lpstr>Tartışma: tedaviler ve literatür</vt:lpstr>
      <vt:lpstr>Tartışma: başarıyı etkileyen faktörler</vt:lpstr>
      <vt:lpstr>Kısıtlılıklar ve güçlü yönler</vt:lpstr>
      <vt:lpstr>Sonuç ve öneriler</vt:lpstr>
      <vt:lpstr>Olgu: Siz ne yapardınız?</vt:lpstr>
      <vt:lpstr>Akılda kalacak mesajlar</vt:lpstr>
      <vt:lpstr>Kaynaklar</vt:lpstr>
      <vt:lpstr>İlginiz ve katkılarınız için teşekkür ederim</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Sigara bırakma polikliniği: makale sunumu</dc:title>
  <dc:subject>Makale sunumu</dc:subject>
  <dc:creator>PptxGenJS</dc:creator>
  <cp:lastModifiedBy>Ahmet Kıran</cp:lastModifiedBy>
  <cp:revision>1</cp:revision>
  <dcterms:created xsi:type="dcterms:W3CDTF">2026-10-12T20:59:45Z</dcterms:created>
  <dcterms:modified xsi:type="dcterms:W3CDTF">2026-10-14T20:58:46Z</dcterms:modified>
</cp:coreProperties>
</file>