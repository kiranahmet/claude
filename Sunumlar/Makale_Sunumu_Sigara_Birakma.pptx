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bd3b5d9-2f93-2580-60f6-41f54a367a1e}">
          <p14:sldIdLst>
            <p14:sldId id="256"/>
            <p14:sldId id="257"/>
            <p14:sldId id="258"/>
            <p14:sldId id="259"/>
            <p14:sldId id="260"/>
            <p14:sldId id="261"/>
            <p14:sldId id="262"/>
          </p14:sldIdLst>
        </p14:section>
        <p14:section name="Gereç ve yöntem" id="{04071607-34fb-0e23-ad47-b8414c83e64f}">
          <p14:sldIdLst>
            <p14:sldId id="263"/>
            <p14:sldId id="264"/>
            <p14:sldId id="265"/>
            <p14:sldId id="266"/>
          </p14:sldIdLst>
        </p14:section>
        <p14:section name="Bulgular" id="{68d7aa3f-a07b-6d95-8eb4-aff56fc4ece4}">
          <p14:sldIdLst>
            <p14:sldId id="267"/>
            <p14:sldId id="268"/>
            <p14:sldId id="269"/>
            <p14:sldId id="270"/>
            <p14:sldId id="271"/>
            <p14:sldId id="272"/>
            <p14:sldId id="273"/>
            <p14:sldId id="274"/>
            <p14:sldId id="275"/>
          </p14:sldIdLst>
        </p14:section>
        <p14:section name="Tartışma" id="{0b6da766-f717-08aa-80f2-d174bc057a12}">
          <p14:sldIdLst>
            <p14:sldId id="276"/>
            <p14:sldId id="277"/>
            <p14:sldId id="278"/>
          </p14:sldIdLst>
        </p14:section>
        <p14:section name="Sonuç" id="{d7d5b8d7-35cc-0bdf-fc0e-24c71fe0ebf6}">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Günaydın hocalarım, değerli arkadaşlarım. Ben [Ad Soyad], [kaçıncı yıl] asistanıyım.
Bugün sizlere Turkish Journal of Family Practice dergisinin 2026 yılı 30. cilt 2. sayısında yayımlanan, Cenberlitaş, Gökçe ve Öztürk'ün “Bir üniversite hastanesine bağlı sigara bırakma polikliniğine başvuran hastaların demografik ve klinik özellikleri ile sigara bırakma durumlarını etkileyen faktörler” başlıklı özgün araştırma makalesini sunacağım.
Konu birinci basamakta neredeyse her gün karşılaştığımız bir sorun olduğu için bu makaleyi seçtim.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 28 slayttan oluşmakta ve yaklaşık yarım saat sürecektir. Sonunda kısa bir tartışma bölümü planladım.
Makalenin künyesi ve giriş bölümüyle başlayıp gereç ve yöntemi aktaracağım. Bulgular bölümünde makaledeki altı tabloyu özgün halleriyle göstereceğim. Ardından yazarların tartışma ve sonuçlarını aktaracak, kısa bir olgu üzerinden görüşlerinizi alacağım.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sunumun sonunda sigara bırakma tedavilerinin etkinliğini makalenin bulgularıyla karşılaştırmayı, bırakma başarısını etkileyen faktörleri tanımayı ve bu bulguları bir olgu üzerinden klinik pratiğimize aktarmayı hedefliyorum.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Solda makalenin ilk sayfasını görüyorsunuz. Makale Türkiye Aile Hekimleri Uzmanlık Derneği'nin yayın organı olan Turkish Journal of Family Practice'te 2026 yılında yayımlanmıştır. Açık erişimlidir ve CC BY lisansıyla yayımlanmıştır.
Çalışma retrospektif, kesitsel bir araştırmadır. Veriler Samsun Eğitim ve Araştırma Hastanesi Sigara Bırakma Polikliniği'nden elde edilmiştir.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giriş bölümünde tütün bağımlılığının önlenebilir ölüm nedenlerinin başında geldiğini vurgulamaktadır. Küresel Yetişkin Tütün Araştırması 2016 verilerine göre Türkiye'de sigara içme sıklığı erkeklerde yüzde 44,1, kadınlarda yüzde 19,2'dir.
Ülkemizde 500'ün üzerinde sigara bırakma polikliniği bulunmakta, bu polikliniklere 2,5 milyondan fazla kişi başvurmuş bulunmaktadır. Polikliniklerde bırakma oranları yüzde 20 ile 50 arasında değişmektedir.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Sigara bırakma tedavisi davranışsal yaklaşımlar ve farmakoterapiden oluşmaktadır. Davranışsal tarafta motivasyonel görüşme ve Transteorik Model gibi davranış değişikliği modelleri kullanılmaktadır.
Farmakoterapi nikotin replasman tedavisi, bupropion ve vareniklinden oluşmaktadır. Sitizin son yıllarda ek bir seçenek olarak kullanıma girmiştir. Farmakoterapinin davranışsal destekle birlikte verilmesi ve gerektiğinde kombinasyonların düşünülmesi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Yazarların amacı, kombine tedavinin ve yakın takibin sigara bırakma başarısı üzerindeki etkisini değerlendirmek ve bırakmayı etkileyen hasta özelliklerini belirlemektir.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1 Ağustos 2020 ile 31 Ağustos 2024 arasını kapsamaktadır. Polikliniğe başvuran, 18 yaş ve üzeri, sigara içen 432 hastanın dosyası taranmıştır.
Verilerine eksiksiz ulaşılan 399 hasta analize alınmıştır. Tüm kayıtlar kullanıldığından örneklem büyüklüğü hesaplanmamıştır. Yıllık kontrolüne gelmeyen hastaların takip bilgileri asistan hekimlerin yaptığı uzaktan görüşmelerle tamamlanmıştır.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dosyalarından yaş, cinsiyet, meslek, alkol kullanımı, kronik hastalık, sigara öyküsü ve uygulanan tedaviler kaydedilmiştir.
Nikotin bağımlılığı ilk vizitte Fagerström Nikotin Bağımlılık Testi ile değerlendirilmiştir. 0–2 puan düşük, 3–7 puan orta, 8–10 puan yüksek bağımlılık olarak sınıflanmıştır. Testin Türkçe geçerlik ve güvenilirlik çalışması 2004 yılında Uysal ve arkadaşları tarafından yapılmıştır.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Tedavi FNBT puanı, kronik hastalıklar, kullanılan ilaçlar, kontrendikasyonlar ve hasta uyumuna göre bireyselleştirilmiştir.
Hastalara yalnızca davranışsal tedavi, monoterapi ya da kombine tedavi uygulanmıştır. Kombine tedavi seçenekleri bupropion ile NRT, vareniklin ile NRT, sitizin ile NRT ve üçlü tedavidir. Sağlık Bakanlığı politikaları doğrultusunda NRT ve sitizin belirli dönemlerde ücretsiz sağlanmıştır.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Analizler SPSS 25 ile yapılmıştır. Normallik histogram ve Kolmogorov–Smirnov testiyle değerlendirilmiştir.
Kategorik değişkenler ki-kare testiyle, iki grup karşılaştırmaları Mann–Whitney U, ikiden fazla grup karşılaştırmaları Kruskal–Wallis testiyle yapılmıştır. Post-hoc karşılaştırmalarda Duncan testi kullanılmıştır.
Tedavi yöntemlerinin bırakma üzerindeki etkisi ikili lojistik regresyonla değerlendirilmiş ve Bonferroni düzeltmesi uygulanmıştır.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Bulgulara geçiyorum. Analize 399 hasta alınmıştır. Yaş ortalaması 44,7 yıldır ve hastaların yüzde 63,7'si erkektir.
Ortalama FNBT puanı 5,66, ortalama tüketim 27,4 paket-yıl, hasta başına ortalama görüşme sayısı 2,21'dir. Hastaların yüzde 34,1'i, yani yaklaşık üçte biri sigarayı bırakmıştır.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FNBT puanlarına göre hastaların yüzde 13,2'si düşük, yüzde 61,3'ü orta, yüzde 25,5'i yüksek bağımlılık düzeyindedir.
Hastaların yüzde 75,7'si daha önce sigarayı bırakmayı denemiş ve bunların yaklaşık yarısı bu denemede profesyonel destek almıştır. Yüzde 7,2'si sigara dışında elektronik sigara, nargile veya puro gibi tütün ürünleri kullanmaktadır.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1'de katılımcıların sosyodemografik özellikleri yer almaktadır. Hastaların çoğu 26–44 yaş grubundadır, yüzde 82'si evlidir ve yüzde 43'ü yükseköğretim mezunudur.
Hastaların yüzde 86'sı il merkezinde yaşamaktadır. Yüzde 39,6'sının hanesinde sigara içen başka biri bulunmaktadır.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2'de sosyodemografik özelliklere göre bırakma durumu karşılaştırılmıştır. Tablonun ilk bölümünde cinsiyet, yaş grubu, medeni durum ve eğitim durumu yer almaktadır.
Bu değişkenlerin hiçbirinde başarılı ve başarısız gruplar arasında anlamlı fark bulunmamıştır.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Tablonun ikinci bölümünde yerleşim yeri, çalışma durumu, hanede başka sigara içen varlığı ve alkol kullanımı yer almaktadır.
Anlamlı fark yalnızca hanede başka sigara içen varlığında bulunmuştur. Hanesinde sigara içen olmayanların yüzde 39,8'i, olanların yüzde 25,3'ü sigarayı bırakmıştır; p değeri 0,003'tür.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3'te uygulanan tedaviler görülmektedir. En sık uygulanan yöntem 141 hasta ile kombine tedavidir. Bunu 109 hasta ile bupropion ve 80 hasta ile NRT monoterapisi izlemektedir.
Kombine tedavi alan hastaların 125'i bupropion ile NRT almıştır. Vareniklin 18, sitizin 34 hastada tek başına kullanılmış; 17 hastaya yalnızca farmakolojik olmayan tedavi uygulanmıştır.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4'te sürekli değişkenler bırakma durumuna göre karşılaştırılmıştır. Sigarayı bırakanlar ortalama 2,83 kez, bırakamayanlar 1,96 kez görüşmeye gelmiştir; fark anlamlıdır, p&lt;0,001.
Bırakanların FNBT puanı daha düşüktür: 5,26'ya karşı 5,85; p değeri 0,024'tür. Paket-yıl açısından iki grup arasında anlamlı fark bulunmamıştır.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5'te tedavi yöntemlerine göre bırakma oranları yer almaktadır. En yüksek oranlar vareniklin grubunda yüzde 44,5 ve kombine tedavi grubunda yüzde 44,0 olarak bulunmuştur.
NRT grubunda oran yüzde 37,5, sitizin ve yalnızca davranışsal tedavi gruplarında yüzde 35,3'tür. En düşük oran yüzde 16,5 ile bupropion monoterapisindedir. Gruplar arasındaki fark anlamlıdır,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6'da lojistik regresyon sonuçları görülmektedir. Referans grup bupropion monoterapisidir ve Exp(B) sütunu odds oranını vermektedir.
Bupropiona göre bırakma olasılığı vareniklinde 4,0, kombine tedavide 4,0, NRT'de 3,0, sitizinde 2,8 kat yüksektir. Farmakolojik tedavi almayanlarda görülen 2,8 katlık fark anlamlı değildir.
Hanede sigara içen olmaması bırakma olasılığını yaklaşık iki katına, sigaraya bağlı yakınma olmaması 1,6 katına çıkarmaktadır. Yazarlar ayrıca FNBT puanının bırakma başarısının negatif bir öngörücüsü olduğunu bildirmektedir.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bulgularını literatürle karşılaştırmıştır. Vareniklinin bupropiona üstünlüğü büyük meta-analizler ve EAGLES çalışmasıyla uyumludur. Bu üstünlük, vareniklinin α4β2 nikotinik reseptördeki parsiyel agonist etkisiyle açıklanmaktadır.
Sitizin vareniklinle benzer mekanizmaya sahip, maliyet-etkin bir seçenektir; plaseboya üstün ve NRT ile benzer etkinlikte bulunmuştur. Kombine tedavinin üstünlüğü, monoterapi yetersiz kaldığında kombinasyon öneren kılavuzlarla uyumludur.
Benli ve arkadaşlarının çalışmasında da vareniklin ilk altı ayda bupropiondan daha yüksek bırakma oranı sağlamıştır.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davranışsal desteğin önemini vurgulamaktadır: Daha fazla görüşmeye gelen hastalarda bırakma oranı daha yüksektir.
Hanede sigara içen olmaması bırakma olasılığını neredeyse iki katına çıkarmaktadır. Literatürde eşin veya aile bireylerinin sigara içmesi hem tetikleyici hem de motivasyon engeli olarak tanımlanmaktadır.
Yüksek FNBT puanı düşük başarıyla ilişkilidir. Yakınması olmayan hastalarda başarının daha yüksek olması ise uzun vadeli sağlığı korumaya yönelik içsel motivasyonla açıklanmaktadır.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kısıtlılık olarak asistan rotasyonlarının takip sürekliliğini etkileyebileceğini, eksik verilerin telefonla ve hasta beyanıyla tamamlandığını ve vareniklinin piyasadan çekilmesinin ilaç seçimini etkilediğini belirtmektedir.
Güçlü yön olarak bu çalışmanın, bildikleri kadarıyla sitizin ile sigara bırakma tedavisini ele alan erişilebilir ilk tez çalışması olduğunu ve birçok tedavi seçeneğini bir arada değerlendirdiğini vurgulamaktadırlar.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Yazarların sonucuna göre hastaların yaklaşık üçte biri sigarayı bırakmıştır. Kombine tedavi alanlarda bırakma oranı diğer seçeneklere göre daha yüksektir ve tedaviye uyum arttıkça başarı da artmaktadır.
Yazarlar tedavi seanslarında hastaların bırakma motivasyonunu artırmaya yönelik çabaların yoğunlaştırılmasını önermektedir.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Bulguları pratiğe aktarmak için kısa bir olgu üzerinden görüşlerinizi almak istiyorum.
52 yaşında erkek hasta; günde 25 sigara içiyor, 30 paket-yıl öyküsü var, FNBT puanı 8. Daha önce bupropion ile denemiş ve başaramamış. Eşi de sigara içiyor.
Bu hastada hangi tedaviyi seçerdiniz? Takibi nasıl planlardınız? Eşini sürece nasıl dahil ederdiniz?
[Burada 2–3 dakika görüş alın. Makalenin bulgularına göre tartışmayı şu noktalara yönlendirebilirsiniz: Kombine tedavi veya vareniklin/sitizin temelli tedavi, sık kontrol görüşmeleri ve eşe de bırakma danışmanlığı önerilmesi.]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Sunumu beş mesajla özetlemek istiyorum.
Hastaların yaklaşık üçte biri sigarayı bırakmıştır. Kombine tedavide başarı daha yüksektir. Bupropion monoterapisi en düşük başarının görüldüğü seçenektir. Hanesinde sigara içen olup olmadığı sorgulanmalıdır. Sık takip başarıyla ilişkilidir.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Kaynaklar Vancouver stiline uygun olarak, kullanım sırasıyla listelenmiştir. Birinci kaynak sunulan makalenin kendisidir; diğerleri makalenin atıf yaptığı çalışmalardır.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İlginiz ve katkılarınız için teşekkür ederim. Sorularınızı ve görüşlerinizi almaktan memnuniyet duyarım.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80160"/>
            <a:ext cx="10698480" cy="2788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4434840"/>
            <a:ext cx="10698480" cy="15544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607040" cy="868680"/>
          </a:xfrm>
          <a:prstGeom prst="rect">
            <a:avLst/>
          </a:prstGeom>
          <a:noFill/>
          <a:ln/>
        </p:spPr>
        <p:txBody>
          <a:bodyPr wrap="square" rtlCol="0"/>
          <a:lstStyle>
            <a:lvl1pPr algn="l" indent="0" marL="0">
              <a:buNone/>
              <a:defRPr lang="en-US" sz="3600" b="1" dirty="0">
                <a:solidFill>
                  <a:schemeClr val="accent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694944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indent="0" marL="0">
              <a:buNone/>
            </a:pPr>
            <a:r>
              <a:rPr lang="en-US" sz="2200" b="1" spc="100" kern="0" dirty="0">
                <a:solidFill>
                  <a:schemeClr val="accent5"/>
                </a:solidFill>
              </a:rPr>
              <a:t>Makale Sunumu</a:t>
            </a:r>
            <a:endParaRPr lang="en-US" sz="2200" dirty="0"/>
          </a:p>
        </p:txBody>
      </p:sp>
      <p:sp>
        <p:nvSpPr>
          <p:cNvPr id="4" name="Text 0"/>
          <p:cNvSpPr/>
          <p:nvPr>
            <p:ph idx="100" type="title" hasCustomPrompt="1"/>
          </p:nvPr>
        </p:nvSpPr>
        <p:spPr>
          <a:xfrm>
            <a:off x="731520" y="1280160"/>
            <a:ext cx="10698480" cy="2788920"/>
          </a:xfrm>
          <a:prstGeom prst="rect">
            <a:avLst/>
          </a:prstGeom>
          <a:noFill/>
          <a:ln/>
        </p:spPr>
        <p:txBody>
          <a:bodyPr wrap="square" lIns="0" tIns="0" rIns="0" bIns="0" rtlCol="0" anchor="t"/>
          <a:lstStyle/>
          <a:p>
            <a:pPr algn="l" indent="0" marL="0">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p:nvPr>
            <p:ph idx="101" type="body" hasCustomPrompt="1"/>
          </p:nvPr>
        </p:nvSpPr>
        <p:spPr>
          <a:xfrm>
            <a:off x="731520" y="4434840"/>
            <a:ext cx="10698480" cy="1554480"/>
          </a:xfrm>
          <a:prstGeom prst="rect">
            <a:avLst/>
          </a:prstGeom>
          <a:noFill/>
          <a:ln/>
        </p:spPr>
        <p:txBody>
          <a:bodyPr wrap="square" lIns="0" tIns="0" rIns="0" bIns="0" rtlCol="0" anchor="t"/>
          <a:lstStyle/>
          <a:p>
            <a:pPr algn="l" indent="0" marL="0">
              <a:buNone/>
            </a:pPr>
            <a:r>
              <a:rPr lang="en-US" sz="2000" dirty="0">
                <a:solidFill>
                  <a:schemeClr val="bg2"/>
                </a:solidFill>
              </a:rPr>
              <a:t>Cenberlitaş E, Gökçe A, Öztürk O. Turk J Fam Pract. 2026;30(2):97-106</a:t>
            </a:r>
            <a:endParaRPr lang="en-US" sz="2000" dirty="0"/>
          </a:p>
          <a:p>
            <a:pPr algn="l" indent="0" marL="0">
              <a:buNone/>
            </a:pPr>
            <a:r>
              <a:rPr lang="en-US" sz="1000" dirty="0">
                <a:solidFill>
                  <a:schemeClr val="bg2"/>
                </a:solidFill>
              </a:rPr>
              <a:t> </a:t>
            </a:r>
            <a:endParaRPr lang="en-US" sz="2000" dirty="0"/>
          </a:p>
          <a:p>
            <a:pPr algn="l" indent="0" marL="0">
              <a:buNone/>
            </a:pPr>
            <a:r>
              <a:rPr lang="en-US" sz="2000" b="1" dirty="0">
                <a:solidFill>
                  <a:schemeClr val="bg2"/>
                </a:solidFill>
              </a:rPr>
              <a:t>Sunan: Dr. [Ad Soyad]</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sp>
      <p:sp>
        <p:nvSpPr>
          <p:cNvPr id="6" name="Text 3"/>
          <p:cNvSpPr txBox="1"/>
          <p:nvPr/>
        </p:nvSpPr>
        <p:spPr>
          <a:xfrm>
            <a:off x="822960" y="170992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Künye ve giriş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sp>
      <p:sp>
        <p:nvSpPr>
          <p:cNvPr id="10" name="Text 7"/>
          <p:cNvSpPr txBox="1"/>
          <p:nvPr/>
        </p:nvSpPr>
        <p:spPr>
          <a:xfrm>
            <a:off x="6446520" y="170992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sp>
      <p:sp>
        <p:nvSpPr>
          <p:cNvPr id="14" name="Text 11"/>
          <p:cNvSpPr txBox="1"/>
          <p:nvPr/>
        </p:nvSpPr>
        <p:spPr>
          <a:xfrm>
            <a:off x="822960" y="326440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sp>
      <p:sp>
        <p:nvSpPr>
          <p:cNvPr id="18" name="Text 15"/>
          <p:cNvSpPr txBox="1"/>
          <p:nvPr/>
        </p:nvSpPr>
        <p:spPr>
          <a:xfrm>
            <a:off x="6446520" y="326440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Tartışma</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sp>
      <p:sp>
        <p:nvSpPr>
          <p:cNvPr id="22" name="Text 19"/>
          <p:cNvSpPr txBox="1"/>
          <p:nvPr/>
        </p:nvSpPr>
        <p:spPr>
          <a:xfrm>
            <a:off x="822960" y="481888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Sonuç ve öneriler</a:t>
            </a:r>
            <a:endParaRPr lang="en-US" sz="2600" dirty="0"/>
          </a:p>
        </p:txBody>
      </p:sp>
      <p:sp>
        <p:nvSpPr>
          <p:cNvPr id="24" name="Kart"/>
          <p:cNvSpPr/>
          <p:nvPr/>
        </p:nvSpPr>
        <p:spPr>
          <a:xfrm>
            <a:off x="6172200" y="4572000"/>
            <a:ext cx="5440680" cy="1280160"/>
          </a:xfrm>
          <a:prstGeom prst="roundRect">
            <a:avLst>
              <a:gd name="adj" fmla="val 8571"/>
            </a:avLst>
          </a:prstGeom>
          <a:solidFill>
            <a:schemeClr val="bg2"/>
          </a:solidFill>
          <a:ln w="12700">
            <a:solidFill>
              <a:schemeClr val="bg2"/>
            </a:solidFill>
            <a:prstDash val="solid"/>
          </a:ln>
        </p:spPr>
      </p:sp>
      <p:sp>
        <p:nvSpPr>
          <p:cNvPr id="25" name="Sıra"/>
          <p:cNvSpPr/>
          <p:nvPr/>
        </p:nvSpPr>
        <p:spPr>
          <a:xfrm>
            <a:off x="6446520" y="4818888"/>
            <a:ext cx="786384" cy="786384"/>
          </a:xfrm>
          <a:prstGeom prst="ellipse">
            <a:avLst/>
          </a:prstGeom>
          <a:solidFill>
            <a:schemeClr val="accent2"/>
          </a:solidFill>
          <a:ln w="12700">
            <a:solidFill>
              <a:schemeClr val="accent2"/>
            </a:solidFill>
            <a:prstDash val="solid"/>
          </a:ln>
        </p:spPr>
      </p:sp>
      <p:sp>
        <p:nvSpPr>
          <p:cNvPr id="26" name="Text 23"/>
          <p:cNvSpPr txBox="1"/>
          <p:nvPr/>
        </p:nvSpPr>
        <p:spPr>
          <a:xfrm>
            <a:off x="6446520" y="481888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6</a:t>
            </a:r>
            <a:endParaRPr lang="en-US" sz="2800" dirty="0"/>
          </a:p>
        </p:txBody>
      </p:sp>
      <p:sp>
        <p:nvSpPr>
          <p:cNvPr id="27" name="Text 24"/>
          <p:cNvSpPr txBox="1"/>
          <p:nvPr/>
        </p:nvSpPr>
        <p:spPr>
          <a:xfrm>
            <a:off x="7498080" y="457200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Olgu ve özet</a:t>
            </a:r>
            <a:endParaRPr lang="en-US" sz="2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Hedefler</a:t>
            </a:r>
            <a:endParaRPr lang="en-US" sz="3600" dirty="0"/>
          </a:p>
        </p:txBody>
      </p:sp>
      <p:sp>
        <p:nvSpPr>
          <p:cNvPr id="4" name="Ikon zemini"/>
          <p:cNvSpPr/>
          <p:nvPr/>
        </p:nvSpPr>
        <p:spPr>
          <a:xfrm>
            <a:off x="731520" y="1508760"/>
            <a:ext cx="1097280" cy="1097280"/>
          </a:xfrm>
          <a:prstGeom prst="ellipse">
            <a:avLst/>
          </a:prstGeom>
          <a:solidFill>
            <a:schemeClr val="accent2"/>
          </a:solidFill>
          <a:ln w="12700">
            <a:solidFill>
              <a:schemeClr val="accent2"/>
            </a:solidFill>
            <a:prstDash val="solid"/>
          </a:ln>
        </p:spPr>
      </p:sp>
      <p:pic>
        <p:nvPicPr>
          <p:cNvPr id="5" name="Ikon" descr="FaBalanceScale">    </p:cNvPr>
          <p:cNvPicPr>
            <a:picLocks noChangeAspect="1"/>
          </p:cNvPicPr>
          <p:nvPr/>
        </p:nvPicPr>
        <p:blipFill>
          <a:blip r:embed="rId1"/>
          <a:stretch>
            <a:fillRect/>
          </a:stretch>
        </p:blipFill>
        <p:spPr>
          <a:xfrm>
            <a:off x="1016813" y="1794053"/>
            <a:ext cx="526694" cy="526694"/>
          </a:xfrm>
          <a:prstGeom prst="rect">
            <a:avLst/>
          </a:prstGeom>
        </p:spPr>
      </p:pic>
      <p:sp>
        <p:nvSpPr>
          <p:cNvPr id="6" name="Text 2"/>
          <p:cNvSpPr txBox="1"/>
          <p:nvPr/>
        </p:nvSpPr>
        <p:spPr>
          <a:xfrm>
            <a:off x="2148840" y="155448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Tedavilerin etkinliğini karşılaştırmak</a:t>
            </a:r>
            <a:endParaRPr lang="en-US" sz="2800" dirty="0"/>
          </a:p>
        </p:txBody>
      </p:sp>
      <p:sp>
        <p:nvSpPr>
          <p:cNvPr id="7" name="Text 3"/>
          <p:cNvSpPr txBox="1"/>
          <p:nvPr/>
        </p:nvSpPr>
        <p:spPr>
          <a:xfrm>
            <a:off x="2148840" y="210312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Makalenin bulgularıyla</a:t>
            </a:r>
            <a:endParaRPr lang="en-US" sz="2200" dirty="0"/>
          </a:p>
        </p:txBody>
      </p:sp>
      <p:sp>
        <p:nvSpPr>
          <p:cNvPr id="8" name="Ikon zemini"/>
          <p:cNvSpPr/>
          <p:nvPr/>
        </p:nvSpPr>
        <p:spPr>
          <a:xfrm>
            <a:off x="731520" y="3063240"/>
            <a:ext cx="1097280" cy="1097280"/>
          </a:xfrm>
          <a:prstGeom prst="ellipse">
            <a:avLst/>
          </a:prstGeom>
          <a:solidFill>
            <a:schemeClr val="accent1"/>
          </a:solidFill>
          <a:ln w="12700">
            <a:solidFill>
              <a:schemeClr val="accent1"/>
            </a:solidFill>
            <a:prstDash val="solid"/>
          </a:ln>
        </p:spPr>
      </p:sp>
      <p:pic>
        <p:nvPicPr>
          <p:cNvPr id="9" name="Ikon" descr="FaUsers">    </p:cNvPr>
          <p:cNvPicPr>
            <a:picLocks noChangeAspect="1"/>
          </p:cNvPicPr>
          <p:nvPr/>
        </p:nvPicPr>
        <p:blipFill>
          <a:blip r:embed="rId2"/>
          <a:stretch>
            <a:fillRect/>
          </a:stretch>
        </p:blipFill>
        <p:spPr>
          <a:xfrm>
            <a:off x="1016813" y="3348533"/>
            <a:ext cx="526694" cy="526694"/>
          </a:xfrm>
          <a:prstGeom prst="rect">
            <a:avLst/>
          </a:prstGeom>
        </p:spPr>
      </p:pic>
      <p:sp>
        <p:nvSpPr>
          <p:cNvPr id="10" name="Text 5"/>
          <p:cNvSpPr txBox="1"/>
          <p:nvPr/>
        </p:nvSpPr>
        <p:spPr>
          <a:xfrm>
            <a:off x="2148840" y="310896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Başarıyı etkileyen faktörleri tanımak</a:t>
            </a:r>
            <a:endParaRPr lang="en-US" sz="2800" dirty="0"/>
          </a:p>
        </p:txBody>
      </p:sp>
      <p:sp>
        <p:nvSpPr>
          <p:cNvPr id="11" name="Text 6"/>
          <p:cNvSpPr txBox="1"/>
          <p:nvPr/>
        </p:nvSpPr>
        <p:spPr>
          <a:xfrm>
            <a:off x="2148840" y="365760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Hasta ve çevre özellikleri</a:t>
            </a:r>
            <a:endParaRPr lang="en-US" sz="2200" dirty="0"/>
          </a:p>
        </p:txBody>
      </p:sp>
      <p:sp>
        <p:nvSpPr>
          <p:cNvPr id="12" name="Ikon zemini"/>
          <p:cNvSpPr/>
          <p:nvPr/>
        </p:nvSpPr>
        <p:spPr>
          <a:xfrm>
            <a:off x="731520" y="4617720"/>
            <a:ext cx="1097280" cy="1097280"/>
          </a:xfrm>
          <a:prstGeom prst="ellipse">
            <a:avLst/>
          </a:prstGeom>
          <a:solidFill>
            <a:schemeClr val="accent2"/>
          </a:solidFill>
          <a:ln w="12700">
            <a:solidFill>
              <a:schemeClr val="accent2"/>
            </a:solidFill>
            <a:prstDash val="solid"/>
          </a:ln>
        </p:spPr>
      </p:sp>
      <p:pic>
        <p:nvPicPr>
          <p:cNvPr id="13" name="Ikon" descr="FaUserMd">    </p:cNvPr>
          <p:cNvPicPr>
            <a:picLocks noChangeAspect="1"/>
          </p:cNvPicPr>
          <p:nvPr/>
        </p:nvPicPr>
        <p:blipFill>
          <a:blip r:embed="rId3"/>
          <a:stretch>
            <a:fillRect/>
          </a:stretch>
        </p:blipFill>
        <p:spPr>
          <a:xfrm>
            <a:off x="1016813" y="4903013"/>
            <a:ext cx="526694" cy="526694"/>
          </a:xfrm>
          <a:prstGeom prst="rect">
            <a:avLst/>
          </a:prstGeom>
        </p:spPr>
      </p:pic>
      <p:sp>
        <p:nvSpPr>
          <p:cNvPr id="14" name="Text 8"/>
          <p:cNvSpPr txBox="1"/>
          <p:nvPr/>
        </p:nvSpPr>
        <p:spPr>
          <a:xfrm>
            <a:off x="2148840" y="466344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Bulguları klinik pratiğe aktarmak</a:t>
            </a:r>
            <a:endParaRPr lang="en-US" sz="2800" dirty="0"/>
          </a:p>
        </p:txBody>
      </p:sp>
      <p:sp>
        <p:nvSpPr>
          <p:cNvPr id="15" name="Text 9"/>
          <p:cNvSpPr txBox="1"/>
          <p:nvPr/>
        </p:nvSpPr>
        <p:spPr>
          <a:xfrm>
            <a:off x="2148840" y="521208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Olgu üzerinden tartışma</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Makale künyesi</a:t>
            </a:r>
            <a:endParaRPr lang="en-US" sz="3600" dirty="0"/>
          </a:p>
        </p:txBody>
      </p:sp>
      <p:sp>
        <p:nvSpPr>
          <p:cNvPr id="4" name="Görsel çerçeve"/>
          <p:cNvSpPr/>
          <p:nvPr/>
        </p:nvSpPr>
        <p:spPr>
          <a:xfrm>
            <a:off x="548640" y="1371600"/>
            <a:ext cx="4161732" cy="4892040"/>
          </a:xfrm>
          <a:prstGeom prst="rect">
            <a:avLst/>
          </a:prstGeom>
          <a:solidFill>
            <a:schemeClr val="bg1"/>
          </a:solidFill>
          <a:ln w="12700">
            <a:solidFill>
              <a:srgbClr val="C9DCDF"/>
            </a:solidFill>
            <a:prstDash val="solid"/>
          </a:ln>
          <a:effectLst>
            <a:outerShdw sx="100000" sy="100000" kx="0" ky="0" algn="bl" rotWithShape="0" blurRad="76200" dist="25400" dir="5400000">
              <a:srgbClr val="000000">
                <a:alpha val="18000"/>
              </a:srgbClr>
            </a:outerShdw>
          </a:effectLst>
        </p:spPr>
      </p:sp>
      <p:pic>
        <p:nvPicPr>
          <p:cNvPr id="5" name="Makale ilk sayfa" descr="Makalenin ilk sayfası">    </p:cNvPr>
          <p:cNvPicPr>
            <a:picLocks noChangeAspect="1"/>
          </p:cNvPicPr>
          <p:nvPr/>
        </p:nvPicPr>
        <p:blipFill>
          <a:blip r:embed="rId1"/>
          <a:stretch>
            <a:fillRect/>
          </a:stretch>
        </p:blipFill>
        <p:spPr>
          <a:xfrm>
            <a:off x="548640" y="1371600"/>
            <a:ext cx="4161732" cy="4892040"/>
          </a:xfrm>
          <a:prstGeom prst="rect">
            <a:avLst/>
          </a:prstGeom>
        </p:spPr>
      </p:pic>
      <p:sp>
        <p:nvSpPr>
          <p:cNvPr id="6" name="Text 2"/>
          <p:cNvSpPr txBox="1"/>
          <p:nvPr/>
        </p:nvSpPr>
        <p:spPr>
          <a:xfrm>
            <a:off x="5259012" y="1417320"/>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Dergi</a:t>
            </a:r>
            <a:endParaRPr lang="en-US" sz="2200" dirty="0"/>
          </a:p>
        </p:txBody>
      </p:sp>
      <p:sp>
        <p:nvSpPr>
          <p:cNvPr id="7" name="Text 3"/>
          <p:cNvSpPr txBox="1"/>
          <p:nvPr/>
        </p:nvSpPr>
        <p:spPr>
          <a:xfrm>
            <a:off x="6813492" y="1417320"/>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Turk J Fam Pract</a:t>
            </a:r>
            <a:endParaRPr lang="en-US" sz="2200" dirty="0"/>
          </a:p>
        </p:txBody>
      </p:sp>
      <p:sp>
        <p:nvSpPr>
          <p:cNvPr id="8" name="Text 4"/>
          <p:cNvSpPr txBox="1"/>
          <p:nvPr/>
        </p:nvSpPr>
        <p:spPr>
          <a:xfrm>
            <a:off x="5259012" y="2203704"/>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Künye</a:t>
            </a:r>
            <a:endParaRPr lang="en-US" sz="2200" dirty="0"/>
          </a:p>
        </p:txBody>
      </p:sp>
      <p:sp>
        <p:nvSpPr>
          <p:cNvPr id="9" name="Text 5"/>
          <p:cNvSpPr txBox="1"/>
          <p:nvPr/>
        </p:nvSpPr>
        <p:spPr>
          <a:xfrm>
            <a:off x="6813492" y="2203704"/>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2026;30(2):97-106</a:t>
            </a:r>
            <a:endParaRPr lang="en-US" sz="2200" dirty="0"/>
          </a:p>
        </p:txBody>
      </p:sp>
      <p:sp>
        <p:nvSpPr>
          <p:cNvPr id="10" name="Text 6"/>
          <p:cNvSpPr txBox="1"/>
          <p:nvPr/>
        </p:nvSpPr>
        <p:spPr>
          <a:xfrm>
            <a:off x="5259012" y="2990088"/>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Tür</a:t>
            </a:r>
            <a:endParaRPr lang="en-US" sz="2200" dirty="0"/>
          </a:p>
        </p:txBody>
      </p:sp>
      <p:sp>
        <p:nvSpPr>
          <p:cNvPr id="11" name="Text 7"/>
          <p:cNvSpPr txBox="1"/>
          <p:nvPr/>
        </p:nvSpPr>
        <p:spPr>
          <a:xfrm>
            <a:off x="6813492" y="2990088"/>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Özgün araştırma makalesi</a:t>
            </a:r>
            <a:endParaRPr lang="en-US" sz="2200" dirty="0"/>
          </a:p>
        </p:txBody>
      </p:sp>
      <p:sp>
        <p:nvSpPr>
          <p:cNvPr id="12" name="Text 8"/>
          <p:cNvSpPr txBox="1"/>
          <p:nvPr/>
        </p:nvSpPr>
        <p:spPr>
          <a:xfrm>
            <a:off x="5259012" y="3776472"/>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Tasarım</a:t>
            </a:r>
            <a:endParaRPr lang="en-US" sz="2200" dirty="0"/>
          </a:p>
        </p:txBody>
      </p:sp>
      <p:sp>
        <p:nvSpPr>
          <p:cNvPr id="13" name="Text 9"/>
          <p:cNvSpPr txBox="1"/>
          <p:nvPr/>
        </p:nvSpPr>
        <p:spPr>
          <a:xfrm>
            <a:off x="6813492" y="3776472"/>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Retrospektif, kesitsel</a:t>
            </a:r>
            <a:endParaRPr lang="en-US" sz="2200" dirty="0"/>
          </a:p>
        </p:txBody>
      </p:sp>
      <p:sp>
        <p:nvSpPr>
          <p:cNvPr id="14" name="Text 10"/>
          <p:cNvSpPr txBox="1"/>
          <p:nvPr/>
        </p:nvSpPr>
        <p:spPr>
          <a:xfrm>
            <a:off x="5259012" y="4562856"/>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Merkez</a:t>
            </a:r>
            <a:endParaRPr lang="en-US" sz="2200" dirty="0"/>
          </a:p>
        </p:txBody>
      </p:sp>
      <p:sp>
        <p:nvSpPr>
          <p:cNvPr id="15" name="Text 11"/>
          <p:cNvSpPr txBox="1"/>
          <p:nvPr/>
        </p:nvSpPr>
        <p:spPr>
          <a:xfrm>
            <a:off x="6813492" y="4562856"/>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Samsun EAH Sigara Bırakma Polikliniği</a:t>
            </a:r>
            <a:endParaRPr lang="en-US" sz="2200" dirty="0"/>
          </a:p>
        </p:txBody>
      </p:sp>
      <p:sp>
        <p:nvSpPr>
          <p:cNvPr id="16" name="Text 12"/>
          <p:cNvSpPr txBox="1"/>
          <p:nvPr/>
        </p:nvSpPr>
        <p:spPr>
          <a:xfrm>
            <a:off x="5259012" y="5349240"/>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DOI</a:t>
            </a:r>
            <a:endParaRPr lang="en-US" sz="2200" dirty="0"/>
          </a:p>
        </p:txBody>
      </p:sp>
      <p:sp>
        <p:nvSpPr>
          <p:cNvPr id="17" name="Text 13"/>
          <p:cNvSpPr txBox="1"/>
          <p:nvPr/>
        </p:nvSpPr>
        <p:spPr>
          <a:xfrm>
            <a:off x="6813492" y="5349240"/>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10.54308/TJFP.2026.912</a:t>
            </a:r>
            <a:endParaRPr lang="en-US" sz="2200" dirty="0"/>
          </a:p>
        </p:txBody>
      </p:sp>
      <p:sp>
        <p:nvSpPr>
          <p:cNvPr id="1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(CC BY)</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r>
          <p:cNvPicPr>
            <a:picLocks noChangeAspect="1"/>
          </p:cNvPicPr>
          <p:nvPr/>
        </p:nvPicPr>
        <p:blipFill>
          <a:blip r:embed="rId1"/>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r>
          <p:cNvPicPr>
            <a:picLocks noChangeAspect="1"/>
          </p:cNvPicPr>
          <p:nvPr/>
        </p:nvPicPr>
        <p:blipFill>
          <a:blip r:embed="rId2"/>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r>
          <p:cNvPicPr>
            <a:picLocks noChangeAspect="1"/>
          </p:cNvPicPr>
          <p:nvPr/>
        </p:nvPicPr>
        <p:blipFill>
          <a:blip r:embed="rId3"/>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r>
          <p:cNvPicPr>
            <a:picLocks noChangeAspect="1"/>
          </p:cNvPicPr>
          <p:nvPr/>
        </p:nvPicPr>
        <p:blipFill>
          <a:blip r:embed="rId4"/>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Polikliniklerde bırakma oranı</a:t>
            </a:r>
            <a:endParaRPr lang="en-US" sz="2000" dirty="0"/>
          </a:p>
        </p:txBody>
      </p:sp>
      <p:sp>
        <p:nvSpPr>
          <p:cNvPr id="2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2, 3, 4 (Küresel Yetişkin Tütün Araştırması Türkiye 2016 verisi)</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sp>
      <p:pic>
        <p:nvPicPr>
          <p:cNvPr id="6" name="Ikon" descr="FaComments">    </p:cNvPr>
          <p:cNvPicPr>
            <a:picLocks noChangeAspect="1"/>
          </p:cNvPicPr>
          <p:nvPr/>
        </p:nvPicPr>
        <p:blipFill>
          <a:blip r:embed="rId1"/>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indent="0" marL="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algn="just" marL="279400" indent="-279400">
              <a:spcAft>
                <a:spcPts val="1000"/>
              </a:spcAft>
              <a:buSzPct val="100000"/>
              <a:buChar char="•"/>
            </a:pPr>
            <a:r>
              <a:rPr lang="en-US" sz="2200" dirty="0">
                <a:solidFill>
                  <a:schemeClr val="accent1"/>
                </a:solidFill>
              </a:rPr>
              <a:t>Motivasyonel görüşme</a:t>
            </a:r>
            <a:endParaRPr lang="en-US" sz="2200" dirty="0"/>
          </a:p>
          <a:p>
            <a:pPr algn="just" marL="279400" indent="-279400">
              <a:spcAft>
                <a:spcPts val="1000"/>
              </a:spcAft>
              <a:buSzPct val="100000"/>
              <a:buChar char="•"/>
            </a:pPr>
            <a:r>
              <a:rPr lang="en-US" sz="2200" dirty="0">
                <a:solidFill>
                  <a:schemeClr val="accent1"/>
                </a:solidFill>
              </a:rPr>
              <a:t>Davranış değişikliği modelleri</a:t>
            </a:r>
            <a:endParaRPr lang="en-US" sz="2200" dirty="0"/>
          </a:p>
          <a:p>
            <a:pPr algn="just" marL="279400" indent="-279400">
              <a:spcAft>
                <a:spcPts val="1000"/>
              </a:spcAft>
              <a:buSzPct val="100000"/>
              <a:buChar char="•"/>
            </a:pPr>
            <a:r>
              <a:rPr lang="en-US" sz="22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sp>
      <p:pic>
        <p:nvPicPr>
          <p:cNvPr id="11" name="Ikon" descr="FaPills">    </p:cNvPr>
          <p:cNvPicPr>
            <a:picLocks noChangeAspect="1"/>
          </p:cNvPicPr>
          <p:nvPr/>
        </p:nvPicPr>
        <p:blipFill>
          <a:blip r:embed="rId2"/>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indent="0" marL="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algn="just" marL="279400" indent="-279400">
              <a:spcAft>
                <a:spcPts val="1000"/>
              </a:spcAft>
              <a:buSzPct val="100000"/>
              <a:buChar char="•"/>
            </a:pPr>
            <a:r>
              <a:rPr lang="en-US" sz="2200" dirty="0">
                <a:solidFill>
                  <a:schemeClr val="accent1"/>
                </a:solidFill>
              </a:rPr>
              <a:t>NRT (nikotin replasman)</a:t>
            </a:r>
            <a:endParaRPr lang="en-US" sz="2200" dirty="0"/>
          </a:p>
          <a:p>
            <a:pPr algn="just" marL="279400" indent="-279400">
              <a:spcAft>
                <a:spcPts val="1000"/>
              </a:spcAft>
              <a:buSzPct val="100000"/>
              <a:buChar char="•"/>
            </a:pPr>
            <a:r>
              <a:rPr lang="en-US" sz="2200" dirty="0">
                <a:solidFill>
                  <a:schemeClr val="accent1"/>
                </a:solidFill>
              </a:rPr>
              <a:t>Bupropion</a:t>
            </a:r>
            <a:endParaRPr lang="en-US" sz="2200" dirty="0"/>
          </a:p>
          <a:p>
            <a:pPr algn="just" marL="279400" indent="-279400">
              <a:spcAft>
                <a:spcPts val="1000"/>
              </a:spcAft>
              <a:buSzPct val="100000"/>
              <a:buChar char="•"/>
            </a:pPr>
            <a:r>
              <a:rPr lang="en-US" sz="2200" dirty="0">
                <a:solidFill>
                  <a:schemeClr val="accent1"/>
                </a:solidFill>
              </a:rPr>
              <a:t>Vareniklin</a:t>
            </a:r>
            <a:endParaRPr lang="en-US" sz="2200" dirty="0"/>
          </a:p>
          <a:p>
            <a:pPr algn="just" marL="279400" indent="-279400">
              <a:spcAft>
                <a:spcPts val="1000"/>
              </a:spcAft>
              <a:buSzPct val="100000"/>
              <a:buChar char="•"/>
            </a:pPr>
            <a:r>
              <a:rPr lang="en-US" sz="2200" dirty="0">
                <a:solidFill>
                  <a:schemeClr val="accent1"/>
                </a:solidFill>
              </a:rPr>
              <a:t>Sitizin (yeni seçenek)</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2200" b="1" i="1" dirty="0">
                <a:solidFill>
                  <a:schemeClr val="accent2"/>
                </a:solidFill>
              </a:rPr>
              <a:t>Farmakoterapi davranışsal destekle birlikte önerilmektedir.</a:t>
            </a:r>
            <a:endParaRPr lang="en-US" sz="2200" dirty="0"/>
          </a:p>
        </p:txBody>
      </p:sp>
      <p:sp>
        <p:nvSpPr>
          <p:cNvPr id="1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r>
          <p:cNvPicPr>
            <a:picLocks noChangeAspect="1"/>
          </p:cNvPicPr>
          <p:nvPr/>
        </p:nvPicPr>
        <p:blipFill>
          <a:blip r:embed="rId1"/>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algn="just" marL="279400" indent="-279400">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algn="just" marL="279400" indent="-279400">
              <a:spcAft>
                <a:spcPts val="1800"/>
              </a:spcAft>
              <a:buSzPct val="100000"/>
              <a:buChar char="•"/>
            </a:pPr>
            <a:r>
              <a:rPr lang="en-US" sz="2800" dirty="0">
                <a:solidFill>
                  <a:schemeClr val="bg1"/>
                </a:solidFill>
              </a:rPr>
              <a:t>Bırakmayı etkileyen hasta özelliklerini belirlemek</a:t>
            </a:r>
            <a:endParaRPr lang="en-US" sz="2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algn="ctr" indent="0" marL="0">
              <a:buNone/>
            </a:pPr>
            <a:r>
              <a:rPr lang="en-US" sz="3600" b="1" dirty="0">
                <a:solidFill>
                  <a:schemeClr val="accent1"/>
                </a:solidFill>
              </a:rPr>
              <a:t>432</a:t>
            </a:r>
            <a:endParaRPr lang="en-US" sz="3600" dirty="0"/>
          </a:p>
          <a:p>
            <a:pPr algn="ctr" indent="0" marL="0">
              <a:buNone/>
            </a:pPr>
            <a:r>
              <a:rPr lang="en-US" sz="2000" dirty="0">
                <a:solidFill>
                  <a:schemeClr val="accent1"/>
                </a:solidFill>
              </a:rPr>
              <a:t>hasta dosyası (≥18 yaş)</a:t>
            </a:r>
            <a:endParaRPr lang="en-US" sz="3600" dirty="0"/>
          </a:p>
        </p:txBody>
      </p:sp>
      <p:pic>
        <p:nvPicPr>
          <p:cNvPr id="6" name="Image 0" descr="ok">    </p:cNvPr>
          <p:cNvPicPr>
            <a:picLocks noChangeAspect="1"/>
          </p:cNvPicPr>
          <p:nvPr/>
        </p:nvPicPr>
        <p:blipFill>
          <a:blip r:embed="rId1"/>
          <a:stretch>
            <a:fillRect/>
          </a:stretch>
        </p:blipFill>
        <p:spPr>
          <a:xfrm>
            <a:off x="2194560" y="2852928"/>
            <a:ext cx="548640" cy="548640"/>
          </a:xfrm>
          <a:prstGeom prst="rect">
            <a:avLst/>
          </a:prstGeom>
        </p:spPr>
      </p:pic>
      <p:sp>
        <p:nvSpPr>
          <p:cNvPr id="7"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8" name="Text 4"/>
          <p:cNvSpPr txBox="1"/>
          <p:nvPr/>
        </p:nvSpPr>
        <p:spPr>
          <a:xfrm>
            <a:off x="548640" y="3520440"/>
            <a:ext cx="3840480" cy="1325880"/>
          </a:xfrm>
          <a:prstGeom prst="rect">
            <a:avLst/>
          </a:prstGeom>
          <a:noFill/>
          <a:ln/>
        </p:spPr>
        <p:txBody>
          <a:bodyPr wrap="square" lIns="50800" tIns="50800" rIns="50800" bIns="50800" rtlCol="0" anchor="ctr"/>
          <a:lstStyle/>
          <a:p>
            <a:pPr algn="ctr" indent="0" marL="0">
              <a:buNone/>
            </a:pPr>
            <a:r>
              <a:rPr lang="en-US" sz="3600" b="1" dirty="0">
                <a:solidFill>
                  <a:schemeClr val="bg1"/>
                </a:solidFill>
              </a:rPr>
              <a:t>399</a:t>
            </a:r>
            <a:endParaRPr lang="en-US" sz="3600" dirty="0"/>
          </a:p>
          <a:p>
            <a:pPr algn="ctr" indent="0" marL="0">
              <a:buNone/>
            </a:pPr>
            <a:r>
              <a:rPr lang="en-US" sz="2000" dirty="0">
                <a:solidFill>
                  <a:schemeClr val="bg1"/>
                </a:solidFill>
              </a:rPr>
              <a:t>hastanın verisi eksiksiz</a:t>
            </a:r>
            <a:endParaRPr lang="en-US" sz="3600" dirty="0"/>
          </a:p>
        </p:txBody>
      </p:sp>
      <p:sp>
        <p:nvSpPr>
          <p:cNvPr id="9" name="Ikon zemini"/>
          <p:cNvSpPr/>
          <p:nvPr/>
        </p:nvSpPr>
        <p:spPr>
          <a:xfrm>
            <a:off x="5669280" y="1463040"/>
            <a:ext cx="731520" cy="731520"/>
          </a:xfrm>
          <a:prstGeom prst="ellipse">
            <a:avLst/>
          </a:prstGeom>
          <a:solidFill>
            <a:schemeClr val="accent2"/>
          </a:solidFill>
          <a:ln w="12700">
            <a:solidFill>
              <a:schemeClr val="accent2"/>
            </a:solidFill>
            <a:prstDash val="solid"/>
          </a:ln>
        </p:spPr>
      </p:sp>
      <p:pic>
        <p:nvPicPr>
          <p:cNvPr id="10" name="Ikon" descr="FaCalendarAlt">    </p:cNvPr>
          <p:cNvPicPr>
            <a:picLocks noChangeAspect="1"/>
          </p:cNvPicPr>
          <p:nvPr/>
        </p:nvPicPr>
        <p:blipFill>
          <a:blip r:embed="rId2"/>
          <a:stretch>
            <a:fillRect/>
          </a:stretch>
        </p:blipFill>
        <p:spPr>
          <a:xfrm>
            <a:off x="5859475" y="1653235"/>
            <a:ext cx="351130" cy="351130"/>
          </a:xfrm>
          <a:prstGeom prst="rect">
            <a:avLst/>
          </a:prstGeom>
        </p:spPr>
      </p:pic>
      <p:sp>
        <p:nvSpPr>
          <p:cNvPr id="11" name="Text 6"/>
          <p:cNvSpPr txBox="1"/>
          <p:nvPr/>
        </p:nvSpPr>
        <p:spPr>
          <a:xfrm>
            <a:off x="6629400" y="1463040"/>
            <a:ext cx="4937760" cy="731520"/>
          </a:xfrm>
          <a:prstGeom prst="rect">
            <a:avLst/>
          </a:prstGeom>
          <a:noFill/>
          <a:ln/>
        </p:spPr>
        <p:txBody>
          <a:bodyPr wrap="square" lIns="0" tIns="0" rIns="0" bIns="0" rtlCol="0" anchor="ctr"/>
          <a:lstStyle/>
          <a:p>
            <a:pPr indent="0" marL="0">
              <a:buNone/>
            </a:pPr>
            <a:r>
              <a:rPr lang="en-US" sz="2200" dirty="0">
                <a:solidFill>
                  <a:schemeClr val="accent1"/>
                </a:solidFill>
              </a:rPr>
              <a:t>01.08.2020 – 31.08.2024</a:t>
            </a:r>
            <a:endParaRPr lang="en-US" sz="2200" dirty="0"/>
          </a:p>
        </p:txBody>
      </p:sp>
      <p:sp>
        <p:nvSpPr>
          <p:cNvPr id="12" name="Ikon zemini"/>
          <p:cNvSpPr/>
          <p:nvPr/>
        </p:nvSpPr>
        <p:spPr>
          <a:xfrm>
            <a:off x="5669280" y="2487168"/>
            <a:ext cx="731520" cy="731520"/>
          </a:xfrm>
          <a:prstGeom prst="ellipse">
            <a:avLst/>
          </a:prstGeom>
          <a:solidFill>
            <a:schemeClr val="accent1"/>
          </a:solidFill>
          <a:ln w="12700">
            <a:solidFill>
              <a:schemeClr val="accent1"/>
            </a:solidFill>
            <a:prstDash val="solid"/>
          </a:ln>
        </p:spPr>
      </p:sp>
      <p:pic>
        <p:nvPicPr>
          <p:cNvPr id="13" name="Ikon" descr="FaFileMedical">    </p:cNvPr>
          <p:cNvPicPr>
            <a:picLocks noChangeAspect="1"/>
          </p:cNvPicPr>
          <p:nvPr/>
        </p:nvPicPr>
        <p:blipFill>
          <a:blip r:embed="rId3"/>
          <a:stretch>
            <a:fillRect/>
          </a:stretch>
        </p:blipFill>
        <p:spPr>
          <a:xfrm>
            <a:off x="5859475" y="2677363"/>
            <a:ext cx="351130" cy="351130"/>
          </a:xfrm>
          <a:prstGeom prst="rect">
            <a:avLst/>
          </a:prstGeom>
        </p:spPr>
      </p:pic>
      <p:sp>
        <p:nvSpPr>
          <p:cNvPr id="14" name="Text 8"/>
          <p:cNvSpPr txBox="1"/>
          <p:nvPr/>
        </p:nvSpPr>
        <p:spPr>
          <a:xfrm>
            <a:off x="6629400" y="2487168"/>
            <a:ext cx="4937760" cy="731520"/>
          </a:xfrm>
          <a:prstGeom prst="rect">
            <a:avLst/>
          </a:prstGeom>
          <a:noFill/>
          <a:ln/>
        </p:spPr>
        <p:txBody>
          <a:bodyPr wrap="square" lIns="0" tIns="0" rIns="0" bIns="0" rtlCol="0" anchor="ctr"/>
          <a:lstStyle/>
          <a:p>
            <a:pPr indent="0" marL="0">
              <a:buNone/>
            </a:pPr>
            <a:r>
              <a:rPr lang="en-US" sz="2200" dirty="0">
                <a:solidFill>
                  <a:schemeClr val="accent1"/>
                </a:solidFill>
              </a:rPr>
              <a:t>Hastane otomasyon sistemi</a:t>
            </a:r>
            <a:endParaRPr lang="en-US" sz="2200" dirty="0"/>
          </a:p>
        </p:txBody>
      </p:sp>
      <p:sp>
        <p:nvSpPr>
          <p:cNvPr id="15" name="Ikon zemini"/>
          <p:cNvSpPr/>
          <p:nvPr/>
        </p:nvSpPr>
        <p:spPr>
          <a:xfrm>
            <a:off x="5669280" y="3511296"/>
            <a:ext cx="731520" cy="731520"/>
          </a:xfrm>
          <a:prstGeom prst="ellipse">
            <a:avLst/>
          </a:prstGeom>
          <a:solidFill>
            <a:schemeClr val="accent2"/>
          </a:solidFill>
          <a:ln w="12700">
            <a:solidFill>
              <a:schemeClr val="accent2"/>
            </a:solidFill>
            <a:prstDash val="solid"/>
          </a:ln>
        </p:spPr>
      </p:sp>
      <p:pic>
        <p:nvPicPr>
          <p:cNvPr id="16" name="Ikon" descr="FaClipboardList">    </p:cNvPr>
          <p:cNvPicPr>
            <a:picLocks noChangeAspect="1"/>
          </p:cNvPicPr>
          <p:nvPr/>
        </p:nvPicPr>
        <p:blipFill>
          <a:blip r:embed="rId4"/>
          <a:stretch>
            <a:fillRect/>
          </a:stretch>
        </p:blipFill>
        <p:spPr>
          <a:xfrm>
            <a:off x="5859475" y="3701491"/>
            <a:ext cx="351130" cy="351130"/>
          </a:xfrm>
          <a:prstGeom prst="rect">
            <a:avLst/>
          </a:prstGeom>
        </p:spPr>
      </p:pic>
      <p:sp>
        <p:nvSpPr>
          <p:cNvPr id="17" name="Text 10"/>
          <p:cNvSpPr txBox="1"/>
          <p:nvPr/>
        </p:nvSpPr>
        <p:spPr>
          <a:xfrm>
            <a:off x="6629400" y="3511296"/>
            <a:ext cx="4937760" cy="731520"/>
          </a:xfrm>
          <a:prstGeom prst="rect">
            <a:avLst/>
          </a:prstGeom>
          <a:noFill/>
          <a:ln/>
        </p:spPr>
        <p:txBody>
          <a:bodyPr wrap="square" lIns="0" tIns="0" rIns="0" bIns="0" rtlCol="0" anchor="ctr"/>
          <a:lstStyle/>
          <a:p>
            <a:pPr indent="0" marL="0">
              <a:buNone/>
            </a:pPr>
            <a:r>
              <a:rPr lang="en-US" sz="2200" dirty="0">
                <a:solidFill>
                  <a:schemeClr val="accent1"/>
                </a:solidFill>
              </a:rPr>
              <a:t>Retrospektif, kesitsel tasarım</a:t>
            </a:r>
            <a:endParaRPr lang="en-US" sz="2200" dirty="0"/>
          </a:p>
        </p:txBody>
      </p:sp>
      <p:sp>
        <p:nvSpPr>
          <p:cNvPr id="18" name="Ikon zemini"/>
          <p:cNvSpPr/>
          <p:nvPr/>
        </p:nvSpPr>
        <p:spPr>
          <a:xfrm>
            <a:off x="5669280" y="4535424"/>
            <a:ext cx="731520" cy="731520"/>
          </a:xfrm>
          <a:prstGeom prst="ellipse">
            <a:avLst/>
          </a:prstGeom>
          <a:solidFill>
            <a:schemeClr val="accent1"/>
          </a:solidFill>
          <a:ln w="12700">
            <a:solidFill>
              <a:schemeClr val="accent1"/>
            </a:solidFill>
            <a:prstDash val="solid"/>
          </a:ln>
        </p:spPr>
      </p:sp>
      <p:pic>
        <p:nvPicPr>
          <p:cNvPr id="19" name="Ikon" descr="FaCheck">    </p:cNvPr>
          <p:cNvPicPr>
            <a:picLocks noChangeAspect="1"/>
          </p:cNvPicPr>
          <p:nvPr/>
        </p:nvPicPr>
        <p:blipFill>
          <a:blip r:embed="rId5"/>
          <a:stretch>
            <a:fillRect/>
          </a:stretch>
        </p:blipFill>
        <p:spPr>
          <a:xfrm>
            <a:off x="5859475" y="4725619"/>
            <a:ext cx="351130" cy="351130"/>
          </a:xfrm>
          <a:prstGeom prst="rect">
            <a:avLst/>
          </a:prstGeom>
        </p:spPr>
      </p:pic>
      <p:sp>
        <p:nvSpPr>
          <p:cNvPr id="20" name="Text 12"/>
          <p:cNvSpPr txBox="1"/>
          <p:nvPr/>
        </p:nvSpPr>
        <p:spPr>
          <a:xfrm>
            <a:off x="6629400" y="4535424"/>
            <a:ext cx="4937760" cy="731520"/>
          </a:xfrm>
          <a:prstGeom prst="rect">
            <a:avLst/>
          </a:prstGeom>
          <a:noFill/>
          <a:ln/>
        </p:spPr>
        <p:txBody>
          <a:bodyPr wrap="square" lIns="0" tIns="0" rIns="0" bIns="0" rtlCol="0" anchor="ctr"/>
          <a:lstStyle/>
          <a:p>
            <a:pPr indent="0" marL="0">
              <a:buNone/>
            </a:pPr>
            <a:r>
              <a:rPr lang="en-US" sz="2200" dirty="0">
                <a:solidFill>
                  <a:schemeClr val="accent1"/>
                </a:solidFill>
              </a:rPr>
              <a:t>En az bir yıllık takip</a:t>
            </a:r>
            <a:endParaRPr lang="en-US" sz="2200" dirty="0"/>
          </a:p>
        </p:txBody>
      </p:sp>
      <p:sp>
        <p:nvSpPr>
          <p:cNvPr id="21" name="Text 13"/>
          <p:cNvSpPr txBox="1"/>
          <p:nvPr/>
        </p:nvSpPr>
        <p:spPr>
          <a:xfrm>
            <a:off x="548640" y="5349240"/>
            <a:ext cx="11064240" cy="502920"/>
          </a:xfrm>
          <a:prstGeom prst="rect">
            <a:avLst/>
          </a:prstGeom>
          <a:noFill/>
          <a:ln/>
        </p:spPr>
        <p:txBody>
          <a:bodyPr wrap="square" lIns="0" tIns="0" rIns="0" bIns="0" rtlCol="0" anchor="ctr"/>
          <a:lstStyle/>
          <a:p>
            <a:pPr indent="0" marL="0">
              <a:buNone/>
            </a:pPr>
            <a:r>
              <a:rPr lang="en-US" sz="2000" i="1" dirty="0">
                <a:solidFill>
                  <a:schemeClr val="accent3"/>
                </a:solidFill>
              </a:rPr>
              <a:t>Tüm kayıtlar alındığı için örneklem hesabı yapılmamıştır.</a:t>
            </a:r>
            <a:endParaRPr lang="en-US" sz="20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algn="ctr" indent="0" marL="0">
              <a:buNone/>
            </a:pPr>
            <a:r>
              <a:rPr lang="en-US" sz="2400" b="1" dirty="0">
                <a:solidFill>
                  <a:schemeClr val="accent1"/>
                </a:solidFill>
              </a:rPr>
              <a:t>Düşük</a:t>
            </a:r>
            <a:endParaRPr lang="en-US" sz="2400" dirty="0"/>
          </a:p>
          <a:p>
            <a:pPr algn="ctr" indent="0" marL="0">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algn="ctr" indent="0" marL="0">
              <a:buNone/>
            </a:pPr>
            <a:r>
              <a:rPr lang="en-US" sz="2400" b="1" dirty="0">
                <a:solidFill>
                  <a:schemeClr val="bg1"/>
                </a:solidFill>
              </a:rPr>
              <a:t>Orta</a:t>
            </a:r>
            <a:endParaRPr lang="en-US" sz="2400" dirty="0"/>
          </a:p>
          <a:p>
            <a:pPr algn="ctr" indent="0" marL="0">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Yüksek</a:t>
            </a:r>
            <a:endParaRPr lang="en-US" sz="2400" dirty="0"/>
          </a:p>
          <a:p>
            <a:pPr algn="ctr" indent="0" marL="0">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indent="0" marL="0">
              <a:buNone/>
            </a:pPr>
            <a:r>
              <a:rPr lang="en-US" sz="2000" dirty="0">
                <a:solidFill>
                  <a:schemeClr val="accent3"/>
                </a:solidFill>
              </a:rPr>
              <a:t>6 soru, 0–10 puan  •  Türkçe geçerlik ve güvenilirlik: Uysal ve ark., 2004</a:t>
            </a:r>
            <a:endParaRPr lang="en-US" sz="2000" dirty="0"/>
          </a:p>
        </p:txBody>
      </p:sp>
      <p:sp>
        <p:nvSpPr>
          <p:cNvPr id="2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6, 7</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r>
          <p:cNvPicPr>
            <a:picLocks noChangeAspect="1"/>
          </p:cNvPicPr>
          <p:nvPr/>
        </p:nvPicPr>
        <p:blipFill>
          <a:blip r:embed="rId1"/>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r>
          <p:cNvPicPr>
            <a:picLocks noChangeAspect="1"/>
          </p:cNvPicPr>
          <p:nvPr/>
        </p:nvPicPr>
        <p:blipFill>
          <a:blip r:embed="rId2"/>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r>
          <p:cNvPicPr>
            <a:picLocks noChangeAspect="1"/>
          </p:cNvPicPr>
          <p:nvPr/>
        </p:nvPicPr>
        <p:blipFill>
          <a:blip r:embed="rId3"/>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algn="just" marL="279400" indent="-279400">
              <a:spcAft>
                <a:spcPts val="1000"/>
              </a:spcAft>
              <a:buSzPct val="100000"/>
              <a:buChar char="•"/>
            </a:pPr>
            <a:r>
              <a:rPr lang="en-US" sz="2200" dirty="0">
                <a:solidFill>
                  <a:schemeClr val="accent1"/>
                </a:solidFill>
              </a:rPr>
              <a:t>Bireyselleştirme: FNBT, komorbidite, kontrendikasyon, uyum</a:t>
            </a:r>
            <a:endParaRPr lang="en-US" sz="2200" dirty="0"/>
          </a:p>
          <a:p>
            <a:pPr algn="just" marL="279400" indent="-279400">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7040880"/>
              </a:tblGrid>
              <a:tr h="603504">
                <a:tc>
                  <a:txBody>
                    <a:bodyPr/>
                    <a:lstStyle/>
                    <a:p>
                      <a:pPr indent="0" marL="0">
                        <a:buNone/>
                      </a:pPr>
                      <a:r>
                        <a:rPr lang="en-US" sz="2200" b="1" dirty="0">
                          <a:solidFill>
                            <a:schemeClr val="bg1"/>
                          </a:solidFill>
                        </a:rPr>
                        <a:t>Amaç</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indent="0" marL="0">
                        <a:buNone/>
                      </a:pPr>
                      <a:r>
                        <a:rPr lang="en-US" sz="2200" b="1" dirty="0">
                          <a:solidFill>
                            <a:schemeClr val="bg1"/>
                          </a:solidFill>
                        </a:rPr>
                        <a:t>Yöntem</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r>
              <a:tr h="603504">
                <a:tc>
                  <a:txBody>
                    <a:bodyPr/>
                    <a:lstStyle/>
                    <a:p>
                      <a:pPr indent="0" marL="0">
                        <a:buNone/>
                      </a:pPr>
                      <a:r>
                        <a:rPr lang="en-US" sz="2200" b="1" dirty="0">
                          <a:solidFill>
                            <a:schemeClr val="accent1"/>
                          </a:solidFill>
                        </a:rPr>
                        <a:t>Normallik</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Histogram, Kolmogorov–Smirnov</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Kategorik değişkenler</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dirty="0">
                          <a:solidFill>
                            <a:schemeClr val="accent1"/>
                          </a:solidFill>
                        </a:rPr>
                        <a:t>Ki-kare testi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r h="603504">
                <a:tc>
                  <a:txBody>
                    <a:bodyPr/>
                    <a:lstStyle/>
                    <a:p>
                      <a:pPr indent="0" marL="0">
                        <a:buNone/>
                      </a:pPr>
                      <a:r>
                        <a:rPr lang="en-US" sz="2200" b="1" dirty="0">
                          <a:solidFill>
                            <a:schemeClr val="accent1"/>
                          </a:solidFill>
                        </a:rPr>
                        <a:t>İki grup (sürekli)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Mann–Whitney U testi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İkiden fazla grup</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dirty="0">
                          <a:solidFill>
                            <a:schemeClr val="accent1"/>
                          </a:solidFill>
                        </a:rPr>
                        <a:t>Kruskal–Wallis; post-hoc Duncan</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r h="603504">
                <a:tc>
                  <a:txBody>
                    <a:bodyPr/>
                    <a:lstStyle/>
                    <a:p>
                      <a:pPr indent="0" marL="0">
                        <a:buNone/>
                      </a:pPr>
                      <a:r>
                        <a:rPr lang="en-US" sz="2200" b="1" dirty="0">
                          <a:solidFill>
                            <a:schemeClr val="accent1"/>
                          </a:solidFill>
                        </a:rPr>
                        <a:t>Tedavinin etkisi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İkili lojistik regresyon</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Anlamlılık</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dirty="0">
                          <a:solidFill>
                            <a:schemeClr val="accent1"/>
                          </a:solidFill>
                        </a:rPr>
                        <a:t>p&lt;0,05; Bonferroni düzeltmesi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bl>
          </a:graphicData>
        </a:graphic>
      </p:graphicFrame>
      <p:sp>
        <p:nvSpPr>
          <p:cNvPr id="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2"/>
                </a:solidFill>
              </a:rPr>
              <a:t>44,7 ± 12,1</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%63,7</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algn="ctr" indent="0" marL="0">
              <a:buNone/>
            </a:pPr>
            <a:r>
              <a:rPr lang="en-US" sz="3600" b="1" dirty="0">
                <a:solidFill>
                  <a:schemeClr val="accent2"/>
                </a:solidFill>
              </a:rPr>
              <a:t>27,4 ± 16,6</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accent1"/>
          </a:solidFill>
          <a:ln w="12700">
            <a:solidFill>
              <a:schemeClr val="accent1"/>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algn="ctr" indent="0" marL="0">
              <a:buNone/>
            </a:pPr>
            <a:r>
              <a:rPr lang="en-US" sz="3600" b="1" dirty="0">
                <a:solidFill>
                  <a:schemeClr val="bg1"/>
                </a:solidFill>
              </a:rPr>
              <a:t>%34,1</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algn="ctr" indent="0" marL="0">
              <a:buNone/>
            </a:pPr>
            <a:r>
              <a:rPr lang="en-US" sz="2200" dirty="0">
                <a:solidFill>
                  <a:schemeClr val="bg1"/>
                </a:solidFill>
              </a:rPr>
              <a:t>sigarayı bırakan</a:t>
            </a:r>
            <a:endParaRPr lang="en-US" sz="22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Ortalama ± standart sapma.</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Bağımlılık düzeyi ve deneme öyküsü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FNBT'ye göre bağımlılık düzeyi</a:t>
            </a:r>
            <a:endParaRPr lang="en-US" sz="2200" dirty="0"/>
          </a:p>
        </p:txBody>
      </p:sp>
      <p:sp>
        <p:nvSpPr>
          <p:cNvPr id="5" name="Kart"/>
          <p:cNvSpPr/>
          <p:nvPr/>
        </p:nvSpPr>
        <p:spPr>
          <a:xfrm>
            <a:off x="548640" y="1828800"/>
            <a:ext cx="3566160" cy="1737360"/>
          </a:xfrm>
          <a:prstGeom prst="roundRect">
            <a:avLst>
              <a:gd name="adj" fmla="val 6316"/>
            </a:avLst>
          </a:prstGeom>
          <a:solidFill>
            <a:schemeClr val="accent5"/>
          </a:solidFill>
          <a:ln w="12700">
            <a:solidFill>
              <a:schemeClr val="accent5"/>
            </a:solidFill>
            <a:prstDash val="solid"/>
          </a:ln>
        </p:spPr>
      </p:sp>
      <p:sp>
        <p:nvSpPr>
          <p:cNvPr id="6" name="Text 3"/>
          <p:cNvSpPr txBox="1"/>
          <p:nvPr/>
        </p:nvSpPr>
        <p:spPr>
          <a:xfrm>
            <a:off x="548640" y="1828800"/>
            <a:ext cx="3566160" cy="1737360"/>
          </a:xfrm>
          <a:prstGeom prst="rect">
            <a:avLst/>
          </a:prstGeom>
          <a:noFill/>
          <a:ln/>
        </p:spPr>
        <p:txBody>
          <a:bodyPr wrap="square" lIns="0" tIns="0" rIns="0" bIns="0" rtlCol="0" anchor="ctr"/>
          <a:lstStyle/>
          <a:p>
            <a:pPr algn="ctr" indent="0" marL="0">
              <a:buNone/>
            </a:pPr>
            <a:r>
              <a:rPr lang="en-US" sz="4000" b="1" dirty="0">
                <a:solidFill>
                  <a:schemeClr val="accent1"/>
                </a:solidFill>
              </a:rPr>
              <a:t>%13,2</a:t>
            </a:r>
            <a:endParaRPr lang="en-US" sz="4000" dirty="0"/>
          </a:p>
          <a:p>
            <a:pPr algn="ctr" indent="0" marL="0">
              <a:buNone/>
            </a:pPr>
            <a:r>
              <a:rPr lang="en-US" sz="2200" dirty="0">
                <a:solidFill>
                  <a:schemeClr val="accent1"/>
                </a:solidFill>
              </a:rPr>
              <a:t>düşük (0–2)</a:t>
            </a:r>
            <a:endParaRPr lang="en-US" sz="4000" dirty="0"/>
          </a:p>
        </p:txBody>
      </p:sp>
      <p:sp>
        <p:nvSpPr>
          <p:cNvPr id="7" name="Kart"/>
          <p:cNvSpPr/>
          <p:nvPr/>
        </p:nvSpPr>
        <p:spPr>
          <a:xfrm>
            <a:off x="4297680" y="1828800"/>
            <a:ext cx="3566160" cy="1737360"/>
          </a:xfrm>
          <a:prstGeom prst="roundRect">
            <a:avLst>
              <a:gd name="adj" fmla="val 6316"/>
            </a:avLst>
          </a:prstGeom>
          <a:solidFill>
            <a:schemeClr val="accent2"/>
          </a:solidFill>
          <a:ln w="12700">
            <a:solidFill>
              <a:schemeClr val="accent2"/>
            </a:solidFill>
            <a:prstDash val="solid"/>
          </a:ln>
        </p:spPr>
      </p:sp>
      <p:sp>
        <p:nvSpPr>
          <p:cNvPr id="8" name="Text 5"/>
          <p:cNvSpPr txBox="1"/>
          <p:nvPr/>
        </p:nvSpPr>
        <p:spPr>
          <a:xfrm>
            <a:off x="4297680" y="182880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rPr>
              <a:t>%61,3</a:t>
            </a:r>
            <a:endParaRPr lang="en-US" sz="4000" dirty="0"/>
          </a:p>
          <a:p>
            <a:pPr algn="ctr" indent="0" marL="0">
              <a:buNone/>
            </a:pPr>
            <a:r>
              <a:rPr lang="en-US" sz="2200" dirty="0">
                <a:solidFill>
                  <a:schemeClr val="bg1"/>
                </a:solidFill>
              </a:rPr>
              <a:t>orta (3–7)</a:t>
            </a:r>
            <a:endParaRPr lang="en-US" sz="4000" dirty="0"/>
          </a:p>
        </p:txBody>
      </p:sp>
      <p:sp>
        <p:nvSpPr>
          <p:cNvPr id="9" name="Kart"/>
          <p:cNvSpPr/>
          <p:nvPr/>
        </p:nvSpPr>
        <p:spPr>
          <a:xfrm>
            <a:off x="8046720" y="1828800"/>
            <a:ext cx="3566160" cy="1737360"/>
          </a:xfrm>
          <a:prstGeom prst="roundRect">
            <a:avLst>
              <a:gd name="adj" fmla="val 6316"/>
            </a:avLst>
          </a:prstGeom>
          <a:solidFill>
            <a:schemeClr val="accent1"/>
          </a:solidFill>
          <a:ln w="12700">
            <a:solidFill>
              <a:schemeClr val="accent1"/>
            </a:solidFill>
            <a:prstDash val="solid"/>
          </a:ln>
        </p:spPr>
      </p:sp>
      <p:sp>
        <p:nvSpPr>
          <p:cNvPr id="10" name="Text 7"/>
          <p:cNvSpPr txBox="1"/>
          <p:nvPr/>
        </p:nvSpPr>
        <p:spPr>
          <a:xfrm>
            <a:off x="8046720" y="182880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rPr>
              <a:t>%25,5</a:t>
            </a:r>
            <a:endParaRPr lang="en-US" sz="4000" dirty="0"/>
          </a:p>
          <a:p>
            <a:pPr algn="ctr" indent="0" marL="0">
              <a:buNone/>
            </a:pPr>
            <a:r>
              <a:rPr lang="en-US" sz="2200" dirty="0">
                <a:solidFill>
                  <a:schemeClr val="bg1"/>
                </a:solidFill>
              </a:rPr>
              <a:t>yüksek (8–10)</a:t>
            </a:r>
            <a:endParaRPr lang="en-US" sz="4000" dirty="0"/>
          </a:p>
        </p:txBody>
      </p:sp>
      <p:sp>
        <p:nvSpPr>
          <p:cNvPr id="11" name="Text 8"/>
          <p:cNvSpPr txBox="1"/>
          <p:nvPr/>
        </p:nvSpPr>
        <p:spPr>
          <a:xfrm>
            <a:off x="548640" y="379476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Önceki deneyimler</a:t>
            </a:r>
            <a:endParaRPr lang="en-US" sz="2200" dirty="0"/>
          </a:p>
        </p:txBody>
      </p:sp>
      <p:sp>
        <p:nvSpPr>
          <p:cNvPr id="12" name="Kart"/>
          <p:cNvSpPr/>
          <p:nvPr/>
        </p:nvSpPr>
        <p:spPr>
          <a:xfrm>
            <a:off x="548640" y="4297680"/>
            <a:ext cx="3566160" cy="1691640"/>
          </a:xfrm>
          <a:prstGeom prst="roundRect">
            <a:avLst>
              <a:gd name="adj" fmla="val 6486"/>
            </a:avLst>
          </a:prstGeom>
          <a:solidFill>
            <a:schemeClr val="bg2"/>
          </a:solidFill>
          <a:ln w="12700">
            <a:solidFill>
              <a:schemeClr val="bg2"/>
            </a:solidFill>
            <a:prstDash val="solid"/>
          </a:ln>
        </p:spPr>
      </p:sp>
      <p:sp>
        <p:nvSpPr>
          <p:cNvPr id="13" name="Text 10"/>
          <p:cNvSpPr txBox="1"/>
          <p:nvPr/>
        </p:nvSpPr>
        <p:spPr>
          <a:xfrm>
            <a:off x="685800" y="4297680"/>
            <a:ext cx="1417320" cy="1691640"/>
          </a:xfrm>
          <a:prstGeom prst="rect">
            <a:avLst/>
          </a:prstGeom>
          <a:noFill/>
          <a:ln/>
        </p:spPr>
        <p:txBody>
          <a:bodyPr wrap="square" lIns="0" tIns="0" rIns="0" bIns="0" rtlCol="0" anchor="ctr"/>
          <a:lstStyle/>
          <a:p>
            <a:pPr algn="ctr" indent="0" marL="0">
              <a:buNone/>
            </a:pPr>
            <a:r>
              <a:rPr lang="en-US" sz="3200" b="1" dirty="0">
                <a:solidFill>
                  <a:schemeClr val="accent1"/>
                </a:solidFill>
              </a:rPr>
              <a:t>%75,7</a:t>
            </a:r>
            <a:endParaRPr lang="en-US" sz="3200" dirty="0"/>
          </a:p>
        </p:txBody>
      </p:sp>
      <p:sp>
        <p:nvSpPr>
          <p:cNvPr id="14" name="Text 11"/>
          <p:cNvSpPr txBox="1"/>
          <p:nvPr/>
        </p:nvSpPr>
        <p:spPr>
          <a:xfrm>
            <a:off x="2148840" y="4297680"/>
            <a:ext cx="1828800" cy="1691640"/>
          </a:xfrm>
          <a:prstGeom prst="rect">
            <a:avLst/>
          </a:prstGeom>
          <a:noFill/>
          <a:ln/>
        </p:spPr>
        <p:txBody>
          <a:bodyPr wrap="square" lIns="0" tIns="0" rIns="0" bIns="0" rtlCol="0" anchor="ctr"/>
          <a:lstStyle/>
          <a:p>
            <a:pPr indent="0" marL="0">
              <a:buNone/>
            </a:pPr>
            <a:r>
              <a:rPr lang="en-US" sz="1800" dirty="0">
                <a:solidFill>
                  <a:schemeClr val="accent1"/>
                </a:solidFill>
              </a:rPr>
              <a:t>daha önce bırakmayı denemiş</a:t>
            </a:r>
            <a:endParaRPr lang="en-US" sz="1800" dirty="0"/>
          </a:p>
        </p:txBody>
      </p:sp>
      <p:sp>
        <p:nvSpPr>
          <p:cNvPr id="15" name="Kart"/>
          <p:cNvSpPr/>
          <p:nvPr/>
        </p:nvSpPr>
        <p:spPr>
          <a:xfrm>
            <a:off x="4297680" y="4297680"/>
            <a:ext cx="3566160" cy="1691640"/>
          </a:xfrm>
          <a:prstGeom prst="roundRect">
            <a:avLst>
              <a:gd name="adj" fmla="val 6486"/>
            </a:avLst>
          </a:prstGeom>
          <a:solidFill>
            <a:schemeClr val="bg2"/>
          </a:solidFill>
          <a:ln w="12700">
            <a:solidFill>
              <a:schemeClr val="bg2"/>
            </a:solidFill>
            <a:prstDash val="solid"/>
          </a:ln>
        </p:spPr>
      </p:sp>
      <p:sp>
        <p:nvSpPr>
          <p:cNvPr id="16" name="Text 13"/>
          <p:cNvSpPr txBox="1"/>
          <p:nvPr/>
        </p:nvSpPr>
        <p:spPr>
          <a:xfrm>
            <a:off x="4434840" y="4297680"/>
            <a:ext cx="1417320" cy="1691640"/>
          </a:xfrm>
          <a:prstGeom prst="rect">
            <a:avLst/>
          </a:prstGeom>
          <a:noFill/>
          <a:ln/>
        </p:spPr>
        <p:txBody>
          <a:bodyPr wrap="square" lIns="0" tIns="0" rIns="0" bIns="0" rtlCol="0" anchor="ctr"/>
          <a:lstStyle/>
          <a:p>
            <a:pPr algn="ctr" indent="0" marL="0">
              <a:buNone/>
            </a:pPr>
            <a:r>
              <a:rPr lang="en-US" sz="3200" b="1" dirty="0">
                <a:solidFill>
                  <a:schemeClr val="accent1"/>
                </a:solidFill>
              </a:rPr>
              <a:t>%49,9</a:t>
            </a:r>
            <a:endParaRPr lang="en-US" sz="3200" dirty="0"/>
          </a:p>
        </p:txBody>
      </p:sp>
      <p:sp>
        <p:nvSpPr>
          <p:cNvPr id="17" name="Text 14"/>
          <p:cNvSpPr txBox="1"/>
          <p:nvPr/>
        </p:nvSpPr>
        <p:spPr>
          <a:xfrm>
            <a:off x="5897880" y="4297680"/>
            <a:ext cx="1828800" cy="1691640"/>
          </a:xfrm>
          <a:prstGeom prst="rect">
            <a:avLst/>
          </a:prstGeom>
          <a:noFill/>
          <a:ln/>
        </p:spPr>
        <p:txBody>
          <a:bodyPr wrap="square" lIns="0" tIns="0" rIns="0" bIns="0" rtlCol="0" anchor="ctr"/>
          <a:lstStyle/>
          <a:p>
            <a:pPr indent="0" marL="0">
              <a:buNone/>
            </a:pPr>
            <a:r>
              <a:rPr lang="en-US" sz="1800" dirty="0">
                <a:solidFill>
                  <a:schemeClr val="accent1"/>
                </a:solidFill>
              </a:rPr>
              <a:t>denemede profesyonel destek almış</a:t>
            </a:r>
            <a:endParaRPr lang="en-US" sz="1800" dirty="0"/>
          </a:p>
        </p:txBody>
      </p:sp>
      <p:sp>
        <p:nvSpPr>
          <p:cNvPr id="18" name="Kart"/>
          <p:cNvSpPr/>
          <p:nvPr/>
        </p:nvSpPr>
        <p:spPr>
          <a:xfrm>
            <a:off x="8046720" y="4297680"/>
            <a:ext cx="3566160" cy="1691640"/>
          </a:xfrm>
          <a:prstGeom prst="roundRect">
            <a:avLst>
              <a:gd name="adj" fmla="val 6486"/>
            </a:avLst>
          </a:prstGeom>
          <a:solidFill>
            <a:schemeClr val="bg2"/>
          </a:solidFill>
          <a:ln w="12700">
            <a:solidFill>
              <a:schemeClr val="bg2"/>
            </a:solidFill>
            <a:prstDash val="solid"/>
          </a:ln>
        </p:spPr>
      </p:sp>
      <p:sp>
        <p:nvSpPr>
          <p:cNvPr id="19" name="Text 16"/>
          <p:cNvSpPr txBox="1"/>
          <p:nvPr/>
        </p:nvSpPr>
        <p:spPr>
          <a:xfrm>
            <a:off x="8183880" y="4297680"/>
            <a:ext cx="1417320" cy="1691640"/>
          </a:xfrm>
          <a:prstGeom prst="rect">
            <a:avLst/>
          </a:prstGeom>
          <a:noFill/>
          <a:ln/>
        </p:spPr>
        <p:txBody>
          <a:bodyPr wrap="square" lIns="0" tIns="0" rIns="0" bIns="0" rtlCol="0" anchor="ctr"/>
          <a:lstStyle/>
          <a:p>
            <a:pPr algn="ctr" indent="0" marL="0">
              <a:buNone/>
            </a:pPr>
            <a:r>
              <a:rPr lang="en-US" sz="3200" b="1" dirty="0">
                <a:solidFill>
                  <a:schemeClr val="accent1"/>
                </a:solidFill>
              </a:rPr>
              <a:t>%7,2</a:t>
            </a:r>
            <a:endParaRPr lang="en-US" sz="3200" dirty="0"/>
          </a:p>
        </p:txBody>
      </p:sp>
      <p:sp>
        <p:nvSpPr>
          <p:cNvPr id="20" name="Text 17"/>
          <p:cNvSpPr txBox="1"/>
          <p:nvPr/>
        </p:nvSpPr>
        <p:spPr>
          <a:xfrm>
            <a:off x="9646920" y="4297680"/>
            <a:ext cx="1828800" cy="1691640"/>
          </a:xfrm>
          <a:prstGeom prst="rect">
            <a:avLst/>
          </a:prstGeom>
          <a:noFill/>
          <a:ln/>
        </p:spPr>
        <p:txBody>
          <a:bodyPr wrap="square" lIns="0" tIns="0" rIns="0" bIns="0" rtlCol="0" anchor="ctr"/>
          <a:lstStyle/>
          <a:p>
            <a:pPr indent="0" marL="0">
              <a:buNone/>
            </a:pPr>
            <a:r>
              <a:rPr lang="en-US" sz="1800" dirty="0">
                <a:solidFill>
                  <a:schemeClr val="accent1"/>
                </a:solidFill>
              </a:rPr>
              <a:t>sigara dışı tütün ürünü kullanıyor</a:t>
            </a:r>
            <a:endParaRPr lang="en-US" sz="1800" dirty="0"/>
          </a:p>
        </p:txBody>
      </p:sp>
      <p:sp>
        <p:nvSpPr>
          <p:cNvPr id="21"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1: Sosyodemografik özellikler</a:t>
            </a:r>
            <a:endParaRPr lang="en-US" sz="3600" dirty="0"/>
          </a:p>
        </p:txBody>
      </p:sp>
      <p:sp>
        <p:nvSpPr>
          <p:cNvPr id="4" name="Görsel çerçeve"/>
          <p:cNvSpPr/>
          <p:nvPr/>
        </p:nvSpPr>
        <p:spPr>
          <a:xfrm>
            <a:off x="548640" y="1325880"/>
            <a:ext cx="7191299" cy="4892040"/>
          </a:xfrm>
          <a:prstGeom prst="rect">
            <a:avLst/>
          </a:prstGeom>
          <a:solidFill>
            <a:schemeClr val="bg1"/>
          </a:solidFill>
          <a:ln w="12700">
            <a:solidFill>
              <a:srgbClr val="C9DCDF"/>
            </a:solidFill>
            <a:prstDash val="solid"/>
          </a:ln>
        </p:spPr>
      </p:sp>
      <p:pic>
        <p:nvPicPr>
          <p:cNvPr id="5" name="Tablo 1: Katılımcıların sosyodemografik özellikleri" descr="Tablo 1: Katılımcıların sosyodemografik özellikleri">    </p:cNvPr>
          <p:cNvPicPr>
            <a:picLocks noChangeAspect="1"/>
          </p:cNvPicPr>
          <p:nvPr/>
        </p:nvPicPr>
        <p:blipFill>
          <a:blip r:embed="rId1"/>
          <a:stretch>
            <a:fillRect/>
          </a:stretch>
        </p:blipFill>
        <p:spPr>
          <a:xfrm>
            <a:off x="548640" y="1325880"/>
            <a:ext cx="7191299" cy="4892040"/>
          </a:xfrm>
          <a:prstGeom prst="rect">
            <a:avLst/>
          </a:prstGeom>
        </p:spPr>
      </p:pic>
      <p:sp>
        <p:nvSpPr>
          <p:cNvPr id="6" name="Kart"/>
          <p:cNvSpPr/>
          <p:nvPr/>
        </p:nvSpPr>
        <p:spPr>
          <a:xfrm>
            <a:off x="8059979" y="1325880"/>
            <a:ext cx="3580333" cy="4892040"/>
          </a:xfrm>
          <a:prstGeom prst="roundRect">
            <a:avLst>
              <a:gd name="adj" fmla="val 3065"/>
            </a:avLst>
          </a:prstGeom>
          <a:solidFill>
            <a:schemeClr val="accent1"/>
          </a:solidFill>
          <a:ln w="12700">
            <a:solidFill>
              <a:schemeClr val="accent1"/>
            </a:solidFill>
            <a:prstDash val="solid"/>
          </a:ln>
        </p:spPr>
      </p:sp>
      <p:sp>
        <p:nvSpPr>
          <p:cNvPr id="7" name="Text 3"/>
          <p:cNvSpPr txBox="1"/>
          <p:nvPr/>
        </p:nvSpPr>
        <p:spPr>
          <a:xfrm>
            <a:off x="8288579" y="1508760"/>
            <a:ext cx="3123133" cy="4526280"/>
          </a:xfrm>
          <a:prstGeom prst="rect">
            <a:avLst/>
          </a:prstGeom>
          <a:noFill/>
          <a:ln/>
        </p:spPr>
        <p:txBody>
          <a:bodyPr wrap="square" lIns="0" tIns="0" rIns="0" bIns="0" rtlCol="0" anchor="t"/>
          <a:lstStyle/>
          <a:p>
            <a:pPr indent="0" marL="0">
              <a:buNone/>
            </a:pPr>
            <a:r>
              <a:rPr lang="en-US" sz="3000" b="1" dirty="0">
                <a:solidFill>
                  <a:schemeClr val="bg1"/>
                </a:solidFill>
              </a:rPr>
              <a:t>%63,7</a:t>
            </a:r>
            <a:endParaRPr lang="en-US" sz="3000" dirty="0"/>
          </a:p>
          <a:p>
            <a:pPr indent="0" marL="0">
              <a:spcAft>
                <a:spcPts val="1200"/>
              </a:spcAft>
              <a:buNone/>
            </a:pPr>
            <a:r>
              <a:rPr lang="en-US" sz="2000" dirty="0">
                <a:solidFill>
                  <a:schemeClr val="bg1"/>
                </a:solidFill>
              </a:rPr>
              <a:t>erkek</a:t>
            </a:r>
            <a:endParaRPr lang="en-US" sz="3000" dirty="0"/>
          </a:p>
          <a:p>
            <a:pPr indent="0" marL="0">
              <a:buNone/>
            </a:pPr>
            <a:r>
              <a:rPr lang="en-US" sz="3000" b="1" dirty="0">
                <a:solidFill>
                  <a:schemeClr val="bg1"/>
                </a:solidFill>
              </a:rPr>
              <a:t>%82,0</a:t>
            </a:r>
            <a:endParaRPr lang="en-US" sz="3000" dirty="0"/>
          </a:p>
          <a:p>
            <a:pPr indent="0" marL="0">
              <a:spcAft>
                <a:spcPts val="1200"/>
              </a:spcAft>
              <a:buNone/>
            </a:pPr>
            <a:r>
              <a:rPr lang="en-US" sz="2000" dirty="0">
                <a:solidFill>
                  <a:schemeClr val="bg1"/>
                </a:solidFill>
              </a:rPr>
              <a:t>evli</a:t>
            </a:r>
            <a:endParaRPr lang="en-US" sz="3000" dirty="0"/>
          </a:p>
          <a:p>
            <a:pPr indent="0" marL="0">
              <a:buNone/>
            </a:pPr>
            <a:r>
              <a:rPr lang="en-US" sz="3000" b="1" dirty="0">
                <a:solidFill>
                  <a:schemeClr val="bg1"/>
                </a:solidFill>
              </a:rPr>
              <a:t>%43,4</a:t>
            </a:r>
            <a:endParaRPr lang="en-US" sz="3000" dirty="0"/>
          </a:p>
          <a:p>
            <a:pPr indent="0" marL="0">
              <a:spcAft>
                <a:spcPts val="1200"/>
              </a:spcAft>
              <a:buNone/>
            </a:pPr>
            <a:r>
              <a:rPr lang="en-US" sz="2000" dirty="0">
                <a:solidFill>
                  <a:schemeClr val="bg1"/>
                </a:solidFill>
              </a:rPr>
              <a:t>yükseköğretim mezunu</a:t>
            </a:r>
            <a:endParaRPr lang="en-US" sz="3000" dirty="0"/>
          </a:p>
          <a:p>
            <a:pPr indent="0" marL="0">
              <a:buNone/>
            </a:pPr>
            <a:r>
              <a:rPr lang="en-US" sz="3000" b="1" dirty="0">
                <a:solidFill>
                  <a:schemeClr val="bg1"/>
                </a:solidFill>
              </a:rPr>
              <a:t>%39,6</a:t>
            </a:r>
            <a:endParaRPr lang="en-US" sz="3000" dirty="0"/>
          </a:p>
          <a:p>
            <a:pPr indent="0" marL="0">
              <a:buNone/>
            </a:pPr>
            <a:r>
              <a:rPr lang="en-US" sz="2000" dirty="0">
                <a:solidFill>
                  <a:schemeClr val="bg1"/>
                </a:solidFill>
              </a:rPr>
              <a:t>hanesinde sigara içen var</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1.</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2: Sosyodemografik özellikler ve bırakma</a:t>
            </a:r>
            <a:endParaRPr lang="en-US" sz="3600" dirty="0"/>
          </a:p>
        </p:txBody>
      </p:sp>
      <p:sp>
        <p:nvSpPr>
          <p:cNvPr id="4" name="Görsel çerçeve"/>
          <p:cNvSpPr/>
          <p:nvPr/>
        </p:nvSpPr>
        <p:spPr>
          <a:xfrm>
            <a:off x="548640" y="1325880"/>
            <a:ext cx="8321040" cy="4575618"/>
          </a:xfrm>
          <a:prstGeom prst="rect">
            <a:avLst/>
          </a:prstGeom>
          <a:solidFill>
            <a:schemeClr val="bg1"/>
          </a:solidFill>
          <a:ln w="12700">
            <a:solidFill>
              <a:srgbClr val="C9DCDF"/>
            </a:solidFill>
            <a:prstDash val="solid"/>
          </a:ln>
        </p:spPr>
      </p:sp>
      <p:pic>
        <p:nvPicPr>
          <p:cNvPr id="5" name="Tablo 2, birinci bölüm" descr="Tablo 2, birinci bölüm">    </p:cNvPr>
          <p:cNvPicPr>
            <a:picLocks noChangeAspect="1"/>
          </p:cNvPicPr>
          <p:nvPr/>
        </p:nvPicPr>
        <p:blipFill>
          <a:blip r:embed="rId1"/>
          <a:stretch>
            <a:fillRect/>
          </a:stretch>
        </p:blipFill>
        <p:spPr>
          <a:xfrm>
            <a:off x="548640" y="1325880"/>
            <a:ext cx="8321040" cy="4575618"/>
          </a:xfrm>
          <a:prstGeom prst="rect">
            <a:avLst/>
          </a:prstGeom>
        </p:spPr>
      </p:pic>
      <p:sp>
        <p:nvSpPr>
          <p:cNvPr id="6" name="Kart"/>
          <p:cNvSpPr/>
          <p:nvPr/>
        </p:nvSpPr>
        <p:spPr>
          <a:xfrm>
            <a:off x="9189720" y="1325880"/>
            <a:ext cx="2450592" cy="4575618"/>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4209858"/>
          </a:xfrm>
          <a:prstGeom prst="rect">
            <a:avLst/>
          </a:prstGeom>
          <a:noFill/>
          <a:ln/>
        </p:spPr>
        <p:txBody>
          <a:bodyPr wrap="square" lIns="0" tIns="0" rIns="0" bIns="0" rtlCol="0" anchor="t"/>
          <a:lstStyle/>
          <a:p>
            <a:pPr indent="0" marL="0">
              <a:spcAft>
                <a:spcPts val="1200"/>
              </a:spcAft>
              <a:buNone/>
            </a:pPr>
            <a:r>
              <a:rPr lang="en-US" sz="2000" b="1" dirty="0">
                <a:solidFill>
                  <a:schemeClr val="bg1"/>
                </a:solidFill>
              </a:rPr>
              <a:t>Anlamlı fark yok</a:t>
            </a:r>
            <a:endParaRPr lang="en-US" sz="2000" dirty="0"/>
          </a:p>
          <a:p>
            <a:pPr indent="0" marL="0">
              <a:buNone/>
            </a:pPr>
            <a:r>
              <a:rPr lang="en-US" sz="2000" dirty="0">
                <a:solidFill>
                  <a:schemeClr val="bg1"/>
                </a:solidFill>
              </a:rPr>
              <a:t>Cinsiyet, yaş grubu, medeni durum ve eğitim durumu</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2 (devam)</a:t>
            </a:r>
            <a:endParaRPr lang="en-US" sz="3600" dirty="0"/>
          </a:p>
        </p:txBody>
      </p:sp>
      <p:sp>
        <p:nvSpPr>
          <p:cNvPr id="4" name="Görsel çerçeve"/>
          <p:cNvSpPr/>
          <p:nvPr/>
        </p:nvSpPr>
        <p:spPr>
          <a:xfrm>
            <a:off x="548640" y="1325880"/>
            <a:ext cx="8321040" cy="3688167"/>
          </a:xfrm>
          <a:prstGeom prst="rect">
            <a:avLst/>
          </a:prstGeom>
          <a:solidFill>
            <a:schemeClr val="bg1"/>
          </a:solidFill>
          <a:ln w="12700">
            <a:solidFill>
              <a:srgbClr val="C9DCDF"/>
            </a:solidFill>
            <a:prstDash val="solid"/>
          </a:ln>
        </p:spPr>
      </p:sp>
      <p:pic>
        <p:nvPicPr>
          <p:cNvPr id="5" name="Tablo 2, ikinci bölüm" descr="Tablo 2, ikinci bölüm">    </p:cNvPr>
          <p:cNvPicPr>
            <a:picLocks noChangeAspect="1"/>
          </p:cNvPicPr>
          <p:nvPr/>
        </p:nvPicPr>
        <p:blipFill>
          <a:blip r:embed="rId1"/>
          <a:stretch>
            <a:fillRect/>
          </a:stretch>
        </p:blipFill>
        <p:spPr>
          <a:xfrm>
            <a:off x="548640" y="1325880"/>
            <a:ext cx="8321040" cy="3688167"/>
          </a:xfrm>
          <a:prstGeom prst="rect">
            <a:avLst/>
          </a:prstGeom>
        </p:spPr>
      </p:pic>
      <p:sp>
        <p:nvSpPr>
          <p:cNvPr id="6" name="Kart"/>
          <p:cNvSpPr/>
          <p:nvPr/>
        </p:nvSpPr>
        <p:spPr>
          <a:xfrm>
            <a:off x="9189720" y="1325880"/>
            <a:ext cx="2450592" cy="3688167"/>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322407"/>
          </a:xfrm>
          <a:prstGeom prst="rect">
            <a:avLst/>
          </a:prstGeom>
          <a:noFill/>
          <a:ln/>
        </p:spPr>
        <p:txBody>
          <a:bodyPr wrap="square" lIns="0" tIns="0" rIns="0" bIns="0" rtlCol="0" anchor="t"/>
          <a:lstStyle/>
          <a:p>
            <a:pPr indent="0" marL="0">
              <a:spcAft>
                <a:spcPts val="1200"/>
              </a:spcAft>
              <a:buNone/>
            </a:pPr>
            <a:r>
              <a:rPr lang="en-US" sz="2000" b="1" dirty="0">
                <a:solidFill>
                  <a:schemeClr val="bg1"/>
                </a:solidFill>
              </a:rPr>
              <a:t>Tek anlamlı fark:</a:t>
            </a:r>
            <a:endParaRPr lang="en-US" sz="2000" dirty="0"/>
          </a:p>
          <a:p>
            <a:pPr indent="0" marL="0">
              <a:spcAft>
                <a:spcPts val="1200"/>
              </a:spcAft>
              <a:buNone/>
            </a:pPr>
            <a:r>
              <a:rPr lang="en-US" sz="2000" dirty="0">
                <a:solidFill>
                  <a:schemeClr val="bg1"/>
                </a:solidFill>
              </a:rPr>
              <a:t>hanede sigara içen varlığı</a:t>
            </a:r>
            <a:endParaRPr lang="en-US" sz="2000" dirty="0"/>
          </a:p>
          <a:p>
            <a:pPr indent="0" marL="0">
              <a:buNone/>
            </a:pPr>
            <a:r>
              <a:rPr lang="en-US" sz="3000" b="1" dirty="0">
                <a:solidFill>
                  <a:schemeClr val="bg1"/>
                </a:solidFill>
              </a:rPr>
              <a:t>p = 0,003</a:t>
            </a:r>
            <a:endParaRPr lang="en-US" sz="2000" dirty="0"/>
          </a:p>
          <a:p>
            <a:pPr indent="0" marL="0">
              <a:buNone/>
            </a:pPr>
            <a:r>
              <a:rPr lang="en-US" sz="1800" dirty="0">
                <a:solidFill>
                  <a:schemeClr val="bg1"/>
                </a:solidFill>
              </a:rPr>
              <a:t>Bırakma: %39,8 ve %25,3</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3: Uygulanan tedaviler</a:t>
            </a:r>
            <a:endParaRPr lang="en-US" sz="3600" dirty="0"/>
          </a:p>
        </p:txBody>
      </p:sp>
      <p:sp>
        <p:nvSpPr>
          <p:cNvPr id="4" name="Görsel çerçeve"/>
          <p:cNvSpPr/>
          <p:nvPr/>
        </p:nvSpPr>
        <p:spPr>
          <a:xfrm>
            <a:off x="548640" y="1325880"/>
            <a:ext cx="8321040" cy="3485982"/>
          </a:xfrm>
          <a:prstGeom prst="rect">
            <a:avLst/>
          </a:prstGeom>
          <a:solidFill>
            <a:schemeClr val="bg1"/>
          </a:solidFill>
          <a:ln w="12700">
            <a:solidFill>
              <a:srgbClr val="C9DCDF"/>
            </a:solidFill>
            <a:prstDash val="solid"/>
          </a:ln>
        </p:spPr>
      </p:sp>
      <p:pic>
        <p:nvPicPr>
          <p:cNvPr id="5" name="Tablo 3: Katılımcıların kullandığı tedavi seçenekleri" descr="Tablo 3: Katılımcıların kullandığı tedavi seçenekleri">    </p:cNvPr>
          <p:cNvPicPr>
            <a:picLocks noChangeAspect="1"/>
          </p:cNvPicPr>
          <p:nvPr/>
        </p:nvPicPr>
        <p:blipFill>
          <a:blip r:embed="rId1"/>
          <a:stretch>
            <a:fillRect/>
          </a:stretch>
        </p:blipFill>
        <p:spPr>
          <a:xfrm>
            <a:off x="548640" y="1325880"/>
            <a:ext cx="8321040" cy="3485982"/>
          </a:xfrm>
          <a:prstGeom prst="rect">
            <a:avLst/>
          </a:prstGeom>
        </p:spPr>
      </p:pic>
      <p:sp>
        <p:nvSpPr>
          <p:cNvPr id="6" name="Kart"/>
          <p:cNvSpPr/>
          <p:nvPr/>
        </p:nvSpPr>
        <p:spPr>
          <a:xfrm>
            <a:off x="9189720" y="1325880"/>
            <a:ext cx="2450592" cy="3485982"/>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120222"/>
          </a:xfrm>
          <a:prstGeom prst="rect">
            <a:avLst/>
          </a:prstGeom>
          <a:noFill/>
          <a:ln/>
        </p:spPr>
        <p:txBody>
          <a:bodyPr wrap="square" lIns="0" tIns="0" rIns="0" bIns="0" rtlCol="0" anchor="t"/>
          <a:lstStyle/>
          <a:p>
            <a:pPr indent="0" marL="0">
              <a:buNone/>
            </a:pPr>
            <a:r>
              <a:rPr lang="en-US" sz="3000" b="1" dirty="0">
                <a:solidFill>
                  <a:schemeClr val="bg1"/>
                </a:solidFill>
              </a:rPr>
              <a:t>%35,3</a:t>
            </a:r>
            <a:endParaRPr lang="en-US" sz="3000" dirty="0"/>
          </a:p>
          <a:p>
            <a:pPr indent="0" marL="0">
              <a:spcAft>
                <a:spcPts val="1200"/>
              </a:spcAft>
              <a:buNone/>
            </a:pPr>
            <a:r>
              <a:rPr lang="en-US" sz="2000" dirty="0">
                <a:solidFill>
                  <a:schemeClr val="bg1"/>
                </a:solidFill>
              </a:rPr>
              <a:t>kombine tedavi</a:t>
            </a:r>
            <a:endParaRPr lang="en-US" sz="3000" dirty="0"/>
          </a:p>
          <a:p>
            <a:pPr indent="0" marL="0">
              <a:buNone/>
            </a:pPr>
            <a:r>
              <a:rPr lang="en-US" sz="3000" b="1" dirty="0">
                <a:solidFill>
                  <a:schemeClr val="bg1"/>
                </a:solidFill>
              </a:rPr>
              <a:t>125 / 141</a:t>
            </a:r>
            <a:endParaRPr lang="en-US" sz="3000" dirty="0"/>
          </a:p>
          <a:p>
            <a:pPr indent="0" marL="0">
              <a:buNone/>
            </a:pPr>
            <a:r>
              <a:rPr lang="en-US" sz="1800" dirty="0">
                <a:solidFill>
                  <a:schemeClr val="bg1"/>
                </a:solidFill>
              </a:rPr>
              <a:t>bupropion + NRT</a:t>
            </a:r>
            <a:endParaRPr lang="en-US" sz="3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4: Görüşme sayısı, FNBT ve paket-yıl</a:t>
            </a:r>
            <a:endParaRPr lang="en-US" sz="3600" dirty="0"/>
          </a:p>
        </p:txBody>
      </p:sp>
      <p:sp>
        <p:nvSpPr>
          <p:cNvPr id="4" name="Görsel çerçeve"/>
          <p:cNvSpPr/>
          <p:nvPr/>
        </p:nvSpPr>
        <p:spPr>
          <a:xfrm>
            <a:off x="548640" y="1325880"/>
            <a:ext cx="11091672" cy="2713227"/>
          </a:xfrm>
          <a:prstGeom prst="rect">
            <a:avLst/>
          </a:prstGeom>
          <a:solidFill>
            <a:schemeClr val="bg1"/>
          </a:solidFill>
          <a:ln w="12700">
            <a:solidFill>
              <a:srgbClr val="C9DCDF"/>
            </a:solidFill>
            <a:prstDash val="solid"/>
          </a:ln>
        </p:spPr>
      </p:sp>
      <p:pic>
        <p:nvPicPr>
          <p:cNvPr id="5" name="Tablo 4: Sigara ve tedavi parametrelerinin bırakma durumu ile karşılaştırılması" descr="Tablo 4: Sigara ve tedavi parametrelerinin bırakma durumu ile karşılaştırılması">    </p:cNvPr>
          <p:cNvPicPr>
            <a:picLocks noChangeAspect="1"/>
          </p:cNvPicPr>
          <p:nvPr/>
        </p:nvPicPr>
        <p:blipFill>
          <a:blip r:embed="rId1"/>
          <a:stretch>
            <a:fillRect/>
          </a:stretch>
        </p:blipFill>
        <p:spPr>
          <a:xfrm>
            <a:off x="548640" y="1325880"/>
            <a:ext cx="11091672" cy="2713227"/>
          </a:xfrm>
          <a:prstGeom prst="rect">
            <a:avLst/>
          </a:prstGeom>
        </p:spPr>
      </p:pic>
      <p:sp>
        <p:nvSpPr>
          <p:cNvPr id="6" name="Kart"/>
          <p:cNvSpPr/>
          <p:nvPr/>
        </p:nvSpPr>
        <p:spPr>
          <a:xfrm>
            <a:off x="548640" y="4359147"/>
            <a:ext cx="3566160" cy="1767333"/>
          </a:xfrm>
          <a:prstGeom prst="roundRect">
            <a:avLst>
              <a:gd name="adj" fmla="val 6209"/>
            </a:avLst>
          </a:prstGeom>
          <a:solidFill>
            <a:schemeClr val="accent1"/>
          </a:solidFill>
          <a:ln w="12700">
            <a:solidFill>
              <a:schemeClr val="accent1"/>
            </a:solidFill>
            <a:prstDash val="solid"/>
          </a:ln>
        </p:spPr>
      </p:sp>
      <p:sp>
        <p:nvSpPr>
          <p:cNvPr id="7" name="Text 3"/>
          <p:cNvSpPr txBox="1"/>
          <p:nvPr/>
        </p:nvSpPr>
        <p:spPr>
          <a:xfrm>
            <a:off x="731520" y="4359147"/>
            <a:ext cx="3200400" cy="1767333"/>
          </a:xfrm>
          <a:prstGeom prst="rect">
            <a:avLst/>
          </a:prstGeom>
          <a:noFill/>
          <a:ln/>
        </p:spPr>
        <p:txBody>
          <a:bodyPr wrap="square" lIns="0" tIns="0" rIns="0" bIns="0" rtlCol="0" anchor="ctr"/>
          <a:lstStyle/>
          <a:p>
            <a:pPr algn="ctr" indent="0" marL="0">
              <a:buNone/>
            </a:pPr>
            <a:r>
              <a:rPr lang="en-US" sz="2000" b="1" dirty="0">
                <a:solidFill>
                  <a:schemeClr val="bg1"/>
                </a:solidFill>
              </a:rPr>
              <a:t>Görüşme sayısı</a:t>
            </a:r>
            <a:endParaRPr lang="en-US" sz="2000" dirty="0"/>
          </a:p>
          <a:p>
            <a:pPr algn="ctr" indent="0" marL="0">
              <a:buNone/>
            </a:pPr>
            <a:r>
              <a:rPr lang="en-US" sz="3000" b="1" dirty="0">
                <a:solidFill>
                  <a:schemeClr val="bg1"/>
                </a:solidFill>
              </a:rPr>
              <a:t>p &lt; 0,001</a:t>
            </a:r>
            <a:endParaRPr lang="en-US" sz="2000" dirty="0"/>
          </a:p>
          <a:p>
            <a:pPr algn="ctr" indent="0" marL="0">
              <a:buNone/>
            </a:pPr>
            <a:r>
              <a:rPr lang="en-US" sz="1800" dirty="0">
                <a:solidFill>
                  <a:schemeClr val="bg1"/>
                </a:solidFill>
              </a:rPr>
              <a:t>Başarılı 2,83; başarısız 1,96</a:t>
            </a:r>
            <a:endParaRPr lang="en-US" sz="2000" dirty="0"/>
          </a:p>
        </p:txBody>
      </p:sp>
      <p:sp>
        <p:nvSpPr>
          <p:cNvPr id="8" name="Kart"/>
          <p:cNvSpPr/>
          <p:nvPr/>
        </p:nvSpPr>
        <p:spPr>
          <a:xfrm>
            <a:off x="4297680" y="4359147"/>
            <a:ext cx="3566160" cy="1767333"/>
          </a:xfrm>
          <a:prstGeom prst="roundRect">
            <a:avLst>
              <a:gd name="adj" fmla="val 6209"/>
            </a:avLst>
          </a:prstGeom>
          <a:solidFill>
            <a:schemeClr val="bg2"/>
          </a:solidFill>
          <a:ln w="12700">
            <a:solidFill>
              <a:schemeClr val="bg2"/>
            </a:solidFill>
            <a:prstDash val="solid"/>
          </a:ln>
        </p:spPr>
      </p:sp>
      <p:sp>
        <p:nvSpPr>
          <p:cNvPr id="9" name="Text 5"/>
          <p:cNvSpPr txBox="1"/>
          <p:nvPr/>
        </p:nvSpPr>
        <p:spPr>
          <a:xfrm>
            <a:off x="4480560" y="4359147"/>
            <a:ext cx="3200400" cy="1767333"/>
          </a:xfrm>
          <a:prstGeom prst="rect">
            <a:avLst/>
          </a:prstGeom>
          <a:noFill/>
          <a:ln/>
        </p:spPr>
        <p:txBody>
          <a:bodyPr wrap="square" lIns="0" tIns="0" rIns="0" bIns="0" rtlCol="0" anchor="ctr"/>
          <a:lstStyle/>
          <a:p>
            <a:pPr algn="ctr" indent="0" marL="0">
              <a:buNone/>
            </a:pPr>
            <a:r>
              <a:rPr lang="en-US" sz="2000" b="1" dirty="0">
                <a:solidFill>
                  <a:schemeClr val="accent1"/>
                </a:solidFill>
              </a:rPr>
              <a:t>FNBT puanı</a:t>
            </a:r>
            <a:endParaRPr lang="en-US" sz="2000" dirty="0"/>
          </a:p>
          <a:p>
            <a:pPr algn="ctr" indent="0" marL="0">
              <a:buNone/>
            </a:pPr>
            <a:r>
              <a:rPr lang="en-US" sz="3000" b="1" dirty="0">
                <a:solidFill>
                  <a:schemeClr val="accent2"/>
                </a:solidFill>
              </a:rPr>
              <a:t>p = 0,024</a:t>
            </a:r>
            <a:endParaRPr lang="en-US" sz="2000" dirty="0"/>
          </a:p>
          <a:p>
            <a:pPr algn="ctr" indent="0" marL="0">
              <a:buNone/>
            </a:pPr>
            <a:r>
              <a:rPr lang="en-US" sz="1800" dirty="0">
                <a:solidFill>
                  <a:schemeClr val="accent1"/>
                </a:solidFill>
              </a:rPr>
              <a:t>Başarılı 5,26; başarısız 5,85</a:t>
            </a:r>
            <a:endParaRPr lang="en-US" sz="2000" dirty="0"/>
          </a:p>
        </p:txBody>
      </p:sp>
      <p:sp>
        <p:nvSpPr>
          <p:cNvPr id="10" name="Kart"/>
          <p:cNvSpPr/>
          <p:nvPr/>
        </p:nvSpPr>
        <p:spPr>
          <a:xfrm>
            <a:off x="8046720" y="4359147"/>
            <a:ext cx="3566160" cy="1767333"/>
          </a:xfrm>
          <a:prstGeom prst="roundRect">
            <a:avLst>
              <a:gd name="adj" fmla="val 6209"/>
            </a:avLst>
          </a:prstGeom>
          <a:solidFill>
            <a:schemeClr val="bg2"/>
          </a:solidFill>
          <a:ln w="12700">
            <a:solidFill>
              <a:schemeClr val="bg2"/>
            </a:solidFill>
            <a:prstDash val="solid"/>
          </a:ln>
        </p:spPr>
      </p:sp>
      <p:sp>
        <p:nvSpPr>
          <p:cNvPr id="11" name="Text 7"/>
          <p:cNvSpPr txBox="1"/>
          <p:nvPr/>
        </p:nvSpPr>
        <p:spPr>
          <a:xfrm>
            <a:off x="8229600" y="4359147"/>
            <a:ext cx="3200400" cy="1767333"/>
          </a:xfrm>
          <a:prstGeom prst="rect">
            <a:avLst/>
          </a:prstGeom>
          <a:noFill/>
          <a:ln/>
        </p:spPr>
        <p:txBody>
          <a:bodyPr wrap="square" lIns="0" tIns="0" rIns="0" bIns="0" rtlCol="0" anchor="ctr"/>
          <a:lstStyle/>
          <a:p>
            <a:pPr algn="ctr" indent="0" marL="0">
              <a:buNone/>
            </a:pPr>
            <a:r>
              <a:rPr lang="en-US" sz="2000" b="1" dirty="0">
                <a:solidFill>
                  <a:schemeClr val="accent1"/>
                </a:solidFill>
              </a:rPr>
              <a:t>Paket-yıl</a:t>
            </a:r>
            <a:endParaRPr lang="en-US" sz="2000" dirty="0"/>
          </a:p>
          <a:p>
            <a:pPr algn="ctr" indent="0" marL="0">
              <a:buNone/>
            </a:pPr>
            <a:r>
              <a:rPr lang="en-US" sz="3000" b="1" dirty="0">
                <a:solidFill>
                  <a:schemeClr val="accent2"/>
                </a:solidFill>
              </a:rPr>
              <a:t>Fark yok</a:t>
            </a:r>
            <a:endParaRPr lang="en-US" sz="2000" dirty="0"/>
          </a:p>
          <a:p>
            <a:pPr algn="ctr" indent="0" marL="0">
              <a:buNone/>
            </a:pPr>
            <a:r>
              <a:rPr lang="en-US" sz="1800" dirty="0">
                <a:solidFill>
                  <a:schemeClr val="accent1"/>
                </a:solidFill>
              </a:rPr>
              <a:t>İki grup benzer</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4.</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5: Tedavi yöntemine göre bırakma</a:t>
            </a:r>
            <a:endParaRPr lang="en-US" sz="3600" dirty="0"/>
          </a:p>
        </p:txBody>
      </p:sp>
      <p:sp>
        <p:nvSpPr>
          <p:cNvPr id="4" name="Görsel çerçeve"/>
          <p:cNvSpPr/>
          <p:nvPr/>
        </p:nvSpPr>
        <p:spPr>
          <a:xfrm>
            <a:off x="548640" y="1325880"/>
            <a:ext cx="11091672" cy="3216842"/>
          </a:xfrm>
          <a:prstGeom prst="rect">
            <a:avLst/>
          </a:prstGeom>
          <a:solidFill>
            <a:schemeClr val="bg1"/>
          </a:solidFill>
          <a:ln w="12700">
            <a:solidFill>
              <a:srgbClr val="C9DCDF"/>
            </a:solidFill>
            <a:prstDash val="solid"/>
          </a:ln>
        </p:spPr>
      </p:sp>
      <p:pic>
        <p:nvPicPr>
          <p:cNvPr id="5" name="Tablo 5: Tedavi yöntemlerinin bırakma durumu ile karşılaştırılması" descr="Tablo 5: Tedavi yöntemlerinin bırakma durumu ile karşılaştırılması">    </p:cNvPr>
          <p:cNvPicPr>
            <a:picLocks noChangeAspect="1"/>
          </p:cNvPicPr>
          <p:nvPr/>
        </p:nvPicPr>
        <p:blipFill>
          <a:blip r:embed="rId1"/>
          <a:stretch>
            <a:fillRect/>
          </a:stretch>
        </p:blipFill>
        <p:spPr>
          <a:xfrm>
            <a:off x="548640" y="1325880"/>
            <a:ext cx="11091672" cy="3216842"/>
          </a:xfrm>
          <a:prstGeom prst="rect">
            <a:avLst/>
          </a:prstGeom>
        </p:spPr>
      </p:pic>
      <p:sp>
        <p:nvSpPr>
          <p:cNvPr id="6" name="Kart"/>
          <p:cNvSpPr/>
          <p:nvPr/>
        </p:nvSpPr>
        <p:spPr>
          <a:xfrm>
            <a:off x="548640" y="4817042"/>
            <a:ext cx="3566160" cy="1309438"/>
          </a:xfrm>
          <a:prstGeom prst="roundRect">
            <a:avLst>
              <a:gd name="adj" fmla="val 8380"/>
            </a:avLst>
          </a:prstGeom>
          <a:solidFill>
            <a:schemeClr val="bg2"/>
          </a:solidFill>
          <a:ln w="12700">
            <a:solidFill>
              <a:schemeClr val="bg2"/>
            </a:solidFill>
            <a:prstDash val="solid"/>
          </a:ln>
        </p:spPr>
      </p:sp>
      <p:sp>
        <p:nvSpPr>
          <p:cNvPr id="7" name="Text 3"/>
          <p:cNvSpPr txBox="1"/>
          <p:nvPr/>
        </p:nvSpPr>
        <p:spPr>
          <a:xfrm>
            <a:off x="731520" y="4817042"/>
            <a:ext cx="3200400" cy="1309438"/>
          </a:xfrm>
          <a:prstGeom prst="rect">
            <a:avLst/>
          </a:prstGeom>
          <a:noFill/>
          <a:ln/>
        </p:spPr>
        <p:txBody>
          <a:bodyPr wrap="square" lIns="0" tIns="0" rIns="0" bIns="0" rtlCol="0" anchor="ctr"/>
          <a:lstStyle/>
          <a:p>
            <a:pPr algn="ctr" indent="0" marL="0">
              <a:buNone/>
            </a:pPr>
            <a:r>
              <a:rPr lang="en-US" sz="2000" b="1" dirty="0">
                <a:solidFill>
                  <a:schemeClr val="accent1"/>
                </a:solidFill>
              </a:rPr>
              <a:t>En yüksek</a:t>
            </a:r>
            <a:endParaRPr lang="en-US" sz="2000" dirty="0"/>
          </a:p>
          <a:p>
            <a:pPr algn="ctr" indent="0" marL="0">
              <a:buNone/>
            </a:pPr>
            <a:r>
              <a:rPr lang="en-US" sz="2200" dirty="0">
                <a:solidFill>
                  <a:schemeClr val="accent1"/>
                </a:solidFill>
              </a:rPr>
              <a:t>Vareniklin %44,5; kombine %44,0</a:t>
            </a:r>
            <a:endParaRPr lang="en-US" sz="2000" dirty="0"/>
          </a:p>
        </p:txBody>
      </p:sp>
      <p:sp>
        <p:nvSpPr>
          <p:cNvPr id="8" name="Kart"/>
          <p:cNvSpPr/>
          <p:nvPr/>
        </p:nvSpPr>
        <p:spPr>
          <a:xfrm>
            <a:off x="4297680" y="4817042"/>
            <a:ext cx="3566160" cy="1309438"/>
          </a:xfrm>
          <a:prstGeom prst="roundRect">
            <a:avLst>
              <a:gd name="adj" fmla="val 8380"/>
            </a:avLst>
          </a:prstGeom>
          <a:solidFill>
            <a:schemeClr val="accent1"/>
          </a:solidFill>
          <a:ln w="12700">
            <a:solidFill>
              <a:schemeClr val="accent1"/>
            </a:solidFill>
            <a:prstDash val="solid"/>
          </a:ln>
        </p:spPr>
      </p:sp>
      <p:sp>
        <p:nvSpPr>
          <p:cNvPr id="9" name="Text 5"/>
          <p:cNvSpPr txBox="1"/>
          <p:nvPr/>
        </p:nvSpPr>
        <p:spPr>
          <a:xfrm>
            <a:off x="4480560" y="4817042"/>
            <a:ext cx="3200400" cy="1309438"/>
          </a:xfrm>
          <a:prstGeom prst="rect">
            <a:avLst/>
          </a:prstGeom>
          <a:noFill/>
          <a:ln/>
        </p:spPr>
        <p:txBody>
          <a:bodyPr wrap="square" lIns="0" tIns="0" rIns="0" bIns="0" rtlCol="0" anchor="ctr"/>
          <a:lstStyle/>
          <a:p>
            <a:pPr algn="ctr" indent="0" marL="0">
              <a:buNone/>
            </a:pPr>
            <a:r>
              <a:rPr lang="en-US" sz="2000" b="1" dirty="0">
                <a:solidFill>
                  <a:schemeClr val="bg1"/>
                </a:solidFill>
              </a:rPr>
              <a:t>En düşük</a:t>
            </a:r>
            <a:endParaRPr lang="en-US" sz="2000" dirty="0"/>
          </a:p>
          <a:p>
            <a:pPr algn="ctr" indent="0" marL="0">
              <a:buNone/>
            </a:pPr>
            <a:r>
              <a:rPr lang="en-US" sz="2200" dirty="0">
                <a:solidFill>
                  <a:schemeClr val="bg1"/>
                </a:solidFill>
              </a:rPr>
              <a:t>Bupropion %16,5</a:t>
            </a:r>
            <a:endParaRPr lang="en-US" sz="2000" dirty="0"/>
          </a:p>
        </p:txBody>
      </p:sp>
      <p:sp>
        <p:nvSpPr>
          <p:cNvPr id="10" name="Kart"/>
          <p:cNvSpPr/>
          <p:nvPr/>
        </p:nvSpPr>
        <p:spPr>
          <a:xfrm>
            <a:off x="8046720" y="4817042"/>
            <a:ext cx="3566160" cy="1309438"/>
          </a:xfrm>
          <a:prstGeom prst="roundRect">
            <a:avLst>
              <a:gd name="adj" fmla="val 8380"/>
            </a:avLst>
          </a:prstGeom>
          <a:solidFill>
            <a:schemeClr val="bg2"/>
          </a:solidFill>
          <a:ln w="12700">
            <a:solidFill>
              <a:schemeClr val="bg2"/>
            </a:solidFill>
            <a:prstDash val="solid"/>
          </a:ln>
        </p:spPr>
      </p:sp>
      <p:sp>
        <p:nvSpPr>
          <p:cNvPr id="11" name="Text 7"/>
          <p:cNvSpPr txBox="1"/>
          <p:nvPr/>
        </p:nvSpPr>
        <p:spPr>
          <a:xfrm>
            <a:off x="8229600" y="4817042"/>
            <a:ext cx="3200400" cy="1309438"/>
          </a:xfrm>
          <a:prstGeom prst="rect">
            <a:avLst/>
          </a:prstGeom>
          <a:noFill/>
          <a:ln/>
        </p:spPr>
        <p:txBody>
          <a:bodyPr wrap="square" lIns="0" tIns="0" rIns="0" bIns="0" rtlCol="0" anchor="ctr"/>
          <a:lstStyle/>
          <a:p>
            <a:pPr algn="ctr" indent="0" marL="0">
              <a:buNone/>
            </a:pPr>
            <a:r>
              <a:rPr lang="en-US" sz="2000" b="1" dirty="0">
                <a:solidFill>
                  <a:schemeClr val="accent1"/>
                </a:solidFill>
              </a:rPr>
              <a:t>Gruplar arası</a:t>
            </a:r>
            <a:endParaRPr lang="en-US" sz="2000" dirty="0"/>
          </a:p>
          <a:p>
            <a:pPr algn="ctr" indent="0" marL="0">
              <a:buNone/>
            </a:pPr>
            <a:r>
              <a:rPr lang="en-US" sz="2200" dirty="0">
                <a:solidFill>
                  <a:schemeClr val="accent1"/>
                </a:solidFill>
              </a:rPr>
              <a:t>p &lt; 0,001</a:t>
            </a:r>
            <a:endParaRPr lang="en-US" sz="2000" dirty="0"/>
          </a:p>
        </p:txBody>
      </p:sp>
      <p:sp>
        <p:nvSpPr>
          <p:cNvPr id="12"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Tablo 6: Lojistik regresyon</a:t>
            </a:r>
            <a:endParaRPr lang="en-US" sz="3600" dirty="0"/>
          </a:p>
        </p:txBody>
      </p:sp>
      <p:sp>
        <p:nvSpPr>
          <p:cNvPr id="4" name="Görsel çerçeve"/>
          <p:cNvSpPr/>
          <p:nvPr/>
        </p:nvSpPr>
        <p:spPr>
          <a:xfrm>
            <a:off x="548640" y="1325880"/>
            <a:ext cx="7841940" cy="4892040"/>
          </a:xfrm>
          <a:prstGeom prst="rect">
            <a:avLst/>
          </a:prstGeom>
          <a:solidFill>
            <a:schemeClr val="bg1"/>
          </a:solidFill>
          <a:ln w="12700">
            <a:solidFill>
              <a:srgbClr val="C9DCDF"/>
            </a:solidFill>
            <a:prstDash val="solid"/>
          </a:ln>
        </p:spPr>
      </p:sp>
      <p:pic>
        <p:nvPicPr>
          <p:cNvPr id="5" name="Tablo 6: Lojistik regresyon sonuçları" descr="Tablo 6: Lojistik regresyon sonuçları">    </p:cNvPr>
          <p:cNvPicPr>
            <a:picLocks noChangeAspect="1"/>
          </p:cNvPicPr>
          <p:nvPr/>
        </p:nvPicPr>
        <p:blipFill>
          <a:blip r:embed="rId1"/>
          <a:stretch>
            <a:fillRect/>
          </a:stretch>
        </p:blipFill>
        <p:spPr>
          <a:xfrm>
            <a:off x="548640" y="1325880"/>
            <a:ext cx="7841940" cy="4892040"/>
          </a:xfrm>
          <a:prstGeom prst="rect">
            <a:avLst/>
          </a:prstGeom>
        </p:spPr>
      </p:pic>
      <p:sp>
        <p:nvSpPr>
          <p:cNvPr id="6" name="Kart"/>
          <p:cNvSpPr/>
          <p:nvPr/>
        </p:nvSpPr>
        <p:spPr>
          <a:xfrm>
            <a:off x="8710620" y="1325880"/>
            <a:ext cx="2929692" cy="4892040"/>
          </a:xfrm>
          <a:prstGeom prst="roundRect">
            <a:avLst>
              <a:gd name="adj" fmla="val 3745"/>
            </a:avLst>
          </a:prstGeom>
          <a:solidFill>
            <a:schemeClr val="accent1"/>
          </a:solidFill>
          <a:ln w="12700">
            <a:solidFill>
              <a:schemeClr val="accent1"/>
            </a:solidFill>
            <a:prstDash val="solid"/>
          </a:ln>
        </p:spPr>
      </p:sp>
      <p:sp>
        <p:nvSpPr>
          <p:cNvPr id="7" name="Text 3"/>
          <p:cNvSpPr txBox="1"/>
          <p:nvPr/>
        </p:nvSpPr>
        <p:spPr>
          <a:xfrm>
            <a:off x="8939220" y="1508760"/>
            <a:ext cx="2472492" cy="4526280"/>
          </a:xfrm>
          <a:prstGeom prst="rect">
            <a:avLst/>
          </a:prstGeom>
          <a:noFill/>
          <a:ln/>
        </p:spPr>
        <p:txBody>
          <a:bodyPr wrap="square" lIns="0" tIns="0" rIns="0" bIns="0" rtlCol="0" anchor="t"/>
          <a:lstStyle/>
          <a:p>
            <a:pPr indent="0" marL="0">
              <a:spcAft>
                <a:spcPts val="1200"/>
              </a:spcAft>
              <a:buNone/>
            </a:pPr>
            <a:r>
              <a:rPr lang="en-US" sz="1800" b="1" dirty="0">
                <a:solidFill>
                  <a:schemeClr val="bg1"/>
                </a:solidFill>
              </a:rPr>
              <a:t>Referans: bupropion</a:t>
            </a:r>
            <a:endParaRPr lang="en-US" sz="1800" dirty="0"/>
          </a:p>
          <a:p>
            <a:pPr indent="0" marL="0">
              <a:buNone/>
            </a:pPr>
            <a:r>
              <a:rPr lang="en-US" sz="3000" b="1" dirty="0">
                <a:solidFill>
                  <a:schemeClr val="bg1"/>
                </a:solidFill>
              </a:rPr>
              <a:t>4,0 kat</a:t>
            </a:r>
            <a:endParaRPr lang="en-US" sz="1800" dirty="0"/>
          </a:p>
          <a:p>
            <a:pPr indent="0" marL="0">
              <a:spcAft>
                <a:spcPts val="1200"/>
              </a:spcAft>
              <a:buNone/>
            </a:pPr>
            <a:r>
              <a:rPr lang="en-US" sz="1800" dirty="0">
                <a:solidFill>
                  <a:schemeClr val="bg1"/>
                </a:solidFill>
              </a:rPr>
              <a:t>vareniklin, kombine</a:t>
            </a:r>
            <a:endParaRPr lang="en-US" sz="1800" dirty="0"/>
          </a:p>
          <a:p>
            <a:pPr indent="0" marL="0">
              <a:buNone/>
            </a:pPr>
            <a:r>
              <a:rPr lang="en-US" sz="3000" b="1" dirty="0">
                <a:solidFill>
                  <a:schemeClr val="bg1"/>
                </a:solidFill>
              </a:rPr>
              <a:t>2,0 kat</a:t>
            </a:r>
            <a:endParaRPr lang="en-US" sz="1800" dirty="0"/>
          </a:p>
          <a:p>
            <a:pPr indent="0" marL="0">
              <a:spcAft>
                <a:spcPts val="1200"/>
              </a:spcAft>
              <a:buNone/>
            </a:pPr>
            <a:r>
              <a:rPr lang="en-US" sz="1800" dirty="0">
                <a:solidFill>
                  <a:schemeClr val="bg1"/>
                </a:solidFill>
              </a:rPr>
              <a:t>hanede sigara içen yok</a:t>
            </a:r>
            <a:endParaRPr lang="en-US" sz="1800" dirty="0"/>
          </a:p>
          <a:p>
            <a:pPr indent="0" marL="0">
              <a:buNone/>
            </a:pPr>
            <a:r>
              <a:rPr lang="en-US" sz="3000" b="1" dirty="0">
                <a:solidFill>
                  <a:schemeClr val="bg1"/>
                </a:solidFill>
              </a:rPr>
              <a:t>1,6 kat</a:t>
            </a:r>
            <a:endParaRPr lang="en-US" sz="1800" dirty="0"/>
          </a:p>
          <a:p>
            <a:pPr indent="0" marL="0">
              <a:buNone/>
            </a:pPr>
            <a:r>
              <a:rPr lang="en-US" sz="1800" dirty="0">
                <a:solidFill>
                  <a:schemeClr val="bg1"/>
                </a:solidFill>
              </a:rPr>
              <a:t>yakınma yok</a:t>
            </a:r>
            <a:endParaRPr lang="en-US" sz="1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Tartışma: tedaviler ve literatür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sp>
      <p:pic>
        <p:nvPicPr>
          <p:cNvPr id="5" name="Ikon" descr="FaPills">    </p:cNvPr>
          <p:cNvPicPr>
            <a:picLocks noChangeAspect="1"/>
          </p:cNvPicPr>
          <p:nvPr/>
        </p:nvPicPr>
        <p:blipFill>
          <a:blip r:embed="rId1"/>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Bupropiona üstün; meta-analiz ve EAGLES ile uyumlu</a:t>
            </a:r>
            <a:pPr indent="0" marL="0">
              <a:buNone/>
            </a:pP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sp>
      <p:pic>
        <p:nvPicPr>
          <p:cNvPr id="9" name="Ikon" descr="FaLeaf">    </p:cNvPr>
          <p:cNvPicPr>
            <a:picLocks noChangeAspect="1"/>
          </p:cNvPicPr>
          <p:nvPr/>
        </p:nvPicPr>
        <p:blipFill>
          <a:blip r:embed="rId2"/>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Plaseboya üstün; NRT ve vareniklinle benzer</a:t>
            </a:r>
            <a:pPr indent="0" marL="0">
              <a:buNone/>
            </a:pP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sp>
      <p:pic>
        <p:nvPicPr>
          <p:cNvPr id="13" name="Ikon" descr="FaExchangeAlt">    </p:cNvPr>
          <p:cNvPicPr>
            <a:picLocks noChangeAspect="1"/>
          </p:cNvPicPr>
          <p:nvPr/>
        </p:nvPicPr>
        <p:blipFill>
          <a:blip r:embed="rId3"/>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Kılavuz önerileriyle uyumlu</a:t>
            </a:r>
            <a:pPr indent="0" marL="0">
              <a:buNone/>
            </a:pP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sp>
      <p:pic>
        <p:nvPicPr>
          <p:cNvPr id="17" name="Ikon" descr="FaBookMedical">    </p:cNvPr>
          <p:cNvPicPr>
            <a:picLocks noChangeAspect="1"/>
          </p:cNvPicPr>
          <p:nvPr/>
        </p:nvPicPr>
        <p:blipFill>
          <a:blip r:embed="rId4"/>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Benli ve ark.</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Vareniklin ilk 6 ayda daha etkili</a:t>
            </a:r>
            <a:pPr indent="0" marL="0">
              <a:buNone/>
            </a:pPr>
            <a:r>
              <a:rPr lang="en-US" sz="1800" dirty="0">
                <a:solidFill>
                  <a:schemeClr val="accent3"/>
                </a:solidFill>
              </a:rPr>
              <a:t>  [13]</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8–13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Tartışma: başarıyı etkileyen faktörler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sp>
      <p:pic>
        <p:nvPicPr>
          <p:cNvPr id="5" name="Ikon" descr="FaComments">    </p:cNvPr>
          <p:cNvPicPr>
            <a:picLocks noChangeAspect="1"/>
          </p:cNvPicPr>
          <p:nvPr/>
        </p:nvPicPr>
        <p:blipFill>
          <a:blip r:embed="rId1"/>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Davranışsal destek</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Görüşme sayısı arttıkça başarı artmaktadır</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sp>
      <p:pic>
        <p:nvPicPr>
          <p:cNvPr id="9" name="Ikon" descr="FaHome">    </p:cNvPr>
          <p:cNvPicPr>
            <a:picLocks noChangeAspect="1"/>
          </p:cNvPicPr>
          <p:nvPr/>
        </p:nvPicPr>
        <p:blipFill>
          <a:blip r:embed="rId2"/>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Hane ortamı</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Evde sigara içilmemesi olasılığı ikiye katlamaktadır</a:t>
            </a:r>
            <a:pPr indent="0" marL="0">
              <a:buNone/>
            </a:pPr>
            <a:r>
              <a:rPr lang="en-US" sz="1800" dirty="0">
                <a:solidFill>
                  <a:schemeClr val="accent3"/>
                </a:solidFill>
              </a:rPr>
              <a:t>  [14]</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sp>
      <p:pic>
        <p:nvPicPr>
          <p:cNvPr id="13" name="Ikon" descr="FaClipboardList">    </p:cNvPr>
          <p:cNvPicPr>
            <a:picLocks noChangeAspect="1"/>
          </p:cNvPicPr>
          <p:nvPr/>
        </p:nvPicPr>
        <p:blipFill>
          <a:blip r:embed="rId3"/>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Bağımlılık düzeyi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Yüksek FNBT puanı düşük başarıyla ilişkilidir</a:t>
            </a:r>
            <a:pPr indent="0" marL="0">
              <a:buNone/>
            </a:pPr>
            <a:r>
              <a:rPr lang="en-US" sz="1800" dirty="0">
                <a:solidFill>
                  <a:schemeClr val="accent3"/>
                </a:solidFill>
              </a:rPr>
              <a:t>  [15]</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sp>
      <p:pic>
        <p:nvPicPr>
          <p:cNvPr id="17" name="Ikon" descr="FaLightbulb">    </p:cNvPr>
          <p:cNvPicPr>
            <a:picLocks noChangeAspect="1"/>
          </p:cNvPicPr>
          <p:nvPr/>
        </p:nvPicPr>
        <p:blipFill>
          <a:blip r:embed="rId4"/>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İçsel motivasyon</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Yakınması olmayanlarda başarı daha yüksektir</a:t>
            </a:r>
            <a:pPr indent="0" marL="0">
              <a:buNone/>
            </a:pPr>
            <a:r>
              <a:rPr lang="en-US" sz="1800" dirty="0">
                <a:solidFill>
                  <a:schemeClr val="accent3"/>
                </a:solidFill>
              </a:rPr>
              <a:t>  [16]</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14–16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Kısıtlılıklar ve güçlü yönler</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1"/>
          </a:solidFill>
          <a:ln w="12700">
            <a:solidFill>
              <a:schemeClr val="accent1"/>
            </a:solidFill>
            <a:prstDash val="solid"/>
          </a:ln>
        </p:spPr>
      </p:sp>
      <p:pic>
        <p:nvPicPr>
          <p:cNvPr id="6" name="Ikon" descr="FaExclamationCircle">    </p:cNvPr>
          <p:cNvPicPr>
            <a:picLocks noChangeAspect="1"/>
          </p:cNvPicPr>
          <p:nvPr/>
        </p:nvPicPr>
        <p:blipFill>
          <a:blip r:embed="rId1"/>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indent="0" marL="0">
              <a:buNone/>
            </a:pPr>
            <a:r>
              <a:rPr lang="en-US" sz="2800" b="1" dirty="0">
                <a:solidFill>
                  <a:schemeClr val="accent1"/>
                </a:solidFill>
              </a:rPr>
              <a:t>Kısıtlılıklar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Asistan rotasyonu</a:t>
            </a:r>
            <a:endParaRPr lang="en-US" sz="2200" dirty="0"/>
          </a:p>
          <a:p>
            <a:pPr algn="just" marL="279400" indent="-279400">
              <a:spcAft>
                <a:spcPts val="1400"/>
              </a:spcAft>
              <a:buSzPct val="100000"/>
              <a:buChar char="•"/>
            </a:pPr>
            <a:r>
              <a:rPr lang="en-US" sz="2200" dirty="0">
                <a:solidFill>
                  <a:schemeClr val="accent1"/>
                </a:solidFill>
              </a:rPr>
              <a:t>Telefonla tamamlanan veriler</a:t>
            </a:r>
            <a:endParaRPr lang="en-US" sz="2200" dirty="0"/>
          </a:p>
          <a:p>
            <a:pPr algn="just" marL="279400" indent="-279400">
              <a:spcAft>
                <a:spcPts val="1400"/>
              </a:spcAft>
              <a:buSzPct val="100000"/>
              <a:buChar char="•"/>
            </a:pPr>
            <a:r>
              <a:rPr lang="en-US" sz="2200" dirty="0">
                <a:solidFill>
                  <a:schemeClr val="accent1"/>
                </a:solidFill>
              </a:rPr>
              <a:t>Vareniklinin piyasadan çekilmesi</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2"/>
          </a:solidFill>
          <a:ln w="12700">
            <a:solidFill>
              <a:schemeClr val="accent2"/>
            </a:solidFill>
            <a:prstDash val="solid"/>
          </a:ln>
        </p:spPr>
      </p:sp>
      <p:pic>
        <p:nvPicPr>
          <p:cNvPr id="11" name="Ikon" descr="FaStar">    </p:cNvPr>
          <p:cNvPicPr>
            <a:picLocks noChangeAspect="1"/>
          </p:cNvPicPr>
          <p:nvPr/>
        </p:nvPicPr>
        <p:blipFill>
          <a:blip r:embed="rId2"/>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indent="0" marL="0">
              <a:buNone/>
            </a:pPr>
            <a:r>
              <a:rPr lang="en-US" sz="2800" b="1" dirty="0">
                <a:solidFill>
                  <a:schemeClr val="accent2"/>
                </a:solidFill>
              </a:rPr>
              <a:t>Güçlü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Sitizin ile ilk erişilebilir tez çalışması</a:t>
            </a:r>
            <a:endParaRPr lang="en-US" sz="2200" dirty="0"/>
          </a:p>
          <a:p>
            <a:pPr algn="just" marL="279400" indent="-279400">
              <a:spcAft>
                <a:spcPts val="1400"/>
              </a:spcAft>
              <a:buSzPct val="100000"/>
              <a:buChar char="•"/>
            </a:pPr>
            <a:r>
              <a:rPr lang="en-US" sz="2200" dirty="0">
                <a:solidFill>
                  <a:schemeClr val="accent1"/>
                </a:solidFill>
              </a:rPr>
              <a:t>Birçok tedavi seçeneğini kapsaması</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Sonuç ve öneriler</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algn="ctr" indent="0" marL="0">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algn="ctr" indent="0" marL="0">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algn="ctr" indent="0" marL="0">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algn="ctr" indent="0" marL="0">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algn="ctr" indent="0" marL="0">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algn="ctr" indent="0" marL="0">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algn="just" indent="0" marL="0">
              <a:buNone/>
            </a:pPr>
            <a:r>
              <a:rPr lang="en-US" sz="2200" i="1" dirty="0">
                <a:solidFill>
                  <a:schemeClr val="accent1"/>
                </a:solidFill>
              </a:rPr>
              <a:t>Öneri: Tedavi seanslarında motivasyonu artırmaya yönelik çabalar yoğunlaştırılmalıdır.</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Olgu: Siz ne yapardınız?</a:t>
            </a:r>
            <a:endParaRPr lang="en-US" sz="3600" dirty="0"/>
          </a:p>
        </p:txBody>
      </p:sp>
      <p:sp>
        <p:nvSpPr>
          <p:cNvPr id="4" name="Kart"/>
          <p:cNvSpPr/>
          <p:nvPr/>
        </p:nvSpPr>
        <p:spPr>
          <a:xfrm>
            <a:off x="548640" y="1371600"/>
            <a:ext cx="576072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600200"/>
            <a:ext cx="822960" cy="822960"/>
          </a:xfrm>
          <a:prstGeom prst="ellipse">
            <a:avLst/>
          </a:prstGeom>
          <a:solidFill>
            <a:schemeClr val="accent2"/>
          </a:solidFill>
          <a:ln w="12700">
            <a:solidFill>
              <a:schemeClr val="accent2"/>
            </a:solidFill>
            <a:prstDash val="solid"/>
          </a:ln>
        </p:spPr>
      </p:sp>
      <p:pic>
        <p:nvPicPr>
          <p:cNvPr id="6" name="Ikon" descr="FaUserMd">    </p:cNvPr>
          <p:cNvPicPr>
            <a:picLocks noChangeAspect="1"/>
          </p:cNvPicPr>
          <p:nvPr/>
        </p:nvPicPr>
        <p:blipFill>
          <a:blip r:embed="rId1"/>
          <a:stretch>
            <a:fillRect/>
          </a:stretch>
        </p:blipFill>
        <p:spPr>
          <a:xfrm>
            <a:off x="1036930" y="1814170"/>
            <a:ext cx="395021" cy="395021"/>
          </a:xfrm>
          <a:prstGeom prst="rect">
            <a:avLst/>
          </a:prstGeom>
        </p:spPr>
      </p:pic>
      <p:sp>
        <p:nvSpPr>
          <p:cNvPr id="7" name="Text 3"/>
          <p:cNvSpPr txBox="1"/>
          <p:nvPr/>
        </p:nvSpPr>
        <p:spPr>
          <a:xfrm>
            <a:off x="1828800" y="1600200"/>
            <a:ext cx="4297680" cy="822960"/>
          </a:xfrm>
          <a:prstGeom prst="rect">
            <a:avLst/>
          </a:prstGeom>
          <a:noFill/>
          <a:ln/>
        </p:spPr>
        <p:txBody>
          <a:bodyPr wrap="square" lIns="0" tIns="0" rIns="0" bIns="0" rtlCol="0" anchor="ctr"/>
          <a:lstStyle/>
          <a:p>
            <a:pPr indent="0" marL="0">
              <a:buNone/>
            </a:pPr>
            <a:r>
              <a:rPr lang="en-US" sz="2600" b="1" dirty="0">
                <a:solidFill>
                  <a:schemeClr val="accent1"/>
                </a:solidFill>
              </a:rPr>
              <a:t>52 yaşında erkek hasta</a:t>
            </a:r>
            <a:endParaRPr lang="en-US" sz="2600" dirty="0"/>
          </a:p>
        </p:txBody>
      </p:sp>
      <p:sp>
        <p:nvSpPr>
          <p:cNvPr id="8" name="Text 4"/>
          <p:cNvSpPr txBox="1"/>
          <p:nvPr/>
        </p:nvSpPr>
        <p:spPr>
          <a:xfrm>
            <a:off x="914400" y="2697480"/>
            <a:ext cx="5120640" cy="301752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Günde 25 sigara, 30 paket-yıl</a:t>
            </a:r>
            <a:endParaRPr lang="en-US" sz="2200" dirty="0"/>
          </a:p>
          <a:p>
            <a:pPr algn="just" marL="279400" indent="-279400">
              <a:spcAft>
                <a:spcPts val="1400"/>
              </a:spcAft>
              <a:buSzPct val="100000"/>
              <a:buChar char="•"/>
            </a:pPr>
            <a:r>
              <a:rPr lang="en-US" sz="2200" dirty="0">
                <a:solidFill>
                  <a:schemeClr val="accent1"/>
                </a:solidFill>
              </a:rPr>
              <a:t>FNBT: 8 (yüksek bağımlılık)</a:t>
            </a:r>
            <a:endParaRPr lang="en-US" sz="2200" dirty="0"/>
          </a:p>
          <a:p>
            <a:pPr algn="just" marL="279400" indent="-279400">
              <a:spcAft>
                <a:spcPts val="1400"/>
              </a:spcAft>
              <a:buSzPct val="100000"/>
              <a:buChar char="•"/>
            </a:pPr>
            <a:r>
              <a:rPr lang="en-US" sz="2200" dirty="0">
                <a:solidFill>
                  <a:schemeClr val="accent1"/>
                </a:solidFill>
              </a:rPr>
              <a:t>Bupropion ile başarısız deneme</a:t>
            </a:r>
            <a:endParaRPr lang="en-US" sz="2200" dirty="0"/>
          </a:p>
          <a:p>
            <a:pPr algn="just" marL="279400" indent="-279400">
              <a:spcAft>
                <a:spcPts val="1400"/>
              </a:spcAft>
              <a:buSzPct val="100000"/>
              <a:buChar char="•"/>
            </a:pPr>
            <a:r>
              <a:rPr lang="en-US" sz="2200" dirty="0">
                <a:solidFill>
                  <a:schemeClr val="accent1"/>
                </a:solidFill>
              </a:rPr>
              <a:t>Eşi de sigara içiyor</a:t>
            </a:r>
            <a:endParaRPr lang="en-US" sz="2200" dirty="0"/>
          </a:p>
        </p:txBody>
      </p:sp>
      <p:sp>
        <p:nvSpPr>
          <p:cNvPr id="9" name="Kart"/>
          <p:cNvSpPr/>
          <p:nvPr/>
        </p:nvSpPr>
        <p:spPr>
          <a:xfrm>
            <a:off x="6583680" y="1371600"/>
            <a:ext cx="5029200" cy="4572000"/>
          </a:xfrm>
          <a:prstGeom prst="roundRect">
            <a:avLst>
              <a:gd name="adj" fmla="val 2400"/>
            </a:avLst>
          </a:prstGeom>
          <a:solidFill>
            <a:schemeClr val="accent1"/>
          </a:solidFill>
          <a:ln w="12700">
            <a:solidFill>
              <a:schemeClr val="accent1"/>
            </a:solidFill>
            <a:prstDash val="solid"/>
          </a:ln>
        </p:spPr>
      </p:sp>
      <p:sp>
        <p:nvSpPr>
          <p:cNvPr id="10" name="Ikon zemini"/>
          <p:cNvSpPr/>
          <p:nvPr/>
        </p:nvSpPr>
        <p:spPr>
          <a:xfrm>
            <a:off x="6858000" y="1600200"/>
            <a:ext cx="822960" cy="822960"/>
          </a:xfrm>
          <a:prstGeom prst="ellipse">
            <a:avLst/>
          </a:prstGeom>
          <a:solidFill>
            <a:schemeClr val="accent2"/>
          </a:solidFill>
          <a:ln w="12700">
            <a:solidFill>
              <a:schemeClr val="accent2"/>
            </a:solidFill>
            <a:prstDash val="solid"/>
          </a:ln>
        </p:spPr>
      </p:sp>
      <p:pic>
        <p:nvPicPr>
          <p:cNvPr id="11" name="Ikon" descr="FaQuestion">    </p:cNvPr>
          <p:cNvPicPr>
            <a:picLocks noChangeAspect="1"/>
          </p:cNvPicPr>
          <p:nvPr/>
        </p:nvPicPr>
        <p:blipFill>
          <a:blip r:embed="rId2"/>
          <a:stretch>
            <a:fillRect/>
          </a:stretch>
        </p:blipFill>
        <p:spPr>
          <a:xfrm>
            <a:off x="7071970" y="1814170"/>
            <a:ext cx="395021" cy="395021"/>
          </a:xfrm>
          <a:prstGeom prst="rect">
            <a:avLst/>
          </a:prstGeom>
        </p:spPr>
      </p:pic>
      <p:sp>
        <p:nvSpPr>
          <p:cNvPr id="12" name="Text 7"/>
          <p:cNvSpPr txBox="1"/>
          <p:nvPr/>
        </p:nvSpPr>
        <p:spPr>
          <a:xfrm>
            <a:off x="7863840" y="1600200"/>
            <a:ext cx="3566160" cy="822960"/>
          </a:xfrm>
          <a:prstGeom prst="rect">
            <a:avLst/>
          </a:prstGeom>
          <a:noFill/>
          <a:ln/>
        </p:spPr>
        <p:txBody>
          <a:bodyPr wrap="square" lIns="0" tIns="0" rIns="0" bIns="0" rtlCol="0" anchor="ctr"/>
          <a:lstStyle/>
          <a:p>
            <a:pPr indent="0" marL="0">
              <a:buNone/>
            </a:pPr>
            <a:r>
              <a:rPr lang="en-US" sz="2600" b="1" dirty="0">
                <a:solidFill>
                  <a:schemeClr val="bg1"/>
                </a:solidFill>
              </a:rPr>
              <a:t>Tartışalım</a:t>
            </a:r>
            <a:endParaRPr lang="en-US" sz="2600" dirty="0"/>
          </a:p>
        </p:txBody>
      </p:sp>
      <p:sp>
        <p:nvSpPr>
          <p:cNvPr id="13" name="Text 8"/>
          <p:cNvSpPr txBox="1"/>
          <p:nvPr/>
        </p:nvSpPr>
        <p:spPr>
          <a:xfrm>
            <a:off x="6949440" y="2697480"/>
            <a:ext cx="4389120" cy="3017520"/>
          </a:xfrm>
          <a:prstGeom prst="rect">
            <a:avLst/>
          </a:prstGeom>
          <a:noFill/>
          <a:ln/>
        </p:spPr>
        <p:txBody>
          <a:bodyPr wrap="square" lIns="0" tIns="0" rIns="0" bIns="0" rtlCol="0" anchor="t"/>
          <a:lstStyle/>
          <a:p>
            <a:pPr algn="just" marL="279400" indent="-279400">
              <a:spcAft>
                <a:spcPts val="1800"/>
              </a:spcAft>
              <a:buSzPct val="100000"/>
              <a:buChar char="•"/>
            </a:pPr>
            <a:r>
              <a:rPr lang="en-US" sz="2200" dirty="0">
                <a:solidFill>
                  <a:schemeClr val="bg1"/>
                </a:solidFill>
              </a:rPr>
              <a:t>Hangi tedaviyi seçerdiniz?</a:t>
            </a:r>
            <a:endParaRPr lang="en-US" sz="2200" dirty="0"/>
          </a:p>
          <a:p>
            <a:pPr algn="just" marL="279400" indent="-279400">
              <a:spcAft>
                <a:spcPts val="1800"/>
              </a:spcAft>
              <a:buSzPct val="100000"/>
              <a:buChar char="•"/>
            </a:pPr>
            <a:r>
              <a:rPr lang="en-US" sz="2200" dirty="0">
                <a:solidFill>
                  <a:schemeClr val="bg1"/>
                </a:solidFill>
              </a:rPr>
              <a:t>Takibi nasıl planlardınız?</a:t>
            </a:r>
            <a:endParaRPr lang="en-US" sz="2200" dirty="0"/>
          </a:p>
          <a:p>
            <a:pPr algn="just" marL="279400" indent="-279400">
              <a:spcAft>
                <a:spcPts val="1800"/>
              </a:spcAft>
              <a:buSzPct val="100000"/>
              <a:buChar char="•"/>
            </a:pPr>
            <a:r>
              <a:rPr lang="en-US" sz="2200" dirty="0">
                <a:solidFill>
                  <a:schemeClr val="bg1"/>
                </a:solidFill>
              </a:rPr>
              <a:t>Eşi sürece nasıl katılmalı?</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sp>
      <p:pic>
        <p:nvPicPr>
          <p:cNvPr id="5" name="Image 0" descr="onay">    </p:cNvPr>
          <p:cNvPicPr>
            <a:picLocks noChangeAspect="1"/>
          </p:cNvPicPr>
          <p:nvPr/>
        </p:nvPicPr>
        <p:blipFill>
          <a:blip r:embed="rId1"/>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Hastaların üçte biri sigarayı bırakmıştır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sp>
      <p:pic>
        <p:nvPicPr>
          <p:cNvPr id="8" name="Image 1" descr="onay">    </p:cNvPr>
          <p:cNvPicPr>
            <a:picLocks noChangeAspect="1"/>
          </p:cNvPicPr>
          <p:nvPr/>
        </p:nvPicPr>
        <p:blipFill>
          <a:blip r:embed="rId2"/>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Kombine tedavide başarı daha yüksektir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sp>
      <p:pic>
        <p:nvPicPr>
          <p:cNvPr id="11" name="Image 2" descr="onay">    </p:cNvPr>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En düşük başarı bupropion monoterapisindedir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sp>
      <p:pic>
        <p:nvPicPr>
          <p:cNvPr id="14" name="Image 3" descr="onay">    </p:cNvPr>
          <p:cNvPicPr>
            <a:picLocks noChangeAspect="1"/>
          </p:cNvPicPr>
          <p:nvPr/>
        </p:nvPicPr>
        <p:blipFill>
          <a:blip r:embed="rId4"/>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Hanede sigara içen sorgulanmalıdır</a:t>
            </a:r>
            <a:endParaRPr lang="en-US" sz="2600" dirty="0"/>
          </a:p>
        </p:txBody>
      </p:sp>
      <p:sp>
        <p:nvSpPr>
          <p:cNvPr id="16" name="Onay zemini"/>
          <p:cNvSpPr/>
          <p:nvPr/>
        </p:nvSpPr>
        <p:spPr>
          <a:xfrm>
            <a:off x="548640" y="5193792"/>
            <a:ext cx="640080" cy="640080"/>
          </a:xfrm>
          <a:prstGeom prst="ellipse">
            <a:avLst/>
          </a:prstGeom>
          <a:solidFill>
            <a:schemeClr val="accent2"/>
          </a:solidFill>
          <a:ln w="12700">
            <a:solidFill>
              <a:schemeClr val="accent2"/>
            </a:solidFill>
            <a:prstDash val="solid"/>
          </a:ln>
        </p:spPr>
      </p:sp>
      <p:pic>
        <p:nvPicPr>
          <p:cNvPr id="17" name="Image 4" descr="onay">    </p:cNvPr>
          <p:cNvPicPr>
            <a:picLocks noChangeAspect="1"/>
          </p:cNvPicPr>
          <p:nvPr/>
        </p:nvPicPr>
        <p:blipFill>
          <a:blip r:embed="rId5"/>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Sık takip başarıyla ilişkilidir</a:t>
            </a:r>
            <a:endParaRPr lang="en-US" sz="2600" dirty="0"/>
          </a:p>
        </p:txBody>
      </p:sp>
      <p:sp>
        <p:nvSpPr>
          <p:cNvPr id="19"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Kaynaklar</a:t>
            </a:r>
            <a:endParaRPr lang="en-US" sz="3600" dirty="0"/>
          </a:p>
        </p:txBody>
      </p:sp>
      <p:sp>
        <p:nvSpPr>
          <p:cNvPr id="4" name="Kaynaklar 1-8"/>
          <p:cNvSpPr txBox="1"/>
          <p:nvPr/>
        </p:nvSpPr>
        <p:spPr>
          <a:xfrm>
            <a:off x="548640" y="1234440"/>
            <a:ext cx="5440680" cy="5074920"/>
          </a:xfrm>
          <a:prstGeom prst="rect">
            <a:avLst/>
          </a:prstGeom>
          <a:noFill/>
          <a:ln/>
        </p:spPr>
        <p:txBody>
          <a:bodyPr wrap="square" lIns="0" tIns="0" rIns="0" bIns="0" rtlCol="0" anchor="t"/>
          <a:lstStyle/>
          <a:p>
            <a:pPr algn="just" marL="342900" indent="-342900">
              <a:spcAft>
                <a:spcPts val="400"/>
              </a:spcAft>
              <a:buSzPct val="100000"/>
              <a:buFont typeface="+mj-lt"/>
              <a:buAutoNum type="arabicPeriod" startAt="1"/>
            </a:pPr>
            <a:r>
              <a:rPr lang="en-US" sz="11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Fidanci I, Ozturk O, Unal M. Transtheoretic Model in smoking cessation. J Exp Clin Med. 2017;34(1):9-13.</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McDonough M. Update on medicines for smoking cessation. Aust Prescr. 2015;38(4):106-11.</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Heatherton TF, Kozlowski LT, Frecker RC, Fagerström KO. The Fagerström test for nicotine dependence: a revision of the Fagerström Tolerance Questionnaire. Br J Addict. 1991;86(9):1119-27.</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Uysal M, Kadakal F, Karşıdağ Ç, Bayram N, Uysal O, Yilmaz V. Fagerström test for nicotine dependence: reliability in a Turkish sample and factor analysis. Tuberk Toraks. 2004;52(2):175-82.</a:t>
            </a:r>
            <a:endParaRPr lang="en-US" sz="1100" dirty="0"/>
          </a:p>
          <a:p>
            <a:pPr algn="just" marL="342900" indent="-342900">
              <a:spcAft>
                <a:spcPts val="400"/>
              </a:spcAft>
              <a:buSzPct val="100000"/>
              <a:buFont typeface="+mj-lt"/>
              <a:buAutoNum type="arabicPeriod" startAt="1"/>
            </a:pPr>
            <a:r>
              <a:rPr lang="en-US" sz="1100" dirty="0">
                <a:solidFill>
                  <a:schemeClr val="accent1"/>
                </a:solidFill>
              </a:rPr>
              <a:t>Cahill K, Stevens S, Perera R, Lancaster T. Pharmacological interventions for smoking cessation: an overview and network meta-analysis. Cochrane Database Syst Rev. 2013;(5):CD009329.</a:t>
            </a:r>
            <a:endParaRPr lang="en-US" sz="1100" dirty="0"/>
          </a:p>
        </p:txBody>
      </p:sp>
      <p:sp>
        <p:nvSpPr>
          <p:cNvPr id="5" name="Kaynaklar 9-16"/>
          <p:cNvSpPr txBox="1"/>
          <p:nvPr/>
        </p:nvSpPr>
        <p:spPr>
          <a:xfrm>
            <a:off x="6263640" y="1234440"/>
            <a:ext cx="5349240" cy="5074920"/>
          </a:xfrm>
          <a:prstGeom prst="rect">
            <a:avLst/>
          </a:prstGeom>
          <a:noFill/>
          <a:ln/>
        </p:spPr>
        <p:txBody>
          <a:bodyPr wrap="square" lIns="0" tIns="0" rIns="0" bIns="0" rtlCol="0" anchor="t"/>
          <a:lstStyle/>
          <a:p>
            <a:pPr algn="just" marL="342900" indent="-342900">
              <a:spcAft>
                <a:spcPts val="400"/>
              </a:spcAft>
              <a:buSzPct val="100000"/>
              <a:buFont typeface="+mj-lt"/>
              <a:buAutoNum type="arabicPeriod" startAt="9"/>
            </a:pPr>
            <a:r>
              <a:rPr lang="en-US" sz="11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Walker N, Howe C, Glover M, et al. Cytisine versus nicotine for smoking cessation. N Engl J Med. 2014;371(25):2353-62.</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Courtney RJ, McRobbie H, Tutka P, et al. Effect of cytisine vs varenicline on smoking cessation: a randomized clinical trial. JAMA. 2021;326(1):56-64.</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Benli AR, Erturhan S, Oruc MA, Kalpakci P, Sunay D, Demirel Y. A comparison of the efficacy of varenicline and bupropion and an evaluation of the effect of the medications in the context of the smoking cessation programme. Tob Induc Dis. 2017;15:10.</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Park EW, Schultz JK, Tudiver F, Campbell T, Becker L. Enhancing partner support to improve smoking cessation. Cochrane Database Syst Rev. 2004;(3):CD002928.</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Davis JM, Masclans L, Rose JE. Adaptive smoking cessation using precessation varenicline or nicotine patch: a randomized clinical trial. JAMA Netw Open. 2023;6(9):e2332214.</a:t>
            </a:r>
            <a:endParaRPr lang="en-US" sz="1100" dirty="0"/>
          </a:p>
          <a:p>
            <a:pPr algn="just" marL="342900" indent="-342900">
              <a:spcAft>
                <a:spcPts val="400"/>
              </a:spcAft>
              <a:buSzPct val="100000"/>
              <a:buFont typeface="+mj-lt"/>
              <a:buAutoNum type="arabicPeriod" startAt="9"/>
            </a:pPr>
            <a:r>
              <a:rPr lang="en-US" sz="1100" dirty="0">
                <a:solidFill>
                  <a:schemeClr val="accent1"/>
                </a:solidFill>
              </a:rPr>
              <a:t>Curry S, Wagner EH, Grothaus LC. Intrinsic and extrinsic motivation for smoking cessation. J Consult Clin Psychol. 1990;58(3):310-6.</a:t>
            </a:r>
            <a:endParaRPr lang="en-US" sz="11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p:nvPr>
            <p:ph idx="100" type="title" hasCustomPrompt="1"/>
          </p:nvPr>
        </p:nvSpPr>
        <p:spPr>
          <a:xfrm>
            <a:off x="731520" y="914400"/>
            <a:ext cx="6949440" cy="2011680"/>
          </a:xfrm>
          <a:prstGeom prst="rect">
            <a:avLst/>
          </a:prstGeom>
          <a:noFill/>
          <a:ln/>
        </p:spPr>
        <p:txBody>
          <a:bodyPr wrap="square" lIns="0" tIns="0" rIns="0" bIns="0" rtlCol="0" anchor="t"/>
          <a:lstStyle/>
          <a:p>
            <a:pPr algn="l" indent="0" marL="0">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3383280"/>
            <a:ext cx="6766560" cy="2377440"/>
          </a:xfrm>
          <a:prstGeom prst="rect">
            <a:avLst/>
          </a:prstGeom>
          <a:noFill/>
          <a:ln/>
        </p:spPr>
        <p:txBody>
          <a:bodyPr wrap="square" lIns="0" tIns="0" rIns="0" bIns="0" rtlCol="0" anchor="t"/>
          <a:lstStyle/>
          <a:p>
            <a:pPr indent="0" marL="0">
              <a:buNone/>
            </a:pPr>
            <a:r>
              <a:rPr lang="en-US" sz="2600" b="1" dirty="0">
                <a:solidFill>
                  <a:schemeClr val="bg2"/>
                </a:solidFill>
              </a:rPr>
              <a:t>Sorular ve tartışma</a:t>
            </a:r>
            <a:endParaRPr lang="en-US" sz="2600" dirty="0"/>
          </a:p>
          <a:p>
            <a:pPr indent="0" marL="0">
              <a:buNone/>
            </a:pPr>
            <a:r>
              <a:rPr lang="en-US" sz="1200" dirty="0">
                <a:solidFill>
                  <a:schemeClr val="bg2"/>
                </a:solidFill>
              </a:rPr>
              <a:t> </a:t>
            </a:r>
            <a:endParaRPr lang="en-US" sz="2600" dirty="0"/>
          </a:p>
          <a:p>
            <a:pPr indent="0" marL="0">
              <a:buNone/>
            </a:pPr>
            <a:r>
              <a:rPr lang="en-US" sz="2200" dirty="0">
                <a:solidFill>
                  <a:schemeClr val="bg2"/>
                </a:solidFill>
              </a:rPr>
              <a:t>Dr. [Ad Soyad]</a:t>
            </a:r>
            <a:endParaRPr lang="en-US" sz="2600" dirty="0"/>
          </a:p>
          <a:p>
            <a:pPr indent="0" marL="0">
              <a:buNone/>
            </a:pPr>
            <a:r>
              <a:rPr lang="en-US" sz="2200" dirty="0">
                <a:solidFill>
                  <a:schemeClr val="bg2"/>
                </a:solidFill>
              </a:rPr>
              <a:t>[e-posta adresi]</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sp>
      <p:pic>
        <p:nvPicPr>
          <p:cNvPr id="6" name="Dumansız simge" descr="Sigara içilmez simgesi">    </p:cNvPr>
          <p:cNvPicPr>
            <a:picLocks noChangeAspect="1"/>
          </p:cNvPicPr>
          <p:nvPr/>
        </p:nvPicPr>
        <p:blipFill>
          <a:blip r:embed="rId1"/>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algn="ctr" indent="0" marL="0">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PptxGenJS</cp:lastModifiedBy>
  <cp:revision>1</cp:revision>
  <dcterms:created xsi:type="dcterms:W3CDTF">2026-10-12T20:59:45Z</dcterms:created>
  <dcterms:modified xsi:type="dcterms:W3CDTF">2026-10-12T20:59:45Z</dcterms:modified>
</cp:coreProperties>
</file>