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charts/chart1.xml" ContentType="application/vnd.openxmlformats-officedocument.drawingml.chart+xml"/>
  <Override PartName="/ppt/slideMasters/slideMaster14.xml" ContentType="application/vnd.openxmlformats-officedocument.presentationml.slideMaster+xml"/>
  <Override PartName="/ppt/slides/slide14.xml" ContentType="application/vnd.openxmlformats-officedocument.presentationml.slide+xml"/>
  <Override PartName="/ppt/charts/chart2.xml" ContentType="application/vnd.openxmlformats-officedocument.drawingml.chart+xml"/>
  <Override PartName="/ppt/slideMasters/slideMaster15.xml" ContentType="application/vnd.openxmlformats-officedocument.presentationml.slideMaster+xml"/>
  <Override PartName="/ppt/slides/slide15.xml" ContentType="application/vnd.openxmlformats-officedocument.presentationml.slide+xml"/>
  <Override PartName="/ppt/charts/chart3.xml" ContentType="application/vnd.openxmlformats-officedocument.drawingml.chart+xml"/>
  <Override PartName="/ppt/slideMasters/slideMaster16.xml" ContentType="application/vnd.openxmlformats-officedocument.presentationml.slideMaster+xml"/>
  <Override PartName="/ppt/slides/slide16.xml" ContentType="application/vnd.openxmlformats-officedocument.presentationml.slide+xml"/>
  <Override PartName="/ppt/charts/chart4.xml" ContentType="application/vnd.openxmlformats-officedocument.drawingml.chart+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charts/chart5.xml" ContentType="application/vnd.openxmlformats-officedocument.drawingml.chart+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slideMasters/slideMaster25.xml" ContentType="application/vnd.openxmlformats-officedocument.presentationml.slideMaster+xml"/>
  <Override PartName="/ppt/slides/slide25.xml" ContentType="application/vnd.openxmlformats-officedocument.presentationml.slide+xml"/>
  <Override PartName="/ppt/slideMasters/slideMaster26.xml" ContentType="application/vnd.openxmlformats-officedocument.presentationml.slideMaster+xml"/>
  <Override PartName="/ppt/slides/slide26.xml" ContentType="application/vnd.openxmlformats-officedocument.presentationml.slide+xml"/>
  <Override PartName="/ppt/slideMasters/slideMaster27.xml" ContentType="application/vnd.openxmlformats-officedocument.presentationml.slideMaster+xml"/>
  <Override PartName="/ppt/slides/slide27.xml" ContentType="application/vnd.openxmlformats-officedocument.presentationml.slide+xml"/>
  <Override PartName="/ppt/slideMasters/slideMaster28.xml" ContentType="application/vnd.openxmlformats-officedocument.presentationml.slideMaster+xml"/>
  <Override PartName="/ppt/slides/slide28.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Lst>
  <p:notesMasterIdLst>
    <p:notesMasterId r:id="rId30"/>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Giriş" id="{d1df8aac-a15c-e7d7-d4fd-0a1472f731d9}">
          <p14:sldIdLst>
            <p14:sldId id="256"/>
            <p14:sldId id="257"/>
            <p14:sldId id="258"/>
            <p14:sldId id="259"/>
            <p14:sldId id="260"/>
            <p14:sldId id="261"/>
            <p14:sldId id="262"/>
          </p14:sldIdLst>
        </p14:section>
        <p14:section name="Gereç ve yöntem" id="{f6b166db-860e-76c0-5a5f-24a71efd9b21}">
          <p14:sldIdLst>
            <p14:sldId id="263"/>
            <p14:sldId id="264"/>
            <p14:sldId id="265"/>
            <p14:sldId id="266"/>
          </p14:sldIdLst>
        </p14:section>
        <p14:section name="Bulgular" id="{ab9d2cf2-0dcb-bc5d-c8f0-075801f5283b}">
          <p14:sldIdLst>
            <p14:sldId id="267"/>
            <p14:sldId id="268"/>
            <p14:sldId id="269"/>
            <p14:sldId id="270"/>
            <p14:sldId id="271"/>
            <p14:sldId id="272"/>
            <p14:sldId id="273"/>
            <p14:sldId id="274"/>
          </p14:sldIdLst>
        </p14:section>
        <p14:section name="Tartışma" id="{6f319033-52aa-11cc-cf90-9f85887f2524}">
          <p14:sldIdLst>
            <p14:sldId id="275"/>
            <p14:sldId id="276"/>
          </p14:sldIdLst>
        </p14:section>
        <p14:section name="Eleştirel değerlendirme" id="{f5ba0851-bc4b-d583-0f13-5a06525f3d6c}">
          <p14:sldIdLst>
            <p14:sldId id="277"/>
            <p14:sldId id="278"/>
          </p14:sldIdLst>
        </p14:section>
        <p14:section name="Sonuç" id="{4fb9c53c-7c28-b941-543f-4341cf7da950}">
          <p14:sldIdLst>
            <p14:sldId id="279"/>
            <p14:sldId id="280"/>
            <p14:sldId id="281"/>
            <p14:sldId id="282"/>
            <p14:sldId id="283"/>
          </p14:sldIdLst>
        </p14:section>
      </p14:sectionLst>
    </p:ex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notesMaster" Target="notesMasters/notesMaster1.xml"/><Relationship Id="rId31" Type="http://schemas.openxmlformats.org/officeDocument/2006/relationships/presProps" Target="presProps.xml"/><Relationship Id="rId32" Type="http://schemas.openxmlformats.org/officeDocument/2006/relationships/viewProps" Target="viewProps.xml"/><Relationship Id="rId33" Type="http://schemas.openxmlformats.org/officeDocument/2006/relationships/theme" Target="theme/theme1.xml"/><Relationship Id="rId34" Type="http://schemas.openxmlformats.org/officeDocument/2006/relationships/tableStyles" Target="tableStyles.xml"/></Relationships>
</file>

<file path=ppt/charts/_rels/chart1.xml.rels><?xml version="1.0" encoding="UTF-8" standalone="yes"?><Relationships xmlns="http://schemas.openxmlformats.org/package/2006/relationships"><Relationship Id="rId1" Type="http://schemas.openxmlformats.org/officeDocument/2006/relationships/package" Target="../embeddings/Microsoft_Excel_Worksheet1.xlsx"/></Relationships>
</file>

<file path=ppt/charts/_rels/chart2.xml.rels><?xml version="1.0" encoding="UTF-8" standalone="yes"?><Relationships xmlns="http://schemas.openxmlformats.org/package/2006/relationships"><Relationship Id="rId1" Type="http://schemas.openxmlformats.org/officeDocument/2006/relationships/package" Target="../embeddings/Microsoft_Excel_Worksheet2.xlsx"/></Relationships>
</file>

<file path=ppt/charts/_rels/chart3.xml.rels><?xml version="1.0" encoding="UTF-8" standalone="yes"?><Relationships xmlns="http://schemas.openxmlformats.org/package/2006/relationships"><Relationship Id="rId1" Type="http://schemas.openxmlformats.org/officeDocument/2006/relationships/package" Target="../embeddings/Microsoft_Excel_Worksheet3.xlsx"/></Relationships>
</file>

<file path=ppt/charts/_rels/chart4.xml.rels><?xml version="1.0" encoding="UTF-8" standalone="yes"?><Relationships xmlns="http://schemas.openxmlformats.org/package/2006/relationships"><Relationship Id="rId1" Type="http://schemas.openxmlformats.org/officeDocument/2006/relationships/package" Target="../embeddings/Microsoft_Excel_Worksheet4.xlsx"/></Relationships>
</file>

<file path=ppt/charts/_rels/chart5.xml.rels><?xml version="1.0" encoding="UTF-8" standalone="yes"?><Relationships xmlns="http://schemas.openxmlformats.org/package/2006/relationships"><Relationship Id="rId1" Type="http://schemas.openxmlformats.org/officeDocument/2006/relationships/package" Target="../embeddings/Microsoft_Excel_Worksheet5.xlsx"/></Relationships>
</file>

<file path=ppt/charts/chart1.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col"/>
        <c:grouping val="clustered"/>
        <c:varyColors val="0"/>
        <c:ser>
          <c:idx val="0"/>
          <c:order val="0"/>
          <c:tx>
            <c:strRef>
              <c:f>Sheet1!$B$1</c:f>
              <c:strCache>
                <c:ptCount val="1"/>
                <c:pt idx="0">
                  <c:v>FNBT düzeyi</c:v>
                </c:pt>
              </c:strCache>
            </c:strRef>
          </c:tx>
          <c:spPr>
            <a:solidFill>
              <a:srgbClr val="2A9D8F"/>
            </a:solidFill>
            <a:effectLst/>
          </c:spPr>
          <c:invertIfNegative val="0"/>
          <c:dLbls>
            <c:numFmt formatCode="&quot;%&quot;0.0" sourceLinked="0"/>
            <c:txPr>
              <a:bodyPr/>
              <a:lstStyle/>
              <a:p>
                <a:pPr>
                  <a:defRPr b="1" i="0" strike="noStrike" sz="1800" u="none">
                    <a:solidFill>
                      <a:srgbClr val="0F4C5C"/>
                    </a:solidFill>
                    <a:latin typeface="+mn-lt"/>
                  </a:defRPr>
                </a:pPr>
              </a:p>
            </c:txPr>
            <c:showLegendKey val="0"/>
            <c:showVal val="1"/>
            <c:showCatName val="0"/>
            <c:showSerName val="0"/>
            <c:showPercent val="0"/>
            <c:showBubbleSize val="0"/>
            <c:showLeaderLines val="0"/>
          </c:dLbls>
          <c:cat>
            <c:multiLvlStrRef>
              <c:f>Sheet1!$A$2:$A$4</c:f>
              <c:multiLvlStrCache>
                <c:ptCount val="3"/>
                <c:lvl>
                  <c:pt idx="0">
                    <c:v>Düşük (0–2)</c:v>
                  </c:pt>
                  <c:pt idx="1">
                    <c:v>Orta (3–7)</c:v>
                  </c:pt>
                  <c:pt idx="2">
                    <c:v>Yüksek (8–10)</c:v>
                  </c:pt>
                </c:lvl>
              </c:multiLvlStrCache>
            </c:multiLvlStrRef>
          </c:cat>
          <c:val>
            <c:numRef>
              <c:f>Sheet1!$B$2:$B$4</c:f>
              <c:numCache>
                <c:formatCode>General</c:formatCode>
                <c:ptCount val="3"/>
                <c:pt idx="0">
                  <c:v>13.19</c:v>
                </c:pt>
                <c:pt idx="1">
                  <c:v>61.34</c:v>
                </c:pt>
                <c:pt idx="2">
                  <c:v>25.46</c:v>
                </c:pt>
              </c:numCache>
            </c:numRef>
          </c:val>
        </c:ser>
        <c:dLbls>
          <c:numFmt formatCode="&quot;%&quot;0.0" sourceLinked="0"/>
          <c:txPr>
            <a:bodyPr/>
            <a:lstStyle/>
            <a:p>
              <a:pPr>
                <a:defRPr b="1" i="0" strike="noStrike" sz="1800" u="none">
                  <a:solidFill>
                    <a:srgbClr val="0F4C5C"/>
                  </a:solidFill>
                  <a:latin typeface="+mn-lt"/>
                </a:defRPr>
              </a:pPr>
            </a:p>
          </c:txPr>
          <c:showLegendKey val="0"/>
          <c:showVal val="1"/>
          <c:showCatName val="0"/>
          <c:showSerName val="0"/>
          <c:showPercent val="0"/>
          <c:showBubbleSize val="0"/>
          <c:showLeaderLines val="0"/>
        </c:dLbls>
        <c:gapWidth val="55"/>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800" b="0" i="0" u="none" strike="noStrike">
                <a:solidFill>
                  <a:srgbClr val="0F4C5C"/>
                </a:solidFill>
                <a:latin typeface="+mn-lt"/>
              </a:defRPr>
            </a:pPr>
            <a:endParaRPr lang="en-US"/>
          </a:p>
        </c:txPr>
        <c:crossAx val="2094734552"/>
        <c:crosses val="autoZero"/>
        <c:auto val="1"/>
        <c:lblAlgn val="ctr"/>
        <c:noMultiLvlLbl val="1"/>
      </c:catAx>
      <c:valAx>
        <c:axId val="2094734552"/>
        <c:scaling>
          <c:orientation val="minMax"/>
          <c:max val="75"/>
          <c:min val="0"/>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charts/chart2.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col"/>
        <c:grouping val="clustered"/>
        <c:varyColors val="0"/>
        <c:ser>
          <c:idx val="0"/>
          <c:order val="0"/>
          <c:tx>
            <c:strRef>
              <c:f>Sheet1!$B$1</c:f>
              <c:strCache>
                <c:ptCount val="1"/>
                <c:pt idx="0">
                  <c:v>Bırakma oranı</c:v>
                </c:pt>
              </c:strCache>
            </c:strRef>
          </c:tx>
          <c:spPr>
            <a:solidFill>
              <a:srgbClr val="0F4C5C"/>
            </a:solidFill>
            <a:effectLst/>
          </c:spPr>
          <c:invertIfNegative val="0"/>
          <c:dLbls>
            <c:numFmt formatCode="&quot;%&quot;0.0" sourceLinked="0"/>
            <c:txPr>
              <a:bodyPr/>
              <a:lstStyle/>
              <a:p>
                <a:pPr>
                  <a:defRPr b="1" i="0" strike="noStrike" sz="2400" u="none">
                    <a:solidFill>
                      <a:srgbClr val="0F4C5C"/>
                    </a:solidFill>
                    <a:latin typeface="+mn-lt"/>
                  </a:defRPr>
                </a:pPr>
              </a:p>
            </c:txPr>
            <c:showLegendKey val="0"/>
            <c:showVal val="1"/>
            <c:showCatName val="0"/>
            <c:showSerName val="0"/>
            <c:showPercent val="0"/>
            <c:showBubbleSize val="0"/>
            <c:showLeaderLines val="0"/>
          </c:dLbls>
          <c:cat>
            <c:multiLvlStrRef>
              <c:f>Sheet1!$A$2:$A$3</c:f>
              <c:multiLvlStrCache>
                <c:ptCount val="2"/>
                <c:lvl>
                  <c:pt idx="0">
                    <c:v>Hanede sigara içen yok</c:v>
                  </c:pt>
                  <c:pt idx="1">
                    <c:v>Hanede sigara içen var</c:v>
                  </c:pt>
                </c:lvl>
              </c:multiLvlStrCache>
            </c:multiLvlStrRef>
          </c:cat>
          <c:val>
            <c:numRef>
              <c:f>Sheet1!$B$2:$B$3</c:f>
              <c:numCache>
                <c:formatCode>General</c:formatCode>
                <c:ptCount val="2"/>
                <c:pt idx="0">
                  <c:v>39.84</c:v>
                </c:pt>
                <c:pt idx="1">
                  <c:v>25.32</c:v>
                </c:pt>
              </c:numCache>
            </c:numRef>
          </c:val>
        </c:ser>
        <c:dLbls>
          <c:numFmt formatCode="&quot;%&quot;0.0" sourceLinked="0"/>
          <c:txPr>
            <a:bodyPr/>
            <a:lstStyle/>
            <a:p>
              <a:pPr>
                <a:defRPr b="1" i="0" strike="noStrike" sz="2400" u="none">
                  <a:solidFill>
                    <a:srgbClr val="0F4C5C"/>
                  </a:solidFill>
                  <a:latin typeface="+mn-lt"/>
                </a:defRPr>
              </a:pPr>
            </a:p>
          </c:txPr>
          <c:showLegendKey val="0"/>
          <c:showVal val="1"/>
          <c:showCatName val="0"/>
          <c:showSerName val="0"/>
          <c:showPercent val="0"/>
          <c:showBubbleSize val="0"/>
          <c:showLeaderLines val="0"/>
        </c:dLbls>
        <c:gapWidth val="55"/>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800" b="0" i="0" u="none" strike="noStrike">
                <a:solidFill>
                  <a:srgbClr val="0F4C5C"/>
                </a:solidFill>
                <a:latin typeface="+mn-lt"/>
              </a:defRPr>
            </a:pPr>
            <a:endParaRPr lang="en-US"/>
          </a:p>
        </c:txPr>
        <c:crossAx val="2094734552"/>
        <c:crosses val="autoZero"/>
        <c:auto val="1"/>
        <c:lblAlgn val="ctr"/>
        <c:noMultiLvlLbl val="1"/>
      </c:catAx>
      <c:valAx>
        <c:axId val="2094734552"/>
        <c:scaling>
          <c:orientation val="minMax"/>
          <c:max val="50"/>
          <c:min val="0"/>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charts/chart3.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bar"/>
        <c:grouping val="clustered"/>
        <c:varyColors val="0"/>
        <c:ser>
          <c:idx val="0"/>
          <c:order val="0"/>
          <c:tx>
            <c:strRef>
              <c:f>Sheet1!$B$1</c:f>
              <c:strCache>
                <c:ptCount val="1"/>
                <c:pt idx="0">
                  <c:v>Hasta sayısı</c:v>
                </c:pt>
              </c:strCache>
            </c:strRef>
          </c:tx>
          <c:spPr>
            <a:solidFill>
              <a:srgbClr val="2A9D8F"/>
            </a:solidFill>
            <a:effectLst/>
          </c:spPr>
          <c:invertIfNegative val="0"/>
          <c:dLbls>
            <c:numFmt formatCode="0" sourceLinked="0"/>
            <c:txPr>
              <a:bodyPr/>
              <a:lstStyle/>
              <a:p>
                <a:pPr>
                  <a:defRPr b="1" i="0" strike="noStrike" sz="1800" u="none">
                    <a:solidFill>
                      <a:srgbClr val="0F4C5C"/>
                    </a:solidFill>
                    <a:latin typeface="+mn-lt"/>
                  </a:defRPr>
                </a:pPr>
              </a:p>
            </c:txPr>
            <c:showLegendKey val="0"/>
            <c:showVal val="1"/>
            <c:showCatName val="0"/>
            <c:showSerName val="0"/>
            <c:showPercent val="0"/>
            <c:showBubbleSize val="0"/>
            <c:showLeaderLines val="0"/>
          </c:dLbls>
          <c:cat>
            <c:multiLvlStrRef>
              <c:f>Sheet1!$A$2:$A$7</c:f>
              <c:multiLvlStrCache>
                <c:ptCount val="6"/>
                <c:lvl>
                  <c:pt idx="0">
                    <c:v>Kombine tedavi</c:v>
                  </c:pt>
                  <c:pt idx="1">
                    <c:v>Bupropion</c:v>
                  </c:pt>
                  <c:pt idx="2">
                    <c:v>NRT</c:v>
                  </c:pt>
                  <c:pt idx="3">
                    <c:v>Sitizin</c:v>
                  </c:pt>
                  <c:pt idx="4">
                    <c:v>Vareniklin</c:v>
                  </c:pt>
                  <c:pt idx="5">
                    <c:v>İlaçsız (davranışsal)</c:v>
                  </c:pt>
                </c:lvl>
              </c:multiLvlStrCache>
            </c:multiLvlStrRef>
          </c:cat>
          <c:val>
            <c:numRef>
              <c:f>Sheet1!$B$2:$B$7</c:f>
              <c:numCache>
                <c:formatCode>General</c:formatCode>
                <c:ptCount val="6"/>
                <c:pt idx="0">
                  <c:v>141</c:v>
                </c:pt>
                <c:pt idx="1">
                  <c:v>109</c:v>
                </c:pt>
                <c:pt idx="2">
                  <c:v>80</c:v>
                </c:pt>
                <c:pt idx="3">
                  <c:v>34</c:v>
                </c:pt>
                <c:pt idx="4">
                  <c:v>18</c:v>
                </c:pt>
                <c:pt idx="5">
                  <c:v>17</c:v>
                </c:pt>
              </c:numCache>
            </c:numRef>
          </c:val>
        </c:ser>
        <c:dLbls>
          <c:numFmt formatCode="0" sourceLinked="0"/>
          <c:txPr>
            <a:bodyPr/>
            <a:lstStyle/>
            <a:p>
              <a:pPr>
                <a:defRPr b="1" i="0" strike="noStrike" sz="1800" u="none">
                  <a:solidFill>
                    <a:srgbClr val="0F4C5C"/>
                  </a:solidFill>
                  <a:latin typeface="+mn-lt"/>
                </a:defRPr>
              </a:pPr>
            </a:p>
          </c:txPr>
          <c:showLegendKey val="0"/>
          <c:showVal val="1"/>
          <c:showCatName val="0"/>
          <c:showSerName val="0"/>
          <c:showPercent val="0"/>
          <c:showBubbleSize val="0"/>
          <c:showLeaderLines val="0"/>
        </c:dLbls>
        <c:gapWidth val="55"/>
        <c:overlap val="0"/>
        <c:axId val="2094734554"/>
        <c:axId val="2094734552"/>
        <c:axId val="2094734556"/>
      </c:barChart>
      <c:catAx>
        <c:axId val="2094734554"/>
        <c:scaling>
          <c:orientation val="maxMin"/>
        </c:scaling>
        <c:delete val="0"/>
        <c:axPos val="l"/>
        <c:numFmt formatCode="General" sourceLinked="1"/>
        <c:majorTickMark val="out"/>
        <c:minorTickMark val="none"/>
        <c:tickLblPos val="nextTo"/>
        <c:spPr>
          <a:ln w="12700" cap="flat">
            <a:noFill/>
            <a:prstDash val="solid"/>
            <a:round/>
          </a:ln>
        </c:spPr>
        <c:txPr>
          <a:bodyPr/>
          <a:lstStyle/>
          <a:p>
            <a:pPr>
              <a:defRPr sz="1800" b="0" i="0" u="none" strike="noStrike">
                <a:solidFill>
                  <a:srgbClr val="0F4C5C"/>
                </a:solidFill>
                <a:latin typeface="+mn-lt"/>
              </a:defRPr>
            </a:pPr>
            <a:endParaRPr lang="en-US"/>
          </a:p>
        </c:txPr>
        <c:crossAx val="2094734552"/>
        <c:crosses val="autoZero"/>
        <c:auto val="1"/>
        <c:lblAlgn val="ctr"/>
        <c:noMultiLvlLbl val="1"/>
      </c:catAx>
      <c:valAx>
        <c:axId val="2094734552"/>
        <c:scaling>
          <c:orientation val="minMax"/>
          <c:max val="165"/>
          <c:min val="0"/>
        </c:scaling>
        <c:delete val="1"/>
        <c:axPos val="b"/>
        <c:numFmt formatCode="General" sourceLinked="0"/>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charts/chart4.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bar"/>
        <c:grouping val="clustered"/>
        <c:varyColors val="0"/>
        <c:ser>
          <c:idx val="0"/>
          <c:order val="0"/>
          <c:tx>
            <c:strRef>
              <c:f>Sheet1!$B$1</c:f>
              <c:strCache>
                <c:ptCount val="1"/>
                <c:pt idx="0">
                  <c:v>Bırakma oranı</c:v>
                </c:pt>
              </c:strCache>
            </c:strRef>
          </c:tx>
          <c:spPr>
            <a:solidFill>
              <a:srgbClr val="0F4C5C"/>
            </a:solidFill>
            <a:effectLst/>
          </c:spPr>
          <c:invertIfNegative val="0"/>
          <c:dLbls>
            <c:numFmt formatCode="&quot;%&quot;0.0" sourceLinked="0"/>
            <c:txPr>
              <a:bodyPr/>
              <a:lstStyle/>
              <a:p>
                <a:pPr>
                  <a:defRPr b="1" i="0" strike="noStrike" sz="1800" u="none">
                    <a:solidFill>
                      <a:srgbClr val="0F4C5C"/>
                    </a:solidFill>
                    <a:latin typeface="+mn-lt"/>
                  </a:defRPr>
                </a:pPr>
              </a:p>
            </c:txPr>
            <c:showLegendKey val="0"/>
            <c:showVal val="1"/>
            <c:showCatName val="0"/>
            <c:showSerName val="0"/>
            <c:showPercent val="0"/>
            <c:showBubbleSize val="0"/>
            <c:showLeaderLines val="0"/>
          </c:dLbls>
          <c:cat>
            <c:multiLvlStrRef>
              <c:f>Sheet1!$A$2:$A$7</c:f>
              <c:multiLvlStrCache>
                <c:ptCount val="6"/>
                <c:lvl>
                  <c:pt idx="0">
                    <c:v>Vareniklin</c:v>
                  </c:pt>
                  <c:pt idx="1">
                    <c:v>Kombine tedavi</c:v>
                  </c:pt>
                  <c:pt idx="2">
                    <c:v>NRT</c:v>
                  </c:pt>
                  <c:pt idx="3">
                    <c:v>Sitizin</c:v>
                  </c:pt>
                  <c:pt idx="4">
                    <c:v>İlaçsız</c:v>
                  </c:pt>
                  <c:pt idx="5">
                    <c:v>Bupropion</c:v>
                  </c:pt>
                </c:lvl>
              </c:multiLvlStrCache>
            </c:multiLvlStrRef>
          </c:cat>
          <c:val>
            <c:numRef>
              <c:f>Sheet1!$B$2:$B$7</c:f>
              <c:numCache>
                <c:formatCode>General</c:formatCode>
                <c:ptCount val="6"/>
                <c:pt idx="0">
                  <c:v>44.45</c:v>
                </c:pt>
                <c:pt idx="1">
                  <c:v>43.98</c:v>
                </c:pt>
                <c:pt idx="2">
                  <c:v>37.5</c:v>
                </c:pt>
                <c:pt idx="3">
                  <c:v>35.3</c:v>
                </c:pt>
                <c:pt idx="4">
                  <c:v>35.3</c:v>
                </c:pt>
                <c:pt idx="5">
                  <c:v>16.52</c:v>
                </c:pt>
              </c:numCache>
            </c:numRef>
          </c:val>
        </c:ser>
        <c:dLbls>
          <c:numFmt formatCode="&quot;%&quot;0.0" sourceLinked="0"/>
          <c:txPr>
            <a:bodyPr/>
            <a:lstStyle/>
            <a:p>
              <a:pPr>
                <a:defRPr b="1" i="0" strike="noStrike" sz="1800" u="none">
                  <a:solidFill>
                    <a:srgbClr val="0F4C5C"/>
                  </a:solidFill>
                  <a:latin typeface="+mn-lt"/>
                </a:defRPr>
              </a:pPr>
            </a:p>
          </c:txPr>
          <c:showLegendKey val="0"/>
          <c:showVal val="1"/>
          <c:showCatName val="0"/>
          <c:showSerName val="0"/>
          <c:showPercent val="0"/>
          <c:showBubbleSize val="0"/>
          <c:showLeaderLines val="0"/>
        </c:dLbls>
        <c:gapWidth val="55"/>
        <c:overlap val="0"/>
        <c:axId val="2094734554"/>
        <c:axId val="2094734552"/>
        <c:axId val="2094734556"/>
      </c:barChart>
      <c:catAx>
        <c:axId val="2094734554"/>
        <c:scaling>
          <c:orientation val="maxMin"/>
        </c:scaling>
        <c:delete val="0"/>
        <c:axPos val="l"/>
        <c:numFmt formatCode="General" sourceLinked="1"/>
        <c:majorTickMark val="out"/>
        <c:minorTickMark val="none"/>
        <c:tickLblPos val="nextTo"/>
        <c:spPr>
          <a:ln w="12700" cap="flat">
            <a:noFill/>
            <a:prstDash val="solid"/>
            <a:round/>
          </a:ln>
        </c:spPr>
        <c:txPr>
          <a:bodyPr/>
          <a:lstStyle/>
          <a:p>
            <a:pPr>
              <a:defRPr sz="1800" b="0" i="0" u="none" strike="noStrike">
                <a:solidFill>
                  <a:srgbClr val="0F4C5C"/>
                </a:solidFill>
                <a:latin typeface="+mn-lt"/>
              </a:defRPr>
            </a:pPr>
            <a:endParaRPr lang="en-US"/>
          </a:p>
        </c:txPr>
        <c:crossAx val="2094734552"/>
        <c:crosses val="autoZero"/>
        <c:auto val="1"/>
        <c:lblAlgn val="ctr"/>
        <c:noMultiLvlLbl val="1"/>
      </c:catAx>
      <c:valAx>
        <c:axId val="2094734552"/>
        <c:scaling>
          <c:orientation val="minMax"/>
          <c:max val="55"/>
          <c:min val="0"/>
        </c:scaling>
        <c:delete val="1"/>
        <c:axPos val="b"/>
        <c:numFmt formatCode="General" sourceLinked="0"/>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charts/chart5.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col"/>
        <c:grouping val="clustered"/>
        <c:varyColors val="0"/>
        <c:ser>
          <c:idx val="0"/>
          <c:order val="0"/>
          <c:tx>
            <c:strRef>
              <c:f>Sheet1!$B$1</c:f>
              <c:strCache>
                <c:ptCount val="1"/>
                <c:pt idx="0">
                  <c:v>Bırakma oranı</c:v>
                </c:pt>
              </c:strCache>
            </c:strRef>
          </c:tx>
          <c:spPr>
            <a:solidFill>
              <a:srgbClr val="2A9D8F"/>
            </a:solidFill>
            <a:effectLst/>
          </c:spPr>
          <c:invertIfNegative val="0"/>
          <c:dLbls>
            <c:numFmt formatCode="&quot;%&quot;0.0" sourceLinked="0"/>
            <c:txPr>
              <a:bodyPr/>
              <a:lstStyle/>
              <a:p>
                <a:pPr>
                  <a:defRPr b="1" i="0" strike="noStrike" sz="2400" u="none">
                    <a:solidFill>
                      <a:srgbClr val="0F4C5C"/>
                    </a:solidFill>
                    <a:latin typeface="+mn-lt"/>
                  </a:defRPr>
                </a:pPr>
              </a:p>
            </c:txPr>
            <c:showLegendKey val="0"/>
            <c:showVal val="1"/>
            <c:showCatName val="0"/>
            <c:showSerName val="0"/>
            <c:showPercent val="0"/>
            <c:showBubbleSize val="0"/>
            <c:showLeaderLines val="0"/>
          </c:dLbls>
          <c:cat>
            <c:multiLvlStrRef>
              <c:f>Sheet1!$A$2:$A$3</c:f>
              <c:multiLvlStrCache>
                <c:ptCount val="2"/>
                <c:lvl>
                  <c:pt idx="0">
                    <c:v>Bupropion</c:v>
                  </c:pt>
                  <c:pt idx="1">
                    <c:v>Kombine tedavi</c:v>
                  </c:pt>
                </c:lvl>
              </c:multiLvlStrCache>
            </c:multiLvlStrRef>
          </c:cat>
          <c:val>
            <c:numRef>
              <c:f>Sheet1!$B$2:$B$3</c:f>
              <c:numCache>
                <c:formatCode>General</c:formatCode>
                <c:ptCount val="2"/>
                <c:pt idx="0">
                  <c:v>16.52</c:v>
                </c:pt>
                <c:pt idx="1">
                  <c:v>43.98</c:v>
                </c:pt>
              </c:numCache>
            </c:numRef>
          </c:val>
        </c:ser>
        <c:dLbls>
          <c:numFmt formatCode="&quot;%&quot;0.0" sourceLinked="0"/>
          <c:txPr>
            <a:bodyPr/>
            <a:lstStyle/>
            <a:p>
              <a:pPr>
                <a:defRPr b="1" i="0" strike="noStrike" sz="2400" u="none">
                  <a:solidFill>
                    <a:srgbClr val="0F4C5C"/>
                  </a:solidFill>
                  <a:latin typeface="+mn-lt"/>
                </a:defRPr>
              </a:pPr>
            </a:p>
          </c:txPr>
          <c:showLegendKey val="0"/>
          <c:showVal val="1"/>
          <c:showCatName val="0"/>
          <c:showSerName val="0"/>
          <c:showPercent val="0"/>
          <c:showBubbleSize val="0"/>
          <c:showLeaderLines val="0"/>
        </c:dLbls>
        <c:gapWidth val="55"/>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800" b="0" i="0" u="none" strike="noStrike">
                <a:solidFill>
                  <a:srgbClr val="0F4C5C"/>
                </a:solidFill>
                <a:latin typeface="+mn-lt"/>
              </a:defRPr>
            </a:pPr>
            <a:endParaRPr lang="en-US"/>
          </a:p>
        </c:txPr>
        <c:crossAx val="2094734552"/>
        <c:crosses val="autoZero"/>
        <c:auto val="1"/>
        <c:lblAlgn val="ctr"/>
        <c:noMultiLvlLbl val="1"/>
      </c:catAx>
      <c:valAx>
        <c:axId val="2094734552"/>
        <c:scaling>
          <c:orientation val="minMax"/>
          <c:max val="55"/>
          <c:min val="0"/>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_rels/notesSlide2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6.xml"/>
		</Relationships>
</file>

<file path=ppt/notesSlides/_rels/notesSlide2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7.xml"/>
		</Relationships>
</file>

<file path=ppt/notesSlides/_rels/notesSlide2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8.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Günaydın hocalarım, değerli arkadaşlarım. Ben [Ad Soyad], [kaçıncı yıl] asistanıyım.
Bugün sizlere, Turkish Journal of Family Practice dergisinin 2026 yılı 30. cilt 2. sayısında yayımlanan, Cenberlitaş, Gökçe ve Öztürk'ün “Bir üniversite hastanesine bağlı sigara bırakma polikliniğine başvuran hastaların demografik ve klinik özellikleri ile sigara bırakma durumlarını etkileyen faktörler” başlıklı özgün araştırma makalesini sunacağım.
Konu birinci basamakta neredeyse her gün karşılaştığımız bir sorun olduğu için bu makaleyi seçtim.</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Sunum 28 slayttan oluşmakta ve yaklaşık yarım saat sürecektir. Sonunda 10 dakikalık bir tartışma bölümü planladım.
Önce makalenin künyesini ve giriş bölümünü, ardından gereç ve yöntemi aktaracağım. Bulgular bölümünde makaledeki altı tablonun öne çıkan sonuçlarını grafiklerle göstereceğim.
Tartışma ve kısıtlılıklardan sonra makaleyi eleştirel gözle değerlendireceğim. Son olarak kısa bir olgu üzerinden sizlerin görüşlerini almak istiyorum.</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Bu sunumun sonunda üç şeyi hedefliyorum.
Birincisi, sigara bırakma tedavilerinin gerçek yaşam koşullarındaki etkinliğini karşılaştırmak. İkincisi, bırakma başarısını etkileyen hasta ve çevre faktörlerini tanımak.
Üçüncüsü ve belki en önemlisi, makaleyi yalnızca özetlemek değil, yöntem ve raporlama açısından eleştirel bir gözle değerlendirmek.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Solda makalenin ilk sayfasını görüyorsunuz. Makale, Türkiye Aile Hekimleri Uzmanlık Derneği'nin yayın organı olan Turkish Journal of Family Practice'te 2026 yılında yayımlanmıştır. Açık erişimli olup CC BY lisansı ile yayımlanmıştır.
Çalışma retrospektif, kesitsel bir araştırma olarak tanımlanmıştır. Veriler Samsun Eğitim ve Araştırma Hastanesi Sigara Bırakma Polikliniği'nden elde edilmiştir.
Bir bilgi notu olarak: Dergi PubMed'de dizinlenmemektedir. Makaleye DOI numarası üzerinden ulaşılabilmektedir.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Giriş bölümünde yazarlar sorunun büyüklüğünü vurgulamaktadır. Küresel Yetişkin Tütün Araştırması 2016 verilerine göre Türkiye'de sigara içme prevalansı erkeklerde yüzde 44,1, kadınlarda yüzde 19,2'dir.
Ülkemizde 500'ün üzerinde sigara bırakma polikliniği bulunmakta ve bu polikliniklere 2,5 milyondan fazla kişi başvurmuştur.
Polikliniklerde bildirilen bırakma oranları ise yüzde 20 ile 50 arasında değişmektedir. Bu geniş aralık, hangi faktörlerin başarıyı belirlediği sorusunu gündeme getirmektedir.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Sigara bırakma tedavisi iki ayak üzerinde durmaktadır. Davranışsal tarafta motivasyonel görüşme ve davranış değişikliği modelleri yer almaktadır; bunlardan en sık kullanılanı Transteorik Model'dir.
Farmakolojik tarafta nikotin replasman tedavisi, bupropion ve vareniklin klasik seçeneklerdir. Sitizin ise ülkemizde son yıllarda kullanıma giren, vareniklinle benzer mekanizmaya sahip bir parsiyel agonisttir.
Kılavuzlar farmakoterapinin davranışsal destekle birlikte verilmesini ve gerektiğinde kombinasyonların kullanılmasını önermektedir.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Yazarların amacı, kombine tedavinin ve yakın takibin sigara bırakma başarısı üzerindeki etkisini değerlendirmek ve bırakmayı etkileyen hasta özelliklerini belirlemektir.
Bu amacın ileride bulgular bölümünde nasıl karşılandığına dikkatinizi çekmek istiyorum.</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Çalışma 1 Ağustos 2020 ile 31 Ağustos 2024 arasındaki dört yıllık dönemi kapsamaktadır. Polikliniğe başvuran, 18 yaş ve üzeri, sigara içen 432 hastanın dosyası taranmıştır.
Bunlardan 33 dosyada veriler eksik olduğu için 399 hasta analize alınmıştır. Tüm kayıtlar kullanıldığından örneklem büyüklüğü hesaplanmamıştır.
Yıllık kontrolünü kaçıran hastaların takip bilgileri asistan hekimler tarafından uzaktan görüşmeyle tamamlanmıştır. Bu noktaya kısıtlılıklarda tekrar değineceğim.</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Hasta dosyalarından yaş, cinsiyet, meslek, alkol kullanımı, kronik hastalık, sigara öyküsü ve uygulanan tedaviler kaydedilmiştir.
Nikotin bağımlılığı ilk vizitte Fagerström Nikotin Bağımlılık Testi ile ölçülmüştür. Altı sorudan oluşan test 0 ile 10 arasında puanlanmakta; 0–2 düşük, 3–7 orta, 8–10 yüksek bağımlılık olarak sınıflanmaktadır.
Testin Türkçe geçerlik çalışmasında Cronbach alfa değeri 0,56 bulunmuştur. Bu değer iç tutarlılığın sınırlı olduğunu göstermektedir; ancak özgün İngilizce sürümde de 0,61 civarındadır ve testin az sayıda, farklı yönleri ölçen sorudan oluşmasıyla ilişkilidir.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Tedavi; FNBT puanı, kronik hastalıklar, kullanılan ilaçlar, kontrendikasyonlar ve hasta uyumuna göre bireyselleştirilmiştir.
Hastalar üç gruba ayrılmıştır: yalnızca davranışsal tedavi, monoterapi ve kombine tedavi. Kombine tedavi seçenekleri bupropion ile NRT, vareniklin ile NRT, sitizin ile NRT ve üçlü tedavidir.
Önemli bir ayrıntı: Sağlık Bakanlığı politikaları doğrultusunda NRT ve sitizin belirli dönemlerde ücretsiz verilmiştir. Bu durum tedavi seçimini ve uyumu etkilemiş olabilir.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Analizler SPSS 25 ile yapılmıştır. Dağılımın normalliği histogram ve Kolmogorov–Smirnov testiyle değerlendirilmiş, veriler normal dağılmadığı için non-parametrik testler tercih edilmiştir.
Kategorik değişkenler ki-kare testiyle, iki grup karşılaştırmaları Mann–Whitney U, ikiden fazla grup karşılaştırmaları Kruskal–Wallis testiyle yapılmıştır. Post-hoc karşılaştırmalar için Duncan testi bildirilmiştir.
Bağımsız belirleyicileri bulmak için ikili lojistik regresyon kurulmuş ve çoklu karşılaştırma için Bonferroni düzeltmesi uygulanarak anlamlılık eşiği p&lt;0,003 olarak belirlenmiştir. Bu eşiği aklınızda tutmanızı rica ediyorum; regresyon sonuçlarında önemli olacak.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Bulgulara geçiyorum. Analize alınan 399 hastanın yaş ortalaması 44,7 yıldır; standart sapma 12,1 olup hastaların yaklaşık üçte ikisi 33–57 yaş aralığındadır.
Hastaların yüzde 63,7'si erkektir. Ortalama FNBT puanı 5,66 ile orta düzey bağımlılığa karşılık gelmektedir. Ortalama tüketim 27,4 paket-yıl, hasta başına ortalama görüşme sayısı 2,21'dir.
Genel bırakma oranı yüzde 34,1'dir; yani her üç hastadan biri sigarayı bırakmıştır.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Hastaların büyük çoğunluğu, yüzde 61'i, orta düzey bağımlılık grubundadır. Dörtte biri yüksek bağımlılık göstermektedir.
Hastaların dörtte üçü daha önce bırakmayı denemiş, bunların yaklaşık yarısı profesyonel destek almıştır. Yüzde 7,2'si sigara dışında elektronik sigara, nargile veya puro gibi ürünler kullanmaktadır.
Bir ayrıntıya dikkatinizi çekmek isterim: Bu yüzdeler makalede 399 değil 432 hasta üzerinden hesaplanmıştır. Örneğin 57, 265 ve 110 toplandığında 432 elde edilmektedir. Eleştirel değerlendirmede bu noktaya döneceğim.</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Tablo 2'de sosyodemografik özellikler ile bırakma durumu karşılaştırılmıştır. Anlamlı fark yalnızca bir değişkende bulunmuştur: hanede başka bir sigara içicisinin varlığı.
Hanesinde sigara içen olmayanların yüzde 39,8'i, olanların ise yüzde 25,3'ü sigarayı bırakmıştır; p değeri 0,003'tür.
Cinsiyet, yaş, medeni durum, eğitim, yerleşim yeri, çalışma durumu ve alkol kullanımı ile bırakma arasında anlamlı ilişki saptanmamıştır. Kırsalda yaşayanlarda oran yüzde 23 ile düşük görünse de bu grup yalnızca 56 kişidir ve fark anlamlı değildir.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Tablo 3'te tedavi dağılımı görülmektedir. En sık uygulanan yöntem 141 hasta ile kombine tedavidir; bunu 109 hasta ile bupropion monoterapisi ve 80 hasta ile NRT monoterapisi izlemektedir.
Vareniklin yalnızca 18 hastada kullanılmıştır; bunun nedeni çalışma döneminde vareniklinin piyasadan çekilmesidir. Sitizin 34 hastada tek başına verilmiştir.
Kombine tedavi alanların büyük çoğunluğu, 141 hastanın 125'i, bupropion ile NRT almıştır. Özette bu sayı 134 olarak geçmektedir; tablo ile özet arasında küçük bir tutarsızlık bulunmaktadır.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Tablo 5 çalışmanın ana bulgusunu göstermektedir. Bupropion monoterapisi alanların yalnızca yüzde 16,5'i sigarayı bırakmıştır.
Diğer tüm gruplarda bu oran yüzde 35 ile 44 arasındadır. En yüksek oranlar vareniklin ve kombine tedavi gruplarındadır; altı grup arasındaki fark anlamlıdır, p&lt;0,001.
İlginç bir nokta, hiç ilaç almayan 17 hastada bile oranın yüzde 35 olmasıdır. Bu grup küçüktür ve büyük olasılıkla motivasyonu yüksek, bağımlılığı düşük hastalardan oluşmaktadır. Bu durum seçim yanlılığının bir göstergesi olabilir.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Tablo 4'te sürekli değişkenler karşılaştırılmıştır. Sigarayı bırakanlar ortalama 2,83 kez, bırakamayanlar 1,96 kez görüşmeye gelmiştir; fark yüksek düzeyde anlamlıdır.
Bırakanların FNBT puanı da daha düşüktür: 5,26'ya karşı 5,85. Fark istatistiksel olarak anlamlı olmakla birlikte yarım puan civarındadır ve bireysel hasta düzeyinde klinik önemi sınırlıdır.
Paket-yıl açısından iki grup arasında fark bulunmamıştır. Görüşme sayısı bulgusunun yönü konusunda dikkatli olmak gerekir: Sık gelen hasta mı bırakıyor, yoksa bırakmayı başaran hasta mı kontrollere gelmeye devam ediyor? Retrospektif tasarım bu soruyu yanıtlayamamaktadır.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Bu slaytta makalenin Tablo 6'sını özgün haliyle görüyorsunuz. Referans grup bupropion monoterapisidir; Exp(B) sütunu odds oranını vermektedir.
Bupropiona göre bırakma odds'u vareniklinde 4,0, kombine tedavide 4,0, NRT'de 3,0, sitizinde 2,8 kat yüksektir. Hanede sigara içen olmaması odds'u yaklaşık 2 kat, sigaraya bağlı yakınma olmaması 1,6 kat artırmaktadır.
Burada önemli bir nokta var: Yazarların kendi belirlediği Bonferroni eşiği p&lt;0,003'tür. Bu eşiğe göre yalnızca NRT ve kombine tedavi anlamlı kalmaktadır; hane faktörü tam sınırdadır. Vareniklin, sitizin ve yakınma satırları 0,05'in altında olsa da düzeltilmiş eşiği geçmemektedir.
Ayrıca tabloda bazı değerlerin başındaki “0,” basımda düşmüştür; örneğin standart hata 540 yerine 0,540 olarak okunmalıdır. Wald değerleri bu okumayı doğrulamaktadır.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Asistan arkadaşlarım için kısa bir istatistik notu eklemek istedim. Makalede kombine tedavi için “bırakma olasılığı yaklaşık dört kat yüksek” denmektedir. Bu ifade odds oranına dayanmaktadır.
Gerçek oranlara baktığımızda bupropion grubunda bırakma yüzde 16,5, kombine grupta yüzde 44'tür. Yani risk oranı yaklaşık 2,7'dir. Odds oranı ise 0,78'in 0,20'ye bölünmesiyle 3,97 çıkmaktadır.
Sonuç sık görüldüğünde, bu çalışmada olduğu gibi yüzde 34 civarında, odds oranı etkiyi olduğundan büyük gösterir. Hastaya anlatırken “kombine tedavide başarı şansınız yaklaşık 2,5–3 kat artıyor” demek daha doğru olacaktır.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Yazarlar bulgularını literatürle karşılaştırmıştır. Vareniklinin bupropiona üstünlüğü Cochrane ağ meta-analizi ve EAGLES çalışmasıyla uyumludur.
Sitizin plaseboya üstün, NRT ile benzer bulunmuştur; Avustralya'daki randomize çalışmada vareniklinle benzer etkinlik ve daha az yan etki bildirilmiştir.
Kombine tedavinin üstünlüğü kılavuzların monoterapi başarısız olduğunda veya bağımlılık ağır olduğunda kombinasyon önerisiyle örtüşmektedir. Hane faktörü ise eş desteğine yönelik Cochrane derlemesindeki bulgularla uyumludur.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Yazarlar üç kısıtlılık bildirmiştir. Birincisi, görüşmeleri yürüten asistanların rotasyonlar nedeniyle değişmesidir; bu durum takip sürekliliğini ve öz bildirimin doğruluğunu etkilemiş olabilir.
İkincisi, eksik verilerin telefonla ve hasta beyanıyla tamamlanmasıdır. Üçüncüsü, vareniklinin piyasadan çekilmesi ve sitizinin kullanıma girmesinin ilaç seçimini değiştirmesidir.
Yazarlar ayrıca ilaçların ücretsiz sağlanıp sağlanmadığının analiz edilmediğini ve bunun olası bir karıştırıcı faktör olduğunu belirtmektedir.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Makalenin güçlü yönleriyle başlamak istiyorum. Gerçek yaşam verisi sunmaktadır, beş farklı tedavi seçeneğini bir arada değerlendirmektedir ve yazarların ifadesiyle sitizin ile ilgili erişilebilir ilk tez verisidir. Ayrıca bir yıllık takip süresi uygundur.
Geliştirilebilecek yönlere gelince, en önemlisi randomizasyon olmamasıdır. Tedaviyi hekim ve hasta birlikte seçmiştir; bu da endikasyona bağlı karıştırıcılık yaratır. Örneğin ilaçsız grubun başarısı bunu düşündürmektedir.
Bırakma durumu karbonmonoksit ölçümü gibi biyokimyasal bir yöntemle doğrulanmamıştır. Son olarak çalışma kesitsel olarak tanımlanmış olsa da başvurudaki özellikler ve bir yıl sonraki sonuç kullanıldığı için metodolojik olarak retrospektif kohort tasarımına daha yakındır.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Raporlamada dikkatimi çeken noktaları yapıcı bir gözle paylaşmak istiyorum.
Bonferroni eşiği yöntemde belirtilmiş ancak yorumda uygulanmamıştır. Kruskal–Wallis sonrası parametrik bir test olan Duncan kullanılmıştır; bu durumda Dunn testi daha uygun olurdu.
Bazı yüzdeler 432, bazıları 399 hasta üzerinden verilmiştir. Özette erkek hasta sayısı 275, tablolarda 254'tür; kombine tedavi oranı da özet ve tabloda farklıdır.
Yöntemde “sigarayı bırakamayanlar dışlandı” ifadesi yer almaktadır; bu ifade bulgularla çelişmektedir ve büyük olasılıkla bir yazım hatasıdır. Son olarak Tablo 4 ve 6'da bazı değerlerin başındaki sıfırlar basımda düşmüştür.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Yazarların sonucu özetle şöyledir: Hastaların yaklaşık üçte biri sigarayı bırakmıştır. Kombine tedavi alanlarda bırakma oranı diğer seçeneklere göre daha yüksektir. Tedaviye uyum arttıkça bırakma oranı da artmaktadır.
Yazarlar tedavi seansları sırasında hastaların motivasyonunu artırmaya yönelik çabaların yoğunlaştırılmasını önermektedir.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Şimdi kısa bir olgu üzerinden sizlerin görüşlerini almak istiyorum.
52 yaşında erkek hasta; günde 25 sigara içiyor, 30 paket-yıl öyküsü var ve FNBT puanı 8, yani yüksek bağımlılık. İki yıl önce bupropion ile denemiş ve başaramamış. Eşi de sigara içiyor.
Bu hastada hangi tedaviyi seçerdiniz? Takip sıklığını nasıl planlardınız? Eşini sürece nasıl dahil ederdiniz?
[Burada 2–3 dakika görüş alın. Makaleye göre tartışmayı yönlendirebileceğiniz noktalar: Bupropion tek başına tekrar verilmemeli, kombine NRT veya sitizin/vareniklin temelli tedavi düşünülmeli, ilk ay sık kontrol planlanmalı ve eşe de bırakma danışmanlığı önerilmelidir.]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Sunumu özetlemek gerekirse beş mesajla ayrılmak istiyorum.
Bupropion tek başına bu çalışmada en zayıf seçenek olmuştur. Kombine tedavi ve NRT, düzeltilmiş eşiği de geçen en güvenilir sonuçları vermiştir.
Hastanın hanesinde sigara içen olup olmadığı mutlaka sorgulanmalıdır. Sık takip başarıyla ilişkilidir. Son olarak, retrospektif ve randomize olmayan tasarım nedeniyle bu sonuçlar dikkatli yorumlanmalıdır.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Sunumda kullandığım kaynaklar Vancouver stiline uygun olarak, kullanım sırasıyla listelenmiştir. Birinci kaynak sunulan makalenin kendisidir; diğerleri makalenin atıf yaptığı çalışmalardır.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İlginiz ve katkılarınız için teşekkür ederim. Sorularınızı ve görüşlerinizi almaktan memnuniyet duyarım.</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KAPAK">
    <p:bg>
      <p:bgPr>
        <a:solidFill>
          <a:srgbClr val="0F4C5C"/>
        </a:solidFill>
      </p:bgPr>
    </p:bg>
    <p:spTree>
      <p:nvGrpSpPr>
        <p:cNvPr id="1" name=""/>
        <p:cNvGrpSpPr/>
        <p:nvPr/>
      </p:nvGrpSpPr>
      <p:grpSpPr>
        <a:xfrm>
          <a:off x="0" y="0"/>
          <a:ext cx="0" cy="0"/>
          <a:chOff x="0" y="0"/>
          <a:chExt cx="0" cy="0"/>
        </a:xfrm>
      </p:grpSpPr>
      <p:sp>
        <p:nvSpPr>
          <p:cNvPr id="2" name="Text 0"/>
          <p:cNvSpPr/>
          <p:nvPr>
            <p:ph idx="100" type="title" hasCustomPrompt="1"/>
          </p:nvPr>
        </p:nvSpPr>
        <p:spPr>
          <a:xfrm>
            <a:off x="731520" y="1280160"/>
            <a:ext cx="10698480" cy="2788920"/>
          </a:xfrm>
          <a:prstGeom prst="rect">
            <a:avLst/>
          </a:prstGeom>
          <a:noFill/>
          <a:ln/>
        </p:spPr>
        <p:txBody>
          <a:bodyPr wrap="square" rtlCol="0"/>
          <a:lstStyle>
            <a:lvl1pPr algn="l" indent="0" marL="0">
              <a:buNone/>
              <a:defRPr lang="en-US" sz="3600" b="1" dirty="0">
                <a:solidFill>
                  <a:schemeClr val="bg1"/>
                </a:solidFill>
              </a:defRPr>
            </a:lvl1pPr>
          </a:lstStyle>
          <a:p>
            <a:pPr algn="l" indent="0" marL="0">
              <a:buNone/>
            </a:pPr>
            <a:endParaRPr lang="en-US" sz="3600" dirty="0"/>
          </a:p>
        </p:txBody>
      </p:sp>
      <p:sp>
        <p:nvSpPr>
          <p:cNvPr id="3" name="Text 0"/>
          <p:cNvSpPr/>
          <p:nvPr>
            <p:ph idx="101" type="body" hasCustomPrompt="1"/>
          </p:nvPr>
        </p:nvSpPr>
        <p:spPr>
          <a:xfrm>
            <a:off x="731520" y="4434840"/>
            <a:ext cx="10698480" cy="1554480"/>
          </a:xfrm>
          <a:prstGeom prst="rect">
            <a:avLst/>
          </a:prstGeom>
          <a:noFill/>
          <a:ln/>
        </p:spPr>
        <p:txBody>
          <a:bodyPr wrap="square" rtlCol="0"/>
          <a:lstStyle>
            <a:lvl1pPr algn="l" indent="0" marL="0">
              <a:buNone/>
              <a:defRPr lang="en-US" sz="2000" dirty="0">
                <a:solidFill>
                  <a:schemeClr val="bg2"/>
                </a:solidFill>
              </a:defRPr>
            </a:lvl1pPr>
          </a:lstStyle>
          <a:p>
            <a:pPr algn="l" indent="0" marL="0">
              <a:buNone/>
            </a:pPr>
            <a:endParaRPr lang="en-US" sz="2000" dirty="0"/>
          </a:p>
        </p:txBody>
      </p:sp>
      <p:sp>
        <p:nvSpPr>
          <p:cNvPr id="25" name="Slide Number Placeholder 0"/>
          <p:cNvSpPr>
            <a:spLocks noGrp="1"/>
          </p:cNvSpPr>
          <p:nvPr>
            <p:ph type="sldNum" sz="quarter" idx="4294967295"/>
          </p:nvPr>
        </p:nvSpPr>
        <p:spPr>
          <a:xfrm>
            <a:off x="11201400" y="6382512"/>
            <a:ext cx="548640" cy="292608"/>
          </a:xfrm>
          <a:prstGeom prst="rect">
            <a:avLst/>
          </a:prstGeom>
          <a:extLst>
            <a:ext uri="{C572A759-6A51-4108-AA02-DFA0A04FC94B}">
              <ma14:wrappingTextBoxFlag xmlns:ma14="http://schemas.microsoft.com/office/mac/drawingml/2011/main" val="0"/>
            </a:ext>
          </a:extLst>
        </p:spPr>
        <p:txBody>
          <a:bodyPr/>
          <a:lstStyle>
            <a:lvl1pPr>
              <a:defRPr sz="1400">
                <a:solidFill>
                  <a:srgbClr val="E6F0F1"/>
                </a:solidFill>
              </a:defRPr>
            </a:lvl1pPr>
          </a:lstStyle>
          <a:p>
            <a:pPr algn="r"/>
            <a:fld id="{F7021451-1387-4CA6-816F-3879F97B5CBC}" type="slidenum">
              <a:rPr b="0" lang="en-US"/>
              <a:t>1002</a:t>
            </a:fld>
            <a:endParaRPr lang="en-US"/>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ICERIK">
    <p:bg>
      <p:bgPr>
        <a:solidFill>
          <a:srgbClr val="FFFFFF"/>
        </a:solidFill>
      </p:bgPr>
    </p:bg>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0607040" cy="868680"/>
          </a:xfrm>
          <a:prstGeom prst="rect">
            <a:avLst/>
          </a:prstGeom>
          <a:noFill/>
          <a:ln/>
        </p:spPr>
        <p:txBody>
          <a:bodyPr wrap="square" rtlCol="0"/>
          <a:lstStyle>
            <a:lvl1pPr algn="l" indent="0" marL="0">
              <a:buNone/>
              <a:defRPr lang="en-US" sz="3600" b="1" dirty="0">
                <a:solidFill>
                  <a:schemeClr val="accent1"/>
                </a:solidFill>
              </a:defRPr>
            </a:lvl1pPr>
          </a:lstStyle>
          <a:p>
            <a:pPr algn="l" indent="0" marL="0">
              <a:buNone/>
            </a:pPr>
            <a:endParaRPr lang="en-US" sz="3600" dirty="0"/>
          </a:p>
        </p:txBody>
      </p:sp>
      <p:sp>
        <p:nvSpPr>
          <p:cNvPr id="25" name="Slide Number Placeholder 0"/>
          <p:cNvSpPr>
            <a:spLocks noGrp="1"/>
          </p:cNvSpPr>
          <p:nvPr>
            <p:ph type="sldNum" sz="quarter" idx="4294967295"/>
          </p:nvPr>
        </p:nvSpPr>
        <p:spPr>
          <a:xfrm>
            <a:off x="11201400" y="6382512"/>
            <a:ext cx="548640" cy="292608"/>
          </a:xfrm>
          <a:prstGeom prst="rect">
            <a:avLst/>
          </a:prstGeom>
          <a:extLst>
            <a:ext uri="{C572A759-6A51-4108-AA02-DFA0A04FC94B}">
              <ma14:wrappingTextBoxFlag xmlns:ma14="http://schemas.microsoft.com/office/mac/drawingml/2011/main" val="0"/>
            </a:ext>
          </a:extLst>
        </p:spPr>
        <p:txBody>
          <a:bodyPr/>
          <a:lstStyle>
            <a:lvl1pPr>
              <a:defRPr sz="1400">
                <a:solidFill>
                  <a:srgbClr val="7A8C94"/>
                </a:solidFill>
              </a:defRPr>
            </a:lvl1pPr>
          </a:lstStyle>
          <a:p>
            <a:pPr algn="r"/>
            <a:fld id="{F7021451-1387-4CA6-816F-3879F97B5CBC}" type="slidenum">
              <a:rPr b="0" lang="en-US"/>
              <a:t>1003</a:t>
            </a:fld>
            <a:endParaRPr lang="en-US"/>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preserve="1">
  <p:cSld name="KAPANIS">
    <p:bg>
      <p:bgPr>
        <a:solidFill>
          <a:srgbClr val="0F4C5C"/>
        </a:solidFill>
      </p:bgPr>
    </p:bg>
    <p:spTree>
      <p:nvGrpSpPr>
        <p:cNvPr id="1" name=""/>
        <p:cNvGrpSpPr/>
        <p:nvPr/>
      </p:nvGrpSpPr>
      <p:grpSpPr>
        <a:xfrm>
          <a:off x="0" y="0"/>
          <a:ext cx="0" cy="0"/>
          <a:chOff x="0" y="0"/>
          <a:chExt cx="0" cy="0"/>
        </a:xfrm>
      </p:grpSpPr>
      <p:sp>
        <p:nvSpPr>
          <p:cNvPr id="2" name="Text 0"/>
          <p:cNvSpPr/>
          <p:nvPr>
            <p:ph idx="100" type="title" hasCustomPrompt="1"/>
          </p:nvPr>
        </p:nvSpPr>
        <p:spPr>
          <a:xfrm>
            <a:off x="731520" y="914400"/>
            <a:ext cx="6949440" cy="2011680"/>
          </a:xfrm>
          <a:prstGeom prst="rect">
            <a:avLst/>
          </a:prstGeom>
          <a:noFill/>
          <a:ln/>
        </p:spPr>
        <p:txBody>
          <a:bodyPr wrap="square" rtlCol="0"/>
          <a:lstStyle>
            <a:lvl1pPr algn="l" indent="0" marL="0">
              <a:buNone/>
              <a:defRPr lang="en-US" sz="4000" b="1" dirty="0">
                <a:solidFill>
                  <a:schemeClr val="bg1"/>
                </a:solidFill>
              </a:defRPr>
            </a:lvl1pPr>
          </a:lstStyle>
          <a:p>
            <a:pPr algn="l" indent="0" marL="0">
              <a:buNone/>
            </a:pPr>
            <a:endParaRPr lang="en-US" sz="4000" dirty="0"/>
          </a:p>
        </p:txBody>
      </p:sp>
      <p:sp>
        <p:nvSpPr>
          <p:cNvPr id="25" name="Slide Number Placeholder 0"/>
          <p:cNvSpPr>
            <a:spLocks noGrp="1"/>
          </p:cNvSpPr>
          <p:nvPr>
            <p:ph type="sldNum" sz="quarter" idx="4294967295"/>
          </p:nvPr>
        </p:nvSpPr>
        <p:spPr>
          <a:xfrm>
            <a:off x="11201400" y="6382512"/>
            <a:ext cx="548640" cy="292608"/>
          </a:xfrm>
          <a:prstGeom prst="rect">
            <a:avLst/>
          </a:prstGeom>
          <a:extLst>
            <a:ext uri="{C572A759-6A51-4108-AA02-DFA0A04FC94B}">
              <ma14:wrappingTextBoxFlag xmlns:ma14="http://schemas.microsoft.com/office/mac/drawingml/2011/main" val="0"/>
            </a:ext>
          </a:extLst>
        </p:spPr>
        <p:txBody>
          <a:bodyPr/>
          <a:lstStyle>
            <a:lvl1pPr>
              <a:defRPr sz="1400">
                <a:solidFill>
                  <a:srgbClr val="E6F0F1"/>
                </a:solidFill>
              </a:defRPr>
            </a:lvl1pPr>
          </a:lstStyle>
          <a:p>
            <a:pPr algn="r"/>
            <a:fld id="{F7021451-1387-4CA6-816F-3879F97B5CBC}" type="slidenum">
              <a:rPr b="0" lang="en-US"/>
              <a:t>1004</a:t>
            </a:fld>
            <a:endParaRPr lang="en-US"/>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11201400" y="6382512"/>
            <a:ext cx="548640" cy="292608"/>
          </a:xfrm>
          <a:prstGeom prst="rect">
            <a:avLst/>
          </a:prstGeom>
          <a:extLst>
            <a:ext uri="{C572A759-6A51-4108-AA02-DFA0A04FC94B}">
              <ma14:wrappingTextBoxFlag xmlns:ma14="http://schemas.microsoft.com/office/mac/drawingml/2011/main" val="0"/>
            </a:ext>
          </a:extLst>
        </p:spPr>
        <p:txBody>
          <a:bodyPr/>
          <a:lstStyle>
            <a:lvl1pPr>
              <a:defRPr sz="1400">
                <a:solidFill>
                  <a:srgbClr val="E6F0F1"/>
                </a:solidFill>
              </a:defRPr>
            </a:lvl1pPr>
          </a:lstStyle>
          <a:p>
            <a:pPr algn="r"/>
            <a:fld id="{F7021451-1387-4CA6-816F-3879F97B5CBC}" type="slidenum">
              <a:rPr b="0"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image" Target="../media/image-3-1.png"/><Relationship Id="rId2" Type="http://schemas.openxmlformats.org/officeDocument/2006/relationships/image" Target="../media/image-3-2.png"/><Relationship Id="rId3" Type="http://schemas.openxmlformats.org/officeDocument/2006/relationships/image" Target="../media/image-3-3.png"/><Relationship Id="rId4" Type="http://schemas.openxmlformats.org/officeDocument/2006/relationships/slideLayout" Target="../slideLayouts/slideLayout3.xml"/><Relationship Id="rId5"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slideLayout" Target="../slideLayouts/slideLayout3.xml"/><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png"/><Relationship Id="rId2" Type="http://schemas.openxmlformats.org/officeDocument/2006/relationships/image" Target="../media/image-5-2.png"/><Relationship Id="rId3" Type="http://schemas.openxmlformats.org/officeDocument/2006/relationships/image" Target="../media/image-5-3.png"/><Relationship Id="rId4" Type="http://schemas.openxmlformats.org/officeDocument/2006/relationships/image" Target="../media/image-5-4.png"/><Relationship Id="rId5" Type="http://schemas.openxmlformats.org/officeDocument/2006/relationships/slideLayout" Target="../slideLayouts/slideLayout3.xml"/><Relationship Id="rId6"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png"/><Relationship Id="rId2" Type="http://schemas.openxmlformats.org/officeDocument/2006/relationships/image" Target="../media/image-6-2.png"/><Relationship Id="rId3" Type="http://schemas.openxmlformats.org/officeDocument/2006/relationships/slideLayout" Target="../slideLayouts/slideLayout3.xml"/><Relationship Id="rId4"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png"/><Relationship Id="rId2" Type="http://schemas.openxmlformats.org/officeDocument/2006/relationships/slideLayout" Target="../slideLayouts/slideLayout3.xml"/><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png"/><Relationship Id="rId2" Type="http://schemas.openxmlformats.org/officeDocument/2006/relationships/image" Target="../media/image-8-2.png"/><Relationship Id="rId3" Type="http://schemas.openxmlformats.org/officeDocument/2006/relationships/image" Target="../media/image-8-3.png"/><Relationship Id="rId4" Type="http://schemas.openxmlformats.org/officeDocument/2006/relationships/image" Target="../media/image-8-4.png"/><Relationship Id="rId5" Type="http://schemas.openxmlformats.org/officeDocument/2006/relationships/image" Target="../media/image-8-5.png"/><Relationship Id="rId6" Type="http://schemas.openxmlformats.org/officeDocument/2006/relationships/slideLayout" Target="../slideLayouts/slideLayout3.xml"/><Relationship Id="rId7"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image-10-1.png"/><Relationship Id="rId2" Type="http://schemas.openxmlformats.org/officeDocument/2006/relationships/image" Target="../media/image-10-2.png"/><Relationship Id="rId3" Type="http://schemas.openxmlformats.org/officeDocument/2006/relationships/image" Target="../media/image-10-3.png"/><Relationship Id="rId4" Type="http://schemas.openxmlformats.org/officeDocument/2006/relationships/slideLayout" Target="../slideLayouts/slideLayout3.xml"/><Relationship Id="rId5"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chart" Target="/ppt/charts/chart1.xml"/><Relationship Id="rId2" Type="http://schemas.openxmlformats.org/officeDocument/2006/relationships/slideLayout" Target="../slideLayouts/slideLayout3.xml"/><Relationship Id="rId3"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chart" Target="/ppt/charts/chart2.xml"/><Relationship Id="rId2" Type="http://schemas.openxmlformats.org/officeDocument/2006/relationships/slideLayout" Target="../slideLayouts/slideLayout3.xml"/><Relationship Id="rId3"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chart" Target="/ppt/charts/chart3.xml"/><Relationship Id="rId2" Type="http://schemas.openxmlformats.org/officeDocument/2006/relationships/slideLayout" Target="../slideLayouts/slideLayout3.xml"/><Relationship Id="rId3"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chart" Target="/ppt/charts/chart4.xml"/><Relationship Id="rId2" Type="http://schemas.openxmlformats.org/officeDocument/2006/relationships/slideLayout" Target="../slideLayouts/slideLayout3.xml"/><Relationship Id="rId3"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image" Target="../media/image-18-1.png"/><Relationship Id="rId2" Type="http://schemas.openxmlformats.org/officeDocument/2006/relationships/slideLayout" Target="../slideLayouts/slideLayout3.xml"/><Relationship Id="rId3"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chart" Target="/ppt/charts/chart5.xml"/><Relationship Id="rId2" Type="http://schemas.openxmlformats.org/officeDocument/2006/relationships/slideLayout" Target="../slideLayouts/slideLayout3.xml"/><Relationship Id="rId3"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image" Target="../media/image-20-1.png"/><Relationship Id="rId2" Type="http://schemas.openxmlformats.org/officeDocument/2006/relationships/image" Target="../media/image-20-2.png"/><Relationship Id="rId3" Type="http://schemas.openxmlformats.org/officeDocument/2006/relationships/image" Target="../media/image-20-3.png"/><Relationship Id="rId4" Type="http://schemas.openxmlformats.org/officeDocument/2006/relationships/image" Target="../media/image-20-4.png"/><Relationship Id="rId5" Type="http://schemas.openxmlformats.org/officeDocument/2006/relationships/slideLayout" Target="../slideLayouts/slideLayout3.xml"/><Relationship Id="rId6"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image" Target="../media/image-21-1.png"/><Relationship Id="rId2" Type="http://schemas.openxmlformats.org/officeDocument/2006/relationships/image" Target="../media/image-21-2.png"/><Relationship Id="rId3" Type="http://schemas.openxmlformats.org/officeDocument/2006/relationships/image" Target="../media/image-21-3.png"/><Relationship Id="rId4" Type="http://schemas.openxmlformats.org/officeDocument/2006/relationships/slideLayout" Target="../slideLayouts/slideLayout3.xml"/><Relationship Id="rId5"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image" Target="../media/image-22-1.png"/><Relationship Id="rId2" Type="http://schemas.openxmlformats.org/officeDocument/2006/relationships/image" Target="../media/image-22-2.png"/><Relationship Id="rId3" Type="http://schemas.openxmlformats.org/officeDocument/2006/relationships/slideLayout" Target="../slideLayouts/slideLayout3.xml"/><Relationship Id="rId4"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image" Target="../media/image-23-1.png"/><Relationship Id="rId2" Type="http://schemas.openxmlformats.org/officeDocument/2006/relationships/slideLayout" Target="../slideLayouts/slideLayout3.xml"/><Relationship Id="rId3"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image" Target="../media/image-25-1.png"/><Relationship Id="rId2" Type="http://schemas.openxmlformats.org/officeDocument/2006/relationships/image" Target="../media/image-25-2.png"/><Relationship Id="rId3" Type="http://schemas.openxmlformats.org/officeDocument/2006/relationships/slideLayout" Target="../slideLayouts/slideLayout3.xml"/><Relationship Id="rId4"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image" Target="../media/image-26-1.png"/><Relationship Id="rId2" Type="http://schemas.openxmlformats.org/officeDocument/2006/relationships/image" Target="../media/image-26-2.png"/><Relationship Id="rId3" Type="http://schemas.openxmlformats.org/officeDocument/2006/relationships/image" Target="../media/image-26-3.png"/><Relationship Id="rId4" Type="http://schemas.openxmlformats.org/officeDocument/2006/relationships/image" Target="../media/image-26-4.png"/><Relationship Id="rId5" Type="http://schemas.openxmlformats.org/officeDocument/2006/relationships/image" Target="../media/image-26-5.png"/><Relationship Id="rId6" Type="http://schemas.openxmlformats.org/officeDocument/2006/relationships/slideLayout" Target="../slideLayouts/slideLayout3.xml"/><Relationship Id="rId7"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image" Target="../media/image-28-1.png"/><Relationship Id="rId2" Type="http://schemas.openxmlformats.org/officeDocument/2006/relationships/slideLayout" Target="../slideLayouts/slideLayout4.xml"/><Relationship Id="rId3" Type="http://schemas.openxmlformats.org/officeDocument/2006/relationships/notesSlide" Target="../notesSlides/notesSlide28.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3" name="Text 0"/>
          <p:cNvSpPr txBox="1"/>
          <p:nvPr/>
        </p:nvSpPr>
        <p:spPr>
          <a:xfrm>
            <a:off x="731520" y="685800"/>
            <a:ext cx="5486400" cy="457200"/>
          </a:xfrm>
          <a:prstGeom prst="rect">
            <a:avLst/>
          </a:prstGeom>
          <a:noFill/>
          <a:ln/>
        </p:spPr>
        <p:txBody>
          <a:bodyPr wrap="square" lIns="0" tIns="0" rIns="0" bIns="0" rtlCol="0" anchor="ctr"/>
          <a:lstStyle/>
          <a:p>
            <a:pPr indent="0" marL="0">
              <a:buNone/>
            </a:pPr>
            <a:r>
              <a:rPr lang="en-US" sz="2200" b="1" spc="100" kern="0" dirty="0">
                <a:solidFill>
                  <a:schemeClr val="accent5"/>
                </a:solidFill>
              </a:rPr>
              <a:t>Makale Sunumu</a:t>
            </a:r>
            <a:endParaRPr lang="en-US" sz="2200" dirty="0"/>
          </a:p>
        </p:txBody>
      </p:sp>
      <p:sp>
        <p:nvSpPr>
          <p:cNvPr id="4" name="Text 0"/>
          <p:cNvSpPr/>
          <p:nvPr>
            <p:ph idx="100" type="title" hasCustomPrompt="1"/>
          </p:nvPr>
        </p:nvSpPr>
        <p:spPr>
          <a:xfrm>
            <a:off x="731520" y="1280160"/>
            <a:ext cx="10698480" cy="2788920"/>
          </a:xfrm>
          <a:prstGeom prst="rect">
            <a:avLst/>
          </a:prstGeom>
          <a:noFill/>
          <a:ln/>
        </p:spPr>
        <p:txBody>
          <a:bodyPr wrap="square" lIns="0" tIns="0" rIns="0" bIns="0" rtlCol="0" anchor="t"/>
          <a:lstStyle/>
          <a:p>
            <a:pPr algn="l" indent="0" marL="0">
              <a:buNone/>
            </a:pPr>
            <a:r>
              <a:rPr lang="en-US" sz="3600" b="1" dirty="0">
                <a:solidFill>
                  <a:schemeClr val="bg1"/>
                </a:solidFill>
              </a:rPr>
              <a:t>Bir üniversite hastanesine bağlı sigara bırakma polikliniğine başvuran hastaların demografik ve klinik özellikleri ile sigara bırakma durumlarını etkileyen faktörler</a:t>
            </a:r>
            <a:endParaRPr lang="en-US" sz="3600" dirty="0"/>
          </a:p>
        </p:txBody>
      </p:sp>
      <p:sp>
        <p:nvSpPr>
          <p:cNvPr id="5" name="Text 0"/>
          <p:cNvSpPr/>
          <p:nvPr>
            <p:ph idx="101" type="body" hasCustomPrompt="1"/>
          </p:nvPr>
        </p:nvSpPr>
        <p:spPr>
          <a:xfrm>
            <a:off x="731520" y="4434840"/>
            <a:ext cx="10698480" cy="1554480"/>
          </a:xfrm>
          <a:prstGeom prst="rect">
            <a:avLst/>
          </a:prstGeom>
          <a:noFill/>
          <a:ln/>
        </p:spPr>
        <p:txBody>
          <a:bodyPr wrap="square" lIns="0" tIns="0" rIns="0" bIns="0" rtlCol="0" anchor="t"/>
          <a:lstStyle/>
          <a:p>
            <a:pPr algn="l" indent="0" marL="0">
              <a:buNone/>
            </a:pPr>
            <a:r>
              <a:rPr lang="en-US" sz="2000" dirty="0">
                <a:solidFill>
                  <a:schemeClr val="bg2"/>
                </a:solidFill>
              </a:rPr>
              <a:t>Cenberlitaş E, Gökçe A, Öztürk O. Turk J Fam Pract. 2026;30(2):97-106</a:t>
            </a:r>
            <a:endParaRPr lang="en-US" sz="2000" dirty="0"/>
          </a:p>
          <a:p>
            <a:pPr algn="l" indent="0" marL="0">
              <a:buNone/>
            </a:pPr>
            <a:r>
              <a:rPr lang="en-US" sz="1000" dirty="0">
                <a:solidFill>
                  <a:schemeClr val="bg2"/>
                </a:solidFill>
              </a:rPr>
              <a:t> </a:t>
            </a:r>
            <a:endParaRPr lang="en-US" sz="2000" dirty="0"/>
          </a:p>
          <a:p>
            <a:pPr algn="l" indent="0" marL="0">
              <a:buNone/>
            </a:pPr>
            <a:r>
              <a:rPr lang="en-US" sz="2000" b="1" dirty="0">
                <a:solidFill>
                  <a:schemeClr val="bg2"/>
                </a:solidFill>
              </a:rPr>
              <a:t>Sunan: Dr. [Ad Soyad]</a:t>
            </a:r>
            <a:endParaRPr lang="en-US" sz="2000" dirty="0"/>
          </a:p>
        </p:txBody>
      </p:sp>
      <p:sp>
        <p:nvSpPr>
          <p:cNvPr id="25" name="Slide Number Placeholder 0"/>
          <p:cNvSpPr>
            <a:spLocks noGrp="1"/>
          </p:cNvSpPr>
          <p:nvPr>
            <p:ph type="sldNum" sz="quarter" idx="4294967295"/>
          </p:nvPr>
        </p:nvSpPr>
        <p:spPr>
          <a:xfrm>
            <a:off x="11201400" y="6382512"/>
            <a:ext cx="548640" cy="292608"/>
          </a:xfrm>
          <a:prstGeom prst="rect">
            <a:avLst/>
          </a:prstGeom>
          <a:extLst>
            <a:ext uri="{C572A759-6A51-4108-AA02-DFA0A04FC94B}">
              <ma14:wrappingTextBoxFlag xmlns:ma14="http://schemas.microsoft.com/office/mac/drawingml/2011/main" val="0"/>
            </a:ext>
          </a:extLst>
        </p:spPr>
        <p:txBody>
          <a:bodyPr/>
          <a:lstStyle>
            <a:lvl1pPr>
              <a:defRPr sz="1400">
                <a:solidFill>
                  <a:srgbClr val="E6F0F1"/>
                </a:solidFill>
              </a:defRPr>
            </a:lvl1pPr>
          </a:lstStyle>
          <a:p>
            <a:pPr algn="r"/>
            <a:fld id="{F7021451-1387-4CA6-816F-3879F97B5CBC}" type="slidenum">
              <a:rPr b="0" lang="en-US"/>
              <a:t>1</a:t>
            </a:fld>
            <a:endParaRPr lang="en-US"/>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3" name="Text 0"/>
          <p:cNvSpPr/>
          <p:nvPr>
            <p:ph idx="100" type="title" hasCustomPrompt="1"/>
          </p:nvPr>
        </p:nvSpPr>
        <p:spPr>
          <a:xfrm>
            <a:off x="548640" y="320040"/>
            <a:ext cx="10607040" cy="868680"/>
          </a:xfrm>
          <a:prstGeom prst="rect">
            <a:avLst/>
          </a:prstGeom>
          <a:noFill/>
          <a:ln/>
        </p:spPr>
        <p:txBody>
          <a:bodyPr wrap="square" lIns="0" tIns="0" rIns="0" bIns="0" rtlCol="0" anchor="ctr"/>
          <a:lstStyle/>
          <a:p>
            <a:pPr algn="l" indent="0" marL="0">
              <a:buNone/>
            </a:pPr>
            <a:r>
              <a:rPr lang="en-US" sz="3600" b="1" dirty="0">
                <a:solidFill>
                  <a:schemeClr val="accent1"/>
                </a:solidFill>
              </a:rPr>
              <a:t>İçerik</a:t>
            </a:r>
            <a:endParaRPr lang="en-US" sz="3600" dirty="0"/>
          </a:p>
        </p:txBody>
      </p:sp>
      <p:sp>
        <p:nvSpPr>
          <p:cNvPr id="4" name="Kart"/>
          <p:cNvSpPr/>
          <p:nvPr/>
        </p:nvSpPr>
        <p:spPr>
          <a:xfrm>
            <a:off x="548640" y="1463040"/>
            <a:ext cx="5440680" cy="1280160"/>
          </a:xfrm>
          <a:prstGeom prst="roundRect">
            <a:avLst>
              <a:gd name="adj" fmla="val 8571"/>
            </a:avLst>
          </a:prstGeom>
          <a:solidFill>
            <a:schemeClr val="bg2"/>
          </a:solidFill>
          <a:ln w="12700">
            <a:solidFill>
              <a:schemeClr val="bg2"/>
            </a:solidFill>
            <a:prstDash val="solid"/>
          </a:ln>
        </p:spPr>
      </p:sp>
      <p:sp>
        <p:nvSpPr>
          <p:cNvPr id="5" name="Sıra"/>
          <p:cNvSpPr/>
          <p:nvPr/>
        </p:nvSpPr>
        <p:spPr>
          <a:xfrm>
            <a:off x="822960" y="1709928"/>
            <a:ext cx="786384" cy="786384"/>
          </a:xfrm>
          <a:prstGeom prst="ellipse">
            <a:avLst/>
          </a:prstGeom>
          <a:solidFill>
            <a:schemeClr val="accent1"/>
          </a:solidFill>
          <a:ln w="12700">
            <a:solidFill>
              <a:schemeClr val="accent1"/>
            </a:solidFill>
            <a:prstDash val="solid"/>
          </a:ln>
        </p:spPr>
      </p:sp>
      <p:sp>
        <p:nvSpPr>
          <p:cNvPr id="6" name="Text 3"/>
          <p:cNvSpPr txBox="1"/>
          <p:nvPr/>
        </p:nvSpPr>
        <p:spPr>
          <a:xfrm>
            <a:off x="822960" y="1709928"/>
            <a:ext cx="786384" cy="786384"/>
          </a:xfrm>
          <a:prstGeom prst="rect">
            <a:avLst/>
          </a:prstGeom>
          <a:noFill/>
          <a:ln/>
        </p:spPr>
        <p:txBody>
          <a:bodyPr wrap="square" lIns="0" tIns="0" rIns="0" bIns="0" rtlCol="0" anchor="ctr"/>
          <a:lstStyle/>
          <a:p>
            <a:pPr algn="ctr" indent="0" marL="0">
              <a:buNone/>
            </a:pPr>
            <a:r>
              <a:rPr lang="en-US" sz="2800" b="1" dirty="0">
                <a:solidFill>
                  <a:schemeClr val="bg1"/>
                </a:solidFill>
              </a:rPr>
              <a:t>1</a:t>
            </a:r>
            <a:endParaRPr lang="en-US" sz="2800" dirty="0"/>
          </a:p>
        </p:txBody>
      </p:sp>
      <p:sp>
        <p:nvSpPr>
          <p:cNvPr id="7" name="Text 4"/>
          <p:cNvSpPr txBox="1"/>
          <p:nvPr/>
        </p:nvSpPr>
        <p:spPr>
          <a:xfrm>
            <a:off x="1874520" y="1463040"/>
            <a:ext cx="3931920" cy="1280160"/>
          </a:xfrm>
          <a:prstGeom prst="rect">
            <a:avLst/>
          </a:prstGeom>
          <a:noFill/>
          <a:ln/>
        </p:spPr>
        <p:txBody>
          <a:bodyPr wrap="square" lIns="0" tIns="0" rIns="0" bIns="0" rtlCol="0" anchor="ctr"/>
          <a:lstStyle/>
          <a:p>
            <a:pPr indent="0" marL="0">
              <a:buNone/>
            </a:pPr>
            <a:r>
              <a:rPr lang="en-US" sz="2600" dirty="0">
                <a:solidFill>
                  <a:schemeClr val="accent1"/>
                </a:solidFill>
              </a:rPr>
              <a:t>Künye ve giriş</a:t>
            </a:r>
            <a:endParaRPr lang="en-US" sz="2600" dirty="0"/>
          </a:p>
        </p:txBody>
      </p:sp>
      <p:sp>
        <p:nvSpPr>
          <p:cNvPr id="8" name="Kart"/>
          <p:cNvSpPr/>
          <p:nvPr/>
        </p:nvSpPr>
        <p:spPr>
          <a:xfrm>
            <a:off x="6172200" y="1463040"/>
            <a:ext cx="5440680" cy="1280160"/>
          </a:xfrm>
          <a:prstGeom prst="roundRect">
            <a:avLst>
              <a:gd name="adj" fmla="val 8571"/>
            </a:avLst>
          </a:prstGeom>
          <a:solidFill>
            <a:schemeClr val="bg2"/>
          </a:solidFill>
          <a:ln w="12700">
            <a:solidFill>
              <a:schemeClr val="bg2"/>
            </a:solidFill>
            <a:prstDash val="solid"/>
          </a:ln>
        </p:spPr>
      </p:sp>
      <p:sp>
        <p:nvSpPr>
          <p:cNvPr id="9" name="Sıra"/>
          <p:cNvSpPr/>
          <p:nvPr/>
        </p:nvSpPr>
        <p:spPr>
          <a:xfrm>
            <a:off x="6446520" y="1709928"/>
            <a:ext cx="786384" cy="786384"/>
          </a:xfrm>
          <a:prstGeom prst="ellipse">
            <a:avLst/>
          </a:prstGeom>
          <a:solidFill>
            <a:schemeClr val="accent2"/>
          </a:solidFill>
          <a:ln w="12700">
            <a:solidFill>
              <a:schemeClr val="accent2"/>
            </a:solidFill>
            <a:prstDash val="solid"/>
          </a:ln>
        </p:spPr>
      </p:sp>
      <p:sp>
        <p:nvSpPr>
          <p:cNvPr id="10" name="Text 7"/>
          <p:cNvSpPr txBox="1"/>
          <p:nvPr/>
        </p:nvSpPr>
        <p:spPr>
          <a:xfrm>
            <a:off x="6446520" y="1709928"/>
            <a:ext cx="786384" cy="786384"/>
          </a:xfrm>
          <a:prstGeom prst="rect">
            <a:avLst/>
          </a:prstGeom>
          <a:noFill/>
          <a:ln/>
        </p:spPr>
        <p:txBody>
          <a:bodyPr wrap="square" lIns="0" tIns="0" rIns="0" bIns="0" rtlCol="0" anchor="ctr"/>
          <a:lstStyle/>
          <a:p>
            <a:pPr algn="ctr" indent="0" marL="0">
              <a:buNone/>
            </a:pPr>
            <a:r>
              <a:rPr lang="en-US" sz="2800" b="1" dirty="0">
                <a:solidFill>
                  <a:schemeClr val="bg1"/>
                </a:solidFill>
              </a:rPr>
              <a:t>2</a:t>
            </a:r>
            <a:endParaRPr lang="en-US" sz="2800" dirty="0"/>
          </a:p>
        </p:txBody>
      </p:sp>
      <p:sp>
        <p:nvSpPr>
          <p:cNvPr id="11" name="Text 8"/>
          <p:cNvSpPr txBox="1"/>
          <p:nvPr/>
        </p:nvSpPr>
        <p:spPr>
          <a:xfrm>
            <a:off x="7498080" y="1463040"/>
            <a:ext cx="3931920" cy="1280160"/>
          </a:xfrm>
          <a:prstGeom prst="rect">
            <a:avLst/>
          </a:prstGeom>
          <a:noFill/>
          <a:ln/>
        </p:spPr>
        <p:txBody>
          <a:bodyPr wrap="square" lIns="0" tIns="0" rIns="0" bIns="0" rtlCol="0" anchor="ctr"/>
          <a:lstStyle/>
          <a:p>
            <a:pPr indent="0" marL="0">
              <a:buNone/>
            </a:pPr>
            <a:r>
              <a:rPr lang="en-US" sz="2600" dirty="0">
                <a:solidFill>
                  <a:schemeClr val="accent1"/>
                </a:solidFill>
              </a:rPr>
              <a:t>Gereç ve yöntem</a:t>
            </a:r>
            <a:endParaRPr lang="en-US" sz="2600" dirty="0"/>
          </a:p>
        </p:txBody>
      </p:sp>
      <p:sp>
        <p:nvSpPr>
          <p:cNvPr id="12" name="Kart"/>
          <p:cNvSpPr/>
          <p:nvPr/>
        </p:nvSpPr>
        <p:spPr>
          <a:xfrm>
            <a:off x="548640" y="3017520"/>
            <a:ext cx="5440680" cy="1280160"/>
          </a:xfrm>
          <a:prstGeom prst="roundRect">
            <a:avLst>
              <a:gd name="adj" fmla="val 8571"/>
            </a:avLst>
          </a:prstGeom>
          <a:solidFill>
            <a:schemeClr val="bg2"/>
          </a:solidFill>
          <a:ln w="12700">
            <a:solidFill>
              <a:schemeClr val="bg2"/>
            </a:solidFill>
            <a:prstDash val="solid"/>
          </a:ln>
        </p:spPr>
      </p:sp>
      <p:sp>
        <p:nvSpPr>
          <p:cNvPr id="13" name="Sıra"/>
          <p:cNvSpPr/>
          <p:nvPr/>
        </p:nvSpPr>
        <p:spPr>
          <a:xfrm>
            <a:off x="822960" y="3264408"/>
            <a:ext cx="786384" cy="786384"/>
          </a:xfrm>
          <a:prstGeom prst="ellipse">
            <a:avLst/>
          </a:prstGeom>
          <a:solidFill>
            <a:schemeClr val="accent1"/>
          </a:solidFill>
          <a:ln w="12700">
            <a:solidFill>
              <a:schemeClr val="accent1"/>
            </a:solidFill>
            <a:prstDash val="solid"/>
          </a:ln>
        </p:spPr>
      </p:sp>
      <p:sp>
        <p:nvSpPr>
          <p:cNvPr id="14" name="Text 11"/>
          <p:cNvSpPr txBox="1"/>
          <p:nvPr/>
        </p:nvSpPr>
        <p:spPr>
          <a:xfrm>
            <a:off x="822960" y="3264408"/>
            <a:ext cx="786384" cy="786384"/>
          </a:xfrm>
          <a:prstGeom prst="rect">
            <a:avLst/>
          </a:prstGeom>
          <a:noFill/>
          <a:ln/>
        </p:spPr>
        <p:txBody>
          <a:bodyPr wrap="square" lIns="0" tIns="0" rIns="0" bIns="0" rtlCol="0" anchor="ctr"/>
          <a:lstStyle/>
          <a:p>
            <a:pPr algn="ctr" indent="0" marL="0">
              <a:buNone/>
            </a:pPr>
            <a:r>
              <a:rPr lang="en-US" sz="2800" b="1" dirty="0">
                <a:solidFill>
                  <a:schemeClr val="bg1"/>
                </a:solidFill>
              </a:rPr>
              <a:t>3</a:t>
            </a:r>
            <a:endParaRPr lang="en-US" sz="2800" dirty="0"/>
          </a:p>
        </p:txBody>
      </p:sp>
      <p:sp>
        <p:nvSpPr>
          <p:cNvPr id="15" name="Text 12"/>
          <p:cNvSpPr txBox="1"/>
          <p:nvPr/>
        </p:nvSpPr>
        <p:spPr>
          <a:xfrm>
            <a:off x="1874520" y="3017520"/>
            <a:ext cx="3931920" cy="1280160"/>
          </a:xfrm>
          <a:prstGeom prst="rect">
            <a:avLst/>
          </a:prstGeom>
          <a:noFill/>
          <a:ln/>
        </p:spPr>
        <p:txBody>
          <a:bodyPr wrap="square" lIns="0" tIns="0" rIns="0" bIns="0" rtlCol="0" anchor="ctr"/>
          <a:lstStyle/>
          <a:p>
            <a:pPr indent="0" marL="0">
              <a:buNone/>
            </a:pPr>
            <a:r>
              <a:rPr lang="en-US" sz="2600" dirty="0">
                <a:solidFill>
                  <a:schemeClr val="accent1"/>
                </a:solidFill>
              </a:rPr>
              <a:t>Bulgular</a:t>
            </a:r>
            <a:endParaRPr lang="en-US" sz="2600" dirty="0"/>
          </a:p>
        </p:txBody>
      </p:sp>
      <p:sp>
        <p:nvSpPr>
          <p:cNvPr id="16" name="Kart"/>
          <p:cNvSpPr/>
          <p:nvPr/>
        </p:nvSpPr>
        <p:spPr>
          <a:xfrm>
            <a:off x="6172200" y="3017520"/>
            <a:ext cx="5440680" cy="1280160"/>
          </a:xfrm>
          <a:prstGeom prst="roundRect">
            <a:avLst>
              <a:gd name="adj" fmla="val 8571"/>
            </a:avLst>
          </a:prstGeom>
          <a:solidFill>
            <a:schemeClr val="bg2"/>
          </a:solidFill>
          <a:ln w="12700">
            <a:solidFill>
              <a:schemeClr val="bg2"/>
            </a:solidFill>
            <a:prstDash val="solid"/>
          </a:ln>
        </p:spPr>
      </p:sp>
      <p:sp>
        <p:nvSpPr>
          <p:cNvPr id="17" name="Sıra"/>
          <p:cNvSpPr/>
          <p:nvPr/>
        </p:nvSpPr>
        <p:spPr>
          <a:xfrm>
            <a:off x="6446520" y="3264408"/>
            <a:ext cx="786384" cy="786384"/>
          </a:xfrm>
          <a:prstGeom prst="ellipse">
            <a:avLst/>
          </a:prstGeom>
          <a:solidFill>
            <a:schemeClr val="accent2"/>
          </a:solidFill>
          <a:ln w="12700">
            <a:solidFill>
              <a:schemeClr val="accent2"/>
            </a:solidFill>
            <a:prstDash val="solid"/>
          </a:ln>
        </p:spPr>
      </p:sp>
      <p:sp>
        <p:nvSpPr>
          <p:cNvPr id="18" name="Text 15"/>
          <p:cNvSpPr txBox="1"/>
          <p:nvPr/>
        </p:nvSpPr>
        <p:spPr>
          <a:xfrm>
            <a:off x="6446520" y="3264408"/>
            <a:ext cx="786384" cy="786384"/>
          </a:xfrm>
          <a:prstGeom prst="rect">
            <a:avLst/>
          </a:prstGeom>
          <a:noFill/>
          <a:ln/>
        </p:spPr>
        <p:txBody>
          <a:bodyPr wrap="square" lIns="0" tIns="0" rIns="0" bIns="0" rtlCol="0" anchor="ctr"/>
          <a:lstStyle/>
          <a:p>
            <a:pPr algn="ctr" indent="0" marL="0">
              <a:buNone/>
            </a:pPr>
            <a:r>
              <a:rPr lang="en-US" sz="2800" b="1" dirty="0">
                <a:solidFill>
                  <a:schemeClr val="bg1"/>
                </a:solidFill>
              </a:rPr>
              <a:t>4</a:t>
            </a:r>
            <a:endParaRPr lang="en-US" sz="2800" dirty="0"/>
          </a:p>
        </p:txBody>
      </p:sp>
      <p:sp>
        <p:nvSpPr>
          <p:cNvPr id="19" name="Text 16"/>
          <p:cNvSpPr txBox="1"/>
          <p:nvPr/>
        </p:nvSpPr>
        <p:spPr>
          <a:xfrm>
            <a:off x="7498080" y="3017520"/>
            <a:ext cx="3931920" cy="1280160"/>
          </a:xfrm>
          <a:prstGeom prst="rect">
            <a:avLst/>
          </a:prstGeom>
          <a:noFill/>
          <a:ln/>
        </p:spPr>
        <p:txBody>
          <a:bodyPr wrap="square" lIns="0" tIns="0" rIns="0" bIns="0" rtlCol="0" anchor="ctr"/>
          <a:lstStyle/>
          <a:p>
            <a:pPr indent="0" marL="0">
              <a:buNone/>
            </a:pPr>
            <a:r>
              <a:rPr lang="en-US" sz="2600" dirty="0">
                <a:solidFill>
                  <a:schemeClr val="accent1"/>
                </a:solidFill>
              </a:rPr>
              <a:t>Tartışma ve kısıtlılıklar</a:t>
            </a:r>
            <a:endParaRPr lang="en-US" sz="2600" dirty="0"/>
          </a:p>
        </p:txBody>
      </p:sp>
      <p:sp>
        <p:nvSpPr>
          <p:cNvPr id="20" name="Kart"/>
          <p:cNvSpPr/>
          <p:nvPr/>
        </p:nvSpPr>
        <p:spPr>
          <a:xfrm>
            <a:off x="548640" y="4572000"/>
            <a:ext cx="5440680" cy="1280160"/>
          </a:xfrm>
          <a:prstGeom prst="roundRect">
            <a:avLst>
              <a:gd name="adj" fmla="val 8571"/>
            </a:avLst>
          </a:prstGeom>
          <a:solidFill>
            <a:schemeClr val="bg2"/>
          </a:solidFill>
          <a:ln w="12700">
            <a:solidFill>
              <a:schemeClr val="bg2"/>
            </a:solidFill>
            <a:prstDash val="solid"/>
          </a:ln>
        </p:spPr>
      </p:sp>
      <p:sp>
        <p:nvSpPr>
          <p:cNvPr id="21" name="Sıra"/>
          <p:cNvSpPr/>
          <p:nvPr/>
        </p:nvSpPr>
        <p:spPr>
          <a:xfrm>
            <a:off x="822960" y="4818888"/>
            <a:ext cx="786384" cy="786384"/>
          </a:xfrm>
          <a:prstGeom prst="ellipse">
            <a:avLst/>
          </a:prstGeom>
          <a:solidFill>
            <a:schemeClr val="accent1"/>
          </a:solidFill>
          <a:ln w="12700">
            <a:solidFill>
              <a:schemeClr val="accent1"/>
            </a:solidFill>
            <a:prstDash val="solid"/>
          </a:ln>
        </p:spPr>
      </p:sp>
      <p:sp>
        <p:nvSpPr>
          <p:cNvPr id="22" name="Text 19"/>
          <p:cNvSpPr txBox="1"/>
          <p:nvPr/>
        </p:nvSpPr>
        <p:spPr>
          <a:xfrm>
            <a:off x="822960" y="4818888"/>
            <a:ext cx="786384" cy="786384"/>
          </a:xfrm>
          <a:prstGeom prst="rect">
            <a:avLst/>
          </a:prstGeom>
          <a:noFill/>
          <a:ln/>
        </p:spPr>
        <p:txBody>
          <a:bodyPr wrap="square" lIns="0" tIns="0" rIns="0" bIns="0" rtlCol="0" anchor="ctr"/>
          <a:lstStyle/>
          <a:p>
            <a:pPr algn="ctr" indent="0" marL="0">
              <a:buNone/>
            </a:pPr>
            <a:r>
              <a:rPr lang="en-US" sz="2800" b="1" dirty="0">
                <a:solidFill>
                  <a:schemeClr val="bg1"/>
                </a:solidFill>
              </a:rPr>
              <a:t>5</a:t>
            </a:r>
            <a:endParaRPr lang="en-US" sz="2800" dirty="0"/>
          </a:p>
        </p:txBody>
      </p:sp>
      <p:sp>
        <p:nvSpPr>
          <p:cNvPr id="23" name="Text 20"/>
          <p:cNvSpPr txBox="1"/>
          <p:nvPr/>
        </p:nvSpPr>
        <p:spPr>
          <a:xfrm>
            <a:off x="1874520" y="4572000"/>
            <a:ext cx="3931920" cy="1280160"/>
          </a:xfrm>
          <a:prstGeom prst="rect">
            <a:avLst/>
          </a:prstGeom>
          <a:noFill/>
          <a:ln/>
        </p:spPr>
        <p:txBody>
          <a:bodyPr wrap="square" lIns="0" tIns="0" rIns="0" bIns="0" rtlCol="0" anchor="ctr"/>
          <a:lstStyle/>
          <a:p>
            <a:pPr indent="0" marL="0">
              <a:buNone/>
            </a:pPr>
            <a:r>
              <a:rPr lang="en-US" sz="2600" dirty="0">
                <a:solidFill>
                  <a:schemeClr val="accent1"/>
                </a:solidFill>
              </a:rPr>
              <a:t>Eleştirel değerlendirme</a:t>
            </a:r>
            <a:endParaRPr lang="en-US" sz="2600" dirty="0"/>
          </a:p>
        </p:txBody>
      </p:sp>
      <p:sp>
        <p:nvSpPr>
          <p:cNvPr id="24" name="Kart"/>
          <p:cNvSpPr/>
          <p:nvPr/>
        </p:nvSpPr>
        <p:spPr>
          <a:xfrm>
            <a:off x="6172200" y="4572000"/>
            <a:ext cx="5440680" cy="1280160"/>
          </a:xfrm>
          <a:prstGeom prst="roundRect">
            <a:avLst>
              <a:gd name="adj" fmla="val 8571"/>
            </a:avLst>
          </a:prstGeom>
          <a:solidFill>
            <a:schemeClr val="bg2"/>
          </a:solidFill>
          <a:ln w="12700">
            <a:solidFill>
              <a:schemeClr val="bg2"/>
            </a:solidFill>
            <a:prstDash val="solid"/>
          </a:ln>
        </p:spPr>
      </p:sp>
      <p:sp>
        <p:nvSpPr>
          <p:cNvPr id="25" name="Sıra"/>
          <p:cNvSpPr/>
          <p:nvPr/>
        </p:nvSpPr>
        <p:spPr>
          <a:xfrm>
            <a:off x="6446520" y="4818888"/>
            <a:ext cx="786384" cy="786384"/>
          </a:xfrm>
          <a:prstGeom prst="ellipse">
            <a:avLst/>
          </a:prstGeom>
          <a:solidFill>
            <a:schemeClr val="accent2"/>
          </a:solidFill>
          <a:ln w="12700">
            <a:solidFill>
              <a:schemeClr val="accent2"/>
            </a:solidFill>
            <a:prstDash val="solid"/>
          </a:ln>
        </p:spPr>
      </p:sp>
      <p:sp>
        <p:nvSpPr>
          <p:cNvPr id="26" name="Text 23"/>
          <p:cNvSpPr txBox="1"/>
          <p:nvPr/>
        </p:nvSpPr>
        <p:spPr>
          <a:xfrm>
            <a:off x="6446520" y="4818888"/>
            <a:ext cx="786384" cy="786384"/>
          </a:xfrm>
          <a:prstGeom prst="rect">
            <a:avLst/>
          </a:prstGeom>
          <a:noFill/>
          <a:ln/>
        </p:spPr>
        <p:txBody>
          <a:bodyPr wrap="square" lIns="0" tIns="0" rIns="0" bIns="0" rtlCol="0" anchor="ctr"/>
          <a:lstStyle/>
          <a:p>
            <a:pPr algn="ctr" indent="0" marL="0">
              <a:buNone/>
            </a:pPr>
            <a:r>
              <a:rPr lang="en-US" sz="2800" b="1" dirty="0">
                <a:solidFill>
                  <a:schemeClr val="bg1"/>
                </a:solidFill>
              </a:rPr>
              <a:t>6</a:t>
            </a:r>
            <a:endParaRPr lang="en-US" sz="2800" dirty="0"/>
          </a:p>
        </p:txBody>
      </p:sp>
      <p:sp>
        <p:nvSpPr>
          <p:cNvPr id="27" name="Text 24"/>
          <p:cNvSpPr txBox="1"/>
          <p:nvPr/>
        </p:nvSpPr>
        <p:spPr>
          <a:xfrm>
            <a:off x="7498080" y="4572000"/>
            <a:ext cx="3931920" cy="1280160"/>
          </a:xfrm>
          <a:prstGeom prst="rect">
            <a:avLst/>
          </a:prstGeom>
          <a:noFill/>
          <a:ln/>
        </p:spPr>
        <p:txBody>
          <a:bodyPr wrap="square" lIns="0" tIns="0" rIns="0" bIns="0" rtlCol="0" anchor="ctr"/>
          <a:lstStyle/>
          <a:p>
            <a:pPr indent="0" marL="0">
              <a:buNone/>
            </a:pPr>
            <a:r>
              <a:rPr lang="en-US" sz="2600" dirty="0">
                <a:solidFill>
                  <a:schemeClr val="accent1"/>
                </a:solidFill>
              </a:rPr>
              <a:t>Olgu ve sonuç</a:t>
            </a:r>
            <a:endParaRPr lang="en-US" sz="2600" dirty="0"/>
          </a:p>
        </p:txBody>
      </p:sp>
      <p:sp>
        <p:nvSpPr>
          <p:cNvPr id="25" name="Slide Number Placeholder 0"/>
          <p:cNvSpPr>
            <a:spLocks noGrp="1"/>
          </p:cNvSpPr>
          <p:nvPr>
            <p:ph type="sldNum" sz="quarter" idx="4294967295"/>
          </p:nvPr>
        </p:nvSpPr>
        <p:spPr>
          <a:xfrm>
            <a:off x="11201400" y="6382512"/>
            <a:ext cx="548640" cy="292608"/>
          </a:xfrm>
          <a:prstGeom prst="rect">
            <a:avLst/>
          </a:prstGeom>
          <a:extLst>
            <a:ext uri="{C572A759-6A51-4108-AA02-DFA0A04FC94B}">
              <ma14:wrappingTextBoxFlag xmlns:ma14="http://schemas.microsoft.com/office/mac/drawingml/2011/main" val="0"/>
            </a:ext>
          </a:extLst>
        </p:spPr>
        <p:txBody>
          <a:bodyPr/>
          <a:lstStyle>
            <a:lvl1pPr>
              <a:defRPr sz="1400">
                <a:solidFill>
                  <a:srgbClr val="7A8C94"/>
                </a:solidFill>
              </a:defRPr>
            </a:lvl1pPr>
          </a:lstStyle>
          <a:p>
            <a:pPr algn="r"/>
            <a:fld id="{F7021451-1387-4CA6-816F-3879F97B5CBC}" type="slidenum">
              <a:rPr b="0"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3" name="Text 0"/>
          <p:cNvSpPr/>
          <p:nvPr>
            <p:ph idx="100" type="title" hasCustomPrompt="1"/>
          </p:nvPr>
        </p:nvSpPr>
        <p:spPr>
          <a:xfrm>
            <a:off x="548640" y="320040"/>
            <a:ext cx="10607040" cy="868680"/>
          </a:xfrm>
          <a:prstGeom prst="rect">
            <a:avLst/>
          </a:prstGeom>
          <a:noFill/>
          <a:ln/>
        </p:spPr>
        <p:txBody>
          <a:bodyPr wrap="square" lIns="0" tIns="0" rIns="0" bIns="0" rtlCol="0" anchor="ctr"/>
          <a:lstStyle/>
          <a:p>
            <a:pPr algn="l" indent="0" marL="0">
              <a:buNone/>
            </a:pPr>
            <a:r>
              <a:rPr lang="en-US" sz="3600" b="1" dirty="0">
                <a:solidFill>
                  <a:schemeClr val="accent1"/>
                </a:solidFill>
              </a:rPr>
              <a:t>Hedefler</a:t>
            </a:r>
            <a:endParaRPr lang="en-US" sz="3600" dirty="0"/>
          </a:p>
        </p:txBody>
      </p:sp>
      <p:sp>
        <p:nvSpPr>
          <p:cNvPr id="4" name="Ikon zemini"/>
          <p:cNvSpPr/>
          <p:nvPr/>
        </p:nvSpPr>
        <p:spPr>
          <a:xfrm>
            <a:off x="731520" y="1508760"/>
            <a:ext cx="1097280" cy="1097280"/>
          </a:xfrm>
          <a:prstGeom prst="ellipse">
            <a:avLst/>
          </a:prstGeom>
          <a:solidFill>
            <a:schemeClr val="accent2"/>
          </a:solidFill>
          <a:ln w="12700">
            <a:solidFill>
              <a:schemeClr val="accent2"/>
            </a:solidFill>
            <a:prstDash val="solid"/>
          </a:ln>
        </p:spPr>
      </p:sp>
      <p:pic>
        <p:nvPicPr>
          <p:cNvPr id="5" name="Ikon" descr="FaBalanceScale">    </p:cNvPr>
          <p:cNvPicPr>
            <a:picLocks noChangeAspect="1"/>
          </p:cNvPicPr>
          <p:nvPr/>
        </p:nvPicPr>
        <p:blipFill>
          <a:blip r:embed="rId1"/>
          <a:stretch>
            <a:fillRect/>
          </a:stretch>
        </p:blipFill>
        <p:spPr>
          <a:xfrm>
            <a:off x="1016813" y="1794053"/>
            <a:ext cx="526694" cy="526694"/>
          </a:xfrm>
          <a:prstGeom prst="rect">
            <a:avLst/>
          </a:prstGeom>
        </p:spPr>
      </p:pic>
      <p:sp>
        <p:nvSpPr>
          <p:cNvPr id="6" name="Text 2"/>
          <p:cNvSpPr txBox="1"/>
          <p:nvPr/>
        </p:nvSpPr>
        <p:spPr>
          <a:xfrm>
            <a:off x="2148840" y="1554480"/>
            <a:ext cx="8778240" cy="548640"/>
          </a:xfrm>
          <a:prstGeom prst="rect">
            <a:avLst/>
          </a:prstGeom>
          <a:noFill/>
          <a:ln/>
        </p:spPr>
        <p:txBody>
          <a:bodyPr wrap="square" lIns="0" tIns="0" rIns="0" bIns="0" rtlCol="0" anchor="ctr"/>
          <a:lstStyle/>
          <a:p>
            <a:pPr indent="0" marL="0">
              <a:buNone/>
            </a:pPr>
            <a:r>
              <a:rPr lang="en-US" sz="2800" b="1" dirty="0">
                <a:solidFill>
                  <a:schemeClr val="accent1"/>
                </a:solidFill>
              </a:rPr>
              <a:t>Tedavilerin etkinliğini karşılaştırmak</a:t>
            </a:r>
            <a:endParaRPr lang="en-US" sz="2800" dirty="0"/>
          </a:p>
        </p:txBody>
      </p:sp>
      <p:sp>
        <p:nvSpPr>
          <p:cNvPr id="7" name="Text 3"/>
          <p:cNvSpPr txBox="1"/>
          <p:nvPr/>
        </p:nvSpPr>
        <p:spPr>
          <a:xfrm>
            <a:off x="2148840" y="2103120"/>
            <a:ext cx="8778240" cy="457200"/>
          </a:xfrm>
          <a:prstGeom prst="rect">
            <a:avLst/>
          </a:prstGeom>
          <a:noFill/>
          <a:ln/>
        </p:spPr>
        <p:txBody>
          <a:bodyPr wrap="square" lIns="0" tIns="0" rIns="0" bIns="0" rtlCol="0" anchor="ctr"/>
          <a:lstStyle/>
          <a:p>
            <a:pPr indent="0" marL="0">
              <a:buNone/>
            </a:pPr>
            <a:r>
              <a:rPr lang="en-US" sz="2200" dirty="0">
                <a:solidFill>
                  <a:schemeClr val="accent3"/>
                </a:solidFill>
              </a:rPr>
              <a:t>Gerçek yaşam verisiyle</a:t>
            </a:r>
            <a:endParaRPr lang="en-US" sz="2200" dirty="0"/>
          </a:p>
        </p:txBody>
      </p:sp>
      <p:sp>
        <p:nvSpPr>
          <p:cNvPr id="8" name="Ikon zemini"/>
          <p:cNvSpPr/>
          <p:nvPr/>
        </p:nvSpPr>
        <p:spPr>
          <a:xfrm>
            <a:off x="731520" y="3063240"/>
            <a:ext cx="1097280" cy="1097280"/>
          </a:xfrm>
          <a:prstGeom prst="ellipse">
            <a:avLst/>
          </a:prstGeom>
          <a:solidFill>
            <a:schemeClr val="accent1"/>
          </a:solidFill>
          <a:ln w="12700">
            <a:solidFill>
              <a:schemeClr val="accent1"/>
            </a:solidFill>
            <a:prstDash val="solid"/>
          </a:ln>
        </p:spPr>
      </p:sp>
      <p:pic>
        <p:nvPicPr>
          <p:cNvPr id="9" name="Ikon" descr="FaUsers">    </p:cNvPr>
          <p:cNvPicPr>
            <a:picLocks noChangeAspect="1"/>
          </p:cNvPicPr>
          <p:nvPr/>
        </p:nvPicPr>
        <p:blipFill>
          <a:blip r:embed="rId2"/>
          <a:stretch>
            <a:fillRect/>
          </a:stretch>
        </p:blipFill>
        <p:spPr>
          <a:xfrm>
            <a:off x="1016813" y="3348533"/>
            <a:ext cx="526694" cy="526694"/>
          </a:xfrm>
          <a:prstGeom prst="rect">
            <a:avLst/>
          </a:prstGeom>
        </p:spPr>
      </p:pic>
      <p:sp>
        <p:nvSpPr>
          <p:cNvPr id="10" name="Text 5"/>
          <p:cNvSpPr txBox="1"/>
          <p:nvPr/>
        </p:nvSpPr>
        <p:spPr>
          <a:xfrm>
            <a:off x="2148840" y="3108960"/>
            <a:ext cx="8778240" cy="548640"/>
          </a:xfrm>
          <a:prstGeom prst="rect">
            <a:avLst/>
          </a:prstGeom>
          <a:noFill/>
          <a:ln/>
        </p:spPr>
        <p:txBody>
          <a:bodyPr wrap="square" lIns="0" tIns="0" rIns="0" bIns="0" rtlCol="0" anchor="ctr"/>
          <a:lstStyle/>
          <a:p>
            <a:pPr indent="0" marL="0">
              <a:buNone/>
            </a:pPr>
            <a:r>
              <a:rPr lang="en-US" sz="2800" b="1" dirty="0">
                <a:solidFill>
                  <a:schemeClr val="accent1"/>
                </a:solidFill>
              </a:rPr>
              <a:t>Başarıyı etkileyen faktörleri tanımak</a:t>
            </a:r>
            <a:endParaRPr lang="en-US" sz="2800" dirty="0"/>
          </a:p>
        </p:txBody>
      </p:sp>
      <p:sp>
        <p:nvSpPr>
          <p:cNvPr id="11" name="Text 6"/>
          <p:cNvSpPr txBox="1"/>
          <p:nvPr/>
        </p:nvSpPr>
        <p:spPr>
          <a:xfrm>
            <a:off x="2148840" y="3657600"/>
            <a:ext cx="8778240" cy="457200"/>
          </a:xfrm>
          <a:prstGeom prst="rect">
            <a:avLst/>
          </a:prstGeom>
          <a:noFill/>
          <a:ln/>
        </p:spPr>
        <p:txBody>
          <a:bodyPr wrap="square" lIns="0" tIns="0" rIns="0" bIns="0" rtlCol="0" anchor="ctr"/>
          <a:lstStyle/>
          <a:p>
            <a:pPr indent="0" marL="0">
              <a:buNone/>
            </a:pPr>
            <a:r>
              <a:rPr lang="en-US" sz="2200" dirty="0">
                <a:solidFill>
                  <a:schemeClr val="accent3"/>
                </a:solidFill>
              </a:rPr>
              <a:t>Hasta ve çevre özellikleri</a:t>
            </a:r>
            <a:endParaRPr lang="en-US" sz="2200" dirty="0"/>
          </a:p>
        </p:txBody>
      </p:sp>
      <p:sp>
        <p:nvSpPr>
          <p:cNvPr id="12" name="Ikon zemini"/>
          <p:cNvSpPr/>
          <p:nvPr/>
        </p:nvSpPr>
        <p:spPr>
          <a:xfrm>
            <a:off x="731520" y="4617720"/>
            <a:ext cx="1097280" cy="1097280"/>
          </a:xfrm>
          <a:prstGeom prst="ellipse">
            <a:avLst/>
          </a:prstGeom>
          <a:solidFill>
            <a:schemeClr val="accent2"/>
          </a:solidFill>
          <a:ln w="12700">
            <a:solidFill>
              <a:schemeClr val="accent2"/>
            </a:solidFill>
            <a:prstDash val="solid"/>
          </a:ln>
        </p:spPr>
      </p:sp>
      <p:pic>
        <p:nvPicPr>
          <p:cNvPr id="13" name="Ikon" descr="FaSearch">    </p:cNvPr>
          <p:cNvPicPr>
            <a:picLocks noChangeAspect="1"/>
          </p:cNvPicPr>
          <p:nvPr/>
        </p:nvPicPr>
        <p:blipFill>
          <a:blip r:embed="rId3"/>
          <a:stretch>
            <a:fillRect/>
          </a:stretch>
        </p:blipFill>
        <p:spPr>
          <a:xfrm>
            <a:off x="1016813" y="4903013"/>
            <a:ext cx="526694" cy="526694"/>
          </a:xfrm>
          <a:prstGeom prst="rect">
            <a:avLst/>
          </a:prstGeom>
        </p:spPr>
      </p:pic>
      <p:sp>
        <p:nvSpPr>
          <p:cNvPr id="14" name="Text 8"/>
          <p:cNvSpPr txBox="1"/>
          <p:nvPr/>
        </p:nvSpPr>
        <p:spPr>
          <a:xfrm>
            <a:off x="2148840" y="4663440"/>
            <a:ext cx="8778240" cy="548640"/>
          </a:xfrm>
          <a:prstGeom prst="rect">
            <a:avLst/>
          </a:prstGeom>
          <a:noFill/>
          <a:ln/>
        </p:spPr>
        <p:txBody>
          <a:bodyPr wrap="square" lIns="0" tIns="0" rIns="0" bIns="0" rtlCol="0" anchor="ctr"/>
          <a:lstStyle/>
          <a:p>
            <a:pPr indent="0" marL="0">
              <a:buNone/>
            </a:pPr>
            <a:r>
              <a:rPr lang="en-US" sz="2800" b="1" dirty="0">
                <a:solidFill>
                  <a:schemeClr val="accent1"/>
                </a:solidFill>
              </a:rPr>
              <a:t>Makaleyi eleştirel değerlendirmek</a:t>
            </a:r>
            <a:endParaRPr lang="en-US" sz="2800" dirty="0"/>
          </a:p>
        </p:txBody>
      </p:sp>
      <p:sp>
        <p:nvSpPr>
          <p:cNvPr id="15" name="Text 9"/>
          <p:cNvSpPr txBox="1"/>
          <p:nvPr/>
        </p:nvSpPr>
        <p:spPr>
          <a:xfrm>
            <a:off x="2148840" y="5212080"/>
            <a:ext cx="8778240" cy="457200"/>
          </a:xfrm>
          <a:prstGeom prst="rect">
            <a:avLst/>
          </a:prstGeom>
          <a:noFill/>
          <a:ln/>
        </p:spPr>
        <p:txBody>
          <a:bodyPr wrap="square" lIns="0" tIns="0" rIns="0" bIns="0" rtlCol="0" anchor="ctr"/>
          <a:lstStyle/>
          <a:p>
            <a:pPr indent="0" marL="0">
              <a:buNone/>
            </a:pPr>
            <a:r>
              <a:rPr lang="en-US" sz="2200" dirty="0">
                <a:solidFill>
                  <a:schemeClr val="accent3"/>
                </a:solidFill>
              </a:rPr>
              <a:t>Yöntem ve raporlama açısından</a:t>
            </a:r>
            <a:endParaRPr lang="en-US" sz="2200" dirty="0"/>
          </a:p>
        </p:txBody>
      </p:sp>
      <p:sp>
        <p:nvSpPr>
          <p:cNvPr id="25" name="Slide Number Placeholder 0"/>
          <p:cNvSpPr>
            <a:spLocks noGrp="1"/>
          </p:cNvSpPr>
          <p:nvPr>
            <p:ph type="sldNum" sz="quarter" idx="4294967295"/>
          </p:nvPr>
        </p:nvSpPr>
        <p:spPr>
          <a:xfrm>
            <a:off x="11201400" y="6382512"/>
            <a:ext cx="548640" cy="292608"/>
          </a:xfrm>
          <a:prstGeom prst="rect">
            <a:avLst/>
          </a:prstGeom>
          <a:extLst>
            <a:ext uri="{C572A759-6A51-4108-AA02-DFA0A04FC94B}">
              <ma14:wrappingTextBoxFlag xmlns:ma14="http://schemas.microsoft.com/office/mac/drawingml/2011/main" val="0"/>
            </a:ext>
          </a:extLst>
        </p:spPr>
        <p:txBody>
          <a:bodyPr/>
          <a:lstStyle>
            <a:lvl1pPr>
              <a:defRPr sz="1400">
                <a:solidFill>
                  <a:srgbClr val="7A8C94"/>
                </a:solidFill>
              </a:defRPr>
            </a:lvl1pPr>
          </a:lstStyle>
          <a:p>
            <a:pPr algn="r"/>
            <a:fld id="{F7021451-1387-4CA6-816F-3879F97B5CBC}" type="slidenum">
              <a:rPr b="0"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3" name="Text 0"/>
          <p:cNvSpPr/>
          <p:nvPr>
            <p:ph idx="100" type="title" hasCustomPrompt="1"/>
          </p:nvPr>
        </p:nvSpPr>
        <p:spPr>
          <a:xfrm>
            <a:off x="548640" y="320040"/>
            <a:ext cx="10607040" cy="868680"/>
          </a:xfrm>
          <a:prstGeom prst="rect">
            <a:avLst/>
          </a:prstGeom>
          <a:noFill/>
          <a:ln/>
        </p:spPr>
        <p:txBody>
          <a:bodyPr wrap="square" lIns="0" tIns="0" rIns="0" bIns="0" rtlCol="0" anchor="ctr"/>
          <a:lstStyle/>
          <a:p>
            <a:pPr algn="l" indent="0" marL="0">
              <a:buNone/>
            </a:pPr>
            <a:r>
              <a:rPr lang="en-US" sz="3600" b="1" dirty="0">
                <a:solidFill>
                  <a:schemeClr val="accent1"/>
                </a:solidFill>
              </a:rPr>
              <a:t>Makale künyesi</a:t>
            </a:r>
            <a:endParaRPr lang="en-US" sz="3600" dirty="0"/>
          </a:p>
        </p:txBody>
      </p:sp>
      <p:sp>
        <p:nvSpPr>
          <p:cNvPr id="4" name="Görsel çerçeve"/>
          <p:cNvSpPr/>
          <p:nvPr/>
        </p:nvSpPr>
        <p:spPr>
          <a:xfrm>
            <a:off x="548640" y="1371600"/>
            <a:ext cx="4161732" cy="4892040"/>
          </a:xfrm>
          <a:prstGeom prst="rect">
            <a:avLst/>
          </a:prstGeom>
          <a:solidFill>
            <a:schemeClr val="bg1"/>
          </a:solidFill>
          <a:ln w="12700">
            <a:solidFill>
              <a:srgbClr val="C9DCDF"/>
            </a:solidFill>
            <a:prstDash val="solid"/>
          </a:ln>
          <a:effectLst>
            <a:outerShdw sx="100000" sy="100000" kx="0" ky="0" algn="bl" rotWithShape="0" blurRad="76200" dist="25400" dir="5400000">
              <a:srgbClr val="000000">
                <a:alpha val="18000"/>
              </a:srgbClr>
            </a:outerShdw>
          </a:effectLst>
        </p:spPr>
      </p:sp>
      <p:pic>
        <p:nvPicPr>
          <p:cNvPr id="5" name="Makale ilk sayfa" descr="Makalenin ilk sayfası">    </p:cNvPr>
          <p:cNvPicPr>
            <a:picLocks noChangeAspect="1"/>
          </p:cNvPicPr>
          <p:nvPr/>
        </p:nvPicPr>
        <p:blipFill>
          <a:blip r:embed="rId1"/>
          <a:stretch>
            <a:fillRect/>
          </a:stretch>
        </p:blipFill>
        <p:spPr>
          <a:xfrm>
            <a:off x="548640" y="1371600"/>
            <a:ext cx="4161732" cy="4892040"/>
          </a:xfrm>
          <a:prstGeom prst="rect">
            <a:avLst/>
          </a:prstGeom>
        </p:spPr>
      </p:pic>
      <p:sp>
        <p:nvSpPr>
          <p:cNvPr id="6" name="Text 2"/>
          <p:cNvSpPr txBox="1"/>
          <p:nvPr/>
        </p:nvSpPr>
        <p:spPr>
          <a:xfrm>
            <a:off x="5259012" y="1417320"/>
            <a:ext cx="1508760" cy="640080"/>
          </a:xfrm>
          <a:prstGeom prst="rect">
            <a:avLst/>
          </a:prstGeom>
          <a:noFill/>
          <a:ln/>
        </p:spPr>
        <p:txBody>
          <a:bodyPr wrap="square" lIns="0" tIns="0" rIns="0" bIns="0" rtlCol="0" anchor="ctr"/>
          <a:lstStyle/>
          <a:p>
            <a:pPr indent="0" marL="0">
              <a:buNone/>
            </a:pPr>
            <a:r>
              <a:rPr lang="en-US" sz="2200" b="1" dirty="0">
                <a:solidFill>
                  <a:schemeClr val="accent2"/>
                </a:solidFill>
              </a:rPr>
              <a:t>Dergi</a:t>
            </a:r>
            <a:endParaRPr lang="en-US" sz="2200" dirty="0"/>
          </a:p>
        </p:txBody>
      </p:sp>
      <p:sp>
        <p:nvSpPr>
          <p:cNvPr id="7" name="Text 3"/>
          <p:cNvSpPr txBox="1"/>
          <p:nvPr/>
        </p:nvSpPr>
        <p:spPr>
          <a:xfrm>
            <a:off x="6813492" y="1417320"/>
            <a:ext cx="4826820" cy="640080"/>
          </a:xfrm>
          <a:prstGeom prst="rect">
            <a:avLst/>
          </a:prstGeom>
          <a:noFill/>
          <a:ln/>
        </p:spPr>
        <p:txBody>
          <a:bodyPr wrap="square" lIns="0" tIns="0" rIns="0" bIns="0" rtlCol="0" anchor="ctr">
            <a:normAutofit/>
          </a:bodyPr>
          <a:lstStyle/>
          <a:p>
            <a:pPr indent="0" marL="0">
              <a:buNone/>
            </a:pPr>
            <a:r>
              <a:rPr lang="en-US" sz="2200" dirty="0">
                <a:solidFill>
                  <a:schemeClr val="accent1"/>
                </a:solidFill>
              </a:rPr>
              <a:t>Turk J Fam Pract</a:t>
            </a:r>
            <a:endParaRPr lang="en-US" sz="2200" dirty="0"/>
          </a:p>
        </p:txBody>
      </p:sp>
      <p:sp>
        <p:nvSpPr>
          <p:cNvPr id="8" name="Text 4"/>
          <p:cNvSpPr txBox="1"/>
          <p:nvPr/>
        </p:nvSpPr>
        <p:spPr>
          <a:xfrm>
            <a:off x="5259012" y="2203704"/>
            <a:ext cx="1508760" cy="640080"/>
          </a:xfrm>
          <a:prstGeom prst="rect">
            <a:avLst/>
          </a:prstGeom>
          <a:noFill/>
          <a:ln/>
        </p:spPr>
        <p:txBody>
          <a:bodyPr wrap="square" lIns="0" tIns="0" rIns="0" bIns="0" rtlCol="0" anchor="ctr"/>
          <a:lstStyle/>
          <a:p>
            <a:pPr indent="0" marL="0">
              <a:buNone/>
            </a:pPr>
            <a:r>
              <a:rPr lang="en-US" sz="2200" b="1" dirty="0">
                <a:solidFill>
                  <a:schemeClr val="accent2"/>
                </a:solidFill>
              </a:rPr>
              <a:t>Künye</a:t>
            </a:r>
            <a:endParaRPr lang="en-US" sz="2200" dirty="0"/>
          </a:p>
        </p:txBody>
      </p:sp>
      <p:sp>
        <p:nvSpPr>
          <p:cNvPr id="9" name="Text 5"/>
          <p:cNvSpPr txBox="1"/>
          <p:nvPr/>
        </p:nvSpPr>
        <p:spPr>
          <a:xfrm>
            <a:off x="6813492" y="2203704"/>
            <a:ext cx="4826820" cy="640080"/>
          </a:xfrm>
          <a:prstGeom prst="rect">
            <a:avLst/>
          </a:prstGeom>
          <a:noFill/>
          <a:ln/>
        </p:spPr>
        <p:txBody>
          <a:bodyPr wrap="square" lIns="0" tIns="0" rIns="0" bIns="0" rtlCol="0" anchor="ctr">
            <a:normAutofit/>
          </a:bodyPr>
          <a:lstStyle/>
          <a:p>
            <a:pPr indent="0" marL="0">
              <a:buNone/>
            </a:pPr>
            <a:r>
              <a:rPr lang="en-US" sz="2200" dirty="0">
                <a:solidFill>
                  <a:schemeClr val="accent1"/>
                </a:solidFill>
              </a:rPr>
              <a:t>2026;30(2):97-106</a:t>
            </a:r>
            <a:endParaRPr lang="en-US" sz="2200" dirty="0"/>
          </a:p>
        </p:txBody>
      </p:sp>
      <p:sp>
        <p:nvSpPr>
          <p:cNvPr id="10" name="Text 6"/>
          <p:cNvSpPr txBox="1"/>
          <p:nvPr/>
        </p:nvSpPr>
        <p:spPr>
          <a:xfrm>
            <a:off x="5259012" y="2990088"/>
            <a:ext cx="1508760" cy="640080"/>
          </a:xfrm>
          <a:prstGeom prst="rect">
            <a:avLst/>
          </a:prstGeom>
          <a:noFill/>
          <a:ln/>
        </p:spPr>
        <p:txBody>
          <a:bodyPr wrap="square" lIns="0" tIns="0" rIns="0" bIns="0" rtlCol="0" anchor="ctr"/>
          <a:lstStyle/>
          <a:p>
            <a:pPr indent="0" marL="0">
              <a:buNone/>
            </a:pPr>
            <a:r>
              <a:rPr lang="en-US" sz="2200" b="1" dirty="0">
                <a:solidFill>
                  <a:schemeClr val="accent2"/>
                </a:solidFill>
              </a:rPr>
              <a:t>Tür</a:t>
            </a:r>
            <a:endParaRPr lang="en-US" sz="2200" dirty="0"/>
          </a:p>
        </p:txBody>
      </p:sp>
      <p:sp>
        <p:nvSpPr>
          <p:cNvPr id="11" name="Text 7"/>
          <p:cNvSpPr txBox="1"/>
          <p:nvPr/>
        </p:nvSpPr>
        <p:spPr>
          <a:xfrm>
            <a:off x="6813492" y="2990088"/>
            <a:ext cx="4826820" cy="640080"/>
          </a:xfrm>
          <a:prstGeom prst="rect">
            <a:avLst/>
          </a:prstGeom>
          <a:noFill/>
          <a:ln/>
        </p:spPr>
        <p:txBody>
          <a:bodyPr wrap="square" lIns="0" tIns="0" rIns="0" bIns="0" rtlCol="0" anchor="ctr">
            <a:normAutofit/>
          </a:bodyPr>
          <a:lstStyle/>
          <a:p>
            <a:pPr indent="0" marL="0">
              <a:buNone/>
            </a:pPr>
            <a:r>
              <a:rPr lang="en-US" sz="2200" dirty="0">
                <a:solidFill>
                  <a:schemeClr val="accent1"/>
                </a:solidFill>
              </a:rPr>
              <a:t>Özgün araştırma makalesi</a:t>
            </a:r>
            <a:endParaRPr lang="en-US" sz="2200" dirty="0"/>
          </a:p>
        </p:txBody>
      </p:sp>
      <p:sp>
        <p:nvSpPr>
          <p:cNvPr id="12" name="Text 8"/>
          <p:cNvSpPr txBox="1"/>
          <p:nvPr/>
        </p:nvSpPr>
        <p:spPr>
          <a:xfrm>
            <a:off x="5259012" y="3776472"/>
            <a:ext cx="1508760" cy="640080"/>
          </a:xfrm>
          <a:prstGeom prst="rect">
            <a:avLst/>
          </a:prstGeom>
          <a:noFill/>
          <a:ln/>
        </p:spPr>
        <p:txBody>
          <a:bodyPr wrap="square" lIns="0" tIns="0" rIns="0" bIns="0" rtlCol="0" anchor="ctr"/>
          <a:lstStyle/>
          <a:p>
            <a:pPr indent="0" marL="0">
              <a:buNone/>
            </a:pPr>
            <a:r>
              <a:rPr lang="en-US" sz="2200" b="1" dirty="0">
                <a:solidFill>
                  <a:schemeClr val="accent2"/>
                </a:solidFill>
              </a:rPr>
              <a:t>Tasarım</a:t>
            </a:r>
            <a:endParaRPr lang="en-US" sz="2200" dirty="0"/>
          </a:p>
        </p:txBody>
      </p:sp>
      <p:sp>
        <p:nvSpPr>
          <p:cNvPr id="13" name="Text 9"/>
          <p:cNvSpPr txBox="1"/>
          <p:nvPr/>
        </p:nvSpPr>
        <p:spPr>
          <a:xfrm>
            <a:off x="6813492" y="3776472"/>
            <a:ext cx="4826820" cy="640080"/>
          </a:xfrm>
          <a:prstGeom prst="rect">
            <a:avLst/>
          </a:prstGeom>
          <a:noFill/>
          <a:ln/>
        </p:spPr>
        <p:txBody>
          <a:bodyPr wrap="square" lIns="0" tIns="0" rIns="0" bIns="0" rtlCol="0" anchor="ctr">
            <a:normAutofit/>
          </a:bodyPr>
          <a:lstStyle/>
          <a:p>
            <a:pPr indent="0" marL="0">
              <a:buNone/>
            </a:pPr>
            <a:r>
              <a:rPr lang="en-US" sz="2200" dirty="0">
                <a:solidFill>
                  <a:schemeClr val="accent1"/>
                </a:solidFill>
              </a:rPr>
              <a:t>Retrospektif, kesitsel</a:t>
            </a:r>
            <a:endParaRPr lang="en-US" sz="2200" dirty="0"/>
          </a:p>
        </p:txBody>
      </p:sp>
      <p:sp>
        <p:nvSpPr>
          <p:cNvPr id="14" name="Text 10"/>
          <p:cNvSpPr txBox="1"/>
          <p:nvPr/>
        </p:nvSpPr>
        <p:spPr>
          <a:xfrm>
            <a:off x="5259012" y="4562856"/>
            <a:ext cx="1508760" cy="640080"/>
          </a:xfrm>
          <a:prstGeom prst="rect">
            <a:avLst/>
          </a:prstGeom>
          <a:noFill/>
          <a:ln/>
        </p:spPr>
        <p:txBody>
          <a:bodyPr wrap="square" lIns="0" tIns="0" rIns="0" bIns="0" rtlCol="0" anchor="ctr"/>
          <a:lstStyle/>
          <a:p>
            <a:pPr indent="0" marL="0">
              <a:buNone/>
            </a:pPr>
            <a:r>
              <a:rPr lang="en-US" sz="2200" b="1" dirty="0">
                <a:solidFill>
                  <a:schemeClr val="accent2"/>
                </a:solidFill>
              </a:rPr>
              <a:t>Merkez</a:t>
            </a:r>
            <a:endParaRPr lang="en-US" sz="2200" dirty="0"/>
          </a:p>
        </p:txBody>
      </p:sp>
      <p:sp>
        <p:nvSpPr>
          <p:cNvPr id="15" name="Text 11"/>
          <p:cNvSpPr txBox="1"/>
          <p:nvPr/>
        </p:nvSpPr>
        <p:spPr>
          <a:xfrm>
            <a:off x="6813492" y="4562856"/>
            <a:ext cx="4826820" cy="640080"/>
          </a:xfrm>
          <a:prstGeom prst="rect">
            <a:avLst/>
          </a:prstGeom>
          <a:noFill/>
          <a:ln/>
        </p:spPr>
        <p:txBody>
          <a:bodyPr wrap="square" lIns="0" tIns="0" rIns="0" bIns="0" rtlCol="0" anchor="ctr">
            <a:normAutofit/>
          </a:bodyPr>
          <a:lstStyle/>
          <a:p>
            <a:pPr indent="0" marL="0">
              <a:buNone/>
            </a:pPr>
            <a:r>
              <a:rPr lang="en-US" sz="2200" dirty="0">
                <a:solidFill>
                  <a:schemeClr val="accent1"/>
                </a:solidFill>
              </a:rPr>
              <a:t>Samsun EAH Sigara Bırakma Polikliniği</a:t>
            </a:r>
            <a:endParaRPr lang="en-US" sz="2200" dirty="0"/>
          </a:p>
        </p:txBody>
      </p:sp>
      <p:sp>
        <p:nvSpPr>
          <p:cNvPr id="16" name="Text 12"/>
          <p:cNvSpPr txBox="1"/>
          <p:nvPr/>
        </p:nvSpPr>
        <p:spPr>
          <a:xfrm>
            <a:off x="5259012" y="5349240"/>
            <a:ext cx="1508760" cy="640080"/>
          </a:xfrm>
          <a:prstGeom prst="rect">
            <a:avLst/>
          </a:prstGeom>
          <a:noFill/>
          <a:ln/>
        </p:spPr>
        <p:txBody>
          <a:bodyPr wrap="square" lIns="0" tIns="0" rIns="0" bIns="0" rtlCol="0" anchor="ctr"/>
          <a:lstStyle/>
          <a:p>
            <a:pPr indent="0" marL="0">
              <a:buNone/>
            </a:pPr>
            <a:r>
              <a:rPr lang="en-US" sz="2200" b="1" dirty="0">
                <a:solidFill>
                  <a:schemeClr val="accent2"/>
                </a:solidFill>
              </a:rPr>
              <a:t>DOI</a:t>
            </a:r>
            <a:endParaRPr lang="en-US" sz="2200" dirty="0"/>
          </a:p>
        </p:txBody>
      </p:sp>
      <p:sp>
        <p:nvSpPr>
          <p:cNvPr id="17" name="Text 13"/>
          <p:cNvSpPr txBox="1"/>
          <p:nvPr/>
        </p:nvSpPr>
        <p:spPr>
          <a:xfrm>
            <a:off x="6813492" y="5349240"/>
            <a:ext cx="4826820" cy="640080"/>
          </a:xfrm>
          <a:prstGeom prst="rect">
            <a:avLst/>
          </a:prstGeom>
          <a:noFill/>
          <a:ln/>
        </p:spPr>
        <p:txBody>
          <a:bodyPr wrap="square" lIns="0" tIns="0" rIns="0" bIns="0" rtlCol="0" anchor="ctr">
            <a:normAutofit/>
          </a:bodyPr>
          <a:lstStyle/>
          <a:p>
            <a:pPr indent="0" marL="0">
              <a:buNone/>
            </a:pPr>
            <a:r>
              <a:rPr lang="en-US" sz="2200" dirty="0">
                <a:solidFill>
                  <a:schemeClr val="accent1"/>
                </a:solidFill>
              </a:rPr>
              <a:t>10.54308/TJFP.2026.912</a:t>
            </a:r>
            <a:endParaRPr lang="en-US" sz="2200" dirty="0"/>
          </a:p>
        </p:txBody>
      </p:sp>
      <p:sp>
        <p:nvSpPr>
          <p:cNvPr id="18" name="Kaynak"/>
          <p:cNvSpPr txBox="1"/>
          <p:nvPr/>
        </p:nvSpPr>
        <p:spPr>
          <a:xfrm>
            <a:off x="548640" y="6382512"/>
            <a:ext cx="10424160" cy="292608"/>
          </a:xfrm>
          <a:prstGeom prst="rect">
            <a:avLst/>
          </a:prstGeom>
          <a:noFill/>
          <a:ln/>
        </p:spPr>
        <p:txBody>
          <a:bodyPr wrap="square" lIns="0" tIns="0" rIns="0" bIns="0" rtlCol="0" anchor="ctr"/>
          <a:lstStyle/>
          <a:p>
            <a:pPr indent="0" marL="0">
              <a:buNone/>
            </a:pPr>
            <a:r>
              <a:rPr lang="en-US" sz="1200" i="1" dirty="0">
                <a:solidFill>
                  <a:schemeClr val="accent3"/>
                </a:solidFill>
              </a:rPr>
              <a:t>Görsel: Cenberlitaş E, Gökçe A, Öztürk O. Turk J Fam Pract. 2026;30(2):97-106. (CC BY)</a:t>
            </a:r>
            <a:endParaRPr lang="en-US" sz="1200" dirty="0"/>
          </a:p>
        </p:txBody>
      </p:sp>
      <p:sp>
        <p:nvSpPr>
          <p:cNvPr id="25" name="Slide Number Placeholder 0"/>
          <p:cNvSpPr>
            <a:spLocks noGrp="1"/>
          </p:cNvSpPr>
          <p:nvPr>
            <p:ph type="sldNum" sz="quarter" idx="4294967295"/>
          </p:nvPr>
        </p:nvSpPr>
        <p:spPr>
          <a:xfrm>
            <a:off x="11201400" y="6382512"/>
            <a:ext cx="548640" cy="292608"/>
          </a:xfrm>
          <a:prstGeom prst="rect">
            <a:avLst/>
          </a:prstGeom>
          <a:extLst>
            <a:ext uri="{C572A759-6A51-4108-AA02-DFA0A04FC94B}">
              <ma14:wrappingTextBoxFlag xmlns:ma14="http://schemas.microsoft.com/office/mac/drawingml/2011/main" val="0"/>
            </a:ext>
          </a:extLst>
        </p:spPr>
        <p:txBody>
          <a:bodyPr/>
          <a:lstStyle>
            <a:lvl1pPr>
              <a:defRPr sz="1400">
                <a:solidFill>
                  <a:srgbClr val="7A8C94"/>
                </a:solidFill>
              </a:defRPr>
            </a:lvl1pPr>
          </a:lstStyle>
          <a:p>
            <a:pPr algn="r"/>
            <a:fld id="{F7021451-1387-4CA6-816F-3879F97B5CBC}" type="slidenum">
              <a:rPr b="0"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3" name="Text 0"/>
          <p:cNvSpPr/>
          <p:nvPr>
            <p:ph idx="100" type="title" hasCustomPrompt="1"/>
          </p:nvPr>
        </p:nvSpPr>
        <p:spPr>
          <a:xfrm>
            <a:off x="548640" y="320040"/>
            <a:ext cx="10607040" cy="868680"/>
          </a:xfrm>
          <a:prstGeom prst="rect">
            <a:avLst/>
          </a:prstGeom>
          <a:noFill/>
          <a:ln/>
        </p:spPr>
        <p:txBody>
          <a:bodyPr wrap="square" lIns="0" tIns="0" rIns="0" bIns="0" rtlCol="0" anchor="ctr"/>
          <a:lstStyle/>
          <a:p>
            <a:pPr algn="l" indent="0" marL="0">
              <a:buNone/>
            </a:pPr>
            <a:r>
              <a:rPr lang="en-US" sz="3600" b="1" dirty="0">
                <a:solidFill>
                  <a:schemeClr val="accent1"/>
                </a:solidFill>
              </a:rPr>
              <a:t>Sorunun büyüklüğü</a:t>
            </a:r>
            <a:endParaRPr lang="en-US" sz="3600" dirty="0"/>
          </a:p>
        </p:txBody>
      </p:sp>
      <p:sp>
        <p:nvSpPr>
          <p:cNvPr id="4" name="Kart"/>
          <p:cNvSpPr/>
          <p:nvPr/>
        </p:nvSpPr>
        <p:spPr>
          <a:xfrm>
            <a:off x="548640" y="1508760"/>
            <a:ext cx="2633472" cy="4206240"/>
          </a:xfrm>
          <a:prstGeom prst="roundRect">
            <a:avLst>
              <a:gd name="adj" fmla="val 4167"/>
            </a:avLst>
          </a:prstGeom>
          <a:solidFill>
            <a:schemeClr val="bg2"/>
          </a:solidFill>
          <a:ln w="12700">
            <a:solidFill>
              <a:schemeClr val="bg2"/>
            </a:solidFill>
            <a:prstDash val="solid"/>
          </a:ln>
        </p:spPr>
      </p:sp>
      <p:sp>
        <p:nvSpPr>
          <p:cNvPr id="5" name="Ikon zemini"/>
          <p:cNvSpPr/>
          <p:nvPr/>
        </p:nvSpPr>
        <p:spPr>
          <a:xfrm>
            <a:off x="1408176" y="1783080"/>
            <a:ext cx="914400" cy="914400"/>
          </a:xfrm>
          <a:prstGeom prst="ellipse">
            <a:avLst/>
          </a:prstGeom>
          <a:solidFill>
            <a:schemeClr val="accent1"/>
          </a:solidFill>
          <a:ln w="12700">
            <a:solidFill>
              <a:schemeClr val="accent1"/>
            </a:solidFill>
            <a:prstDash val="solid"/>
          </a:ln>
        </p:spPr>
      </p:sp>
      <p:pic>
        <p:nvPicPr>
          <p:cNvPr id="6" name="Ikon" descr="FaUserFriends">    </p:cNvPr>
          <p:cNvPicPr>
            <a:picLocks noChangeAspect="1"/>
          </p:cNvPicPr>
          <p:nvPr/>
        </p:nvPicPr>
        <p:blipFill>
          <a:blip r:embed="rId1"/>
          <a:stretch>
            <a:fillRect/>
          </a:stretch>
        </p:blipFill>
        <p:spPr>
          <a:xfrm>
            <a:off x="1645920" y="2020824"/>
            <a:ext cx="438912" cy="438912"/>
          </a:xfrm>
          <a:prstGeom prst="rect">
            <a:avLst/>
          </a:prstGeom>
        </p:spPr>
      </p:pic>
      <p:sp>
        <p:nvSpPr>
          <p:cNvPr id="7" name="Text 3"/>
          <p:cNvSpPr txBox="1"/>
          <p:nvPr/>
        </p:nvSpPr>
        <p:spPr>
          <a:xfrm>
            <a:off x="640080" y="2880360"/>
            <a:ext cx="2450592" cy="1097280"/>
          </a:xfrm>
          <a:prstGeom prst="rect">
            <a:avLst/>
          </a:prstGeom>
          <a:noFill/>
          <a:ln/>
        </p:spPr>
        <p:txBody>
          <a:bodyPr wrap="square" lIns="0" tIns="0" rIns="0" bIns="0" rtlCol="0" anchor="ctr"/>
          <a:lstStyle/>
          <a:p>
            <a:pPr algn="ctr" indent="0" marL="0">
              <a:buNone/>
            </a:pPr>
            <a:r>
              <a:rPr lang="en-US" sz="4000" b="1" dirty="0">
                <a:solidFill>
                  <a:schemeClr val="accent1"/>
                </a:solidFill>
              </a:rPr>
              <a:t>%44,1</a:t>
            </a:r>
            <a:endParaRPr lang="en-US" sz="4000" dirty="0"/>
          </a:p>
        </p:txBody>
      </p:sp>
      <p:sp>
        <p:nvSpPr>
          <p:cNvPr id="8" name="Text 4"/>
          <p:cNvSpPr txBox="1"/>
          <p:nvPr/>
        </p:nvSpPr>
        <p:spPr>
          <a:xfrm>
            <a:off x="777240" y="4069080"/>
            <a:ext cx="2176272" cy="1371600"/>
          </a:xfrm>
          <a:prstGeom prst="rect">
            <a:avLst/>
          </a:prstGeom>
          <a:noFill/>
          <a:ln/>
        </p:spPr>
        <p:txBody>
          <a:bodyPr wrap="square" lIns="0" tIns="0" rIns="0" bIns="0" rtlCol="0" anchor="t"/>
          <a:lstStyle/>
          <a:p>
            <a:pPr algn="ctr" indent="0" marL="0">
              <a:buNone/>
            </a:pPr>
            <a:r>
              <a:rPr lang="en-US" sz="2000" dirty="0">
                <a:solidFill>
                  <a:schemeClr val="accent1"/>
                </a:solidFill>
              </a:rPr>
              <a:t>Erkeklerde sigara içme sıklığı</a:t>
            </a:r>
            <a:endParaRPr lang="en-US" sz="2000" dirty="0"/>
          </a:p>
        </p:txBody>
      </p:sp>
      <p:sp>
        <p:nvSpPr>
          <p:cNvPr id="9" name="Kart"/>
          <p:cNvSpPr/>
          <p:nvPr/>
        </p:nvSpPr>
        <p:spPr>
          <a:xfrm>
            <a:off x="3364992" y="1508760"/>
            <a:ext cx="2633472" cy="4206240"/>
          </a:xfrm>
          <a:prstGeom prst="roundRect">
            <a:avLst>
              <a:gd name="adj" fmla="val 4167"/>
            </a:avLst>
          </a:prstGeom>
          <a:solidFill>
            <a:schemeClr val="bg2"/>
          </a:solidFill>
          <a:ln w="12700">
            <a:solidFill>
              <a:schemeClr val="bg2"/>
            </a:solidFill>
            <a:prstDash val="solid"/>
          </a:ln>
        </p:spPr>
      </p:sp>
      <p:sp>
        <p:nvSpPr>
          <p:cNvPr id="10" name="Ikon zemini"/>
          <p:cNvSpPr/>
          <p:nvPr/>
        </p:nvSpPr>
        <p:spPr>
          <a:xfrm>
            <a:off x="4224528" y="1783080"/>
            <a:ext cx="914400" cy="914400"/>
          </a:xfrm>
          <a:prstGeom prst="ellipse">
            <a:avLst/>
          </a:prstGeom>
          <a:solidFill>
            <a:schemeClr val="accent1"/>
          </a:solidFill>
          <a:ln w="12700">
            <a:solidFill>
              <a:schemeClr val="accent1"/>
            </a:solidFill>
            <a:prstDash val="solid"/>
          </a:ln>
        </p:spPr>
      </p:sp>
      <p:pic>
        <p:nvPicPr>
          <p:cNvPr id="11" name="Ikon" descr="FaUserFriends">    </p:cNvPr>
          <p:cNvPicPr>
            <a:picLocks noChangeAspect="1"/>
          </p:cNvPicPr>
          <p:nvPr/>
        </p:nvPicPr>
        <p:blipFill>
          <a:blip r:embed="rId2"/>
          <a:stretch>
            <a:fillRect/>
          </a:stretch>
        </p:blipFill>
        <p:spPr>
          <a:xfrm>
            <a:off x="4462272" y="2020824"/>
            <a:ext cx="438912" cy="438912"/>
          </a:xfrm>
          <a:prstGeom prst="rect">
            <a:avLst/>
          </a:prstGeom>
        </p:spPr>
      </p:pic>
      <p:sp>
        <p:nvSpPr>
          <p:cNvPr id="12" name="Text 7"/>
          <p:cNvSpPr txBox="1"/>
          <p:nvPr/>
        </p:nvSpPr>
        <p:spPr>
          <a:xfrm>
            <a:off x="3456432" y="2880360"/>
            <a:ext cx="2450592" cy="1097280"/>
          </a:xfrm>
          <a:prstGeom prst="rect">
            <a:avLst/>
          </a:prstGeom>
          <a:noFill/>
          <a:ln/>
        </p:spPr>
        <p:txBody>
          <a:bodyPr wrap="square" lIns="0" tIns="0" rIns="0" bIns="0" rtlCol="0" anchor="ctr"/>
          <a:lstStyle/>
          <a:p>
            <a:pPr algn="ctr" indent="0" marL="0">
              <a:buNone/>
            </a:pPr>
            <a:r>
              <a:rPr lang="en-US" sz="4000" b="1" dirty="0">
                <a:solidFill>
                  <a:schemeClr val="accent1"/>
                </a:solidFill>
              </a:rPr>
              <a:t>%19,2</a:t>
            </a:r>
            <a:endParaRPr lang="en-US" sz="4000" dirty="0"/>
          </a:p>
        </p:txBody>
      </p:sp>
      <p:sp>
        <p:nvSpPr>
          <p:cNvPr id="13" name="Text 8"/>
          <p:cNvSpPr txBox="1"/>
          <p:nvPr/>
        </p:nvSpPr>
        <p:spPr>
          <a:xfrm>
            <a:off x="3593592" y="4069080"/>
            <a:ext cx="2176272" cy="1371600"/>
          </a:xfrm>
          <a:prstGeom prst="rect">
            <a:avLst/>
          </a:prstGeom>
          <a:noFill/>
          <a:ln/>
        </p:spPr>
        <p:txBody>
          <a:bodyPr wrap="square" lIns="0" tIns="0" rIns="0" bIns="0" rtlCol="0" anchor="t"/>
          <a:lstStyle/>
          <a:p>
            <a:pPr algn="ctr" indent="0" marL="0">
              <a:buNone/>
            </a:pPr>
            <a:r>
              <a:rPr lang="en-US" sz="2000" dirty="0">
                <a:solidFill>
                  <a:schemeClr val="accent1"/>
                </a:solidFill>
              </a:rPr>
              <a:t>Kadınlarda sigara içme sıklığı</a:t>
            </a:r>
            <a:endParaRPr lang="en-US" sz="2000" dirty="0"/>
          </a:p>
        </p:txBody>
      </p:sp>
      <p:sp>
        <p:nvSpPr>
          <p:cNvPr id="14" name="Kart"/>
          <p:cNvSpPr/>
          <p:nvPr/>
        </p:nvSpPr>
        <p:spPr>
          <a:xfrm>
            <a:off x="6181344" y="1508760"/>
            <a:ext cx="2633472" cy="4206240"/>
          </a:xfrm>
          <a:prstGeom prst="roundRect">
            <a:avLst>
              <a:gd name="adj" fmla="val 4167"/>
            </a:avLst>
          </a:prstGeom>
          <a:solidFill>
            <a:schemeClr val="bg2"/>
          </a:solidFill>
          <a:ln w="12700">
            <a:solidFill>
              <a:schemeClr val="bg2"/>
            </a:solidFill>
            <a:prstDash val="solid"/>
          </a:ln>
        </p:spPr>
      </p:sp>
      <p:sp>
        <p:nvSpPr>
          <p:cNvPr id="15" name="Ikon zemini"/>
          <p:cNvSpPr/>
          <p:nvPr/>
        </p:nvSpPr>
        <p:spPr>
          <a:xfrm>
            <a:off x="7040880" y="1783080"/>
            <a:ext cx="914400" cy="914400"/>
          </a:xfrm>
          <a:prstGeom prst="ellipse">
            <a:avLst/>
          </a:prstGeom>
          <a:solidFill>
            <a:schemeClr val="accent2"/>
          </a:solidFill>
          <a:ln w="12700">
            <a:solidFill>
              <a:schemeClr val="accent2"/>
            </a:solidFill>
            <a:prstDash val="solid"/>
          </a:ln>
        </p:spPr>
      </p:sp>
      <p:pic>
        <p:nvPicPr>
          <p:cNvPr id="16" name="Ikon" descr="FaHospital">    </p:cNvPr>
          <p:cNvPicPr>
            <a:picLocks noChangeAspect="1"/>
          </p:cNvPicPr>
          <p:nvPr/>
        </p:nvPicPr>
        <p:blipFill>
          <a:blip r:embed="rId3"/>
          <a:stretch>
            <a:fillRect/>
          </a:stretch>
        </p:blipFill>
        <p:spPr>
          <a:xfrm>
            <a:off x="7278624" y="2020824"/>
            <a:ext cx="438912" cy="438912"/>
          </a:xfrm>
          <a:prstGeom prst="rect">
            <a:avLst/>
          </a:prstGeom>
        </p:spPr>
      </p:pic>
      <p:sp>
        <p:nvSpPr>
          <p:cNvPr id="17" name="Text 11"/>
          <p:cNvSpPr txBox="1"/>
          <p:nvPr/>
        </p:nvSpPr>
        <p:spPr>
          <a:xfrm>
            <a:off x="6272784" y="2880360"/>
            <a:ext cx="2450592" cy="1097280"/>
          </a:xfrm>
          <a:prstGeom prst="rect">
            <a:avLst/>
          </a:prstGeom>
          <a:noFill/>
          <a:ln/>
        </p:spPr>
        <p:txBody>
          <a:bodyPr wrap="square" lIns="0" tIns="0" rIns="0" bIns="0" rtlCol="0" anchor="ctr"/>
          <a:lstStyle/>
          <a:p>
            <a:pPr algn="ctr" indent="0" marL="0">
              <a:buNone/>
            </a:pPr>
            <a:r>
              <a:rPr lang="en-US" sz="4000" b="1" dirty="0">
                <a:solidFill>
                  <a:schemeClr val="accent2"/>
                </a:solidFill>
              </a:rPr>
              <a:t>&gt;500</a:t>
            </a:r>
            <a:endParaRPr lang="en-US" sz="4000" dirty="0"/>
          </a:p>
        </p:txBody>
      </p:sp>
      <p:sp>
        <p:nvSpPr>
          <p:cNvPr id="18" name="Text 12"/>
          <p:cNvSpPr txBox="1"/>
          <p:nvPr/>
        </p:nvSpPr>
        <p:spPr>
          <a:xfrm>
            <a:off x="6409944" y="4069080"/>
            <a:ext cx="2176272" cy="1371600"/>
          </a:xfrm>
          <a:prstGeom prst="rect">
            <a:avLst/>
          </a:prstGeom>
          <a:noFill/>
          <a:ln/>
        </p:spPr>
        <p:txBody>
          <a:bodyPr wrap="square" lIns="0" tIns="0" rIns="0" bIns="0" rtlCol="0" anchor="t"/>
          <a:lstStyle/>
          <a:p>
            <a:pPr algn="ctr" indent="0" marL="0">
              <a:buNone/>
            </a:pPr>
            <a:r>
              <a:rPr lang="en-US" sz="2000" dirty="0">
                <a:solidFill>
                  <a:schemeClr val="accent1"/>
                </a:solidFill>
              </a:rPr>
              <a:t>Sigara bırakma polikliniği</a:t>
            </a:r>
            <a:endParaRPr lang="en-US" sz="2000" dirty="0"/>
          </a:p>
        </p:txBody>
      </p:sp>
      <p:sp>
        <p:nvSpPr>
          <p:cNvPr id="19" name="Kart"/>
          <p:cNvSpPr/>
          <p:nvPr/>
        </p:nvSpPr>
        <p:spPr>
          <a:xfrm>
            <a:off x="8997696" y="1508760"/>
            <a:ext cx="2633472" cy="4206240"/>
          </a:xfrm>
          <a:prstGeom prst="roundRect">
            <a:avLst>
              <a:gd name="adj" fmla="val 4167"/>
            </a:avLst>
          </a:prstGeom>
          <a:solidFill>
            <a:schemeClr val="bg2"/>
          </a:solidFill>
          <a:ln w="12700">
            <a:solidFill>
              <a:schemeClr val="bg2"/>
            </a:solidFill>
            <a:prstDash val="solid"/>
          </a:ln>
        </p:spPr>
      </p:sp>
      <p:sp>
        <p:nvSpPr>
          <p:cNvPr id="20" name="Ikon zemini"/>
          <p:cNvSpPr/>
          <p:nvPr/>
        </p:nvSpPr>
        <p:spPr>
          <a:xfrm>
            <a:off x="9857232" y="1783080"/>
            <a:ext cx="914400" cy="914400"/>
          </a:xfrm>
          <a:prstGeom prst="ellipse">
            <a:avLst/>
          </a:prstGeom>
          <a:solidFill>
            <a:schemeClr val="accent2"/>
          </a:solidFill>
          <a:ln w="12700">
            <a:solidFill>
              <a:schemeClr val="accent2"/>
            </a:solidFill>
            <a:prstDash val="solid"/>
          </a:ln>
        </p:spPr>
      </p:sp>
      <p:pic>
        <p:nvPicPr>
          <p:cNvPr id="21" name="Ikon" descr="FaSmokingBan">    </p:cNvPr>
          <p:cNvPicPr>
            <a:picLocks noChangeAspect="1"/>
          </p:cNvPicPr>
          <p:nvPr/>
        </p:nvPicPr>
        <p:blipFill>
          <a:blip r:embed="rId4"/>
          <a:stretch>
            <a:fillRect/>
          </a:stretch>
        </p:blipFill>
        <p:spPr>
          <a:xfrm>
            <a:off x="10094976" y="2020824"/>
            <a:ext cx="438912" cy="438912"/>
          </a:xfrm>
          <a:prstGeom prst="rect">
            <a:avLst/>
          </a:prstGeom>
        </p:spPr>
      </p:pic>
      <p:sp>
        <p:nvSpPr>
          <p:cNvPr id="22" name="Text 15"/>
          <p:cNvSpPr txBox="1"/>
          <p:nvPr/>
        </p:nvSpPr>
        <p:spPr>
          <a:xfrm>
            <a:off x="9089136" y="2880360"/>
            <a:ext cx="2450592" cy="1097280"/>
          </a:xfrm>
          <a:prstGeom prst="rect">
            <a:avLst/>
          </a:prstGeom>
          <a:noFill/>
          <a:ln/>
        </p:spPr>
        <p:txBody>
          <a:bodyPr wrap="square" lIns="0" tIns="0" rIns="0" bIns="0" rtlCol="0" anchor="ctr"/>
          <a:lstStyle/>
          <a:p>
            <a:pPr algn="ctr" indent="0" marL="0">
              <a:buNone/>
            </a:pPr>
            <a:r>
              <a:rPr lang="en-US" sz="4000" b="1" dirty="0">
                <a:solidFill>
                  <a:schemeClr val="accent2"/>
                </a:solidFill>
              </a:rPr>
              <a:t>%20–50</a:t>
            </a:r>
            <a:endParaRPr lang="en-US" sz="4000" dirty="0"/>
          </a:p>
        </p:txBody>
      </p:sp>
      <p:sp>
        <p:nvSpPr>
          <p:cNvPr id="23" name="Text 16"/>
          <p:cNvSpPr txBox="1"/>
          <p:nvPr/>
        </p:nvSpPr>
        <p:spPr>
          <a:xfrm>
            <a:off x="9226296" y="4069080"/>
            <a:ext cx="2176272" cy="1371600"/>
          </a:xfrm>
          <a:prstGeom prst="rect">
            <a:avLst/>
          </a:prstGeom>
          <a:noFill/>
          <a:ln/>
        </p:spPr>
        <p:txBody>
          <a:bodyPr wrap="square" lIns="0" tIns="0" rIns="0" bIns="0" rtlCol="0" anchor="t"/>
          <a:lstStyle/>
          <a:p>
            <a:pPr algn="ctr" indent="0" marL="0">
              <a:buNone/>
            </a:pPr>
            <a:r>
              <a:rPr lang="en-US" sz="2000" dirty="0">
                <a:solidFill>
                  <a:schemeClr val="accent1"/>
                </a:solidFill>
              </a:rPr>
              <a:t>Polikliniklerde bırakma oranı</a:t>
            </a:r>
            <a:endParaRPr lang="en-US" sz="2000" dirty="0"/>
          </a:p>
        </p:txBody>
      </p:sp>
      <p:sp>
        <p:nvSpPr>
          <p:cNvPr id="24" name="Kaynak"/>
          <p:cNvSpPr txBox="1"/>
          <p:nvPr/>
        </p:nvSpPr>
        <p:spPr>
          <a:xfrm>
            <a:off x="548640" y="6382512"/>
            <a:ext cx="10424160" cy="292608"/>
          </a:xfrm>
          <a:prstGeom prst="rect">
            <a:avLst/>
          </a:prstGeom>
          <a:noFill/>
          <a:ln/>
        </p:spPr>
        <p:txBody>
          <a:bodyPr wrap="square" lIns="0" tIns="0" rIns="0" bIns="0" rtlCol="0" anchor="ctr"/>
          <a:lstStyle/>
          <a:p>
            <a:pPr indent="0" marL="0">
              <a:buNone/>
            </a:pPr>
            <a:r>
              <a:rPr lang="en-US" sz="1200" i="1" dirty="0">
                <a:solidFill>
                  <a:schemeClr val="accent3"/>
                </a:solidFill>
              </a:rPr>
              <a:t>Kaynak: 2, 3, 4 (Küresel Yetişkin Tütün Araştırması Türkiye 2016 verisi)</a:t>
            </a:r>
            <a:endParaRPr lang="en-US" sz="1200" dirty="0"/>
          </a:p>
        </p:txBody>
      </p:sp>
      <p:sp>
        <p:nvSpPr>
          <p:cNvPr id="25" name="Slide Number Placeholder 0"/>
          <p:cNvSpPr>
            <a:spLocks noGrp="1"/>
          </p:cNvSpPr>
          <p:nvPr>
            <p:ph type="sldNum" sz="quarter" idx="4294967295"/>
          </p:nvPr>
        </p:nvSpPr>
        <p:spPr>
          <a:xfrm>
            <a:off x="11201400" y="6382512"/>
            <a:ext cx="548640" cy="292608"/>
          </a:xfrm>
          <a:prstGeom prst="rect">
            <a:avLst/>
          </a:prstGeom>
          <a:extLst>
            <a:ext uri="{C572A759-6A51-4108-AA02-DFA0A04FC94B}">
              <ma14:wrappingTextBoxFlag xmlns:ma14="http://schemas.microsoft.com/office/mac/drawingml/2011/main" val="0"/>
            </a:ext>
          </a:extLst>
        </p:spPr>
        <p:txBody>
          <a:bodyPr/>
          <a:lstStyle>
            <a:lvl1pPr>
              <a:defRPr sz="1400">
                <a:solidFill>
                  <a:srgbClr val="7A8C94"/>
                </a:solidFill>
              </a:defRPr>
            </a:lvl1pPr>
          </a:lstStyle>
          <a:p>
            <a:pPr algn="r"/>
            <a:fld id="{F7021451-1387-4CA6-816F-3879F97B5CBC}" type="slidenum">
              <a:rPr b="0"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3" name="Text 0"/>
          <p:cNvSpPr/>
          <p:nvPr>
            <p:ph idx="100" type="title" hasCustomPrompt="1"/>
          </p:nvPr>
        </p:nvSpPr>
        <p:spPr>
          <a:xfrm>
            <a:off x="548640" y="320040"/>
            <a:ext cx="10607040" cy="868680"/>
          </a:xfrm>
          <a:prstGeom prst="rect">
            <a:avLst/>
          </a:prstGeom>
          <a:noFill/>
          <a:ln/>
        </p:spPr>
        <p:txBody>
          <a:bodyPr wrap="square" lIns="0" tIns="0" rIns="0" bIns="0" rtlCol="0" anchor="ctr"/>
          <a:lstStyle/>
          <a:p>
            <a:pPr algn="l" indent="0" marL="0">
              <a:buNone/>
            </a:pPr>
            <a:r>
              <a:rPr lang="en-US" sz="3600" b="1" dirty="0">
                <a:solidFill>
                  <a:schemeClr val="accent1"/>
                </a:solidFill>
              </a:rPr>
              <a:t>Tedavi seçenekleri</a:t>
            </a:r>
            <a:endParaRPr lang="en-US" sz="3600" dirty="0"/>
          </a:p>
        </p:txBody>
      </p:sp>
      <p:sp>
        <p:nvSpPr>
          <p:cNvPr id="4" name="Kart"/>
          <p:cNvSpPr/>
          <p:nvPr/>
        </p:nvSpPr>
        <p:spPr>
          <a:xfrm>
            <a:off x="548640" y="1417320"/>
            <a:ext cx="5440680" cy="3794760"/>
          </a:xfrm>
          <a:prstGeom prst="roundRect">
            <a:avLst>
              <a:gd name="adj" fmla="val 2892"/>
            </a:avLst>
          </a:prstGeom>
          <a:solidFill>
            <a:schemeClr val="bg2"/>
          </a:solidFill>
          <a:ln w="12700">
            <a:solidFill>
              <a:schemeClr val="bg2"/>
            </a:solidFill>
            <a:prstDash val="solid"/>
          </a:ln>
        </p:spPr>
      </p:sp>
      <p:sp>
        <p:nvSpPr>
          <p:cNvPr id="5" name="Ikon zemini"/>
          <p:cNvSpPr/>
          <p:nvPr/>
        </p:nvSpPr>
        <p:spPr>
          <a:xfrm>
            <a:off x="868680" y="1645920"/>
            <a:ext cx="914400" cy="914400"/>
          </a:xfrm>
          <a:prstGeom prst="ellipse">
            <a:avLst/>
          </a:prstGeom>
          <a:solidFill>
            <a:schemeClr val="accent1"/>
          </a:solidFill>
          <a:ln w="12700">
            <a:solidFill>
              <a:schemeClr val="accent1"/>
            </a:solidFill>
            <a:prstDash val="solid"/>
          </a:ln>
        </p:spPr>
      </p:sp>
      <p:pic>
        <p:nvPicPr>
          <p:cNvPr id="6" name="Ikon" descr="FaComments">    </p:cNvPr>
          <p:cNvPicPr>
            <a:picLocks noChangeAspect="1"/>
          </p:cNvPicPr>
          <p:nvPr/>
        </p:nvPicPr>
        <p:blipFill>
          <a:blip r:embed="rId1"/>
          <a:stretch>
            <a:fillRect/>
          </a:stretch>
        </p:blipFill>
        <p:spPr>
          <a:xfrm>
            <a:off x="1106424" y="1883664"/>
            <a:ext cx="438912" cy="438912"/>
          </a:xfrm>
          <a:prstGeom prst="rect">
            <a:avLst/>
          </a:prstGeom>
        </p:spPr>
      </p:pic>
      <p:sp>
        <p:nvSpPr>
          <p:cNvPr id="7" name="Text 3"/>
          <p:cNvSpPr txBox="1"/>
          <p:nvPr/>
        </p:nvSpPr>
        <p:spPr>
          <a:xfrm>
            <a:off x="2011680" y="1645920"/>
            <a:ext cx="3749040" cy="914400"/>
          </a:xfrm>
          <a:prstGeom prst="rect">
            <a:avLst/>
          </a:prstGeom>
          <a:noFill/>
          <a:ln/>
        </p:spPr>
        <p:txBody>
          <a:bodyPr wrap="square" lIns="0" tIns="0" rIns="0" bIns="0" rtlCol="0" anchor="ctr"/>
          <a:lstStyle/>
          <a:p>
            <a:pPr indent="0" marL="0">
              <a:buNone/>
            </a:pPr>
            <a:r>
              <a:rPr lang="en-US" sz="3000" b="1" dirty="0">
                <a:solidFill>
                  <a:schemeClr val="accent1"/>
                </a:solidFill>
              </a:rPr>
              <a:t>Davranışsal</a:t>
            </a:r>
            <a:endParaRPr lang="en-US" sz="3000" dirty="0"/>
          </a:p>
        </p:txBody>
      </p:sp>
      <p:sp>
        <p:nvSpPr>
          <p:cNvPr id="8" name="Text 4"/>
          <p:cNvSpPr txBox="1"/>
          <p:nvPr/>
        </p:nvSpPr>
        <p:spPr>
          <a:xfrm>
            <a:off x="914400" y="2743200"/>
            <a:ext cx="4846320" cy="2331720"/>
          </a:xfrm>
          <a:prstGeom prst="rect">
            <a:avLst/>
          </a:prstGeom>
          <a:noFill/>
          <a:ln/>
        </p:spPr>
        <p:txBody>
          <a:bodyPr wrap="square" lIns="0" tIns="0" rIns="0" bIns="0" rtlCol="0" anchor="t"/>
          <a:lstStyle/>
          <a:p>
            <a:pPr algn="just" marL="279400" indent="-279400">
              <a:spcAft>
                <a:spcPts val="1000"/>
              </a:spcAft>
              <a:buSzPct val="100000"/>
              <a:buChar char="•"/>
            </a:pPr>
            <a:r>
              <a:rPr lang="en-US" sz="2200" dirty="0">
                <a:solidFill>
                  <a:schemeClr val="accent1"/>
                </a:solidFill>
              </a:rPr>
              <a:t>Motivasyonel görüşme</a:t>
            </a:r>
            <a:endParaRPr lang="en-US" sz="2200" dirty="0"/>
          </a:p>
          <a:p>
            <a:pPr algn="just" marL="279400" indent="-279400">
              <a:spcAft>
                <a:spcPts val="1000"/>
              </a:spcAft>
              <a:buSzPct val="100000"/>
              <a:buChar char="•"/>
            </a:pPr>
            <a:r>
              <a:rPr lang="en-US" sz="2200" dirty="0">
                <a:solidFill>
                  <a:schemeClr val="accent1"/>
                </a:solidFill>
              </a:rPr>
              <a:t>Davranış değişikliği modelleri</a:t>
            </a:r>
            <a:endParaRPr lang="en-US" sz="2200" dirty="0"/>
          </a:p>
          <a:p>
            <a:pPr algn="just" marL="279400" indent="-279400">
              <a:spcAft>
                <a:spcPts val="1000"/>
              </a:spcAft>
              <a:buSzPct val="100000"/>
              <a:buChar char="•"/>
            </a:pPr>
            <a:r>
              <a:rPr lang="en-US" sz="2200" dirty="0">
                <a:solidFill>
                  <a:schemeClr val="accent1"/>
                </a:solidFill>
              </a:rPr>
              <a:t>Transteorik model</a:t>
            </a:r>
            <a:endParaRPr lang="en-US" sz="2200" dirty="0"/>
          </a:p>
        </p:txBody>
      </p:sp>
      <p:sp>
        <p:nvSpPr>
          <p:cNvPr id="9" name="Kart"/>
          <p:cNvSpPr/>
          <p:nvPr/>
        </p:nvSpPr>
        <p:spPr>
          <a:xfrm>
            <a:off x="6172200" y="1417320"/>
            <a:ext cx="5440680" cy="3794760"/>
          </a:xfrm>
          <a:prstGeom prst="roundRect">
            <a:avLst>
              <a:gd name="adj" fmla="val 2892"/>
            </a:avLst>
          </a:prstGeom>
          <a:solidFill>
            <a:schemeClr val="bg2"/>
          </a:solidFill>
          <a:ln w="12700">
            <a:solidFill>
              <a:schemeClr val="bg2"/>
            </a:solidFill>
            <a:prstDash val="solid"/>
          </a:ln>
        </p:spPr>
      </p:sp>
      <p:sp>
        <p:nvSpPr>
          <p:cNvPr id="10" name="Ikon zemini"/>
          <p:cNvSpPr/>
          <p:nvPr/>
        </p:nvSpPr>
        <p:spPr>
          <a:xfrm>
            <a:off x="6492240" y="1645920"/>
            <a:ext cx="914400" cy="914400"/>
          </a:xfrm>
          <a:prstGeom prst="ellipse">
            <a:avLst/>
          </a:prstGeom>
          <a:solidFill>
            <a:schemeClr val="accent2"/>
          </a:solidFill>
          <a:ln w="12700">
            <a:solidFill>
              <a:schemeClr val="accent2"/>
            </a:solidFill>
            <a:prstDash val="solid"/>
          </a:ln>
        </p:spPr>
      </p:sp>
      <p:pic>
        <p:nvPicPr>
          <p:cNvPr id="11" name="Ikon" descr="FaPills">    </p:cNvPr>
          <p:cNvPicPr>
            <a:picLocks noChangeAspect="1"/>
          </p:cNvPicPr>
          <p:nvPr/>
        </p:nvPicPr>
        <p:blipFill>
          <a:blip r:embed="rId2"/>
          <a:stretch>
            <a:fillRect/>
          </a:stretch>
        </p:blipFill>
        <p:spPr>
          <a:xfrm>
            <a:off x="6729984" y="1883664"/>
            <a:ext cx="438912" cy="438912"/>
          </a:xfrm>
          <a:prstGeom prst="rect">
            <a:avLst/>
          </a:prstGeom>
        </p:spPr>
      </p:pic>
      <p:sp>
        <p:nvSpPr>
          <p:cNvPr id="12" name="Text 7"/>
          <p:cNvSpPr txBox="1"/>
          <p:nvPr/>
        </p:nvSpPr>
        <p:spPr>
          <a:xfrm>
            <a:off x="7635240" y="1645920"/>
            <a:ext cx="3749040" cy="914400"/>
          </a:xfrm>
          <a:prstGeom prst="rect">
            <a:avLst/>
          </a:prstGeom>
          <a:noFill/>
          <a:ln/>
        </p:spPr>
        <p:txBody>
          <a:bodyPr wrap="square" lIns="0" tIns="0" rIns="0" bIns="0" rtlCol="0" anchor="ctr"/>
          <a:lstStyle/>
          <a:p>
            <a:pPr indent="0" marL="0">
              <a:buNone/>
            </a:pPr>
            <a:r>
              <a:rPr lang="en-US" sz="3000" b="1" dirty="0">
                <a:solidFill>
                  <a:schemeClr val="accent2"/>
                </a:solidFill>
              </a:rPr>
              <a:t>Farmakolojik</a:t>
            </a:r>
            <a:endParaRPr lang="en-US" sz="3000" dirty="0"/>
          </a:p>
        </p:txBody>
      </p:sp>
      <p:sp>
        <p:nvSpPr>
          <p:cNvPr id="13" name="Text 8"/>
          <p:cNvSpPr txBox="1"/>
          <p:nvPr/>
        </p:nvSpPr>
        <p:spPr>
          <a:xfrm>
            <a:off x="6537960" y="2743200"/>
            <a:ext cx="4846320" cy="2331720"/>
          </a:xfrm>
          <a:prstGeom prst="rect">
            <a:avLst/>
          </a:prstGeom>
          <a:noFill/>
          <a:ln/>
        </p:spPr>
        <p:txBody>
          <a:bodyPr wrap="square" lIns="0" tIns="0" rIns="0" bIns="0" rtlCol="0" anchor="t"/>
          <a:lstStyle/>
          <a:p>
            <a:pPr algn="just" marL="279400" indent="-279400">
              <a:spcAft>
                <a:spcPts val="1000"/>
              </a:spcAft>
              <a:buSzPct val="100000"/>
              <a:buChar char="•"/>
            </a:pPr>
            <a:r>
              <a:rPr lang="en-US" sz="2200" dirty="0">
                <a:solidFill>
                  <a:schemeClr val="accent1"/>
                </a:solidFill>
              </a:rPr>
              <a:t>NRT (nikotin replasman)</a:t>
            </a:r>
            <a:endParaRPr lang="en-US" sz="2200" dirty="0"/>
          </a:p>
          <a:p>
            <a:pPr algn="just" marL="279400" indent="-279400">
              <a:spcAft>
                <a:spcPts val="1000"/>
              </a:spcAft>
              <a:buSzPct val="100000"/>
              <a:buChar char="•"/>
            </a:pPr>
            <a:r>
              <a:rPr lang="en-US" sz="2200" dirty="0">
                <a:solidFill>
                  <a:schemeClr val="accent1"/>
                </a:solidFill>
              </a:rPr>
              <a:t>Bupropion</a:t>
            </a:r>
            <a:endParaRPr lang="en-US" sz="2200" dirty="0"/>
          </a:p>
          <a:p>
            <a:pPr algn="just" marL="279400" indent="-279400">
              <a:spcAft>
                <a:spcPts val="1000"/>
              </a:spcAft>
              <a:buSzPct val="100000"/>
              <a:buChar char="•"/>
            </a:pPr>
            <a:r>
              <a:rPr lang="en-US" sz="2200" dirty="0">
                <a:solidFill>
                  <a:schemeClr val="accent1"/>
                </a:solidFill>
              </a:rPr>
              <a:t>Vareniklin</a:t>
            </a:r>
            <a:endParaRPr lang="en-US" sz="2200" dirty="0"/>
          </a:p>
          <a:p>
            <a:pPr algn="just" marL="279400" indent="-279400">
              <a:spcAft>
                <a:spcPts val="1000"/>
              </a:spcAft>
              <a:buSzPct val="100000"/>
              <a:buChar char="•"/>
            </a:pPr>
            <a:r>
              <a:rPr lang="en-US" sz="2200" dirty="0">
                <a:solidFill>
                  <a:schemeClr val="accent1"/>
                </a:solidFill>
              </a:rPr>
              <a:t>Sitizin (yeni seçenek)</a:t>
            </a:r>
            <a:endParaRPr lang="en-US" sz="2200" dirty="0"/>
          </a:p>
        </p:txBody>
      </p:sp>
      <p:sp>
        <p:nvSpPr>
          <p:cNvPr id="14" name="Text 9"/>
          <p:cNvSpPr txBox="1"/>
          <p:nvPr/>
        </p:nvSpPr>
        <p:spPr>
          <a:xfrm>
            <a:off x="548640" y="5440680"/>
            <a:ext cx="11064240" cy="548640"/>
          </a:xfrm>
          <a:prstGeom prst="rect">
            <a:avLst/>
          </a:prstGeom>
          <a:noFill/>
          <a:ln/>
        </p:spPr>
        <p:txBody>
          <a:bodyPr wrap="square" lIns="0" tIns="0" rIns="0" bIns="0" rtlCol="0" anchor="ctr"/>
          <a:lstStyle/>
          <a:p>
            <a:pPr indent="0" marL="0">
              <a:buNone/>
            </a:pPr>
            <a:r>
              <a:rPr lang="en-US" sz="2200" b="1" i="1" dirty="0">
                <a:solidFill>
                  <a:schemeClr val="accent2"/>
                </a:solidFill>
              </a:rPr>
              <a:t>Farmakoterapi davranışsal destekle birlikte önerilmektedir.</a:t>
            </a:r>
            <a:endParaRPr lang="en-US" sz="2200" dirty="0"/>
          </a:p>
        </p:txBody>
      </p:sp>
      <p:sp>
        <p:nvSpPr>
          <p:cNvPr id="15" name="Kaynak"/>
          <p:cNvSpPr txBox="1"/>
          <p:nvPr/>
        </p:nvSpPr>
        <p:spPr>
          <a:xfrm>
            <a:off x="548640" y="6382512"/>
            <a:ext cx="10424160" cy="292608"/>
          </a:xfrm>
          <a:prstGeom prst="rect">
            <a:avLst/>
          </a:prstGeom>
          <a:noFill/>
          <a:ln/>
        </p:spPr>
        <p:txBody>
          <a:bodyPr wrap="square" lIns="0" tIns="0" rIns="0" bIns="0" rtlCol="0" anchor="ctr"/>
          <a:lstStyle/>
          <a:p>
            <a:pPr indent="0" marL="0">
              <a:buNone/>
            </a:pPr>
            <a:r>
              <a:rPr lang="en-US" sz="1200" i="1" dirty="0">
                <a:solidFill>
                  <a:schemeClr val="accent3"/>
                </a:solidFill>
              </a:rPr>
              <a:t>Kaynak: 1, 5</a:t>
            </a:r>
            <a:endParaRPr lang="en-US" sz="1200" dirty="0"/>
          </a:p>
        </p:txBody>
      </p:sp>
      <p:sp>
        <p:nvSpPr>
          <p:cNvPr id="25" name="Slide Number Placeholder 0"/>
          <p:cNvSpPr>
            <a:spLocks noGrp="1"/>
          </p:cNvSpPr>
          <p:nvPr>
            <p:ph type="sldNum" sz="quarter" idx="4294967295"/>
          </p:nvPr>
        </p:nvSpPr>
        <p:spPr>
          <a:xfrm>
            <a:off x="11201400" y="6382512"/>
            <a:ext cx="548640" cy="292608"/>
          </a:xfrm>
          <a:prstGeom prst="rect">
            <a:avLst/>
          </a:prstGeom>
          <a:extLst>
            <a:ext uri="{C572A759-6A51-4108-AA02-DFA0A04FC94B}">
              <ma14:wrappingTextBoxFlag xmlns:ma14="http://schemas.microsoft.com/office/mac/drawingml/2011/main" val="0"/>
            </a:ext>
          </a:extLst>
        </p:spPr>
        <p:txBody>
          <a:bodyPr/>
          <a:lstStyle>
            <a:lvl1pPr>
              <a:defRPr sz="1400">
                <a:solidFill>
                  <a:srgbClr val="7A8C94"/>
                </a:solidFill>
              </a:defRPr>
            </a:lvl1pPr>
          </a:lstStyle>
          <a:p>
            <a:pPr algn="r"/>
            <a:fld id="{F7021451-1387-4CA6-816F-3879F97B5CBC}" type="slidenum">
              <a:rPr b="0"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3" name="Text 0"/>
          <p:cNvSpPr/>
          <p:nvPr>
            <p:ph idx="100" type="title" hasCustomPrompt="1"/>
          </p:nvPr>
        </p:nvSpPr>
        <p:spPr>
          <a:xfrm>
            <a:off x="548640" y="320040"/>
            <a:ext cx="10607040" cy="868680"/>
          </a:xfrm>
          <a:prstGeom prst="rect">
            <a:avLst/>
          </a:prstGeom>
          <a:noFill/>
          <a:ln/>
        </p:spPr>
        <p:txBody>
          <a:bodyPr wrap="square" lIns="0" tIns="0" rIns="0" bIns="0" rtlCol="0" anchor="ctr"/>
          <a:lstStyle/>
          <a:p>
            <a:pPr algn="l" indent="0" marL="0">
              <a:buNone/>
            </a:pPr>
            <a:r>
              <a:rPr lang="en-US" sz="3600" b="1" dirty="0">
                <a:solidFill>
                  <a:schemeClr val="accent1"/>
                </a:solidFill>
              </a:rPr>
              <a:t>Çalışmanın amacı</a:t>
            </a:r>
            <a:endParaRPr lang="en-US" sz="3600" dirty="0"/>
          </a:p>
        </p:txBody>
      </p:sp>
      <p:sp>
        <p:nvSpPr>
          <p:cNvPr id="4" name="Kart"/>
          <p:cNvSpPr/>
          <p:nvPr/>
        </p:nvSpPr>
        <p:spPr>
          <a:xfrm>
            <a:off x="548640" y="1508760"/>
            <a:ext cx="11064240" cy="4206240"/>
          </a:xfrm>
          <a:prstGeom prst="roundRect">
            <a:avLst>
              <a:gd name="adj" fmla="val 2609"/>
            </a:avLst>
          </a:prstGeom>
          <a:solidFill>
            <a:schemeClr val="accent1"/>
          </a:solidFill>
          <a:ln w="12700">
            <a:solidFill>
              <a:schemeClr val="accent1"/>
            </a:solidFill>
            <a:prstDash val="solid"/>
          </a:ln>
        </p:spPr>
      </p:sp>
      <p:sp>
        <p:nvSpPr>
          <p:cNvPr id="5" name="Ikon zemini"/>
          <p:cNvSpPr/>
          <p:nvPr/>
        </p:nvSpPr>
        <p:spPr>
          <a:xfrm>
            <a:off x="1005840" y="1965960"/>
            <a:ext cx="1280160" cy="1280160"/>
          </a:xfrm>
          <a:prstGeom prst="ellipse">
            <a:avLst/>
          </a:prstGeom>
          <a:solidFill>
            <a:schemeClr val="accent2"/>
          </a:solidFill>
          <a:ln w="12700">
            <a:solidFill>
              <a:schemeClr val="accent2"/>
            </a:solidFill>
            <a:prstDash val="solid"/>
          </a:ln>
        </p:spPr>
      </p:sp>
      <p:pic>
        <p:nvPicPr>
          <p:cNvPr id="6" name="Ikon" descr="FaBullseye">    </p:cNvPr>
          <p:cNvPicPr>
            <a:picLocks noChangeAspect="1"/>
          </p:cNvPicPr>
          <p:nvPr/>
        </p:nvPicPr>
        <p:blipFill>
          <a:blip r:embed="rId1"/>
          <a:stretch>
            <a:fillRect/>
          </a:stretch>
        </p:blipFill>
        <p:spPr>
          <a:xfrm>
            <a:off x="1338682" y="2298802"/>
            <a:ext cx="614477" cy="614477"/>
          </a:xfrm>
          <a:prstGeom prst="rect">
            <a:avLst/>
          </a:prstGeom>
        </p:spPr>
      </p:pic>
      <p:sp>
        <p:nvSpPr>
          <p:cNvPr id="7" name="Text 3"/>
          <p:cNvSpPr txBox="1"/>
          <p:nvPr/>
        </p:nvSpPr>
        <p:spPr>
          <a:xfrm>
            <a:off x="2743200" y="1920240"/>
            <a:ext cx="8412480" cy="3383280"/>
          </a:xfrm>
          <a:prstGeom prst="rect">
            <a:avLst/>
          </a:prstGeom>
          <a:noFill/>
          <a:ln/>
        </p:spPr>
        <p:txBody>
          <a:bodyPr wrap="square" lIns="0" tIns="0" rIns="0" bIns="0" rtlCol="0" anchor="ctr"/>
          <a:lstStyle/>
          <a:p>
            <a:pPr algn="just" marL="279400" indent="-279400">
              <a:spcAft>
                <a:spcPts val="1800"/>
              </a:spcAft>
              <a:buSzPct val="100000"/>
              <a:buChar char="•"/>
            </a:pPr>
            <a:r>
              <a:rPr lang="en-US" sz="2800" dirty="0">
                <a:solidFill>
                  <a:schemeClr val="bg1"/>
                </a:solidFill>
              </a:rPr>
              <a:t>Kombine tedavi ve yakın takibin bırakma başarısına etkisini değerlendirmek</a:t>
            </a:r>
            <a:endParaRPr lang="en-US" sz="2800" dirty="0"/>
          </a:p>
          <a:p>
            <a:pPr algn="just" marL="279400" indent="-279400">
              <a:buSzPct val="100000"/>
              <a:buChar char="•"/>
            </a:pPr>
            <a:r>
              <a:rPr lang="en-US" sz="2800" dirty="0">
                <a:solidFill>
                  <a:schemeClr val="bg1"/>
                </a:solidFill>
              </a:rPr>
              <a:t>Bırakmayı etkileyen hasta özelliklerini belirlemek</a:t>
            </a:r>
            <a:endParaRPr lang="en-US" sz="2800" dirty="0"/>
          </a:p>
        </p:txBody>
      </p:sp>
      <p:sp>
        <p:nvSpPr>
          <p:cNvPr id="8" name="Kaynak"/>
          <p:cNvSpPr txBox="1"/>
          <p:nvPr/>
        </p:nvSpPr>
        <p:spPr>
          <a:xfrm>
            <a:off x="548640" y="6382512"/>
            <a:ext cx="10424160" cy="292608"/>
          </a:xfrm>
          <a:prstGeom prst="rect">
            <a:avLst/>
          </a:prstGeom>
          <a:noFill/>
          <a:ln/>
        </p:spPr>
        <p:txBody>
          <a:bodyPr wrap="square" lIns="0" tIns="0" rIns="0" bIns="0" rtlCol="0" anchor="ctr"/>
          <a:lstStyle/>
          <a:p>
            <a:pPr indent="0" marL="0">
              <a:buNone/>
            </a:pPr>
            <a:r>
              <a:rPr lang="en-US" sz="1200" i="1" dirty="0">
                <a:solidFill>
                  <a:schemeClr val="accent3"/>
                </a:solidFill>
              </a:rPr>
              <a:t>Kaynak: Cenberlitaş E, Gökçe A, Öztürk O. Turk J Fam Pract. 2026;30(2):97-106.</a:t>
            </a:r>
            <a:endParaRPr lang="en-US" sz="1200" dirty="0"/>
          </a:p>
        </p:txBody>
      </p:sp>
      <p:sp>
        <p:nvSpPr>
          <p:cNvPr id="25" name="Slide Number Placeholder 0"/>
          <p:cNvSpPr>
            <a:spLocks noGrp="1"/>
          </p:cNvSpPr>
          <p:nvPr>
            <p:ph type="sldNum" sz="quarter" idx="4294967295"/>
          </p:nvPr>
        </p:nvSpPr>
        <p:spPr>
          <a:xfrm>
            <a:off x="11201400" y="6382512"/>
            <a:ext cx="548640" cy="292608"/>
          </a:xfrm>
          <a:prstGeom prst="rect">
            <a:avLst/>
          </a:prstGeom>
          <a:extLst>
            <a:ext uri="{C572A759-6A51-4108-AA02-DFA0A04FC94B}">
              <ma14:wrappingTextBoxFlag xmlns:ma14="http://schemas.microsoft.com/office/mac/drawingml/2011/main" val="0"/>
            </a:ext>
          </a:extLst>
        </p:spPr>
        <p:txBody>
          <a:bodyPr/>
          <a:lstStyle>
            <a:lvl1pPr>
              <a:defRPr sz="1400">
                <a:solidFill>
                  <a:srgbClr val="7A8C94"/>
                </a:solidFill>
              </a:defRPr>
            </a:lvl1pPr>
          </a:lstStyle>
          <a:p>
            <a:pPr algn="r"/>
            <a:fld id="{F7021451-1387-4CA6-816F-3879F97B5CBC}" type="slidenum">
              <a:rPr b="0" lang="en-US"/>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3" name="Text 0"/>
          <p:cNvSpPr/>
          <p:nvPr>
            <p:ph idx="100" type="title" hasCustomPrompt="1"/>
          </p:nvPr>
        </p:nvSpPr>
        <p:spPr>
          <a:xfrm>
            <a:off x="548640" y="320040"/>
            <a:ext cx="10607040" cy="868680"/>
          </a:xfrm>
          <a:prstGeom prst="rect">
            <a:avLst/>
          </a:prstGeom>
          <a:noFill/>
          <a:ln/>
        </p:spPr>
        <p:txBody>
          <a:bodyPr wrap="square" lIns="0" tIns="0" rIns="0" bIns="0" rtlCol="0" anchor="ctr"/>
          <a:lstStyle/>
          <a:p>
            <a:pPr algn="l" indent="0" marL="0">
              <a:buNone/>
            </a:pPr>
            <a:r>
              <a:rPr lang="en-US" sz="3600" b="1" dirty="0">
                <a:solidFill>
                  <a:schemeClr val="accent1"/>
                </a:solidFill>
              </a:rPr>
              <a:t>Tasarım ve örneklem</a:t>
            </a:r>
            <a:endParaRPr lang="en-US" sz="3600" dirty="0"/>
          </a:p>
        </p:txBody>
      </p:sp>
      <p:sp>
        <p:nvSpPr>
          <p:cNvPr id="4" name="Akış kutusu"/>
          <p:cNvSpPr/>
          <p:nvPr/>
        </p:nvSpPr>
        <p:spPr>
          <a:xfrm>
            <a:off x="548640" y="1417320"/>
            <a:ext cx="3840480" cy="1325880"/>
          </a:xfrm>
          <a:prstGeom prst="roundRect">
            <a:avLst>
              <a:gd name="adj" fmla="val 6897"/>
            </a:avLst>
          </a:prstGeom>
          <a:solidFill>
            <a:schemeClr val="bg2"/>
          </a:solidFill>
          <a:ln w="12700">
            <a:solidFill>
              <a:schemeClr val="bg2"/>
            </a:solidFill>
            <a:prstDash val="solid"/>
          </a:ln>
        </p:spPr>
      </p:sp>
      <p:sp>
        <p:nvSpPr>
          <p:cNvPr id="5" name="Text 2"/>
          <p:cNvSpPr txBox="1"/>
          <p:nvPr/>
        </p:nvSpPr>
        <p:spPr>
          <a:xfrm>
            <a:off x="548640" y="1417320"/>
            <a:ext cx="3840480" cy="1325880"/>
          </a:xfrm>
          <a:prstGeom prst="rect">
            <a:avLst/>
          </a:prstGeom>
          <a:noFill/>
          <a:ln/>
        </p:spPr>
        <p:txBody>
          <a:bodyPr wrap="square" lIns="50800" tIns="50800" rIns="50800" bIns="50800" rtlCol="0" anchor="ctr"/>
          <a:lstStyle/>
          <a:p>
            <a:pPr algn="ctr" indent="0" marL="0">
              <a:buNone/>
            </a:pPr>
            <a:r>
              <a:rPr lang="en-US" sz="3600" b="1" dirty="0">
                <a:solidFill>
                  <a:schemeClr val="accent1"/>
                </a:solidFill>
              </a:rPr>
              <a:t>432</a:t>
            </a:r>
            <a:endParaRPr lang="en-US" sz="3600" dirty="0"/>
          </a:p>
          <a:p>
            <a:pPr algn="ctr" indent="0" marL="0">
              <a:buNone/>
            </a:pPr>
            <a:r>
              <a:rPr lang="en-US" sz="2000" dirty="0">
                <a:solidFill>
                  <a:schemeClr val="accent1"/>
                </a:solidFill>
              </a:rPr>
              <a:t>hasta dosyası (≥18 yaş)</a:t>
            </a:r>
            <a:endParaRPr lang="en-US" sz="3600" dirty="0"/>
          </a:p>
        </p:txBody>
      </p:sp>
      <p:pic>
        <p:nvPicPr>
          <p:cNvPr id="6" name="Image 0" descr="ok">    </p:cNvPr>
          <p:cNvPicPr>
            <a:picLocks noChangeAspect="1"/>
          </p:cNvPicPr>
          <p:nvPr/>
        </p:nvPicPr>
        <p:blipFill>
          <a:blip r:embed="rId1"/>
          <a:stretch>
            <a:fillRect/>
          </a:stretch>
        </p:blipFill>
        <p:spPr>
          <a:xfrm>
            <a:off x="2194560" y="2852928"/>
            <a:ext cx="548640" cy="548640"/>
          </a:xfrm>
          <a:prstGeom prst="rect">
            <a:avLst/>
          </a:prstGeom>
        </p:spPr>
      </p:pic>
      <p:sp>
        <p:nvSpPr>
          <p:cNvPr id="7" name="Dışlanan"/>
          <p:cNvSpPr/>
          <p:nvPr/>
        </p:nvSpPr>
        <p:spPr>
          <a:xfrm>
            <a:off x="4663440" y="2807208"/>
            <a:ext cx="2103120" cy="685800"/>
          </a:xfrm>
          <a:prstGeom prst="roundRect">
            <a:avLst>
              <a:gd name="adj" fmla="val 13333"/>
            </a:avLst>
          </a:prstGeom>
          <a:solidFill>
            <a:schemeClr val="bg1"/>
          </a:solidFill>
          <a:ln w="15875">
            <a:solidFill>
              <a:schemeClr val="accent3"/>
            </a:solidFill>
            <a:prstDash val="dash"/>
          </a:ln>
        </p:spPr>
      </p:sp>
      <p:sp>
        <p:nvSpPr>
          <p:cNvPr id="8" name="Text 4"/>
          <p:cNvSpPr txBox="1"/>
          <p:nvPr/>
        </p:nvSpPr>
        <p:spPr>
          <a:xfrm>
            <a:off x="4663440" y="2807208"/>
            <a:ext cx="2103120" cy="685800"/>
          </a:xfrm>
          <a:prstGeom prst="rect">
            <a:avLst/>
          </a:prstGeom>
          <a:noFill/>
          <a:ln/>
        </p:spPr>
        <p:txBody>
          <a:bodyPr wrap="square" lIns="0" tIns="0" rIns="0" bIns="0" rtlCol="0" anchor="ctr"/>
          <a:lstStyle/>
          <a:p>
            <a:pPr algn="ctr" indent="0" marL="0">
              <a:buNone/>
            </a:pPr>
            <a:r>
              <a:rPr lang="en-US" sz="2000" dirty="0">
                <a:solidFill>
                  <a:schemeClr val="accent3"/>
                </a:solidFill>
              </a:rPr>
              <a:t>33 dosya eksik</a:t>
            </a:r>
            <a:endParaRPr lang="en-US" sz="2000" dirty="0"/>
          </a:p>
        </p:txBody>
      </p:sp>
      <p:sp>
        <p:nvSpPr>
          <p:cNvPr id="9" name="Bağlantı"/>
          <p:cNvSpPr/>
          <p:nvPr/>
        </p:nvSpPr>
        <p:spPr>
          <a:xfrm>
            <a:off x="2468880" y="3154680"/>
            <a:ext cx="2194560" cy="0"/>
          </a:xfrm>
          <a:prstGeom prst="line">
            <a:avLst/>
          </a:prstGeom>
          <a:noFill/>
          <a:ln w="15875">
            <a:solidFill>
              <a:schemeClr val="accent3"/>
            </a:solidFill>
            <a:prstDash val="dash"/>
          </a:ln>
        </p:spPr>
      </p:sp>
      <p:sp>
        <p:nvSpPr>
          <p:cNvPr id="10" name="Akış kutusu"/>
          <p:cNvSpPr/>
          <p:nvPr/>
        </p:nvSpPr>
        <p:spPr>
          <a:xfrm>
            <a:off x="548640" y="3520440"/>
            <a:ext cx="3840480" cy="1325880"/>
          </a:xfrm>
          <a:prstGeom prst="roundRect">
            <a:avLst>
              <a:gd name="adj" fmla="val 6897"/>
            </a:avLst>
          </a:prstGeom>
          <a:solidFill>
            <a:schemeClr val="accent1"/>
          </a:solidFill>
          <a:ln w="12700">
            <a:solidFill>
              <a:schemeClr val="accent1"/>
            </a:solidFill>
            <a:prstDash val="solid"/>
          </a:ln>
        </p:spPr>
      </p:sp>
      <p:sp>
        <p:nvSpPr>
          <p:cNvPr id="11" name="Text 7"/>
          <p:cNvSpPr txBox="1"/>
          <p:nvPr/>
        </p:nvSpPr>
        <p:spPr>
          <a:xfrm>
            <a:off x="548640" y="3520440"/>
            <a:ext cx="3840480" cy="1325880"/>
          </a:xfrm>
          <a:prstGeom prst="rect">
            <a:avLst/>
          </a:prstGeom>
          <a:noFill/>
          <a:ln/>
        </p:spPr>
        <p:txBody>
          <a:bodyPr wrap="square" lIns="50800" tIns="50800" rIns="50800" bIns="50800" rtlCol="0" anchor="ctr"/>
          <a:lstStyle/>
          <a:p>
            <a:pPr algn="ctr" indent="0" marL="0">
              <a:buNone/>
            </a:pPr>
            <a:r>
              <a:rPr lang="en-US" sz="3600" b="1" dirty="0">
                <a:solidFill>
                  <a:schemeClr val="bg1"/>
                </a:solidFill>
              </a:rPr>
              <a:t>399</a:t>
            </a:r>
            <a:endParaRPr lang="en-US" sz="3600" dirty="0"/>
          </a:p>
          <a:p>
            <a:pPr algn="ctr" indent="0" marL="0">
              <a:buNone/>
            </a:pPr>
            <a:r>
              <a:rPr lang="en-US" sz="2000" dirty="0">
                <a:solidFill>
                  <a:schemeClr val="bg1"/>
                </a:solidFill>
              </a:rPr>
              <a:t>hasta analize alındı</a:t>
            </a:r>
            <a:endParaRPr lang="en-US" sz="3600" dirty="0"/>
          </a:p>
        </p:txBody>
      </p:sp>
      <p:sp>
        <p:nvSpPr>
          <p:cNvPr id="12" name="Ikon zemini"/>
          <p:cNvSpPr/>
          <p:nvPr/>
        </p:nvSpPr>
        <p:spPr>
          <a:xfrm>
            <a:off x="7132320" y="1463040"/>
            <a:ext cx="731520" cy="731520"/>
          </a:xfrm>
          <a:prstGeom prst="ellipse">
            <a:avLst/>
          </a:prstGeom>
          <a:solidFill>
            <a:schemeClr val="accent2"/>
          </a:solidFill>
          <a:ln w="12700">
            <a:solidFill>
              <a:schemeClr val="accent2"/>
            </a:solidFill>
            <a:prstDash val="solid"/>
          </a:ln>
        </p:spPr>
      </p:sp>
      <p:pic>
        <p:nvPicPr>
          <p:cNvPr id="13" name="Ikon" descr="FaCalendarAlt">    </p:cNvPr>
          <p:cNvPicPr>
            <a:picLocks noChangeAspect="1"/>
          </p:cNvPicPr>
          <p:nvPr/>
        </p:nvPicPr>
        <p:blipFill>
          <a:blip r:embed="rId2"/>
          <a:stretch>
            <a:fillRect/>
          </a:stretch>
        </p:blipFill>
        <p:spPr>
          <a:xfrm>
            <a:off x="7322515" y="1653235"/>
            <a:ext cx="351130" cy="351130"/>
          </a:xfrm>
          <a:prstGeom prst="rect">
            <a:avLst/>
          </a:prstGeom>
        </p:spPr>
      </p:pic>
      <p:sp>
        <p:nvSpPr>
          <p:cNvPr id="14" name="Text 9"/>
          <p:cNvSpPr txBox="1"/>
          <p:nvPr/>
        </p:nvSpPr>
        <p:spPr>
          <a:xfrm>
            <a:off x="8092440" y="1463040"/>
            <a:ext cx="3566160" cy="731520"/>
          </a:xfrm>
          <a:prstGeom prst="rect">
            <a:avLst/>
          </a:prstGeom>
          <a:noFill/>
          <a:ln/>
        </p:spPr>
        <p:txBody>
          <a:bodyPr wrap="square" lIns="0" tIns="0" rIns="0" bIns="0" rtlCol="0" anchor="ctr"/>
          <a:lstStyle/>
          <a:p>
            <a:pPr indent="0" marL="0">
              <a:buNone/>
            </a:pPr>
            <a:r>
              <a:rPr lang="en-US" sz="2200" dirty="0">
                <a:solidFill>
                  <a:schemeClr val="accent1"/>
                </a:solidFill>
              </a:rPr>
              <a:t>01.08.2020 – 31.08.2024</a:t>
            </a:r>
            <a:endParaRPr lang="en-US" sz="2200" dirty="0"/>
          </a:p>
        </p:txBody>
      </p:sp>
      <p:sp>
        <p:nvSpPr>
          <p:cNvPr id="15" name="Ikon zemini"/>
          <p:cNvSpPr/>
          <p:nvPr/>
        </p:nvSpPr>
        <p:spPr>
          <a:xfrm>
            <a:off x="7132320" y="2487168"/>
            <a:ext cx="731520" cy="731520"/>
          </a:xfrm>
          <a:prstGeom prst="ellipse">
            <a:avLst/>
          </a:prstGeom>
          <a:solidFill>
            <a:schemeClr val="accent1"/>
          </a:solidFill>
          <a:ln w="12700">
            <a:solidFill>
              <a:schemeClr val="accent1"/>
            </a:solidFill>
            <a:prstDash val="solid"/>
          </a:ln>
        </p:spPr>
      </p:sp>
      <p:pic>
        <p:nvPicPr>
          <p:cNvPr id="16" name="Ikon" descr="FaFileMedical">    </p:cNvPr>
          <p:cNvPicPr>
            <a:picLocks noChangeAspect="1"/>
          </p:cNvPicPr>
          <p:nvPr/>
        </p:nvPicPr>
        <p:blipFill>
          <a:blip r:embed="rId3"/>
          <a:stretch>
            <a:fillRect/>
          </a:stretch>
        </p:blipFill>
        <p:spPr>
          <a:xfrm>
            <a:off x="7322515" y="2677363"/>
            <a:ext cx="351130" cy="351130"/>
          </a:xfrm>
          <a:prstGeom prst="rect">
            <a:avLst/>
          </a:prstGeom>
        </p:spPr>
      </p:pic>
      <p:sp>
        <p:nvSpPr>
          <p:cNvPr id="17" name="Text 11"/>
          <p:cNvSpPr txBox="1"/>
          <p:nvPr/>
        </p:nvSpPr>
        <p:spPr>
          <a:xfrm>
            <a:off x="8092440" y="2487168"/>
            <a:ext cx="3566160" cy="731520"/>
          </a:xfrm>
          <a:prstGeom prst="rect">
            <a:avLst/>
          </a:prstGeom>
          <a:noFill/>
          <a:ln/>
        </p:spPr>
        <p:txBody>
          <a:bodyPr wrap="square" lIns="0" tIns="0" rIns="0" bIns="0" rtlCol="0" anchor="ctr"/>
          <a:lstStyle/>
          <a:p>
            <a:pPr indent="0" marL="0">
              <a:buNone/>
            </a:pPr>
            <a:r>
              <a:rPr lang="en-US" sz="2200" dirty="0">
                <a:solidFill>
                  <a:schemeClr val="accent1"/>
                </a:solidFill>
              </a:rPr>
              <a:t>Hastane otomasyon sistemi</a:t>
            </a:r>
            <a:endParaRPr lang="en-US" sz="2200" dirty="0"/>
          </a:p>
        </p:txBody>
      </p:sp>
      <p:sp>
        <p:nvSpPr>
          <p:cNvPr id="18" name="Ikon zemini"/>
          <p:cNvSpPr/>
          <p:nvPr/>
        </p:nvSpPr>
        <p:spPr>
          <a:xfrm>
            <a:off x="7132320" y="3511296"/>
            <a:ext cx="731520" cy="731520"/>
          </a:xfrm>
          <a:prstGeom prst="ellipse">
            <a:avLst/>
          </a:prstGeom>
          <a:solidFill>
            <a:schemeClr val="accent2"/>
          </a:solidFill>
          <a:ln w="12700">
            <a:solidFill>
              <a:schemeClr val="accent2"/>
            </a:solidFill>
            <a:prstDash val="solid"/>
          </a:ln>
        </p:spPr>
      </p:sp>
      <p:pic>
        <p:nvPicPr>
          <p:cNvPr id="19" name="Ikon" descr="FaClipboardList">    </p:cNvPr>
          <p:cNvPicPr>
            <a:picLocks noChangeAspect="1"/>
          </p:cNvPicPr>
          <p:nvPr/>
        </p:nvPicPr>
        <p:blipFill>
          <a:blip r:embed="rId4"/>
          <a:stretch>
            <a:fillRect/>
          </a:stretch>
        </p:blipFill>
        <p:spPr>
          <a:xfrm>
            <a:off x="7322515" y="3701491"/>
            <a:ext cx="351130" cy="351130"/>
          </a:xfrm>
          <a:prstGeom prst="rect">
            <a:avLst/>
          </a:prstGeom>
        </p:spPr>
      </p:pic>
      <p:sp>
        <p:nvSpPr>
          <p:cNvPr id="20" name="Text 13"/>
          <p:cNvSpPr txBox="1"/>
          <p:nvPr/>
        </p:nvSpPr>
        <p:spPr>
          <a:xfrm>
            <a:off x="8092440" y="3511296"/>
            <a:ext cx="3566160" cy="731520"/>
          </a:xfrm>
          <a:prstGeom prst="rect">
            <a:avLst/>
          </a:prstGeom>
          <a:noFill/>
          <a:ln/>
        </p:spPr>
        <p:txBody>
          <a:bodyPr wrap="square" lIns="0" tIns="0" rIns="0" bIns="0" rtlCol="0" anchor="ctr"/>
          <a:lstStyle/>
          <a:p>
            <a:pPr indent="0" marL="0">
              <a:buNone/>
            </a:pPr>
            <a:r>
              <a:rPr lang="en-US" sz="2200" dirty="0">
                <a:solidFill>
                  <a:schemeClr val="accent1"/>
                </a:solidFill>
              </a:rPr>
              <a:t>Retrospektif, kesitsel tasarım</a:t>
            </a:r>
            <a:endParaRPr lang="en-US" sz="2200" dirty="0"/>
          </a:p>
        </p:txBody>
      </p:sp>
      <p:sp>
        <p:nvSpPr>
          <p:cNvPr id="21" name="Ikon zemini"/>
          <p:cNvSpPr/>
          <p:nvPr/>
        </p:nvSpPr>
        <p:spPr>
          <a:xfrm>
            <a:off x="7132320" y="4535424"/>
            <a:ext cx="731520" cy="731520"/>
          </a:xfrm>
          <a:prstGeom prst="ellipse">
            <a:avLst/>
          </a:prstGeom>
          <a:solidFill>
            <a:schemeClr val="accent1"/>
          </a:solidFill>
          <a:ln w="12700">
            <a:solidFill>
              <a:schemeClr val="accent1"/>
            </a:solidFill>
            <a:prstDash val="solid"/>
          </a:ln>
        </p:spPr>
      </p:sp>
      <p:pic>
        <p:nvPicPr>
          <p:cNvPr id="22" name="Ikon" descr="FaCheck">    </p:cNvPr>
          <p:cNvPicPr>
            <a:picLocks noChangeAspect="1"/>
          </p:cNvPicPr>
          <p:nvPr/>
        </p:nvPicPr>
        <p:blipFill>
          <a:blip r:embed="rId5"/>
          <a:stretch>
            <a:fillRect/>
          </a:stretch>
        </p:blipFill>
        <p:spPr>
          <a:xfrm>
            <a:off x="7322515" y="4725619"/>
            <a:ext cx="351130" cy="351130"/>
          </a:xfrm>
          <a:prstGeom prst="rect">
            <a:avLst/>
          </a:prstGeom>
        </p:spPr>
      </p:pic>
      <p:sp>
        <p:nvSpPr>
          <p:cNvPr id="23" name="Text 15"/>
          <p:cNvSpPr txBox="1"/>
          <p:nvPr/>
        </p:nvSpPr>
        <p:spPr>
          <a:xfrm>
            <a:off x="8092440" y="4535424"/>
            <a:ext cx="3566160" cy="731520"/>
          </a:xfrm>
          <a:prstGeom prst="rect">
            <a:avLst/>
          </a:prstGeom>
          <a:noFill/>
          <a:ln/>
        </p:spPr>
        <p:txBody>
          <a:bodyPr wrap="square" lIns="0" tIns="0" rIns="0" bIns="0" rtlCol="0" anchor="ctr"/>
          <a:lstStyle/>
          <a:p>
            <a:pPr indent="0" marL="0">
              <a:buNone/>
            </a:pPr>
            <a:r>
              <a:rPr lang="en-US" sz="2200" dirty="0">
                <a:solidFill>
                  <a:schemeClr val="accent1"/>
                </a:solidFill>
              </a:rPr>
              <a:t>En az bir yıllık takip</a:t>
            </a:r>
            <a:endParaRPr lang="en-US" sz="2200" dirty="0"/>
          </a:p>
        </p:txBody>
      </p:sp>
      <p:sp>
        <p:nvSpPr>
          <p:cNvPr id="24" name="Text 16"/>
          <p:cNvSpPr txBox="1"/>
          <p:nvPr/>
        </p:nvSpPr>
        <p:spPr>
          <a:xfrm>
            <a:off x="548640" y="5349240"/>
            <a:ext cx="11064240" cy="502920"/>
          </a:xfrm>
          <a:prstGeom prst="rect">
            <a:avLst/>
          </a:prstGeom>
          <a:noFill/>
          <a:ln/>
        </p:spPr>
        <p:txBody>
          <a:bodyPr wrap="square" lIns="0" tIns="0" rIns="0" bIns="0" rtlCol="0" anchor="ctr"/>
          <a:lstStyle/>
          <a:p>
            <a:pPr indent="0" marL="0">
              <a:buNone/>
            </a:pPr>
            <a:r>
              <a:rPr lang="en-US" sz="2000" i="1" dirty="0">
                <a:solidFill>
                  <a:schemeClr val="accent3"/>
                </a:solidFill>
              </a:rPr>
              <a:t>Tüm kayıtlar alındığı için örneklem hesabı yapılmamıştır.</a:t>
            </a:r>
            <a:endParaRPr lang="en-US" sz="2000" dirty="0"/>
          </a:p>
        </p:txBody>
      </p:sp>
      <p:sp>
        <p:nvSpPr>
          <p:cNvPr id="25" name="Kaynak"/>
          <p:cNvSpPr txBox="1"/>
          <p:nvPr/>
        </p:nvSpPr>
        <p:spPr>
          <a:xfrm>
            <a:off x="548640" y="6382512"/>
            <a:ext cx="10424160" cy="292608"/>
          </a:xfrm>
          <a:prstGeom prst="rect">
            <a:avLst/>
          </a:prstGeom>
          <a:noFill/>
          <a:ln/>
        </p:spPr>
        <p:txBody>
          <a:bodyPr wrap="square" lIns="0" tIns="0" rIns="0" bIns="0" rtlCol="0" anchor="ctr"/>
          <a:lstStyle/>
          <a:p>
            <a:pPr indent="0" marL="0">
              <a:buNone/>
            </a:pPr>
            <a:r>
              <a:rPr lang="en-US" sz="1200" i="1" dirty="0">
                <a:solidFill>
                  <a:schemeClr val="accent3"/>
                </a:solidFill>
              </a:rPr>
              <a:t>Kaynak: Cenberlitaş E, Gökçe A, Öztürk O. Turk J Fam Pract. 2026;30(2):97-106.</a:t>
            </a:r>
            <a:endParaRPr lang="en-US" sz="1200" dirty="0"/>
          </a:p>
        </p:txBody>
      </p:sp>
      <p:sp>
        <p:nvSpPr>
          <p:cNvPr id="25" name="Slide Number Placeholder 0"/>
          <p:cNvSpPr>
            <a:spLocks noGrp="1"/>
          </p:cNvSpPr>
          <p:nvPr>
            <p:ph type="sldNum" sz="quarter" idx="4294967295"/>
          </p:nvPr>
        </p:nvSpPr>
        <p:spPr>
          <a:xfrm>
            <a:off x="11201400" y="6382512"/>
            <a:ext cx="548640" cy="292608"/>
          </a:xfrm>
          <a:prstGeom prst="rect">
            <a:avLst/>
          </a:prstGeom>
          <a:extLst>
            <a:ext uri="{C572A759-6A51-4108-AA02-DFA0A04FC94B}">
              <ma14:wrappingTextBoxFlag xmlns:ma14="http://schemas.microsoft.com/office/mac/drawingml/2011/main" val="0"/>
            </a:ext>
          </a:extLst>
        </p:spPr>
        <p:txBody>
          <a:bodyPr/>
          <a:lstStyle>
            <a:lvl1pPr>
              <a:defRPr sz="1400">
                <a:solidFill>
                  <a:srgbClr val="7A8C94"/>
                </a:solidFill>
              </a:defRPr>
            </a:lvl1pPr>
          </a:lstStyle>
          <a:p>
            <a:pPr algn="r"/>
            <a:fld id="{F7021451-1387-4CA6-816F-3879F97B5CBC}" type="slidenum">
              <a:rPr b="0" lang="en-US"/>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3" name="Text 0"/>
          <p:cNvSpPr/>
          <p:nvPr>
            <p:ph idx="100" type="title" hasCustomPrompt="1"/>
          </p:nvPr>
        </p:nvSpPr>
        <p:spPr>
          <a:xfrm>
            <a:off x="548640" y="320040"/>
            <a:ext cx="10607040" cy="868680"/>
          </a:xfrm>
          <a:prstGeom prst="rect">
            <a:avLst/>
          </a:prstGeom>
          <a:noFill/>
          <a:ln/>
        </p:spPr>
        <p:txBody>
          <a:bodyPr wrap="square" lIns="0" tIns="0" rIns="0" bIns="0" rtlCol="0" anchor="ctr"/>
          <a:lstStyle/>
          <a:p>
            <a:pPr algn="l" indent="0" marL="0">
              <a:buNone/>
            </a:pPr>
            <a:r>
              <a:rPr lang="en-US" sz="3600" b="1" dirty="0">
                <a:solidFill>
                  <a:schemeClr val="accent1"/>
                </a:solidFill>
              </a:rPr>
              <a:t>Veri toplama ve bağımlılık ölçümü</a:t>
            </a:r>
            <a:endParaRPr lang="en-US" sz="3600" dirty="0"/>
          </a:p>
        </p:txBody>
      </p:sp>
      <p:sp>
        <p:nvSpPr>
          <p:cNvPr id="4" name="Text 1"/>
          <p:cNvSpPr txBox="1"/>
          <p:nvPr/>
        </p:nvSpPr>
        <p:spPr>
          <a:xfrm>
            <a:off x="548640" y="1325880"/>
            <a:ext cx="10972800" cy="457200"/>
          </a:xfrm>
          <a:prstGeom prst="rect">
            <a:avLst/>
          </a:prstGeom>
          <a:noFill/>
          <a:ln/>
        </p:spPr>
        <p:txBody>
          <a:bodyPr wrap="square" lIns="0" tIns="0" rIns="0" bIns="0" rtlCol="0" anchor="ctr"/>
          <a:lstStyle/>
          <a:p>
            <a:pPr indent="0" marL="0">
              <a:buNone/>
            </a:pPr>
            <a:r>
              <a:rPr lang="en-US" sz="2200" b="1" dirty="0">
                <a:solidFill>
                  <a:schemeClr val="accent2"/>
                </a:solidFill>
              </a:rPr>
              <a:t>Hasta dosyalarından elde edilen veriler</a:t>
            </a:r>
            <a:endParaRPr lang="en-US" sz="2200" dirty="0"/>
          </a:p>
        </p:txBody>
      </p:sp>
      <p:sp>
        <p:nvSpPr>
          <p:cNvPr id="5" name="Veri etiketi"/>
          <p:cNvSpPr/>
          <p:nvPr/>
        </p:nvSpPr>
        <p:spPr>
          <a:xfrm>
            <a:off x="548640" y="1874520"/>
            <a:ext cx="1737360" cy="685800"/>
          </a:xfrm>
          <a:prstGeom prst="roundRect">
            <a:avLst>
              <a:gd name="adj" fmla="val 13333"/>
            </a:avLst>
          </a:prstGeom>
          <a:solidFill>
            <a:schemeClr val="bg2"/>
          </a:solidFill>
          <a:ln w="12700">
            <a:solidFill>
              <a:schemeClr val="bg2"/>
            </a:solidFill>
            <a:prstDash val="solid"/>
          </a:ln>
        </p:spPr>
      </p:sp>
      <p:sp>
        <p:nvSpPr>
          <p:cNvPr id="6" name="Text 3"/>
          <p:cNvSpPr txBox="1"/>
          <p:nvPr/>
        </p:nvSpPr>
        <p:spPr>
          <a:xfrm>
            <a:off x="548640" y="1874520"/>
            <a:ext cx="1737360" cy="685800"/>
          </a:xfrm>
          <a:prstGeom prst="rect">
            <a:avLst/>
          </a:prstGeom>
          <a:noFill/>
          <a:ln/>
        </p:spPr>
        <p:txBody>
          <a:bodyPr wrap="square" lIns="0" tIns="0" rIns="0" bIns="0" rtlCol="0" anchor="ctr"/>
          <a:lstStyle/>
          <a:p>
            <a:pPr algn="ctr" indent="0" marL="0">
              <a:buNone/>
            </a:pPr>
            <a:r>
              <a:rPr lang="en-US" sz="1800" dirty="0">
                <a:solidFill>
                  <a:schemeClr val="accent1"/>
                </a:solidFill>
              </a:rPr>
              <a:t>Yaş, cinsiyet</a:t>
            </a:r>
            <a:endParaRPr lang="en-US" sz="1800" dirty="0"/>
          </a:p>
        </p:txBody>
      </p:sp>
      <p:sp>
        <p:nvSpPr>
          <p:cNvPr id="7" name="Veri etiketi"/>
          <p:cNvSpPr/>
          <p:nvPr/>
        </p:nvSpPr>
        <p:spPr>
          <a:xfrm>
            <a:off x="2404872" y="1874520"/>
            <a:ext cx="1737360" cy="685800"/>
          </a:xfrm>
          <a:prstGeom prst="roundRect">
            <a:avLst>
              <a:gd name="adj" fmla="val 13333"/>
            </a:avLst>
          </a:prstGeom>
          <a:solidFill>
            <a:schemeClr val="bg2"/>
          </a:solidFill>
          <a:ln w="12700">
            <a:solidFill>
              <a:schemeClr val="bg2"/>
            </a:solidFill>
            <a:prstDash val="solid"/>
          </a:ln>
        </p:spPr>
      </p:sp>
      <p:sp>
        <p:nvSpPr>
          <p:cNvPr id="8" name="Text 5"/>
          <p:cNvSpPr txBox="1"/>
          <p:nvPr/>
        </p:nvSpPr>
        <p:spPr>
          <a:xfrm>
            <a:off x="2404872" y="1874520"/>
            <a:ext cx="1737360" cy="685800"/>
          </a:xfrm>
          <a:prstGeom prst="rect">
            <a:avLst/>
          </a:prstGeom>
          <a:noFill/>
          <a:ln/>
        </p:spPr>
        <p:txBody>
          <a:bodyPr wrap="square" lIns="0" tIns="0" rIns="0" bIns="0" rtlCol="0" anchor="ctr"/>
          <a:lstStyle/>
          <a:p>
            <a:pPr algn="ctr" indent="0" marL="0">
              <a:buNone/>
            </a:pPr>
            <a:r>
              <a:rPr lang="en-US" sz="1800" dirty="0">
                <a:solidFill>
                  <a:schemeClr val="accent1"/>
                </a:solidFill>
              </a:rPr>
              <a:t>Meslek</a:t>
            </a:r>
            <a:endParaRPr lang="en-US" sz="1800" dirty="0"/>
          </a:p>
        </p:txBody>
      </p:sp>
      <p:sp>
        <p:nvSpPr>
          <p:cNvPr id="9" name="Veri etiketi"/>
          <p:cNvSpPr/>
          <p:nvPr/>
        </p:nvSpPr>
        <p:spPr>
          <a:xfrm>
            <a:off x="4261104" y="1874520"/>
            <a:ext cx="1737360" cy="685800"/>
          </a:xfrm>
          <a:prstGeom prst="roundRect">
            <a:avLst>
              <a:gd name="adj" fmla="val 13333"/>
            </a:avLst>
          </a:prstGeom>
          <a:solidFill>
            <a:schemeClr val="bg2"/>
          </a:solidFill>
          <a:ln w="12700">
            <a:solidFill>
              <a:schemeClr val="bg2"/>
            </a:solidFill>
            <a:prstDash val="solid"/>
          </a:ln>
        </p:spPr>
      </p:sp>
      <p:sp>
        <p:nvSpPr>
          <p:cNvPr id="10" name="Text 7"/>
          <p:cNvSpPr txBox="1"/>
          <p:nvPr/>
        </p:nvSpPr>
        <p:spPr>
          <a:xfrm>
            <a:off x="4261104" y="1874520"/>
            <a:ext cx="1737360" cy="685800"/>
          </a:xfrm>
          <a:prstGeom prst="rect">
            <a:avLst/>
          </a:prstGeom>
          <a:noFill/>
          <a:ln/>
        </p:spPr>
        <p:txBody>
          <a:bodyPr wrap="square" lIns="0" tIns="0" rIns="0" bIns="0" rtlCol="0" anchor="ctr"/>
          <a:lstStyle/>
          <a:p>
            <a:pPr algn="ctr" indent="0" marL="0">
              <a:buNone/>
            </a:pPr>
            <a:r>
              <a:rPr lang="en-US" sz="1800" dirty="0">
                <a:solidFill>
                  <a:schemeClr val="accent1"/>
                </a:solidFill>
              </a:rPr>
              <a:t>Alkol kullanımı</a:t>
            </a:r>
            <a:endParaRPr lang="en-US" sz="1800" dirty="0"/>
          </a:p>
        </p:txBody>
      </p:sp>
      <p:sp>
        <p:nvSpPr>
          <p:cNvPr id="11" name="Veri etiketi"/>
          <p:cNvSpPr/>
          <p:nvPr/>
        </p:nvSpPr>
        <p:spPr>
          <a:xfrm>
            <a:off x="6117336" y="1874520"/>
            <a:ext cx="1737360" cy="685800"/>
          </a:xfrm>
          <a:prstGeom prst="roundRect">
            <a:avLst>
              <a:gd name="adj" fmla="val 13333"/>
            </a:avLst>
          </a:prstGeom>
          <a:solidFill>
            <a:schemeClr val="bg2"/>
          </a:solidFill>
          <a:ln w="12700">
            <a:solidFill>
              <a:schemeClr val="bg2"/>
            </a:solidFill>
            <a:prstDash val="solid"/>
          </a:ln>
        </p:spPr>
      </p:sp>
      <p:sp>
        <p:nvSpPr>
          <p:cNvPr id="12" name="Text 9"/>
          <p:cNvSpPr txBox="1"/>
          <p:nvPr/>
        </p:nvSpPr>
        <p:spPr>
          <a:xfrm>
            <a:off x="6117336" y="1874520"/>
            <a:ext cx="1737360" cy="685800"/>
          </a:xfrm>
          <a:prstGeom prst="rect">
            <a:avLst/>
          </a:prstGeom>
          <a:noFill/>
          <a:ln/>
        </p:spPr>
        <p:txBody>
          <a:bodyPr wrap="square" lIns="0" tIns="0" rIns="0" bIns="0" rtlCol="0" anchor="ctr"/>
          <a:lstStyle/>
          <a:p>
            <a:pPr algn="ctr" indent="0" marL="0">
              <a:buNone/>
            </a:pPr>
            <a:r>
              <a:rPr lang="en-US" sz="1800" dirty="0">
                <a:solidFill>
                  <a:schemeClr val="accent1"/>
                </a:solidFill>
              </a:rPr>
              <a:t>Kronik hastalık</a:t>
            </a:r>
            <a:endParaRPr lang="en-US" sz="1800" dirty="0"/>
          </a:p>
        </p:txBody>
      </p:sp>
      <p:sp>
        <p:nvSpPr>
          <p:cNvPr id="13" name="Veri etiketi"/>
          <p:cNvSpPr/>
          <p:nvPr/>
        </p:nvSpPr>
        <p:spPr>
          <a:xfrm>
            <a:off x="7973568" y="1874520"/>
            <a:ext cx="1737360" cy="685800"/>
          </a:xfrm>
          <a:prstGeom prst="roundRect">
            <a:avLst>
              <a:gd name="adj" fmla="val 13333"/>
            </a:avLst>
          </a:prstGeom>
          <a:solidFill>
            <a:schemeClr val="bg2"/>
          </a:solidFill>
          <a:ln w="12700">
            <a:solidFill>
              <a:schemeClr val="bg2"/>
            </a:solidFill>
            <a:prstDash val="solid"/>
          </a:ln>
        </p:spPr>
      </p:sp>
      <p:sp>
        <p:nvSpPr>
          <p:cNvPr id="14" name="Text 11"/>
          <p:cNvSpPr txBox="1"/>
          <p:nvPr/>
        </p:nvSpPr>
        <p:spPr>
          <a:xfrm>
            <a:off x="7973568" y="1874520"/>
            <a:ext cx="1737360" cy="685800"/>
          </a:xfrm>
          <a:prstGeom prst="rect">
            <a:avLst/>
          </a:prstGeom>
          <a:noFill/>
          <a:ln/>
        </p:spPr>
        <p:txBody>
          <a:bodyPr wrap="square" lIns="0" tIns="0" rIns="0" bIns="0" rtlCol="0" anchor="ctr"/>
          <a:lstStyle/>
          <a:p>
            <a:pPr algn="ctr" indent="0" marL="0">
              <a:buNone/>
            </a:pPr>
            <a:r>
              <a:rPr lang="en-US" sz="1800" dirty="0">
                <a:solidFill>
                  <a:schemeClr val="accent1"/>
                </a:solidFill>
              </a:rPr>
              <a:t>Paket-yıl</a:t>
            </a:r>
            <a:endParaRPr lang="en-US" sz="1800" dirty="0"/>
          </a:p>
        </p:txBody>
      </p:sp>
      <p:sp>
        <p:nvSpPr>
          <p:cNvPr id="15" name="Veri etiketi"/>
          <p:cNvSpPr/>
          <p:nvPr/>
        </p:nvSpPr>
        <p:spPr>
          <a:xfrm>
            <a:off x="9829800" y="1874520"/>
            <a:ext cx="1737360" cy="685800"/>
          </a:xfrm>
          <a:prstGeom prst="roundRect">
            <a:avLst>
              <a:gd name="adj" fmla="val 13333"/>
            </a:avLst>
          </a:prstGeom>
          <a:solidFill>
            <a:schemeClr val="bg2"/>
          </a:solidFill>
          <a:ln w="12700">
            <a:solidFill>
              <a:schemeClr val="bg2"/>
            </a:solidFill>
            <a:prstDash val="solid"/>
          </a:ln>
        </p:spPr>
      </p:sp>
      <p:sp>
        <p:nvSpPr>
          <p:cNvPr id="16" name="Text 13"/>
          <p:cNvSpPr txBox="1"/>
          <p:nvPr/>
        </p:nvSpPr>
        <p:spPr>
          <a:xfrm>
            <a:off x="9829800" y="1874520"/>
            <a:ext cx="1737360" cy="685800"/>
          </a:xfrm>
          <a:prstGeom prst="rect">
            <a:avLst/>
          </a:prstGeom>
          <a:noFill/>
          <a:ln/>
        </p:spPr>
        <p:txBody>
          <a:bodyPr wrap="square" lIns="0" tIns="0" rIns="0" bIns="0" rtlCol="0" anchor="ctr"/>
          <a:lstStyle/>
          <a:p>
            <a:pPr algn="ctr" indent="0" marL="0">
              <a:buNone/>
            </a:pPr>
            <a:r>
              <a:rPr lang="en-US" sz="1800" dirty="0">
                <a:solidFill>
                  <a:schemeClr val="accent1"/>
                </a:solidFill>
              </a:rPr>
              <a:t>Uygulanan tedavi</a:t>
            </a:r>
            <a:endParaRPr lang="en-US" sz="1800" dirty="0"/>
          </a:p>
        </p:txBody>
      </p:sp>
      <p:sp>
        <p:nvSpPr>
          <p:cNvPr id="17" name="Text 14"/>
          <p:cNvSpPr txBox="1"/>
          <p:nvPr/>
        </p:nvSpPr>
        <p:spPr>
          <a:xfrm>
            <a:off x="548640" y="2926080"/>
            <a:ext cx="10972800" cy="457200"/>
          </a:xfrm>
          <a:prstGeom prst="rect">
            <a:avLst/>
          </a:prstGeom>
          <a:noFill/>
          <a:ln/>
        </p:spPr>
        <p:txBody>
          <a:bodyPr wrap="square" lIns="0" tIns="0" rIns="0" bIns="0" rtlCol="0" anchor="ctr"/>
          <a:lstStyle/>
          <a:p>
            <a:pPr indent="0" marL="0">
              <a:buNone/>
            </a:pPr>
            <a:r>
              <a:rPr lang="en-US" sz="2200" b="1" dirty="0">
                <a:solidFill>
                  <a:schemeClr val="accent2"/>
                </a:solidFill>
              </a:rPr>
              <a:t>Fagerström Nikotin Bağımlılık Testi (FNBT)</a:t>
            </a:r>
            <a:endParaRPr lang="en-US" sz="2200" dirty="0"/>
          </a:p>
        </p:txBody>
      </p:sp>
      <p:sp>
        <p:nvSpPr>
          <p:cNvPr id="18" name="Ölçek dilimi"/>
          <p:cNvSpPr/>
          <p:nvPr/>
        </p:nvSpPr>
        <p:spPr>
          <a:xfrm>
            <a:off x="548640" y="3520440"/>
            <a:ext cx="3017520" cy="1005840"/>
          </a:xfrm>
          <a:prstGeom prst="rect">
            <a:avLst/>
          </a:prstGeom>
          <a:solidFill>
            <a:schemeClr val="accent5"/>
          </a:solidFill>
          <a:ln w="25400">
            <a:solidFill>
              <a:schemeClr val="bg1"/>
            </a:solidFill>
            <a:prstDash val="solid"/>
          </a:ln>
        </p:spPr>
      </p:sp>
      <p:sp>
        <p:nvSpPr>
          <p:cNvPr id="19" name="Text 16"/>
          <p:cNvSpPr txBox="1"/>
          <p:nvPr/>
        </p:nvSpPr>
        <p:spPr>
          <a:xfrm>
            <a:off x="548640" y="3520440"/>
            <a:ext cx="3017520" cy="1005840"/>
          </a:xfrm>
          <a:prstGeom prst="rect">
            <a:avLst/>
          </a:prstGeom>
          <a:noFill/>
          <a:ln/>
        </p:spPr>
        <p:txBody>
          <a:bodyPr wrap="square" lIns="0" tIns="0" rIns="0" bIns="0" rtlCol="0" anchor="ctr"/>
          <a:lstStyle/>
          <a:p>
            <a:pPr algn="ctr" indent="0" marL="0">
              <a:buNone/>
            </a:pPr>
            <a:r>
              <a:rPr lang="en-US" sz="2400" b="1" dirty="0">
                <a:solidFill>
                  <a:schemeClr val="accent1"/>
                </a:solidFill>
              </a:rPr>
              <a:t>Düşük</a:t>
            </a:r>
            <a:endParaRPr lang="en-US" sz="2400" dirty="0"/>
          </a:p>
          <a:p>
            <a:pPr algn="ctr" indent="0" marL="0">
              <a:buNone/>
            </a:pPr>
            <a:r>
              <a:rPr lang="en-US" sz="1800" dirty="0">
                <a:solidFill>
                  <a:schemeClr val="accent1"/>
                </a:solidFill>
              </a:rPr>
              <a:t>0–2 puan</a:t>
            </a:r>
            <a:endParaRPr lang="en-US" sz="2400" dirty="0"/>
          </a:p>
        </p:txBody>
      </p:sp>
      <p:sp>
        <p:nvSpPr>
          <p:cNvPr id="20" name="Ölçek dilimi"/>
          <p:cNvSpPr/>
          <p:nvPr/>
        </p:nvSpPr>
        <p:spPr>
          <a:xfrm>
            <a:off x="3566160" y="3520440"/>
            <a:ext cx="5029200" cy="1005840"/>
          </a:xfrm>
          <a:prstGeom prst="rect">
            <a:avLst/>
          </a:prstGeom>
          <a:solidFill>
            <a:schemeClr val="accent2"/>
          </a:solidFill>
          <a:ln w="25400">
            <a:solidFill>
              <a:schemeClr val="bg1"/>
            </a:solidFill>
            <a:prstDash val="solid"/>
          </a:ln>
        </p:spPr>
      </p:sp>
      <p:sp>
        <p:nvSpPr>
          <p:cNvPr id="21" name="Text 18"/>
          <p:cNvSpPr txBox="1"/>
          <p:nvPr/>
        </p:nvSpPr>
        <p:spPr>
          <a:xfrm>
            <a:off x="3566160" y="3520440"/>
            <a:ext cx="5029200" cy="1005840"/>
          </a:xfrm>
          <a:prstGeom prst="rect">
            <a:avLst/>
          </a:prstGeom>
          <a:noFill/>
          <a:ln/>
        </p:spPr>
        <p:txBody>
          <a:bodyPr wrap="square" lIns="0" tIns="0" rIns="0" bIns="0" rtlCol="0" anchor="ctr"/>
          <a:lstStyle/>
          <a:p>
            <a:pPr algn="ctr" indent="0" marL="0">
              <a:buNone/>
            </a:pPr>
            <a:r>
              <a:rPr lang="en-US" sz="2400" b="1" dirty="0">
                <a:solidFill>
                  <a:schemeClr val="bg1"/>
                </a:solidFill>
              </a:rPr>
              <a:t>Orta</a:t>
            </a:r>
            <a:endParaRPr lang="en-US" sz="2400" dirty="0"/>
          </a:p>
          <a:p>
            <a:pPr algn="ctr" indent="0" marL="0">
              <a:buNone/>
            </a:pPr>
            <a:r>
              <a:rPr lang="en-US" sz="1800" dirty="0">
                <a:solidFill>
                  <a:schemeClr val="bg1"/>
                </a:solidFill>
              </a:rPr>
              <a:t>3–7 puan</a:t>
            </a:r>
            <a:endParaRPr lang="en-US" sz="2400" dirty="0"/>
          </a:p>
        </p:txBody>
      </p:sp>
      <p:sp>
        <p:nvSpPr>
          <p:cNvPr id="22" name="Ölçek dilimi"/>
          <p:cNvSpPr/>
          <p:nvPr/>
        </p:nvSpPr>
        <p:spPr>
          <a:xfrm>
            <a:off x="8595360" y="3520440"/>
            <a:ext cx="3017520" cy="1005840"/>
          </a:xfrm>
          <a:prstGeom prst="rect">
            <a:avLst/>
          </a:prstGeom>
          <a:solidFill>
            <a:schemeClr val="accent1"/>
          </a:solidFill>
          <a:ln w="25400">
            <a:solidFill>
              <a:schemeClr val="bg1"/>
            </a:solidFill>
            <a:prstDash val="solid"/>
          </a:ln>
        </p:spPr>
      </p:sp>
      <p:sp>
        <p:nvSpPr>
          <p:cNvPr id="23" name="Text 20"/>
          <p:cNvSpPr txBox="1"/>
          <p:nvPr/>
        </p:nvSpPr>
        <p:spPr>
          <a:xfrm>
            <a:off x="8595360" y="3520440"/>
            <a:ext cx="3017520" cy="1005840"/>
          </a:xfrm>
          <a:prstGeom prst="rect">
            <a:avLst/>
          </a:prstGeom>
          <a:noFill/>
          <a:ln/>
        </p:spPr>
        <p:txBody>
          <a:bodyPr wrap="square" lIns="0" tIns="0" rIns="0" bIns="0" rtlCol="0" anchor="ctr"/>
          <a:lstStyle/>
          <a:p>
            <a:pPr algn="ctr" indent="0" marL="0">
              <a:buNone/>
            </a:pPr>
            <a:r>
              <a:rPr lang="en-US" sz="2400" b="1" dirty="0">
                <a:solidFill>
                  <a:schemeClr val="bg1"/>
                </a:solidFill>
              </a:rPr>
              <a:t>Yüksek</a:t>
            </a:r>
            <a:endParaRPr lang="en-US" sz="2400" dirty="0"/>
          </a:p>
          <a:p>
            <a:pPr algn="ctr" indent="0" marL="0">
              <a:buNone/>
            </a:pPr>
            <a:r>
              <a:rPr lang="en-US" sz="1800" dirty="0">
                <a:solidFill>
                  <a:schemeClr val="bg1"/>
                </a:solidFill>
              </a:rPr>
              <a:t>8–10 puan</a:t>
            </a:r>
            <a:endParaRPr lang="en-US" sz="2400" dirty="0"/>
          </a:p>
        </p:txBody>
      </p:sp>
      <p:sp>
        <p:nvSpPr>
          <p:cNvPr id="24" name="Text 21"/>
          <p:cNvSpPr txBox="1"/>
          <p:nvPr/>
        </p:nvSpPr>
        <p:spPr>
          <a:xfrm>
            <a:off x="548640" y="4800600"/>
            <a:ext cx="11064240" cy="502920"/>
          </a:xfrm>
          <a:prstGeom prst="rect">
            <a:avLst/>
          </a:prstGeom>
          <a:noFill/>
          <a:ln/>
        </p:spPr>
        <p:txBody>
          <a:bodyPr wrap="square" lIns="0" tIns="0" rIns="0" bIns="0" rtlCol="0" anchor="ctr"/>
          <a:lstStyle/>
          <a:p>
            <a:pPr indent="0" marL="0">
              <a:buNone/>
            </a:pPr>
            <a:r>
              <a:rPr lang="en-US" sz="2000" dirty="0">
                <a:solidFill>
                  <a:schemeClr val="accent3"/>
                </a:solidFill>
              </a:rPr>
              <a:t>6 soru, 0–10 puan  •  Türkçe geçerlik: Cronbach α = 0,56</a:t>
            </a:r>
            <a:endParaRPr lang="en-US" sz="2000" dirty="0"/>
          </a:p>
        </p:txBody>
      </p:sp>
      <p:sp>
        <p:nvSpPr>
          <p:cNvPr id="25" name="Kaynak"/>
          <p:cNvSpPr txBox="1"/>
          <p:nvPr/>
        </p:nvSpPr>
        <p:spPr>
          <a:xfrm>
            <a:off x="548640" y="6382512"/>
            <a:ext cx="10424160" cy="292608"/>
          </a:xfrm>
          <a:prstGeom prst="rect">
            <a:avLst/>
          </a:prstGeom>
          <a:noFill/>
          <a:ln/>
        </p:spPr>
        <p:txBody>
          <a:bodyPr wrap="square" lIns="0" tIns="0" rIns="0" bIns="0" rtlCol="0" anchor="ctr"/>
          <a:lstStyle/>
          <a:p>
            <a:pPr indent="0" marL="0">
              <a:buNone/>
            </a:pPr>
            <a:r>
              <a:rPr lang="en-US" sz="1200" i="1" dirty="0">
                <a:solidFill>
                  <a:schemeClr val="accent3"/>
                </a:solidFill>
              </a:rPr>
              <a:t>Kaynak: 1, 6, 7</a:t>
            </a:r>
            <a:endParaRPr lang="en-US" sz="1200" dirty="0"/>
          </a:p>
        </p:txBody>
      </p:sp>
      <p:sp>
        <p:nvSpPr>
          <p:cNvPr id="25" name="Slide Number Placeholder 0"/>
          <p:cNvSpPr>
            <a:spLocks noGrp="1"/>
          </p:cNvSpPr>
          <p:nvPr>
            <p:ph type="sldNum" sz="quarter" idx="4294967295"/>
          </p:nvPr>
        </p:nvSpPr>
        <p:spPr>
          <a:xfrm>
            <a:off x="11201400" y="6382512"/>
            <a:ext cx="548640" cy="292608"/>
          </a:xfrm>
          <a:prstGeom prst="rect">
            <a:avLst/>
          </a:prstGeom>
          <a:extLst>
            <a:ext uri="{C572A759-6A51-4108-AA02-DFA0A04FC94B}">
              <ma14:wrappingTextBoxFlag xmlns:ma14="http://schemas.microsoft.com/office/mac/drawingml/2011/main" val="0"/>
            </a:ext>
          </a:extLst>
        </p:spPr>
        <p:txBody>
          <a:bodyPr/>
          <a:lstStyle>
            <a:lvl1pPr>
              <a:defRPr sz="1400">
                <a:solidFill>
                  <a:srgbClr val="7A8C94"/>
                </a:solidFill>
              </a:defRPr>
            </a:lvl1pPr>
          </a:lstStyle>
          <a:p>
            <a:pPr algn="r"/>
            <a:fld id="{F7021451-1387-4CA6-816F-3879F97B5CBC}" type="slidenum">
              <a:rPr b="0" lang="en-US"/>
              <a:t>9</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3" name="Text 0"/>
          <p:cNvSpPr/>
          <p:nvPr>
            <p:ph idx="100" type="title" hasCustomPrompt="1"/>
          </p:nvPr>
        </p:nvSpPr>
        <p:spPr>
          <a:xfrm>
            <a:off x="548640" y="320040"/>
            <a:ext cx="10607040" cy="868680"/>
          </a:xfrm>
          <a:prstGeom prst="rect">
            <a:avLst/>
          </a:prstGeom>
          <a:noFill/>
          <a:ln/>
        </p:spPr>
        <p:txBody>
          <a:bodyPr wrap="square" lIns="0" tIns="0" rIns="0" bIns="0" rtlCol="0" anchor="ctr"/>
          <a:lstStyle/>
          <a:p>
            <a:pPr algn="l" indent="0" marL="0">
              <a:buNone/>
            </a:pPr>
            <a:r>
              <a:rPr lang="en-US" sz="3600" b="1" dirty="0">
                <a:solidFill>
                  <a:schemeClr val="accent1"/>
                </a:solidFill>
              </a:rPr>
              <a:t>Tedavi yaklaşımı</a:t>
            </a:r>
            <a:endParaRPr lang="en-US" sz="3600" dirty="0"/>
          </a:p>
        </p:txBody>
      </p:sp>
      <p:sp>
        <p:nvSpPr>
          <p:cNvPr id="4" name="Kart"/>
          <p:cNvSpPr/>
          <p:nvPr/>
        </p:nvSpPr>
        <p:spPr>
          <a:xfrm>
            <a:off x="548640" y="1417320"/>
            <a:ext cx="3566160" cy="3063240"/>
          </a:xfrm>
          <a:prstGeom prst="roundRect">
            <a:avLst>
              <a:gd name="adj" fmla="val 3582"/>
            </a:avLst>
          </a:prstGeom>
          <a:solidFill>
            <a:schemeClr val="bg2"/>
          </a:solidFill>
          <a:ln w="12700">
            <a:solidFill>
              <a:schemeClr val="bg2"/>
            </a:solidFill>
            <a:prstDash val="solid"/>
          </a:ln>
        </p:spPr>
      </p:sp>
      <p:sp>
        <p:nvSpPr>
          <p:cNvPr id="5" name="Ikon zemini"/>
          <p:cNvSpPr/>
          <p:nvPr/>
        </p:nvSpPr>
        <p:spPr>
          <a:xfrm>
            <a:off x="1783080" y="1645920"/>
            <a:ext cx="1097280" cy="1097280"/>
          </a:xfrm>
          <a:prstGeom prst="ellipse">
            <a:avLst/>
          </a:prstGeom>
          <a:solidFill>
            <a:schemeClr val="accent3"/>
          </a:solidFill>
          <a:ln w="12700">
            <a:solidFill>
              <a:schemeClr val="accent3"/>
            </a:solidFill>
            <a:prstDash val="solid"/>
          </a:ln>
        </p:spPr>
      </p:sp>
      <p:pic>
        <p:nvPicPr>
          <p:cNvPr id="6" name="Ikon" descr="FaComments">    </p:cNvPr>
          <p:cNvPicPr>
            <a:picLocks noChangeAspect="1"/>
          </p:cNvPicPr>
          <p:nvPr/>
        </p:nvPicPr>
        <p:blipFill>
          <a:blip r:embed="rId1"/>
          <a:stretch>
            <a:fillRect/>
          </a:stretch>
        </p:blipFill>
        <p:spPr>
          <a:xfrm>
            <a:off x="2068373" y="1931213"/>
            <a:ext cx="526694" cy="526694"/>
          </a:xfrm>
          <a:prstGeom prst="rect">
            <a:avLst/>
          </a:prstGeom>
        </p:spPr>
      </p:pic>
      <p:sp>
        <p:nvSpPr>
          <p:cNvPr id="7" name="Text 3"/>
          <p:cNvSpPr txBox="1"/>
          <p:nvPr/>
        </p:nvSpPr>
        <p:spPr>
          <a:xfrm>
            <a:off x="731520" y="2834640"/>
            <a:ext cx="3200400" cy="548640"/>
          </a:xfrm>
          <a:prstGeom prst="rect">
            <a:avLst/>
          </a:prstGeom>
          <a:noFill/>
          <a:ln/>
        </p:spPr>
        <p:txBody>
          <a:bodyPr wrap="square" lIns="0" tIns="0" rIns="0" bIns="0" rtlCol="0" anchor="ctr"/>
          <a:lstStyle/>
          <a:p>
            <a:pPr algn="ctr" indent="0" marL="0">
              <a:buNone/>
            </a:pPr>
            <a:r>
              <a:rPr lang="en-US" sz="2800" b="1" dirty="0">
                <a:solidFill>
                  <a:schemeClr val="accent3"/>
                </a:solidFill>
              </a:rPr>
              <a:t>Davranışsal</a:t>
            </a:r>
            <a:endParaRPr lang="en-US" sz="2800" dirty="0"/>
          </a:p>
        </p:txBody>
      </p:sp>
      <p:sp>
        <p:nvSpPr>
          <p:cNvPr id="8" name="Text 4"/>
          <p:cNvSpPr txBox="1"/>
          <p:nvPr/>
        </p:nvSpPr>
        <p:spPr>
          <a:xfrm>
            <a:off x="822960" y="3383280"/>
            <a:ext cx="3017520" cy="1005840"/>
          </a:xfrm>
          <a:prstGeom prst="rect">
            <a:avLst/>
          </a:prstGeom>
          <a:noFill/>
          <a:ln/>
        </p:spPr>
        <p:txBody>
          <a:bodyPr wrap="square" lIns="0" tIns="0" rIns="0" bIns="0" rtlCol="0" anchor="t"/>
          <a:lstStyle/>
          <a:p>
            <a:pPr algn="ctr" indent="0" marL="0">
              <a:buNone/>
            </a:pPr>
            <a:r>
              <a:rPr lang="en-US" sz="2000" dirty="0">
                <a:solidFill>
                  <a:schemeClr val="accent1"/>
                </a:solidFill>
              </a:rPr>
              <a:t>Yalnızca danışmanlık</a:t>
            </a:r>
            <a:endParaRPr lang="en-US" sz="2000" dirty="0"/>
          </a:p>
        </p:txBody>
      </p:sp>
      <p:sp>
        <p:nvSpPr>
          <p:cNvPr id="9" name="Kart"/>
          <p:cNvSpPr/>
          <p:nvPr/>
        </p:nvSpPr>
        <p:spPr>
          <a:xfrm>
            <a:off x="4297680" y="1417320"/>
            <a:ext cx="3566160" cy="3063240"/>
          </a:xfrm>
          <a:prstGeom prst="roundRect">
            <a:avLst>
              <a:gd name="adj" fmla="val 3582"/>
            </a:avLst>
          </a:prstGeom>
          <a:solidFill>
            <a:schemeClr val="bg2"/>
          </a:solidFill>
          <a:ln w="12700">
            <a:solidFill>
              <a:schemeClr val="bg2"/>
            </a:solidFill>
            <a:prstDash val="solid"/>
          </a:ln>
        </p:spPr>
      </p:sp>
      <p:sp>
        <p:nvSpPr>
          <p:cNvPr id="10" name="Ikon zemini"/>
          <p:cNvSpPr/>
          <p:nvPr/>
        </p:nvSpPr>
        <p:spPr>
          <a:xfrm>
            <a:off x="5532120" y="1645920"/>
            <a:ext cx="1097280" cy="1097280"/>
          </a:xfrm>
          <a:prstGeom prst="ellipse">
            <a:avLst/>
          </a:prstGeom>
          <a:solidFill>
            <a:schemeClr val="accent2"/>
          </a:solidFill>
          <a:ln w="12700">
            <a:solidFill>
              <a:schemeClr val="accent2"/>
            </a:solidFill>
            <a:prstDash val="solid"/>
          </a:ln>
        </p:spPr>
      </p:sp>
      <p:pic>
        <p:nvPicPr>
          <p:cNvPr id="11" name="Ikon" descr="FaPills">    </p:cNvPr>
          <p:cNvPicPr>
            <a:picLocks noChangeAspect="1"/>
          </p:cNvPicPr>
          <p:nvPr/>
        </p:nvPicPr>
        <p:blipFill>
          <a:blip r:embed="rId2"/>
          <a:stretch>
            <a:fillRect/>
          </a:stretch>
        </p:blipFill>
        <p:spPr>
          <a:xfrm>
            <a:off x="5817413" y="1931213"/>
            <a:ext cx="526694" cy="526694"/>
          </a:xfrm>
          <a:prstGeom prst="rect">
            <a:avLst/>
          </a:prstGeom>
        </p:spPr>
      </p:pic>
      <p:sp>
        <p:nvSpPr>
          <p:cNvPr id="12" name="Text 7"/>
          <p:cNvSpPr txBox="1"/>
          <p:nvPr/>
        </p:nvSpPr>
        <p:spPr>
          <a:xfrm>
            <a:off x="4480560" y="2834640"/>
            <a:ext cx="3200400" cy="548640"/>
          </a:xfrm>
          <a:prstGeom prst="rect">
            <a:avLst/>
          </a:prstGeom>
          <a:noFill/>
          <a:ln/>
        </p:spPr>
        <p:txBody>
          <a:bodyPr wrap="square" lIns="0" tIns="0" rIns="0" bIns="0" rtlCol="0" anchor="ctr"/>
          <a:lstStyle/>
          <a:p>
            <a:pPr algn="ctr" indent="0" marL="0">
              <a:buNone/>
            </a:pPr>
            <a:r>
              <a:rPr lang="en-US" sz="2800" b="1" dirty="0">
                <a:solidFill>
                  <a:schemeClr val="accent2"/>
                </a:solidFill>
              </a:rPr>
              <a:t>Monoterapi</a:t>
            </a:r>
            <a:endParaRPr lang="en-US" sz="2800" dirty="0"/>
          </a:p>
        </p:txBody>
      </p:sp>
      <p:sp>
        <p:nvSpPr>
          <p:cNvPr id="13" name="Text 8"/>
          <p:cNvSpPr txBox="1"/>
          <p:nvPr/>
        </p:nvSpPr>
        <p:spPr>
          <a:xfrm>
            <a:off x="4572000" y="3383280"/>
            <a:ext cx="3017520" cy="1005840"/>
          </a:xfrm>
          <a:prstGeom prst="rect">
            <a:avLst/>
          </a:prstGeom>
          <a:noFill/>
          <a:ln/>
        </p:spPr>
        <p:txBody>
          <a:bodyPr wrap="square" lIns="0" tIns="0" rIns="0" bIns="0" rtlCol="0" anchor="t"/>
          <a:lstStyle/>
          <a:p>
            <a:pPr algn="ctr" indent="0" marL="0">
              <a:buNone/>
            </a:pPr>
            <a:r>
              <a:rPr lang="en-US" sz="2000" dirty="0">
                <a:solidFill>
                  <a:schemeClr val="accent1"/>
                </a:solidFill>
              </a:rPr>
              <a:t>Vareniklin, bupropion, sitizin veya NRT</a:t>
            </a:r>
            <a:endParaRPr lang="en-US" sz="2000" dirty="0"/>
          </a:p>
        </p:txBody>
      </p:sp>
      <p:sp>
        <p:nvSpPr>
          <p:cNvPr id="14" name="Kart"/>
          <p:cNvSpPr/>
          <p:nvPr/>
        </p:nvSpPr>
        <p:spPr>
          <a:xfrm>
            <a:off x="8046720" y="1417320"/>
            <a:ext cx="3566160" cy="3063240"/>
          </a:xfrm>
          <a:prstGeom prst="roundRect">
            <a:avLst>
              <a:gd name="adj" fmla="val 3582"/>
            </a:avLst>
          </a:prstGeom>
          <a:solidFill>
            <a:schemeClr val="bg2"/>
          </a:solidFill>
          <a:ln w="12700">
            <a:solidFill>
              <a:schemeClr val="bg2"/>
            </a:solidFill>
            <a:prstDash val="solid"/>
          </a:ln>
        </p:spPr>
      </p:sp>
      <p:sp>
        <p:nvSpPr>
          <p:cNvPr id="15" name="Ikon zemini"/>
          <p:cNvSpPr/>
          <p:nvPr/>
        </p:nvSpPr>
        <p:spPr>
          <a:xfrm>
            <a:off x="9281160" y="1645920"/>
            <a:ext cx="1097280" cy="1097280"/>
          </a:xfrm>
          <a:prstGeom prst="ellipse">
            <a:avLst/>
          </a:prstGeom>
          <a:solidFill>
            <a:schemeClr val="accent1"/>
          </a:solidFill>
          <a:ln w="12700">
            <a:solidFill>
              <a:schemeClr val="accent1"/>
            </a:solidFill>
            <a:prstDash val="solid"/>
          </a:ln>
        </p:spPr>
      </p:sp>
      <p:pic>
        <p:nvPicPr>
          <p:cNvPr id="16" name="Ikon" descr="FaExchangeAlt">    </p:cNvPr>
          <p:cNvPicPr>
            <a:picLocks noChangeAspect="1"/>
          </p:cNvPicPr>
          <p:nvPr/>
        </p:nvPicPr>
        <p:blipFill>
          <a:blip r:embed="rId3"/>
          <a:stretch>
            <a:fillRect/>
          </a:stretch>
        </p:blipFill>
        <p:spPr>
          <a:xfrm>
            <a:off x="9566453" y="1931213"/>
            <a:ext cx="526694" cy="526694"/>
          </a:xfrm>
          <a:prstGeom prst="rect">
            <a:avLst/>
          </a:prstGeom>
        </p:spPr>
      </p:pic>
      <p:sp>
        <p:nvSpPr>
          <p:cNvPr id="17" name="Text 11"/>
          <p:cNvSpPr txBox="1"/>
          <p:nvPr/>
        </p:nvSpPr>
        <p:spPr>
          <a:xfrm>
            <a:off x="8229600" y="2834640"/>
            <a:ext cx="3200400" cy="548640"/>
          </a:xfrm>
          <a:prstGeom prst="rect">
            <a:avLst/>
          </a:prstGeom>
          <a:noFill/>
          <a:ln/>
        </p:spPr>
        <p:txBody>
          <a:bodyPr wrap="square" lIns="0" tIns="0" rIns="0" bIns="0" rtlCol="0" anchor="ctr"/>
          <a:lstStyle/>
          <a:p>
            <a:pPr algn="ctr" indent="0" marL="0">
              <a:buNone/>
            </a:pPr>
            <a:r>
              <a:rPr lang="en-US" sz="2800" b="1" dirty="0">
                <a:solidFill>
                  <a:schemeClr val="accent1"/>
                </a:solidFill>
              </a:rPr>
              <a:t>Kombine</a:t>
            </a:r>
            <a:endParaRPr lang="en-US" sz="2800" dirty="0"/>
          </a:p>
        </p:txBody>
      </p:sp>
      <p:sp>
        <p:nvSpPr>
          <p:cNvPr id="18" name="Text 12"/>
          <p:cNvSpPr txBox="1"/>
          <p:nvPr/>
        </p:nvSpPr>
        <p:spPr>
          <a:xfrm>
            <a:off x="8321040" y="3383280"/>
            <a:ext cx="3017520" cy="1005840"/>
          </a:xfrm>
          <a:prstGeom prst="rect">
            <a:avLst/>
          </a:prstGeom>
          <a:noFill/>
          <a:ln/>
        </p:spPr>
        <p:txBody>
          <a:bodyPr wrap="square" lIns="0" tIns="0" rIns="0" bIns="0" rtlCol="0" anchor="t"/>
          <a:lstStyle/>
          <a:p>
            <a:pPr algn="ctr" indent="0" marL="0">
              <a:buNone/>
            </a:pPr>
            <a:r>
              <a:rPr lang="en-US" sz="2000" dirty="0">
                <a:solidFill>
                  <a:schemeClr val="accent1"/>
                </a:solidFill>
              </a:rPr>
              <a:t>Bupropion, vareniklin veya sitizin + NRT; üçlü</a:t>
            </a:r>
            <a:endParaRPr lang="en-US" sz="2000" dirty="0"/>
          </a:p>
        </p:txBody>
      </p:sp>
      <p:sp>
        <p:nvSpPr>
          <p:cNvPr id="19" name="Text 13"/>
          <p:cNvSpPr txBox="1"/>
          <p:nvPr/>
        </p:nvSpPr>
        <p:spPr>
          <a:xfrm>
            <a:off x="548640" y="4709160"/>
            <a:ext cx="11064240" cy="1234440"/>
          </a:xfrm>
          <a:prstGeom prst="rect">
            <a:avLst/>
          </a:prstGeom>
          <a:noFill/>
          <a:ln/>
        </p:spPr>
        <p:txBody>
          <a:bodyPr wrap="square" lIns="0" tIns="0" rIns="0" bIns="0" rtlCol="0" anchor="ctr"/>
          <a:lstStyle/>
          <a:p>
            <a:pPr algn="just" marL="279400" indent="-279400">
              <a:spcAft>
                <a:spcPts val="1000"/>
              </a:spcAft>
              <a:buSzPct val="100000"/>
              <a:buChar char="•"/>
            </a:pPr>
            <a:r>
              <a:rPr lang="en-US" sz="2200" dirty="0">
                <a:solidFill>
                  <a:schemeClr val="accent1"/>
                </a:solidFill>
              </a:rPr>
              <a:t>Bireyselleştirme: FNBT, komorbidite, kontrendikasyon, uyum</a:t>
            </a:r>
            <a:endParaRPr lang="en-US" sz="2200" dirty="0"/>
          </a:p>
          <a:p>
            <a:pPr algn="just" marL="279400" indent="-279400">
              <a:spcAft>
                <a:spcPts val="1000"/>
              </a:spcAft>
              <a:buSzPct val="100000"/>
              <a:buChar char="•"/>
            </a:pPr>
            <a:r>
              <a:rPr lang="en-US" sz="2200" dirty="0">
                <a:solidFill>
                  <a:schemeClr val="accent1"/>
                </a:solidFill>
              </a:rPr>
              <a:t>NRT ve sitizin dönemsel olarak ücretsiz sağlanmıştır</a:t>
            </a:r>
            <a:endParaRPr lang="en-US" sz="2200" dirty="0"/>
          </a:p>
        </p:txBody>
      </p:sp>
      <p:sp>
        <p:nvSpPr>
          <p:cNvPr id="20" name="Kaynak"/>
          <p:cNvSpPr txBox="1"/>
          <p:nvPr/>
        </p:nvSpPr>
        <p:spPr>
          <a:xfrm>
            <a:off x="548640" y="6382512"/>
            <a:ext cx="10424160" cy="292608"/>
          </a:xfrm>
          <a:prstGeom prst="rect">
            <a:avLst/>
          </a:prstGeom>
          <a:noFill/>
          <a:ln/>
        </p:spPr>
        <p:txBody>
          <a:bodyPr wrap="square" lIns="0" tIns="0" rIns="0" bIns="0" rtlCol="0" anchor="ctr"/>
          <a:lstStyle/>
          <a:p>
            <a:pPr indent="0" marL="0">
              <a:buNone/>
            </a:pPr>
            <a:r>
              <a:rPr lang="en-US" sz="1200" i="1" dirty="0">
                <a:solidFill>
                  <a:schemeClr val="accent3"/>
                </a:solidFill>
              </a:rPr>
              <a:t>Kaynak: Cenberlitaş E, Gökçe A, Öztürk O. Turk J Fam Pract. 2026;30(2):97-106.</a:t>
            </a:r>
            <a:endParaRPr lang="en-US" sz="1200" dirty="0"/>
          </a:p>
        </p:txBody>
      </p:sp>
      <p:sp>
        <p:nvSpPr>
          <p:cNvPr id="25" name="Slide Number Placeholder 0"/>
          <p:cNvSpPr>
            <a:spLocks noGrp="1"/>
          </p:cNvSpPr>
          <p:nvPr>
            <p:ph type="sldNum" sz="quarter" idx="4294967295"/>
          </p:nvPr>
        </p:nvSpPr>
        <p:spPr>
          <a:xfrm>
            <a:off x="11201400" y="6382512"/>
            <a:ext cx="548640" cy="292608"/>
          </a:xfrm>
          <a:prstGeom prst="rect">
            <a:avLst/>
          </a:prstGeom>
          <a:extLst>
            <a:ext uri="{C572A759-6A51-4108-AA02-DFA0A04FC94B}">
              <ma14:wrappingTextBoxFlag xmlns:ma14="http://schemas.microsoft.com/office/mac/drawingml/2011/main" val="0"/>
            </a:ext>
          </a:extLst>
        </p:spPr>
        <p:txBody>
          <a:bodyPr/>
          <a:lstStyle>
            <a:lvl1pPr>
              <a:defRPr sz="1400">
                <a:solidFill>
                  <a:srgbClr val="7A8C94"/>
                </a:solidFill>
              </a:defRPr>
            </a:lvl1pPr>
          </a:lstStyle>
          <a:p>
            <a:pPr algn="r"/>
            <a:fld id="{F7021451-1387-4CA6-816F-3879F97B5CBC}" type="slidenum">
              <a:rPr b="0" lang="en-US"/>
              <a:t>10</a:t>
            </a:fld>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3" name="Text 0"/>
          <p:cNvSpPr/>
          <p:nvPr>
            <p:ph idx="100" type="title" hasCustomPrompt="1"/>
          </p:nvPr>
        </p:nvSpPr>
        <p:spPr>
          <a:xfrm>
            <a:off x="548640" y="320040"/>
            <a:ext cx="10607040" cy="868680"/>
          </a:xfrm>
          <a:prstGeom prst="rect">
            <a:avLst/>
          </a:prstGeom>
          <a:noFill/>
          <a:ln/>
        </p:spPr>
        <p:txBody>
          <a:bodyPr wrap="square" lIns="0" tIns="0" rIns="0" bIns="0" rtlCol="0" anchor="ctr"/>
          <a:lstStyle/>
          <a:p>
            <a:pPr algn="l" indent="0" marL="0">
              <a:buNone/>
            </a:pPr>
            <a:r>
              <a:rPr lang="en-US" sz="3600" b="1" dirty="0">
                <a:solidFill>
                  <a:schemeClr val="accent1"/>
                </a:solidFill>
              </a:rPr>
              <a:t>İstatistiksel analiz</a:t>
            </a:r>
            <a:endParaRPr lang="en-US" sz="3600" dirty="0"/>
          </a:p>
        </p:txBody>
      </p:sp>
      <p:graphicFrame>
        <p:nvGraphicFramePr>
          <p:cNvPr id="12" name="İstatistik tablosu"/>
          <p:cNvGraphicFramePr>
            <a:graphicFrameLocks noGrp="1"/>
          </p:cNvGraphicFramePr>
          <p:nvPr>
            <p:extLst>
              <p:ext uri="{D42A27DB-BD31-4B8C-83A1-F6EECF244321}">
                <p14:modId xmlns:p14="http://schemas.microsoft.com/office/powerpoint/2010/main" val="1579011935"/>
              </p:ext>
            </p:extLst>
          </p:nvPr>
        </p:nvGraphicFramePr>
        <p:xfrm>
          <a:off x="548640" y="1371600"/>
          <a:ext cx="11064240" cy="914400"/>
        </p:xfrm>
        <a:graphic>
          <a:graphicData uri="http://schemas.openxmlformats.org/drawingml/2006/table">
            <a:tbl>
              <a:tblPr/>
              <a:tblGrid>
                <a:gridCol w="4023360"/>
                <a:gridCol w="7040880"/>
              </a:tblGrid>
              <a:tr h="603504">
                <a:tc>
                  <a:txBody>
                    <a:bodyPr/>
                    <a:lstStyle/>
                    <a:p>
                      <a:pPr indent="0" marL="0">
                        <a:buNone/>
                      </a:pPr>
                      <a:r>
                        <a:rPr lang="en-US" sz="2200" b="1" dirty="0">
                          <a:solidFill>
                            <a:schemeClr val="bg1"/>
                          </a:solidFill>
                        </a:rPr>
                        <a:t>Amaç</a:t>
                      </a:r>
                      <a:endParaRPr lang="en-US" sz="2200" dirty="0"/>
                    </a:p>
                  </a:txBody>
                  <a:tcPr marL="137160" marR="137160" marT="45720" marB="45720" anchor="ctr">
                    <a:lnL w="12700" cap="flat" cmpd="sng" algn="ctr">
                      <a:solidFill>
                        <a:srgbClr val="C9DCDF"/>
                      </a:solidFill>
                      <a:prstDash val="solid"/>
                      <a:round/>
                      <a:headEnd type="none" w="med" len="med"/>
                      <a:tailEnd type="none" w="med" len="med"/>
                    </a:lnL>
                    <a:lnR w="12700" cap="flat" cmpd="sng" algn="ctr">
                      <a:solidFill>
                        <a:srgbClr val="C9DCDF"/>
                      </a:solidFill>
                      <a:prstDash val="solid"/>
                      <a:round/>
                      <a:headEnd type="none" w="med" len="med"/>
                      <a:tailEnd type="none" w="med" len="med"/>
                    </a:lnR>
                    <a:lnT w="12700" cap="flat" cmpd="sng" algn="ctr">
                      <a:solidFill>
                        <a:srgbClr val="C9DCDF"/>
                      </a:solidFill>
                      <a:prstDash val="solid"/>
                      <a:round/>
                      <a:headEnd type="none" w="med" len="med"/>
                      <a:tailEnd type="none" w="med" len="med"/>
                    </a:lnT>
                    <a:lnB w="12700" cap="flat" cmpd="sng" algn="ctr">
                      <a:solidFill>
                        <a:srgbClr val="C9DCDF"/>
                      </a:solidFill>
                      <a:prstDash val="solid"/>
                      <a:round/>
                      <a:headEnd type="none" w="med" len="med"/>
                      <a:tailEnd type="none" w="med" len="med"/>
                    </a:lnB>
                    <a:solidFill>
                      <a:schemeClr val="accent1"/>
                    </a:solidFill>
                  </a:tcPr>
                </a:tc>
                <a:tc>
                  <a:txBody>
                    <a:bodyPr/>
                    <a:lstStyle/>
                    <a:p>
                      <a:pPr indent="0" marL="0">
                        <a:buNone/>
                      </a:pPr>
                      <a:r>
                        <a:rPr lang="en-US" sz="2200" b="1" dirty="0">
                          <a:solidFill>
                            <a:schemeClr val="bg1"/>
                          </a:solidFill>
                        </a:rPr>
                        <a:t>Yöntem</a:t>
                      </a:r>
                      <a:endParaRPr lang="en-US" sz="2200" dirty="0"/>
                    </a:p>
                  </a:txBody>
                  <a:tcPr marL="137160" marR="137160" marT="45720" marB="45720" anchor="ctr">
                    <a:lnL w="12700" cap="flat" cmpd="sng" algn="ctr">
                      <a:solidFill>
                        <a:srgbClr val="C9DCDF"/>
                      </a:solidFill>
                      <a:prstDash val="solid"/>
                      <a:round/>
                      <a:headEnd type="none" w="med" len="med"/>
                      <a:tailEnd type="none" w="med" len="med"/>
                    </a:lnL>
                    <a:lnR w="12700" cap="flat" cmpd="sng" algn="ctr">
                      <a:solidFill>
                        <a:srgbClr val="C9DCDF"/>
                      </a:solidFill>
                      <a:prstDash val="solid"/>
                      <a:round/>
                      <a:headEnd type="none" w="med" len="med"/>
                      <a:tailEnd type="none" w="med" len="med"/>
                    </a:lnR>
                    <a:lnT w="12700" cap="flat" cmpd="sng" algn="ctr">
                      <a:solidFill>
                        <a:srgbClr val="C9DCDF"/>
                      </a:solidFill>
                      <a:prstDash val="solid"/>
                      <a:round/>
                      <a:headEnd type="none" w="med" len="med"/>
                      <a:tailEnd type="none" w="med" len="med"/>
                    </a:lnT>
                    <a:lnB w="12700" cap="flat" cmpd="sng" algn="ctr">
                      <a:solidFill>
                        <a:srgbClr val="C9DCDF"/>
                      </a:solidFill>
                      <a:prstDash val="solid"/>
                      <a:round/>
                      <a:headEnd type="none" w="med" len="med"/>
                      <a:tailEnd type="none" w="med" len="med"/>
                    </a:lnB>
                    <a:solidFill>
                      <a:schemeClr val="accent1"/>
                    </a:solidFill>
                  </a:tcPr>
                </a:tc>
              </a:tr>
              <a:tr h="603504">
                <a:tc>
                  <a:txBody>
                    <a:bodyPr/>
                    <a:lstStyle/>
                    <a:p>
                      <a:pPr indent="0" marL="0">
                        <a:buNone/>
                      </a:pPr>
                      <a:r>
                        <a:rPr lang="en-US" sz="2200" b="1" dirty="0">
                          <a:solidFill>
                            <a:schemeClr val="accent1"/>
                          </a:solidFill>
                        </a:rPr>
                        <a:t>Normallik</a:t>
                      </a:r>
                      <a:endParaRPr lang="en-US" sz="2200" dirty="0"/>
                    </a:p>
                  </a:txBody>
                  <a:tcPr marL="137160" marR="137160" marT="45720" marB="45720" anchor="ctr">
                    <a:lnL w="12700" cap="flat" cmpd="sng" algn="ctr">
                      <a:solidFill>
                        <a:srgbClr val="C9DCDF"/>
                      </a:solidFill>
                      <a:prstDash val="solid"/>
                      <a:round/>
                      <a:headEnd type="none" w="med" len="med"/>
                      <a:tailEnd type="none" w="med" len="med"/>
                    </a:lnL>
                    <a:lnR w="12700" cap="flat" cmpd="sng" algn="ctr">
                      <a:solidFill>
                        <a:srgbClr val="C9DCDF"/>
                      </a:solidFill>
                      <a:prstDash val="solid"/>
                      <a:round/>
                      <a:headEnd type="none" w="med" len="med"/>
                      <a:tailEnd type="none" w="med" len="med"/>
                    </a:lnR>
                    <a:lnT w="12700" cap="flat" cmpd="sng" algn="ctr">
                      <a:solidFill>
                        <a:srgbClr val="C9DCDF"/>
                      </a:solidFill>
                      <a:prstDash val="solid"/>
                      <a:round/>
                      <a:headEnd type="none" w="med" len="med"/>
                      <a:tailEnd type="none" w="med" len="med"/>
                    </a:lnT>
                    <a:lnB w="12700" cap="flat" cmpd="sng" algn="ctr">
                      <a:solidFill>
                        <a:srgbClr val="C9DCDF"/>
                      </a:solidFill>
                      <a:prstDash val="solid"/>
                      <a:round/>
                      <a:headEnd type="none" w="med" len="med"/>
                      <a:tailEnd type="none" w="med" len="med"/>
                    </a:lnB>
                    <a:solidFill>
                      <a:schemeClr val="bg2"/>
                    </a:solidFill>
                  </a:tcPr>
                </a:tc>
                <a:tc>
                  <a:txBody>
                    <a:bodyPr/>
                    <a:lstStyle/>
                    <a:p>
                      <a:pPr indent="0" marL="0">
                        <a:buNone/>
                      </a:pPr>
                      <a:r>
                        <a:rPr lang="en-US" sz="2200" dirty="0">
                          <a:solidFill>
                            <a:schemeClr val="accent1"/>
                          </a:solidFill>
                        </a:rPr>
                        <a:t>Histogram, Kolmogorov–Smirnov</a:t>
                      </a:r>
                      <a:endParaRPr lang="en-US" sz="2200" dirty="0"/>
                    </a:p>
                  </a:txBody>
                  <a:tcPr marL="137160" marR="137160" marT="45720" marB="45720" anchor="ctr">
                    <a:lnL w="12700" cap="flat" cmpd="sng" algn="ctr">
                      <a:solidFill>
                        <a:srgbClr val="C9DCDF"/>
                      </a:solidFill>
                      <a:prstDash val="solid"/>
                      <a:round/>
                      <a:headEnd type="none" w="med" len="med"/>
                      <a:tailEnd type="none" w="med" len="med"/>
                    </a:lnL>
                    <a:lnR w="12700" cap="flat" cmpd="sng" algn="ctr">
                      <a:solidFill>
                        <a:srgbClr val="C9DCDF"/>
                      </a:solidFill>
                      <a:prstDash val="solid"/>
                      <a:round/>
                      <a:headEnd type="none" w="med" len="med"/>
                      <a:tailEnd type="none" w="med" len="med"/>
                    </a:lnR>
                    <a:lnT w="12700" cap="flat" cmpd="sng" algn="ctr">
                      <a:solidFill>
                        <a:srgbClr val="C9DCDF"/>
                      </a:solidFill>
                      <a:prstDash val="solid"/>
                      <a:round/>
                      <a:headEnd type="none" w="med" len="med"/>
                      <a:tailEnd type="none" w="med" len="med"/>
                    </a:lnT>
                    <a:lnB w="12700" cap="flat" cmpd="sng" algn="ctr">
                      <a:solidFill>
                        <a:srgbClr val="C9DCDF"/>
                      </a:solidFill>
                      <a:prstDash val="solid"/>
                      <a:round/>
                      <a:headEnd type="none" w="med" len="med"/>
                      <a:tailEnd type="none" w="med" len="med"/>
                    </a:lnB>
                    <a:solidFill>
                      <a:schemeClr val="bg2"/>
                    </a:solidFill>
                  </a:tcPr>
                </a:tc>
              </a:tr>
              <a:tr h="603504">
                <a:tc>
                  <a:txBody>
                    <a:bodyPr/>
                    <a:lstStyle/>
                    <a:p>
                      <a:pPr indent="0" marL="0">
                        <a:buNone/>
                      </a:pPr>
                      <a:r>
                        <a:rPr lang="en-US" sz="2200" b="1" dirty="0">
                          <a:solidFill>
                            <a:schemeClr val="accent1"/>
                          </a:solidFill>
                        </a:rPr>
                        <a:t>Kategorik değişkenler</a:t>
                      </a:r>
                      <a:endParaRPr lang="en-US" sz="2200" dirty="0"/>
                    </a:p>
                  </a:txBody>
                  <a:tcPr marL="137160" marR="137160" marT="45720" marB="45720" anchor="ctr">
                    <a:lnL w="12700" cap="flat" cmpd="sng" algn="ctr">
                      <a:solidFill>
                        <a:srgbClr val="C9DCDF"/>
                      </a:solidFill>
                      <a:prstDash val="solid"/>
                      <a:round/>
                      <a:headEnd type="none" w="med" len="med"/>
                      <a:tailEnd type="none" w="med" len="med"/>
                    </a:lnL>
                    <a:lnR w="12700" cap="flat" cmpd="sng" algn="ctr">
                      <a:solidFill>
                        <a:srgbClr val="C9DCDF"/>
                      </a:solidFill>
                      <a:prstDash val="solid"/>
                      <a:round/>
                      <a:headEnd type="none" w="med" len="med"/>
                      <a:tailEnd type="none" w="med" len="med"/>
                    </a:lnR>
                    <a:lnT w="12700" cap="flat" cmpd="sng" algn="ctr">
                      <a:solidFill>
                        <a:srgbClr val="C9DCDF"/>
                      </a:solidFill>
                      <a:prstDash val="solid"/>
                      <a:round/>
                      <a:headEnd type="none" w="med" len="med"/>
                      <a:tailEnd type="none" w="med" len="med"/>
                    </a:lnT>
                    <a:lnB w="12700" cap="flat" cmpd="sng" algn="ctr">
                      <a:solidFill>
                        <a:srgbClr val="C9DCDF"/>
                      </a:solidFill>
                      <a:prstDash val="solid"/>
                      <a:round/>
                      <a:headEnd type="none" w="med" len="med"/>
                      <a:tailEnd type="none" w="med" len="med"/>
                    </a:lnB>
                    <a:solidFill>
                      <a:schemeClr val="bg1"/>
                    </a:solidFill>
                  </a:tcPr>
                </a:tc>
                <a:tc>
                  <a:txBody>
                    <a:bodyPr/>
                    <a:lstStyle/>
                    <a:p>
                      <a:pPr indent="0" marL="0">
                        <a:buNone/>
                      </a:pPr>
                      <a:r>
                        <a:rPr lang="en-US" sz="2200" dirty="0">
                          <a:solidFill>
                            <a:schemeClr val="accent1"/>
                          </a:solidFill>
                        </a:rPr>
                        <a:t>Ki-kare testi</a:t>
                      </a:r>
                      <a:endParaRPr lang="en-US" sz="2200" dirty="0"/>
                    </a:p>
                  </a:txBody>
                  <a:tcPr marL="137160" marR="137160" marT="45720" marB="45720" anchor="ctr">
                    <a:lnL w="12700" cap="flat" cmpd="sng" algn="ctr">
                      <a:solidFill>
                        <a:srgbClr val="C9DCDF"/>
                      </a:solidFill>
                      <a:prstDash val="solid"/>
                      <a:round/>
                      <a:headEnd type="none" w="med" len="med"/>
                      <a:tailEnd type="none" w="med" len="med"/>
                    </a:lnL>
                    <a:lnR w="12700" cap="flat" cmpd="sng" algn="ctr">
                      <a:solidFill>
                        <a:srgbClr val="C9DCDF"/>
                      </a:solidFill>
                      <a:prstDash val="solid"/>
                      <a:round/>
                      <a:headEnd type="none" w="med" len="med"/>
                      <a:tailEnd type="none" w="med" len="med"/>
                    </a:lnR>
                    <a:lnT w="12700" cap="flat" cmpd="sng" algn="ctr">
                      <a:solidFill>
                        <a:srgbClr val="C9DCDF"/>
                      </a:solidFill>
                      <a:prstDash val="solid"/>
                      <a:round/>
                      <a:headEnd type="none" w="med" len="med"/>
                      <a:tailEnd type="none" w="med" len="med"/>
                    </a:lnT>
                    <a:lnB w="12700" cap="flat" cmpd="sng" algn="ctr">
                      <a:solidFill>
                        <a:srgbClr val="C9DCDF"/>
                      </a:solidFill>
                      <a:prstDash val="solid"/>
                      <a:round/>
                      <a:headEnd type="none" w="med" len="med"/>
                      <a:tailEnd type="none" w="med" len="med"/>
                    </a:lnB>
                    <a:solidFill>
                      <a:schemeClr val="bg1"/>
                    </a:solidFill>
                  </a:tcPr>
                </a:tc>
              </a:tr>
              <a:tr h="603504">
                <a:tc>
                  <a:txBody>
                    <a:bodyPr/>
                    <a:lstStyle/>
                    <a:p>
                      <a:pPr indent="0" marL="0">
                        <a:buNone/>
                      </a:pPr>
                      <a:r>
                        <a:rPr lang="en-US" sz="2200" b="1" dirty="0">
                          <a:solidFill>
                            <a:schemeClr val="accent1"/>
                          </a:solidFill>
                        </a:rPr>
                        <a:t>İki grup (sürekli)</a:t>
                      </a:r>
                      <a:endParaRPr lang="en-US" sz="2200" dirty="0"/>
                    </a:p>
                  </a:txBody>
                  <a:tcPr marL="137160" marR="137160" marT="45720" marB="45720" anchor="ctr">
                    <a:lnL w="12700" cap="flat" cmpd="sng" algn="ctr">
                      <a:solidFill>
                        <a:srgbClr val="C9DCDF"/>
                      </a:solidFill>
                      <a:prstDash val="solid"/>
                      <a:round/>
                      <a:headEnd type="none" w="med" len="med"/>
                      <a:tailEnd type="none" w="med" len="med"/>
                    </a:lnL>
                    <a:lnR w="12700" cap="flat" cmpd="sng" algn="ctr">
                      <a:solidFill>
                        <a:srgbClr val="C9DCDF"/>
                      </a:solidFill>
                      <a:prstDash val="solid"/>
                      <a:round/>
                      <a:headEnd type="none" w="med" len="med"/>
                      <a:tailEnd type="none" w="med" len="med"/>
                    </a:lnR>
                    <a:lnT w="12700" cap="flat" cmpd="sng" algn="ctr">
                      <a:solidFill>
                        <a:srgbClr val="C9DCDF"/>
                      </a:solidFill>
                      <a:prstDash val="solid"/>
                      <a:round/>
                      <a:headEnd type="none" w="med" len="med"/>
                      <a:tailEnd type="none" w="med" len="med"/>
                    </a:lnT>
                    <a:lnB w="12700" cap="flat" cmpd="sng" algn="ctr">
                      <a:solidFill>
                        <a:srgbClr val="C9DCDF"/>
                      </a:solidFill>
                      <a:prstDash val="solid"/>
                      <a:round/>
                      <a:headEnd type="none" w="med" len="med"/>
                      <a:tailEnd type="none" w="med" len="med"/>
                    </a:lnB>
                    <a:solidFill>
                      <a:schemeClr val="bg2"/>
                    </a:solidFill>
                  </a:tcPr>
                </a:tc>
                <a:tc>
                  <a:txBody>
                    <a:bodyPr/>
                    <a:lstStyle/>
                    <a:p>
                      <a:pPr indent="0" marL="0">
                        <a:buNone/>
                      </a:pPr>
                      <a:r>
                        <a:rPr lang="en-US" sz="2200" dirty="0">
                          <a:solidFill>
                            <a:schemeClr val="accent1"/>
                          </a:solidFill>
                        </a:rPr>
                        <a:t>Mann–Whitney U testi</a:t>
                      </a:r>
                      <a:endParaRPr lang="en-US" sz="2200" dirty="0"/>
                    </a:p>
                  </a:txBody>
                  <a:tcPr marL="137160" marR="137160" marT="45720" marB="45720" anchor="ctr">
                    <a:lnL w="12700" cap="flat" cmpd="sng" algn="ctr">
                      <a:solidFill>
                        <a:srgbClr val="C9DCDF"/>
                      </a:solidFill>
                      <a:prstDash val="solid"/>
                      <a:round/>
                      <a:headEnd type="none" w="med" len="med"/>
                      <a:tailEnd type="none" w="med" len="med"/>
                    </a:lnL>
                    <a:lnR w="12700" cap="flat" cmpd="sng" algn="ctr">
                      <a:solidFill>
                        <a:srgbClr val="C9DCDF"/>
                      </a:solidFill>
                      <a:prstDash val="solid"/>
                      <a:round/>
                      <a:headEnd type="none" w="med" len="med"/>
                      <a:tailEnd type="none" w="med" len="med"/>
                    </a:lnR>
                    <a:lnT w="12700" cap="flat" cmpd="sng" algn="ctr">
                      <a:solidFill>
                        <a:srgbClr val="C9DCDF"/>
                      </a:solidFill>
                      <a:prstDash val="solid"/>
                      <a:round/>
                      <a:headEnd type="none" w="med" len="med"/>
                      <a:tailEnd type="none" w="med" len="med"/>
                    </a:lnT>
                    <a:lnB w="12700" cap="flat" cmpd="sng" algn="ctr">
                      <a:solidFill>
                        <a:srgbClr val="C9DCDF"/>
                      </a:solidFill>
                      <a:prstDash val="solid"/>
                      <a:round/>
                      <a:headEnd type="none" w="med" len="med"/>
                      <a:tailEnd type="none" w="med" len="med"/>
                    </a:lnB>
                    <a:solidFill>
                      <a:schemeClr val="bg2"/>
                    </a:solidFill>
                  </a:tcPr>
                </a:tc>
              </a:tr>
              <a:tr h="603504">
                <a:tc>
                  <a:txBody>
                    <a:bodyPr/>
                    <a:lstStyle/>
                    <a:p>
                      <a:pPr indent="0" marL="0">
                        <a:buNone/>
                      </a:pPr>
                      <a:r>
                        <a:rPr lang="en-US" sz="2200" b="1" dirty="0">
                          <a:solidFill>
                            <a:schemeClr val="accent1"/>
                          </a:solidFill>
                        </a:rPr>
                        <a:t>İkiden fazla grup</a:t>
                      </a:r>
                      <a:endParaRPr lang="en-US" sz="2200" dirty="0"/>
                    </a:p>
                  </a:txBody>
                  <a:tcPr marL="137160" marR="137160" marT="45720" marB="45720" anchor="ctr">
                    <a:lnL w="12700" cap="flat" cmpd="sng" algn="ctr">
                      <a:solidFill>
                        <a:srgbClr val="C9DCDF"/>
                      </a:solidFill>
                      <a:prstDash val="solid"/>
                      <a:round/>
                      <a:headEnd type="none" w="med" len="med"/>
                      <a:tailEnd type="none" w="med" len="med"/>
                    </a:lnL>
                    <a:lnR w="12700" cap="flat" cmpd="sng" algn="ctr">
                      <a:solidFill>
                        <a:srgbClr val="C9DCDF"/>
                      </a:solidFill>
                      <a:prstDash val="solid"/>
                      <a:round/>
                      <a:headEnd type="none" w="med" len="med"/>
                      <a:tailEnd type="none" w="med" len="med"/>
                    </a:lnR>
                    <a:lnT w="12700" cap="flat" cmpd="sng" algn="ctr">
                      <a:solidFill>
                        <a:srgbClr val="C9DCDF"/>
                      </a:solidFill>
                      <a:prstDash val="solid"/>
                      <a:round/>
                      <a:headEnd type="none" w="med" len="med"/>
                      <a:tailEnd type="none" w="med" len="med"/>
                    </a:lnT>
                    <a:lnB w="12700" cap="flat" cmpd="sng" algn="ctr">
                      <a:solidFill>
                        <a:srgbClr val="C9DCDF"/>
                      </a:solidFill>
                      <a:prstDash val="solid"/>
                      <a:round/>
                      <a:headEnd type="none" w="med" len="med"/>
                      <a:tailEnd type="none" w="med" len="med"/>
                    </a:lnB>
                    <a:solidFill>
                      <a:schemeClr val="bg1"/>
                    </a:solidFill>
                  </a:tcPr>
                </a:tc>
                <a:tc>
                  <a:txBody>
                    <a:bodyPr/>
                    <a:lstStyle/>
                    <a:p>
                      <a:pPr indent="0" marL="0">
                        <a:buNone/>
                      </a:pPr>
                      <a:r>
                        <a:rPr lang="en-US" sz="2200" dirty="0">
                          <a:solidFill>
                            <a:schemeClr val="accent1"/>
                          </a:solidFill>
                        </a:rPr>
                        <a:t>Kruskal–Wallis; post-hoc Duncan</a:t>
                      </a:r>
                      <a:endParaRPr lang="en-US" sz="2200" dirty="0"/>
                    </a:p>
                  </a:txBody>
                  <a:tcPr marL="137160" marR="137160" marT="45720" marB="45720" anchor="ctr">
                    <a:lnL w="12700" cap="flat" cmpd="sng" algn="ctr">
                      <a:solidFill>
                        <a:srgbClr val="C9DCDF"/>
                      </a:solidFill>
                      <a:prstDash val="solid"/>
                      <a:round/>
                      <a:headEnd type="none" w="med" len="med"/>
                      <a:tailEnd type="none" w="med" len="med"/>
                    </a:lnL>
                    <a:lnR w="12700" cap="flat" cmpd="sng" algn="ctr">
                      <a:solidFill>
                        <a:srgbClr val="C9DCDF"/>
                      </a:solidFill>
                      <a:prstDash val="solid"/>
                      <a:round/>
                      <a:headEnd type="none" w="med" len="med"/>
                      <a:tailEnd type="none" w="med" len="med"/>
                    </a:lnR>
                    <a:lnT w="12700" cap="flat" cmpd="sng" algn="ctr">
                      <a:solidFill>
                        <a:srgbClr val="C9DCDF"/>
                      </a:solidFill>
                      <a:prstDash val="solid"/>
                      <a:round/>
                      <a:headEnd type="none" w="med" len="med"/>
                      <a:tailEnd type="none" w="med" len="med"/>
                    </a:lnT>
                    <a:lnB w="12700" cap="flat" cmpd="sng" algn="ctr">
                      <a:solidFill>
                        <a:srgbClr val="C9DCDF"/>
                      </a:solidFill>
                      <a:prstDash val="solid"/>
                      <a:round/>
                      <a:headEnd type="none" w="med" len="med"/>
                      <a:tailEnd type="none" w="med" len="med"/>
                    </a:lnB>
                    <a:solidFill>
                      <a:schemeClr val="bg1"/>
                    </a:solidFill>
                  </a:tcPr>
                </a:tc>
              </a:tr>
              <a:tr h="603504">
                <a:tc>
                  <a:txBody>
                    <a:bodyPr/>
                    <a:lstStyle/>
                    <a:p>
                      <a:pPr indent="0" marL="0">
                        <a:buNone/>
                      </a:pPr>
                      <a:r>
                        <a:rPr lang="en-US" sz="2200" b="1" dirty="0">
                          <a:solidFill>
                            <a:schemeClr val="accent1"/>
                          </a:solidFill>
                        </a:rPr>
                        <a:t>Bağımsız belirleyiciler</a:t>
                      </a:r>
                      <a:endParaRPr lang="en-US" sz="2200" dirty="0"/>
                    </a:p>
                  </a:txBody>
                  <a:tcPr marL="137160" marR="137160" marT="45720" marB="45720" anchor="ctr">
                    <a:lnL w="12700" cap="flat" cmpd="sng" algn="ctr">
                      <a:solidFill>
                        <a:srgbClr val="C9DCDF"/>
                      </a:solidFill>
                      <a:prstDash val="solid"/>
                      <a:round/>
                      <a:headEnd type="none" w="med" len="med"/>
                      <a:tailEnd type="none" w="med" len="med"/>
                    </a:lnL>
                    <a:lnR w="12700" cap="flat" cmpd="sng" algn="ctr">
                      <a:solidFill>
                        <a:srgbClr val="C9DCDF"/>
                      </a:solidFill>
                      <a:prstDash val="solid"/>
                      <a:round/>
                      <a:headEnd type="none" w="med" len="med"/>
                      <a:tailEnd type="none" w="med" len="med"/>
                    </a:lnR>
                    <a:lnT w="12700" cap="flat" cmpd="sng" algn="ctr">
                      <a:solidFill>
                        <a:srgbClr val="C9DCDF"/>
                      </a:solidFill>
                      <a:prstDash val="solid"/>
                      <a:round/>
                      <a:headEnd type="none" w="med" len="med"/>
                      <a:tailEnd type="none" w="med" len="med"/>
                    </a:lnT>
                    <a:lnB w="12700" cap="flat" cmpd="sng" algn="ctr">
                      <a:solidFill>
                        <a:srgbClr val="C9DCDF"/>
                      </a:solidFill>
                      <a:prstDash val="solid"/>
                      <a:round/>
                      <a:headEnd type="none" w="med" len="med"/>
                      <a:tailEnd type="none" w="med" len="med"/>
                    </a:lnB>
                    <a:solidFill>
                      <a:schemeClr val="bg2"/>
                    </a:solidFill>
                  </a:tcPr>
                </a:tc>
                <a:tc>
                  <a:txBody>
                    <a:bodyPr/>
                    <a:lstStyle/>
                    <a:p>
                      <a:pPr indent="0" marL="0">
                        <a:buNone/>
                      </a:pPr>
                      <a:r>
                        <a:rPr lang="en-US" sz="2200" dirty="0">
                          <a:solidFill>
                            <a:schemeClr val="accent1"/>
                          </a:solidFill>
                        </a:rPr>
                        <a:t>İkili lojistik regresyon</a:t>
                      </a:r>
                      <a:endParaRPr lang="en-US" sz="2200" dirty="0"/>
                    </a:p>
                  </a:txBody>
                  <a:tcPr marL="137160" marR="137160" marT="45720" marB="45720" anchor="ctr">
                    <a:lnL w="12700" cap="flat" cmpd="sng" algn="ctr">
                      <a:solidFill>
                        <a:srgbClr val="C9DCDF"/>
                      </a:solidFill>
                      <a:prstDash val="solid"/>
                      <a:round/>
                      <a:headEnd type="none" w="med" len="med"/>
                      <a:tailEnd type="none" w="med" len="med"/>
                    </a:lnL>
                    <a:lnR w="12700" cap="flat" cmpd="sng" algn="ctr">
                      <a:solidFill>
                        <a:srgbClr val="C9DCDF"/>
                      </a:solidFill>
                      <a:prstDash val="solid"/>
                      <a:round/>
                      <a:headEnd type="none" w="med" len="med"/>
                      <a:tailEnd type="none" w="med" len="med"/>
                    </a:lnR>
                    <a:lnT w="12700" cap="flat" cmpd="sng" algn="ctr">
                      <a:solidFill>
                        <a:srgbClr val="C9DCDF"/>
                      </a:solidFill>
                      <a:prstDash val="solid"/>
                      <a:round/>
                      <a:headEnd type="none" w="med" len="med"/>
                      <a:tailEnd type="none" w="med" len="med"/>
                    </a:lnT>
                    <a:lnB w="12700" cap="flat" cmpd="sng" algn="ctr">
                      <a:solidFill>
                        <a:srgbClr val="C9DCDF"/>
                      </a:solidFill>
                      <a:prstDash val="solid"/>
                      <a:round/>
                      <a:headEnd type="none" w="med" len="med"/>
                      <a:tailEnd type="none" w="med" len="med"/>
                    </a:lnB>
                    <a:solidFill>
                      <a:schemeClr val="bg2"/>
                    </a:solidFill>
                  </a:tcPr>
                </a:tc>
              </a:tr>
              <a:tr h="603504">
                <a:tc>
                  <a:txBody>
                    <a:bodyPr/>
                    <a:lstStyle/>
                    <a:p>
                      <a:pPr indent="0" marL="0">
                        <a:buNone/>
                      </a:pPr>
                      <a:r>
                        <a:rPr lang="en-US" sz="2200" b="1" dirty="0">
                          <a:solidFill>
                            <a:schemeClr val="accent1"/>
                          </a:solidFill>
                        </a:rPr>
                        <a:t>Anlamlılık</a:t>
                      </a:r>
                      <a:endParaRPr lang="en-US" sz="2200" dirty="0"/>
                    </a:p>
                  </a:txBody>
                  <a:tcPr marL="137160" marR="137160" marT="45720" marB="45720" anchor="ctr">
                    <a:lnL w="12700" cap="flat" cmpd="sng" algn="ctr">
                      <a:solidFill>
                        <a:srgbClr val="C9DCDF"/>
                      </a:solidFill>
                      <a:prstDash val="solid"/>
                      <a:round/>
                      <a:headEnd type="none" w="med" len="med"/>
                      <a:tailEnd type="none" w="med" len="med"/>
                    </a:lnL>
                    <a:lnR w="12700" cap="flat" cmpd="sng" algn="ctr">
                      <a:solidFill>
                        <a:srgbClr val="C9DCDF"/>
                      </a:solidFill>
                      <a:prstDash val="solid"/>
                      <a:round/>
                      <a:headEnd type="none" w="med" len="med"/>
                      <a:tailEnd type="none" w="med" len="med"/>
                    </a:lnR>
                    <a:lnT w="12700" cap="flat" cmpd="sng" algn="ctr">
                      <a:solidFill>
                        <a:srgbClr val="C9DCDF"/>
                      </a:solidFill>
                      <a:prstDash val="solid"/>
                      <a:round/>
                      <a:headEnd type="none" w="med" len="med"/>
                      <a:tailEnd type="none" w="med" len="med"/>
                    </a:lnT>
                    <a:lnB w="12700" cap="flat" cmpd="sng" algn="ctr">
                      <a:solidFill>
                        <a:srgbClr val="C9DCDF"/>
                      </a:solidFill>
                      <a:prstDash val="solid"/>
                      <a:round/>
                      <a:headEnd type="none" w="med" len="med"/>
                      <a:tailEnd type="none" w="med" len="med"/>
                    </a:lnB>
                    <a:solidFill>
                      <a:schemeClr val="bg1"/>
                    </a:solidFill>
                  </a:tcPr>
                </a:tc>
                <a:tc>
                  <a:txBody>
                    <a:bodyPr/>
                    <a:lstStyle/>
                    <a:p>
                      <a:pPr indent="0" marL="0">
                        <a:buNone/>
                      </a:pPr>
                      <a:r>
                        <a:rPr lang="en-US" sz="2200" b="1" dirty="0">
                          <a:solidFill>
                            <a:schemeClr val="accent1"/>
                          </a:solidFill>
                        </a:rPr>
                        <a:t>p&lt;0,05; Bonferroni ile p&lt;0,003</a:t>
                      </a:r>
                      <a:endParaRPr lang="en-US" sz="2200" dirty="0"/>
                    </a:p>
                  </a:txBody>
                  <a:tcPr marL="137160" marR="137160" marT="45720" marB="45720" anchor="ctr">
                    <a:lnL w="12700" cap="flat" cmpd="sng" algn="ctr">
                      <a:solidFill>
                        <a:srgbClr val="C9DCDF"/>
                      </a:solidFill>
                      <a:prstDash val="solid"/>
                      <a:round/>
                      <a:headEnd type="none" w="med" len="med"/>
                      <a:tailEnd type="none" w="med" len="med"/>
                    </a:lnL>
                    <a:lnR w="12700" cap="flat" cmpd="sng" algn="ctr">
                      <a:solidFill>
                        <a:srgbClr val="C9DCDF"/>
                      </a:solidFill>
                      <a:prstDash val="solid"/>
                      <a:round/>
                      <a:headEnd type="none" w="med" len="med"/>
                      <a:tailEnd type="none" w="med" len="med"/>
                    </a:lnR>
                    <a:lnT w="12700" cap="flat" cmpd="sng" algn="ctr">
                      <a:solidFill>
                        <a:srgbClr val="C9DCDF"/>
                      </a:solidFill>
                      <a:prstDash val="solid"/>
                      <a:round/>
                      <a:headEnd type="none" w="med" len="med"/>
                      <a:tailEnd type="none" w="med" len="med"/>
                    </a:lnT>
                    <a:lnB w="12700" cap="flat" cmpd="sng" algn="ctr">
                      <a:solidFill>
                        <a:srgbClr val="C9DCDF"/>
                      </a:solidFill>
                      <a:prstDash val="solid"/>
                      <a:round/>
                      <a:headEnd type="none" w="med" len="med"/>
                      <a:tailEnd type="none" w="med" len="med"/>
                    </a:lnB>
                    <a:solidFill>
                      <a:schemeClr val="bg1"/>
                    </a:solidFill>
                  </a:tcPr>
                </a:tc>
              </a:tr>
            </a:tbl>
          </a:graphicData>
        </a:graphic>
      </p:graphicFrame>
      <p:sp>
        <p:nvSpPr>
          <p:cNvPr id="5" name="Kaynak"/>
          <p:cNvSpPr txBox="1"/>
          <p:nvPr/>
        </p:nvSpPr>
        <p:spPr>
          <a:xfrm>
            <a:off x="548640" y="6382512"/>
            <a:ext cx="10424160" cy="292608"/>
          </a:xfrm>
          <a:prstGeom prst="rect">
            <a:avLst/>
          </a:prstGeom>
          <a:noFill/>
          <a:ln/>
        </p:spPr>
        <p:txBody>
          <a:bodyPr wrap="square" lIns="0" tIns="0" rIns="0" bIns="0" rtlCol="0" anchor="ctr"/>
          <a:lstStyle/>
          <a:p>
            <a:pPr indent="0" marL="0">
              <a:buNone/>
            </a:pPr>
            <a:r>
              <a:rPr lang="en-US" sz="1200" i="1" dirty="0">
                <a:solidFill>
                  <a:schemeClr val="accent3"/>
                </a:solidFill>
              </a:rPr>
              <a:t>Kaynak: Cenberlitaş E, Gökçe A, Öztürk O. Turk J Fam Pract. 2026;30(2):97-106.</a:t>
            </a:r>
            <a:endParaRPr lang="en-US" sz="1200" dirty="0"/>
          </a:p>
        </p:txBody>
      </p:sp>
      <p:sp>
        <p:nvSpPr>
          <p:cNvPr id="25" name="Slide Number Placeholder 0"/>
          <p:cNvSpPr>
            <a:spLocks noGrp="1"/>
          </p:cNvSpPr>
          <p:nvPr>
            <p:ph type="sldNum" sz="quarter" idx="4294967295"/>
          </p:nvPr>
        </p:nvSpPr>
        <p:spPr>
          <a:xfrm>
            <a:off x="11201400" y="6382512"/>
            <a:ext cx="548640" cy="292608"/>
          </a:xfrm>
          <a:prstGeom prst="rect">
            <a:avLst/>
          </a:prstGeom>
          <a:extLst>
            <a:ext uri="{C572A759-6A51-4108-AA02-DFA0A04FC94B}">
              <ma14:wrappingTextBoxFlag xmlns:ma14="http://schemas.microsoft.com/office/mac/drawingml/2011/main" val="0"/>
            </a:ext>
          </a:extLst>
        </p:spPr>
        <p:txBody>
          <a:bodyPr/>
          <a:lstStyle>
            <a:lvl1pPr>
              <a:defRPr sz="1400">
                <a:solidFill>
                  <a:srgbClr val="7A8C94"/>
                </a:solidFill>
              </a:defRPr>
            </a:lvl1pPr>
          </a:lstStyle>
          <a:p>
            <a:pPr algn="r"/>
            <a:fld id="{F7021451-1387-4CA6-816F-3879F97B5CBC}" type="slidenum">
              <a:rPr b="0" lang="en-US"/>
              <a:t>11</a:t>
            </a:fld>
            <a:endParaRPr lang="en-US"/>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3" name="Text 0"/>
          <p:cNvSpPr/>
          <p:nvPr>
            <p:ph idx="100" type="title" hasCustomPrompt="1"/>
          </p:nvPr>
        </p:nvSpPr>
        <p:spPr>
          <a:xfrm>
            <a:off x="548640" y="320040"/>
            <a:ext cx="10607040" cy="868680"/>
          </a:xfrm>
          <a:prstGeom prst="rect">
            <a:avLst/>
          </a:prstGeom>
          <a:noFill/>
          <a:ln/>
        </p:spPr>
        <p:txBody>
          <a:bodyPr wrap="square" lIns="0" tIns="0" rIns="0" bIns="0" rtlCol="0" anchor="ctr"/>
          <a:lstStyle/>
          <a:p>
            <a:pPr algn="l" indent="0" marL="0">
              <a:buNone/>
            </a:pPr>
            <a:r>
              <a:rPr lang="en-US" sz="3600" b="1" dirty="0">
                <a:solidFill>
                  <a:schemeClr val="accent1"/>
                </a:solidFill>
              </a:rPr>
              <a:t>Katılımcıların genel özellikleri</a:t>
            </a:r>
            <a:endParaRPr lang="en-US" sz="3600" dirty="0"/>
          </a:p>
        </p:txBody>
      </p:sp>
      <p:sp>
        <p:nvSpPr>
          <p:cNvPr id="4" name="Kart"/>
          <p:cNvSpPr/>
          <p:nvPr/>
        </p:nvSpPr>
        <p:spPr>
          <a:xfrm>
            <a:off x="548640" y="1417320"/>
            <a:ext cx="3566160" cy="2011680"/>
          </a:xfrm>
          <a:prstGeom prst="roundRect">
            <a:avLst>
              <a:gd name="adj" fmla="val 5455"/>
            </a:avLst>
          </a:prstGeom>
          <a:solidFill>
            <a:schemeClr val="bg2"/>
          </a:solidFill>
          <a:ln w="12700">
            <a:solidFill>
              <a:schemeClr val="bg2"/>
            </a:solidFill>
            <a:prstDash val="solid"/>
          </a:ln>
        </p:spPr>
      </p:sp>
      <p:sp>
        <p:nvSpPr>
          <p:cNvPr id="5" name="Text 2"/>
          <p:cNvSpPr txBox="1"/>
          <p:nvPr/>
        </p:nvSpPr>
        <p:spPr>
          <a:xfrm>
            <a:off x="548640" y="1645920"/>
            <a:ext cx="3566160" cy="1005840"/>
          </a:xfrm>
          <a:prstGeom prst="rect">
            <a:avLst/>
          </a:prstGeom>
          <a:noFill/>
          <a:ln/>
        </p:spPr>
        <p:txBody>
          <a:bodyPr wrap="square" lIns="0" tIns="0" rIns="0" bIns="0" rtlCol="0" anchor="ctr"/>
          <a:lstStyle/>
          <a:p>
            <a:pPr algn="ctr" indent="0" marL="0">
              <a:buNone/>
            </a:pPr>
            <a:r>
              <a:rPr lang="en-US" sz="3600" b="1" dirty="0">
                <a:solidFill>
                  <a:schemeClr val="accent1"/>
                </a:solidFill>
              </a:rPr>
              <a:t>399</a:t>
            </a:r>
            <a:endParaRPr lang="en-US" sz="3600" dirty="0"/>
          </a:p>
        </p:txBody>
      </p:sp>
      <p:sp>
        <p:nvSpPr>
          <p:cNvPr id="6" name="Text 3"/>
          <p:cNvSpPr txBox="1"/>
          <p:nvPr/>
        </p:nvSpPr>
        <p:spPr>
          <a:xfrm>
            <a:off x="548640" y="2651760"/>
            <a:ext cx="3566160" cy="548640"/>
          </a:xfrm>
          <a:prstGeom prst="rect">
            <a:avLst/>
          </a:prstGeom>
          <a:noFill/>
          <a:ln/>
        </p:spPr>
        <p:txBody>
          <a:bodyPr wrap="square" lIns="0" tIns="0" rIns="0" bIns="0" rtlCol="0" anchor="ctr"/>
          <a:lstStyle/>
          <a:p>
            <a:pPr algn="ctr" indent="0" marL="0">
              <a:buNone/>
            </a:pPr>
            <a:r>
              <a:rPr lang="en-US" sz="2200" dirty="0">
                <a:solidFill>
                  <a:schemeClr val="accent1"/>
                </a:solidFill>
              </a:rPr>
              <a:t>hasta</a:t>
            </a:r>
            <a:endParaRPr lang="en-US" sz="2200" dirty="0"/>
          </a:p>
        </p:txBody>
      </p:sp>
      <p:sp>
        <p:nvSpPr>
          <p:cNvPr id="7" name="Kart"/>
          <p:cNvSpPr/>
          <p:nvPr/>
        </p:nvSpPr>
        <p:spPr>
          <a:xfrm>
            <a:off x="4297680" y="1417320"/>
            <a:ext cx="3566160" cy="2011680"/>
          </a:xfrm>
          <a:prstGeom prst="roundRect">
            <a:avLst>
              <a:gd name="adj" fmla="val 5455"/>
            </a:avLst>
          </a:prstGeom>
          <a:solidFill>
            <a:schemeClr val="bg2"/>
          </a:solidFill>
          <a:ln w="12700">
            <a:solidFill>
              <a:schemeClr val="bg2"/>
            </a:solidFill>
            <a:prstDash val="solid"/>
          </a:ln>
        </p:spPr>
      </p:sp>
      <p:sp>
        <p:nvSpPr>
          <p:cNvPr id="8" name="Text 5"/>
          <p:cNvSpPr txBox="1"/>
          <p:nvPr/>
        </p:nvSpPr>
        <p:spPr>
          <a:xfrm>
            <a:off x="4297680" y="1645920"/>
            <a:ext cx="3566160" cy="1005840"/>
          </a:xfrm>
          <a:prstGeom prst="rect">
            <a:avLst/>
          </a:prstGeom>
          <a:noFill/>
          <a:ln/>
        </p:spPr>
        <p:txBody>
          <a:bodyPr wrap="square" lIns="0" tIns="0" rIns="0" bIns="0" rtlCol="0" anchor="ctr"/>
          <a:lstStyle/>
          <a:p>
            <a:pPr algn="ctr" indent="0" marL="0">
              <a:buNone/>
            </a:pPr>
            <a:r>
              <a:rPr lang="en-US" sz="3600" b="1" dirty="0">
                <a:solidFill>
                  <a:schemeClr val="accent2"/>
                </a:solidFill>
              </a:rPr>
              <a:t>44,7 ± 12,1</a:t>
            </a:r>
            <a:endParaRPr lang="en-US" sz="3600" dirty="0"/>
          </a:p>
        </p:txBody>
      </p:sp>
      <p:sp>
        <p:nvSpPr>
          <p:cNvPr id="9" name="Text 6"/>
          <p:cNvSpPr txBox="1"/>
          <p:nvPr/>
        </p:nvSpPr>
        <p:spPr>
          <a:xfrm>
            <a:off x="4297680" y="2651760"/>
            <a:ext cx="3566160" cy="548640"/>
          </a:xfrm>
          <a:prstGeom prst="rect">
            <a:avLst/>
          </a:prstGeom>
          <a:noFill/>
          <a:ln/>
        </p:spPr>
        <p:txBody>
          <a:bodyPr wrap="square" lIns="0" tIns="0" rIns="0" bIns="0" rtlCol="0" anchor="ctr"/>
          <a:lstStyle/>
          <a:p>
            <a:pPr algn="ctr" indent="0" marL="0">
              <a:buNone/>
            </a:pPr>
            <a:r>
              <a:rPr lang="en-US" sz="2200" dirty="0">
                <a:solidFill>
                  <a:schemeClr val="accent1"/>
                </a:solidFill>
              </a:rPr>
              <a:t>yaş ortalaması (yıl)</a:t>
            </a:r>
            <a:endParaRPr lang="en-US" sz="2200" dirty="0"/>
          </a:p>
        </p:txBody>
      </p:sp>
      <p:sp>
        <p:nvSpPr>
          <p:cNvPr id="10" name="Kart"/>
          <p:cNvSpPr/>
          <p:nvPr/>
        </p:nvSpPr>
        <p:spPr>
          <a:xfrm>
            <a:off x="8046720" y="1417320"/>
            <a:ext cx="3566160" cy="2011680"/>
          </a:xfrm>
          <a:prstGeom prst="roundRect">
            <a:avLst>
              <a:gd name="adj" fmla="val 5455"/>
            </a:avLst>
          </a:prstGeom>
          <a:solidFill>
            <a:schemeClr val="bg2"/>
          </a:solidFill>
          <a:ln w="12700">
            <a:solidFill>
              <a:schemeClr val="bg2"/>
            </a:solidFill>
            <a:prstDash val="solid"/>
          </a:ln>
        </p:spPr>
      </p:sp>
      <p:sp>
        <p:nvSpPr>
          <p:cNvPr id="11" name="Text 8"/>
          <p:cNvSpPr txBox="1"/>
          <p:nvPr/>
        </p:nvSpPr>
        <p:spPr>
          <a:xfrm>
            <a:off x="8046720" y="1645920"/>
            <a:ext cx="3566160" cy="1005840"/>
          </a:xfrm>
          <a:prstGeom prst="rect">
            <a:avLst/>
          </a:prstGeom>
          <a:noFill/>
          <a:ln/>
        </p:spPr>
        <p:txBody>
          <a:bodyPr wrap="square" lIns="0" tIns="0" rIns="0" bIns="0" rtlCol="0" anchor="ctr"/>
          <a:lstStyle/>
          <a:p>
            <a:pPr algn="ctr" indent="0" marL="0">
              <a:buNone/>
            </a:pPr>
            <a:r>
              <a:rPr lang="en-US" sz="3600" b="1" dirty="0">
                <a:solidFill>
                  <a:schemeClr val="accent1"/>
                </a:solidFill>
              </a:rPr>
              <a:t>%63,7</a:t>
            </a:r>
            <a:endParaRPr lang="en-US" sz="3600" dirty="0"/>
          </a:p>
        </p:txBody>
      </p:sp>
      <p:sp>
        <p:nvSpPr>
          <p:cNvPr id="12" name="Text 9"/>
          <p:cNvSpPr txBox="1"/>
          <p:nvPr/>
        </p:nvSpPr>
        <p:spPr>
          <a:xfrm>
            <a:off x="8046720" y="2651760"/>
            <a:ext cx="3566160" cy="548640"/>
          </a:xfrm>
          <a:prstGeom prst="rect">
            <a:avLst/>
          </a:prstGeom>
          <a:noFill/>
          <a:ln/>
        </p:spPr>
        <p:txBody>
          <a:bodyPr wrap="square" lIns="0" tIns="0" rIns="0" bIns="0" rtlCol="0" anchor="ctr"/>
          <a:lstStyle/>
          <a:p>
            <a:pPr algn="ctr" indent="0" marL="0">
              <a:buNone/>
            </a:pPr>
            <a:r>
              <a:rPr lang="en-US" sz="2200" dirty="0">
                <a:solidFill>
                  <a:schemeClr val="accent1"/>
                </a:solidFill>
              </a:rPr>
              <a:t>erkek</a:t>
            </a:r>
            <a:endParaRPr lang="en-US" sz="2200" dirty="0"/>
          </a:p>
        </p:txBody>
      </p:sp>
      <p:sp>
        <p:nvSpPr>
          <p:cNvPr id="13" name="Kart"/>
          <p:cNvSpPr/>
          <p:nvPr/>
        </p:nvSpPr>
        <p:spPr>
          <a:xfrm>
            <a:off x="548640" y="3657600"/>
            <a:ext cx="3566160" cy="2011680"/>
          </a:xfrm>
          <a:prstGeom prst="roundRect">
            <a:avLst>
              <a:gd name="adj" fmla="val 5455"/>
            </a:avLst>
          </a:prstGeom>
          <a:solidFill>
            <a:schemeClr val="bg2"/>
          </a:solidFill>
          <a:ln w="12700">
            <a:solidFill>
              <a:schemeClr val="bg2"/>
            </a:solidFill>
            <a:prstDash val="solid"/>
          </a:ln>
        </p:spPr>
      </p:sp>
      <p:sp>
        <p:nvSpPr>
          <p:cNvPr id="14" name="Text 11"/>
          <p:cNvSpPr txBox="1"/>
          <p:nvPr/>
        </p:nvSpPr>
        <p:spPr>
          <a:xfrm>
            <a:off x="548640" y="3886200"/>
            <a:ext cx="3566160" cy="1005840"/>
          </a:xfrm>
          <a:prstGeom prst="rect">
            <a:avLst/>
          </a:prstGeom>
          <a:noFill/>
          <a:ln/>
        </p:spPr>
        <p:txBody>
          <a:bodyPr wrap="square" lIns="0" tIns="0" rIns="0" bIns="0" rtlCol="0" anchor="ctr"/>
          <a:lstStyle/>
          <a:p>
            <a:pPr algn="ctr" indent="0" marL="0">
              <a:buNone/>
            </a:pPr>
            <a:r>
              <a:rPr lang="en-US" sz="3600" b="1" dirty="0">
                <a:solidFill>
                  <a:schemeClr val="accent1"/>
                </a:solidFill>
              </a:rPr>
              <a:t>5,66 ± 2,43</a:t>
            </a:r>
            <a:endParaRPr lang="en-US" sz="3600" dirty="0"/>
          </a:p>
        </p:txBody>
      </p:sp>
      <p:sp>
        <p:nvSpPr>
          <p:cNvPr id="15" name="Text 12"/>
          <p:cNvSpPr txBox="1"/>
          <p:nvPr/>
        </p:nvSpPr>
        <p:spPr>
          <a:xfrm>
            <a:off x="548640" y="4892040"/>
            <a:ext cx="3566160" cy="548640"/>
          </a:xfrm>
          <a:prstGeom prst="rect">
            <a:avLst/>
          </a:prstGeom>
          <a:noFill/>
          <a:ln/>
        </p:spPr>
        <p:txBody>
          <a:bodyPr wrap="square" lIns="0" tIns="0" rIns="0" bIns="0" rtlCol="0" anchor="ctr"/>
          <a:lstStyle/>
          <a:p>
            <a:pPr algn="ctr" indent="0" marL="0">
              <a:buNone/>
            </a:pPr>
            <a:r>
              <a:rPr lang="en-US" sz="2200" dirty="0">
                <a:solidFill>
                  <a:schemeClr val="accent1"/>
                </a:solidFill>
              </a:rPr>
              <a:t>FNBT puanı</a:t>
            </a:r>
            <a:endParaRPr lang="en-US" sz="2200" dirty="0"/>
          </a:p>
        </p:txBody>
      </p:sp>
      <p:sp>
        <p:nvSpPr>
          <p:cNvPr id="16" name="Kart"/>
          <p:cNvSpPr/>
          <p:nvPr/>
        </p:nvSpPr>
        <p:spPr>
          <a:xfrm>
            <a:off x="4297680" y="3657600"/>
            <a:ext cx="3566160" cy="2011680"/>
          </a:xfrm>
          <a:prstGeom prst="roundRect">
            <a:avLst>
              <a:gd name="adj" fmla="val 5455"/>
            </a:avLst>
          </a:prstGeom>
          <a:solidFill>
            <a:schemeClr val="bg2"/>
          </a:solidFill>
          <a:ln w="12700">
            <a:solidFill>
              <a:schemeClr val="bg2"/>
            </a:solidFill>
            <a:prstDash val="solid"/>
          </a:ln>
        </p:spPr>
      </p:sp>
      <p:sp>
        <p:nvSpPr>
          <p:cNvPr id="17" name="Text 14"/>
          <p:cNvSpPr txBox="1"/>
          <p:nvPr/>
        </p:nvSpPr>
        <p:spPr>
          <a:xfrm>
            <a:off x="4297680" y="3886200"/>
            <a:ext cx="3566160" cy="1005840"/>
          </a:xfrm>
          <a:prstGeom prst="rect">
            <a:avLst/>
          </a:prstGeom>
          <a:noFill/>
          <a:ln/>
        </p:spPr>
        <p:txBody>
          <a:bodyPr wrap="square" lIns="0" tIns="0" rIns="0" bIns="0" rtlCol="0" anchor="ctr"/>
          <a:lstStyle/>
          <a:p>
            <a:pPr algn="ctr" indent="0" marL="0">
              <a:buNone/>
            </a:pPr>
            <a:r>
              <a:rPr lang="en-US" sz="3600" b="1" dirty="0">
                <a:solidFill>
                  <a:schemeClr val="accent2"/>
                </a:solidFill>
              </a:rPr>
              <a:t>27,4 ± 16,6</a:t>
            </a:r>
            <a:endParaRPr lang="en-US" sz="3600" dirty="0"/>
          </a:p>
        </p:txBody>
      </p:sp>
      <p:sp>
        <p:nvSpPr>
          <p:cNvPr id="18" name="Text 15"/>
          <p:cNvSpPr txBox="1"/>
          <p:nvPr/>
        </p:nvSpPr>
        <p:spPr>
          <a:xfrm>
            <a:off x="4297680" y="4892040"/>
            <a:ext cx="3566160" cy="548640"/>
          </a:xfrm>
          <a:prstGeom prst="rect">
            <a:avLst/>
          </a:prstGeom>
          <a:noFill/>
          <a:ln/>
        </p:spPr>
        <p:txBody>
          <a:bodyPr wrap="square" lIns="0" tIns="0" rIns="0" bIns="0" rtlCol="0" anchor="ctr"/>
          <a:lstStyle/>
          <a:p>
            <a:pPr algn="ctr" indent="0" marL="0">
              <a:buNone/>
            </a:pPr>
            <a:r>
              <a:rPr lang="en-US" sz="2200" dirty="0">
                <a:solidFill>
                  <a:schemeClr val="accent1"/>
                </a:solidFill>
              </a:rPr>
              <a:t>paket-yıl</a:t>
            </a:r>
            <a:endParaRPr lang="en-US" sz="2200" dirty="0"/>
          </a:p>
        </p:txBody>
      </p:sp>
      <p:sp>
        <p:nvSpPr>
          <p:cNvPr id="19" name="Kart"/>
          <p:cNvSpPr/>
          <p:nvPr/>
        </p:nvSpPr>
        <p:spPr>
          <a:xfrm>
            <a:off x="8046720" y="3657600"/>
            <a:ext cx="3566160" cy="2011680"/>
          </a:xfrm>
          <a:prstGeom prst="roundRect">
            <a:avLst>
              <a:gd name="adj" fmla="val 5455"/>
            </a:avLst>
          </a:prstGeom>
          <a:solidFill>
            <a:schemeClr val="bg2"/>
          </a:solidFill>
          <a:ln w="12700">
            <a:solidFill>
              <a:schemeClr val="bg2"/>
            </a:solidFill>
            <a:prstDash val="solid"/>
          </a:ln>
        </p:spPr>
      </p:sp>
      <p:sp>
        <p:nvSpPr>
          <p:cNvPr id="20" name="Text 17"/>
          <p:cNvSpPr txBox="1"/>
          <p:nvPr/>
        </p:nvSpPr>
        <p:spPr>
          <a:xfrm>
            <a:off x="8046720" y="3886200"/>
            <a:ext cx="3566160" cy="1005840"/>
          </a:xfrm>
          <a:prstGeom prst="rect">
            <a:avLst/>
          </a:prstGeom>
          <a:noFill/>
          <a:ln/>
        </p:spPr>
        <p:txBody>
          <a:bodyPr wrap="square" lIns="0" tIns="0" rIns="0" bIns="0" rtlCol="0" anchor="ctr"/>
          <a:lstStyle/>
          <a:p>
            <a:pPr algn="ctr" indent="0" marL="0">
              <a:buNone/>
            </a:pPr>
            <a:r>
              <a:rPr lang="en-US" sz="3600" b="1" dirty="0">
                <a:solidFill>
                  <a:schemeClr val="accent1"/>
                </a:solidFill>
              </a:rPr>
              <a:t>2,21 ± 1,28</a:t>
            </a:r>
            <a:endParaRPr lang="en-US" sz="3600" dirty="0"/>
          </a:p>
        </p:txBody>
      </p:sp>
      <p:sp>
        <p:nvSpPr>
          <p:cNvPr id="21" name="Text 18"/>
          <p:cNvSpPr txBox="1"/>
          <p:nvPr/>
        </p:nvSpPr>
        <p:spPr>
          <a:xfrm>
            <a:off x="8046720" y="4892040"/>
            <a:ext cx="3566160" cy="548640"/>
          </a:xfrm>
          <a:prstGeom prst="rect">
            <a:avLst/>
          </a:prstGeom>
          <a:noFill/>
          <a:ln/>
        </p:spPr>
        <p:txBody>
          <a:bodyPr wrap="square" lIns="0" tIns="0" rIns="0" bIns="0" rtlCol="0" anchor="ctr"/>
          <a:lstStyle/>
          <a:p>
            <a:pPr algn="ctr" indent="0" marL="0">
              <a:buNone/>
            </a:pPr>
            <a:r>
              <a:rPr lang="en-US" sz="2200" dirty="0">
                <a:solidFill>
                  <a:schemeClr val="accent1"/>
                </a:solidFill>
              </a:rPr>
              <a:t>görüşme sayısı</a:t>
            </a:r>
            <a:endParaRPr lang="en-US" sz="2200" dirty="0"/>
          </a:p>
        </p:txBody>
      </p:sp>
      <p:sp>
        <p:nvSpPr>
          <p:cNvPr id="22" name="Kaynak"/>
          <p:cNvSpPr txBox="1"/>
          <p:nvPr/>
        </p:nvSpPr>
        <p:spPr>
          <a:xfrm>
            <a:off x="548640" y="6382512"/>
            <a:ext cx="10424160" cy="292608"/>
          </a:xfrm>
          <a:prstGeom prst="rect">
            <a:avLst/>
          </a:prstGeom>
          <a:noFill/>
          <a:ln/>
        </p:spPr>
        <p:txBody>
          <a:bodyPr wrap="square" lIns="0" tIns="0" rIns="0" bIns="0" rtlCol="0" anchor="ctr"/>
          <a:lstStyle/>
          <a:p>
            <a:pPr indent="0" marL="0">
              <a:buNone/>
            </a:pPr>
            <a:r>
              <a:rPr lang="en-US" sz="1200" i="1" dirty="0">
                <a:solidFill>
                  <a:schemeClr val="accent3"/>
                </a:solidFill>
              </a:rPr>
              <a:t>Kaynak: Cenberlitaş E, Gökçe A, Öztürk O. Turk J Fam Pract. 2026;30(2):97-106. Ortalama ± standart sapma.</a:t>
            </a:r>
            <a:endParaRPr lang="en-US" sz="1200" dirty="0"/>
          </a:p>
        </p:txBody>
      </p:sp>
      <p:sp>
        <p:nvSpPr>
          <p:cNvPr id="25" name="Slide Number Placeholder 0"/>
          <p:cNvSpPr>
            <a:spLocks noGrp="1"/>
          </p:cNvSpPr>
          <p:nvPr>
            <p:ph type="sldNum" sz="quarter" idx="4294967295"/>
          </p:nvPr>
        </p:nvSpPr>
        <p:spPr>
          <a:xfrm>
            <a:off x="11201400" y="6382512"/>
            <a:ext cx="548640" cy="292608"/>
          </a:xfrm>
          <a:prstGeom prst="rect">
            <a:avLst/>
          </a:prstGeom>
          <a:extLst>
            <a:ext uri="{C572A759-6A51-4108-AA02-DFA0A04FC94B}">
              <ma14:wrappingTextBoxFlag xmlns:ma14="http://schemas.microsoft.com/office/mac/drawingml/2011/main" val="0"/>
            </a:ext>
          </a:extLst>
        </p:spPr>
        <p:txBody>
          <a:bodyPr/>
          <a:lstStyle>
            <a:lvl1pPr>
              <a:defRPr sz="1400">
                <a:solidFill>
                  <a:srgbClr val="7A8C94"/>
                </a:solidFill>
              </a:defRPr>
            </a:lvl1pPr>
          </a:lstStyle>
          <a:p>
            <a:pPr algn="r"/>
            <a:fld id="{F7021451-1387-4CA6-816F-3879F97B5CBC}" type="slidenum">
              <a:rPr b="0" lang="en-US"/>
              <a:t>12</a:t>
            </a:fld>
            <a:endParaRPr lang="en-US"/>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3" name="Text 0"/>
          <p:cNvSpPr/>
          <p:nvPr>
            <p:ph idx="100" type="title" hasCustomPrompt="1"/>
          </p:nvPr>
        </p:nvSpPr>
        <p:spPr>
          <a:xfrm>
            <a:off x="548640" y="320040"/>
            <a:ext cx="10607040" cy="868680"/>
          </a:xfrm>
          <a:prstGeom prst="rect">
            <a:avLst/>
          </a:prstGeom>
          <a:noFill/>
          <a:ln/>
        </p:spPr>
        <p:txBody>
          <a:bodyPr wrap="square" lIns="0" tIns="0" rIns="0" bIns="0" rtlCol="0" anchor="ctr"/>
          <a:lstStyle/>
          <a:p>
            <a:pPr algn="l" indent="0" marL="0">
              <a:buNone/>
            </a:pPr>
            <a:r>
              <a:rPr lang="en-US" sz="3600" b="1" dirty="0">
                <a:solidFill>
                  <a:schemeClr val="accent1"/>
                </a:solidFill>
              </a:rPr>
              <a:t>Hastaların çoğunda orta düzey bağımlılık</a:t>
            </a:r>
            <a:endParaRPr lang="en-US" sz="3600" dirty="0"/>
          </a:p>
        </p:txBody>
      </p:sp>
      <p:graphicFrame>
        <p:nvGraphicFramePr>
          <p:cNvPr id="4" name="FNBT dağılımı" descr=""/>
          <p:cNvGraphicFramePr/>
          <p:nvPr/>
        </p:nvGraphicFramePr>
        <p:xfrm>
          <a:off x="548640" y="1371600"/>
          <a:ext cx="6035040" cy="4206240"/>
        </p:xfrm>
        <a:graphic xmlns:a="http://schemas.openxmlformats.org/drawingml/2006/main">
          <a:graphicData uri="http://schemas.openxmlformats.org/drawingml/2006/chart">
            <c:chart xmlns:c="http://schemas.openxmlformats.org/drawingml/2006/chart" r:id="rId1"/>
          </a:graphicData>
        </a:graphic>
      </p:graphicFrame>
      <p:sp>
        <p:nvSpPr>
          <p:cNvPr id="5" name="Text 1"/>
          <p:cNvSpPr txBox="1"/>
          <p:nvPr/>
        </p:nvSpPr>
        <p:spPr>
          <a:xfrm>
            <a:off x="548640" y="5623560"/>
            <a:ext cx="6035040" cy="411480"/>
          </a:xfrm>
          <a:prstGeom prst="rect">
            <a:avLst/>
          </a:prstGeom>
          <a:noFill/>
          <a:ln/>
        </p:spPr>
        <p:txBody>
          <a:bodyPr wrap="square" lIns="0" tIns="0" rIns="0" bIns="0" rtlCol="0" anchor="ctr"/>
          <a:lstStyle/>
          <a:p>
            <a:pPr indent="0" marL="0">
              <a:buNone/>
            </a:pPr>
            <a:r>
              <a:rPr lang="en-US" sz="1600" i="1" dirty="0">
                <a:solidFill>
                  <a:schemeClr val="accent3"/>
                </a:solidFill>
              </a:rPr>
              <a:t>Yüzdeler makalede 432 hasta üzerinden verilmiştir.</a:t>
            </a:r>
            <a:endParaRPr lang="en-US" sz="1600" dirty="0"/>
          </a:p>
        </p:txBody>
      </p:sp>
      <p:sp>
        <p:nvSpPr>
          <p:cNvPr id="6" name="Kart"/>
          <p:cNvSpPr/>
          <p:nvPr/>
        </p:nvSpPr>
        <p:spPr>
          <a:xfrm>
            <a:off x="6949440" y="1463040"/>
            <a:ext cx="4663440" cy="1234440"/>
          </a:xfrm>
          <a:prstGeom prst="roundRect">
            <a:avLst>
              <a:gd name="adj" fmla="val 8889"/>
            </a:avLst>
          </a:prstGeom>
          <a:solidFill>
            <a:schemeClr val="bg2"/>
          </a:solidFill>
          <a:ln w="12700">
            <a:solidFill>
              <a:schemeClr val="bg2"/>
            </a:solidFill>
            <a:prstDash val="solid"/>
          </a:ln>
        </p:spPr>
      </p:sp>
      <p:sp>
        <p:nvSpPr>
          <p:cNvPr id="7" name="Text 3"/>
          <p:cNvSpPr txBox="1"/>
          <p:nvPr/>
        </p:nvSpPr>
        <p:spPr>
          <a:xfrm>
            <a:off x="7086600" y="1463040"/>
            <a:ext cx="1783080" cy="1234440"/>
          </a:xfrm>
          <a:prstGeom prst="rect">
            <a:avLst/>
          </a:prstGeom>
          <a:noFill/>
          <a:ln/>
        </p:spPr>
        <p:txBody>
          <a:bodyPr wrap="square" lIns="0" tIns="0" rIns="0" bIns="0" rtlCol="0" anchor="ctr"/>
          <a:lstStyle/>
          <a:p>
            <a:pPr algn="ctr" indent="0" marL="0">
              <a:buNone/>
            </a:pPr>
            <a:r>
              <a:rPr lang="en-US" sz="3600" b="1" dirty="0">
                <a:solidFill>
                  <a:schemeClr val="accent2"/>
                </a:solidFill>
              </a:rPr>
              <a:t>%75,7</a:t>
            </a:r>
            <a:endParaRPr lang="en-US" sz="3600" dirty="0"/>
          </a:p>
        </p:txBody>
      </p:sp>
      <p:sp>
        <p:nvSpPr>
          <p:cNvPr id="8" name="Text 4"/>
          <p:cNvSpPr txBox="1"/>
          <p:nvPr/>
        </p:nvSpPr>
        <p:spPr>
          <a:xfrm>
            <a:off x="8915400" y="1463040"/>
            <a:ext cx="2560320" cy="1234440"/>
          </a:xfrm>
          <a:prstGeom prst="rect">
            <a:avLst/>
          </a:prstGeom>
          <a:noFill/>
          <a:ln/>
        </p:spPr>
        <p:txBody>
          <a:bodyPr wrap="square" lIns="0" tIns="0" rIns="0" bIns="0" rtlCol="0" anchor="ctr"/>
          <a:lstStyle/>
          <a:p>
            <a:pPr indent="0" marL="0">
              <a:buNone/>
            </a:pPr>
            <a:r>
              <a:rPr lang="en-US" sz="2000" dirty="0">
                <a:solidFill>
                  <a:schemeClr val="accent1"/>
                </a:solidFill>
              </a:rPr>
              <a:t>daha önce bırakmayı denemiş</a:t>
            </a:r>
            <a:endParaRPr lang="en-US" sz="2000" dirty="0"/>
          </a:p>
        </p:txBody>
      </p:sp>
      <p:sp>
        <p:nvSpPr>
          <p:cNvPr id="9" name="Kart"/>
          <p:cNvSpPr/>
          <p:nvPr/>
        </p:nvSpPr>
        <p:spPr>
          <a:xfrm>
            <a:off x="6949440" y="2880360"/>
            <a:ext cx="4663440" cy="1234440"/>
          </a:xfrm>
          <a:prstGeom prst="roundRect">
            <a:avLst>
              <a:gd name="adj" fmla="val 8889"/>
            </a:avLst>
          </a:prstGeom>
          <a:solidFill>
            <a:schemeClr val="bg2"/>
          </a:solidFill>
          <a:ln w="12700">
            <a:solidFill>
              <a:schemeClr val="bg2"/>
            </a:solidFill>
            <a:prstDash val="solid"/>
          </a:ln>
        </p:spPr>
      </p:sp>
      <p:sp>
        <p:nvSpPr>
          <p:cNvPr id="10" name="Text 6"/>
          <p:cNvSpPr txBox="1"/>
          <p:nvPr/>
        </p:nvSpPr>
        <p:spPr>
          <a:xfrm>
            <a:off x="7086600" y="2880360"/>
            <a:ext cx="1783080" cy="1234440"/>
          </a:xfrm>
          <a:prstGeom prst="rect">
            <a:avLst/>
          </a:prstGeom>
          <a:noFill/>
          <a:ln/>
        </p:spPr>
        <p:txBody>
          <a:bodyPr wrap="square" lIns="0" tIns="0" rIns="0" bIns="0" rtlCol="0" anchor="ctr"/>
          <a:lstStyle/>
          <a:p>
            <a:pPr algn="ctr" indent="0" marL="0">
              <a:buNone/>
            </a:pPr>
            <a:r>
              <a:rPr lang="en-US" sz="3600" b="1" dirty="0">
                <a:solidFill>
                  <a:schemeClr val="accent1"/>
                </a:solidFill>
              </a:rPr>
              <a:t>%49,9</a:t>
            </a:r>
            <a:endParaRPr lang="en-US" sz="3600" dirty="0"/>
          </a:p>
        </p:txBody>
      </p:sp>
      <p:sp>
        <p:nvSpPr>
          <p:cNvPr id="11" name="Text 7"/>
          <p:cNvSpPr txBox="1"/>
          <p:nvPr/>
        </p:nvSpPr>
        <p:spPr>
          <a:xfrm>
            <a:off x="8915400" y="2880360"/>
            <a:ext cx="2560320" cy="1234440"/>
          </a:xfrm>
          <a:prstGeom prst="rect">
            <a:avLst/>
          </a:prstGeom>
          <a:noFill/>
          <a:ln/>
        </p:spPr>
        <p:txBody>
          <a:bodyPr wrap="square" lIns="0" tIns="0" rIns="0" bIns="0" rtlCol="0" anchor="ctr"/>
          <a:lstStyle/>
          <a:p>
            <a:pPr indent="0" marL="0">
              <a:buNone/>
            </a:pPr>
            <a:r>
              <a:rPr lang="en-US" sz="2000" dirty="0">
                <a:solidFill>
                  <a:schemeClr val="accent1"/>
                </a:solidFill>
              </a:rPr>
              <a:t>denemede profesyonel destek almış</a:t>
            </a:r>
            <a:endParaRPr lang="en-US" sz="2000" dirty="0"/>
          </a:p>
        </p:txBody>
      </p:sp>
      <p:sp>
        <p:nvSpPr>
          <p:cNvPr id="12" name="Kart"/>
          <p:cNvSpPr/>
          <p:nvPr/>
        </p:nvSpPr>
        <p:spPr>
          <a:xfrm>
            <a:off x="6949440" y="4297680"/>
            <a:ext cx="4663440" cy="1234440"/>
          </a:xfrm>
          <a:prstGeom prst="roundRect">
            <a:avLst>
              <a:gd name="adj" fmla="val 8889"/>
            </a:avLst>
          </a:prstGeom>
          <a:solidFill>
            <a:schemeClr val="bg2"/>
          </a:solidFill>
          <a:ln w="12700">
            <a:solidFill>
              <a:schemeClr val="bg2"/>
            </a:solidFill>
            <a:prstDash val="solid"/>
          </a:ln>
        </p:spPr>
      </p:sp>
      <p:sp>
        <p:nvSpPr>
          <p:cNvPr id="13" name="Text 9"/>
          <p:cNvSpPr txBox="1"/>
          <p:nvPr/>
        </p:nvSpPr>
        <p:spPr>
          <a:xfrm>
            <a:off x="7086600" y="4297680"/>
            <a:ext cx="1783080" cy="1234440"/>
          </a:xfrm>
          <a:prstGeom prst="rect">
            <a:avLst/>
          </a:prstGeom>
          <a:noFill/>
          <a:ln/>
        </p:spPr>
        <p:txBody>
          <a:bodyPr wrap="square" lIns="0" tIns="0" rIns="0" bIns="0" rtlCol="0" anchor="ctr"/>
          <a:lstStyle/>
          <a:p>
            <a:pPr algn="ctr" indent="0" marL="0">
              <a:buNone/>
            </a:pPr>
            <a:r>
              <a:rPr lang="en-US" sz="3600" b="1" dirty="0">
                <a:solidFill>
                  <a:schemeClr val="accent1"/>
                </a:solidFill>
              </a:rPr>
              <a:t>%7,2</a:t>
            </a:r>
            <a:endParaRPr lang="en-US" sz="3600" dirty="0"/>
          </a:p>
        </p:txBody>
      </p:sp>
      <p:sp>
        <p:nvSpPr>
          <p:cNvPr id="14" name="Text 10"/>
          <p:cNvSpPr txBox="1"/>
          <p:nvPr/>
        </p:nvSpPr>
        <p:spPr>
          <a:xfrm>
            <a:off x="8915400" y="4297680"/>
            <a:ext cx="2560320" cy="1234440"/>
          </a:xfrm>
          <a:prstGeom prst="rect">
            <a:avLst/>
          </a:prstGeom>
          <a:noFill/>
          <a:ln/>
        </p:spPr>
        <p:txBody>
          <a:bodyPr wrap="square" lIns="0" tIns="0" rIns="0" bIns="0" rtlCol="0" anchor="ctr"/>
          <a:lstStyle/>
          <a:p>
            <a:pPr indent="0" marL="0">
              <a:buNone/>
            </a:pPr>
            <a:r>
              <a:rPr lang="en-US" sz="2000" dirty="0">
                <a:solidFill>
                  <a:schemeClr val="accent1"/>
                </a:solidFill>
              </a:rPr>
              <a:t>sigara dışı tütün ürünü kullanıyor</a:t>
            </a:r>
            <a:endParaRPr lang="en-US" sz="2000" dirty="0"/>
          </a:p>
        </p:txBody>
      </p:sp>
      <p:sp>
        <p:nvSpPr>
          <p:cNvPr id="15" name="Kaynak"/>
          <p:cNvSpPr txBox="1"/>
          <p:nvPr/>
        </p:nvSpPr>
        <p:spPr>
          <a:xfrm>
            <a:off x="548640" y="6382512"/>
            <a:ext cx="10424160" cy="292608"/>
          </a:xfrm>
          <a:prstGeom prst="rect">
            <a:avLst/>
          </a:prstGeom>
          <a:noFill/>
          <a:ln/>
        </p:spPr>
        <p:txBody>
          <a:bodyPr wrap="square" lIns="0" tIns="0" rIns="0" bIns="0" rtlCol="0" anchor="ctr"/>
          <a:lstStyle/>
          <a:p>
            <a:pPr indent="0" marL="0">
              <a:buNone/>
            </a:pPr>
            <a:r>
              <a:rPr lang="en-US" sz="1200" i="1" dirty="0">
                <a:solidFill>
                  <a:schemeClr val="accent3"/>
                </a:solidFill>
              </a:rPr>
              <a:t>Kaynak: Cenberlitaş E, Gökçe A, Öztürk O. Turk J Fam Pract. 2026;30(2):97-106.</a:t>
            </a:r>
            <a:endParaRPr lang="en-US" sz="1200" dirty="0"/>
          </a:p>
        </p:txBody>
      </p:sp>
      <p:sp>
        <p:nvSpPr>
          <p:cNvPr id="25" name="Slide Number Placeholder 0"/>
          <p:cNvSpPr>
            <a:spLocks noGrp="1"/>
          </p:cNvSpPr>
          <p:nvPr>
            <p:ph type="sldNum" sz="quarter" idx="4294967295"/>
          </p:nvPr>
        </p:nvSpPr>
        <p:spPr>
          <a:xfrm>
            <a:off x="11201400" y="6382512"/>
            <a:ext cx="548640" cy="292608"/>
          </a:xfrm>
          <a:prstGeom prst="rect">
            <a:avLst/>
          </a:prstGeom>
          <a:extLst>
            <a:ext uri="{C572A759-6A51-4108-AA02-DFA0A04FC94B}">
              <ma14:wrappingTextBoxFlag xmlns:ma14="http://schemas.microsoft.com/office/mac/drawingml/2011/main" val="0"/>
            </a:ext>
          </a:extLst>
        </p:spPr>
        <p:txBody>
          <a:bodyPr/>
          <a:lstStyle>
            <a:lvl1pPr>
              <a:defRPr sz="1400">
                <a:solidFill>
                  <a:srgbClr val="7A8C94"/>
                </a:solidFill>
              </a:defRPr>
            </a:lvl1pPr>
          </a:lstStyle>
          <a:p>
            <a:pPr algn="r"/>
            <a:fld id="{F7021451-1387-4CA6-816F-3879F97B5CBC}" type="slidenum">
              <a:rPr b="0" lang="en-US"/>
              <a:t>13</a:t>
            </a:fld>
            <a:endParaRPr lang="en-US"/>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3" name="Text 0"/>
          <p:cNvSpPr/>
          <p:nvPr>
            <p:ph idx="100" type="title" hasCustomPrompt="1"/>
          </p:nvPr>
        </p:nvSpPr>
        <p:spPr>
          <a:xfrm>
            <a:off x="548640" y="320040"/>
            <a:ext cx="10607040" cy="868680"/>
          </a:xfrm>
          <a:prstGeom prst="rect">
            <a:avLst/>
          </a:prstGeom>
          <a:noFill/>
          <a:ln/>
        </p:spPr>
        <p:txBody>
          <a:bodyPr wrap="square" lIns="0" tIns="0" rIns="0" bIns="0" rtlCol="0" anchor="ctr"/>
          <a:lstStyle/>
          <a:p>
            <a:pPr algn="l" indent="0" marL="0">
              <a:buNone/>
            </a:pPr>
            <a:r>
              <a:rPr lang="en-US" sz="3600" b="1" dirty="0">
                <a:solidFill>
                  <a:schemeClr val="accent1"/>
                </a:solidFill>
              </a:rPr>
              <a:t>Evde sigara içilmesi başarıyı azaltmaktadır</a:t>
            </a:r>
            <a:endParaRPr lang="en-US" sz="3600" dirty="0"/>
          </a:p>
        </p:txBody>
      </p:sp>
      <p:sp>
        <p:nvSpPr>
          <p:cNvPr id="4" name="Text 1"/>
          <p:cNvSpPr txBox="1"/>
          <p:nvPr/>
        </p:nvSpPr>
        <p:spPr>
          <a:xfrm>
            <a:off x="548640" y="1371600"/>
            <a:ext cx="6035040" cy="457200"/>
          </a:xfrm>
          <a:prstGeom prst="rect">
            <a:avLst/>
          </a:prstGeom>
          <a:noFill/>
          <a:ln/>
        </p:spPr>
        <p:txBody>
          <a:bodyPr wrap="square" lIns="0" tIns="0" rIns="0" bIns="0" rtlCol="0" anchor="ctr"/>
          <a:lstStyle/>
          <a:p>
            <a:pPr indent="0" marL="0">
              <a:buNone/>
            </a:pPr>
            <a:r>
              <a:rPr lang="en-US" sz="2200" b="1" dirty="0">
                <a:solidFill>
                  <a:schemeClr val="accent2"/>
                </a:solidFill>
              </a:rPr>
              <a:t>Sigarayı bırakma oranı</a:t>
            </a:r>
            <a:endParaRPr lang="en-US" sz="2200" dirty="0"/>
          </a:p>
        </p:txBody>
      </p:sp>
      <p:graphicFrame>
        <p:nvGraphicFramePr>
          <p:cNvPr id="5" name="Hane grafiği" descr=""/>
          <p:cNvGraphicFramePr/>
          <p:nvPr/>
        </p:nvGraphicFramePr>
        <p:xfrm>
          <a:off x="548640" y="1828800"/>
          <a:ext cx="6035040" cy="3566160"/>
        </p:xfrm>
        <a:graphic xmlns:a="http://schemas.openxmlformats.org/drawingml/2006/main">
          <a:graphicData uri="http://schemas.openxmlformats.org/drawingml/2006/chart">
            <c:chart xmlns:c="http://schemas.openxmlformats.org/drawingml/2006/chart" r:id="rId1"/>
          </a:graphicData>
        </a:graphic>
      </p:graphicFrame>
      <p:sp>
        <p:nvSpPr>
          <p:cNvPr id="6" name="Text 2"/>
          <p:cNvSpPr txBox="1"/>
          <p:nvPr/>
        </p:nvSpPr>
        <p:spPr>
          <a:xfrm>
            <a:off x="548640" y="5440680"/>
            <a:ext cx="6035040" cy="457200"/>
          </a:xfrm>
          <a:prstGeom prst="rect">
            <a:avLst/>
          </a:prstGeom>
          <a:noFill/>
          <a:ln/>
        </p:spPr>
        <p:txBody>
          <a:bodyPr wrap="square" lIns="0" tIns="0" rIns="0" bIns="0" rtlCol="0" anchor="ctr"/>
          <a:lstStyle/>
          <a:p>
            <a:pPr algn="ctr" indent="0" marL="0">
              <a:buNone/>
            </a:pPr>
            <a:r>
              <a:rPr lang="en-US" sz="2200" b="1" dirty="0">
                <a:solidFill>
                  <a:schemeClr val="accent1"/>
                </a:solidFill>
              </a:rPr>
              <a:t>p = 0,003</a:t>
            </a:r>
            <a:endParaRPr lang="en-US" sz="2200" dirty="0"/>
          </a:p>
        </p:txBody>
      </p:sp>
      <p:sp>
        <p:nvSpPr>
          <p:cNvPr id="7" name="Kart"/>
          <p:cNvSpPr/>
          <p:nvPr/>
        </p:nvSpPr>
        <p:spPr>
          <a:xfrm>
            <a:off x="6949440" y="1371600"/>
            <a:ext cx="4663440" cy="4526280"/>
          </a:xfrm>
          <a:prstGeom prst="roundRect">
            <a:avLst>
              <a:gd name="adj" fmla="val 2424"/>
            </a:avLst>
          </a:prstGeom>
          <a:solidFill>
            <a:schemeClr val="bg2"/>
          </a:solidFill>
          <a:ln w="12700">
            <a:solidFill>
              <a:schemeClr val="bg2"/>
            </a:solidFill>
            <a:prstDash val="solid"/>
          </a:ln>
        </p:spPr>
      </p:sp>
      <p:sp>
        <p:nvSpPr>
          <p:cNvPr id="8" name="Text 4"/>
          <p:cNvSpPr txBox="1"/>
          <p:nvPr/>
        </p:nvSpPr>
        <p:spPr>
          <a:xfrm>
            <a:off x="7223760" y="1554480"/>
            <a:ext cx="4206240" cy="502920"/>
          </a:xfrm>
          <a:prstGeom prst="rect">
            <a:avLst/>
          </a:prstGeom>
          <a:noFill/>
          <a:ln/>
        </p:spPr>
        <p:txBody>
          <a:bodyPr wrap="square" lIns="0" tIns="0" rIns="0" bIns="0" rtlCol="0" anchor="ctr"/>
          <a:lstStyle/>
          <a:p>
            <a:pPr indent="0" marL="0">
              <a:buNone/>
            </a:pPr>
            <a:r>
              <a:rPr lang="en-US" sz="2200" b="1" dirty="0">
                <a:solidFill>
                  <a:schemeClr val="accent2"/>
                </a:solidFill>
              </a:rPr>
              <a:t>Anlamlı fark bulunmayanlar</a:t>
            </a:r>
            <a:endParaRPr lang="en-US" sz="2200" dirty="0"/>
          </a:p>
        </p:txBody>
      </p:sp>
      <p:sp>
        <p:nvSpPr>
          <p:cNvPr id="9" name="Text 5"/>
          <p:cNvSpPr txBox="1"/>
          <p:nvPr/>
        </p:nvSpPr>
        <p:spPr>
          <a:xfrm>
            <a:off x="7223760" y="2194560"/>
            <a:ext cx="4206240" cy="3474720"/>
          </a:xfrm>
          <a:prstGeom prst="rect">
            <a:avLst/>
          </a:prstGeom>
          <a:noFill/>
          <a:ln/>
        </p:spPr>
        <p:txBody>
          <a:bodyPr wrap="square" lIns="0" tIns="0" rIns="0" bIns="0" rtlCol="0" anchor="t"/>
          <a:lstStyle/>
          <a:p>
            <a:pPr algn="just" marL="279400" indent="-279400">
              <a:spcAft>
                <a:spcPts val="1000"/>
              </a:spcAft>
              <a:buSzPct val="100000"/>
              <a:buChar char="•"/>
            </a:pPr>
            <a:r>
              <a:rPr lang="en-US" sz="2200" dirty="0">
                <a:solidFill>
                  <a:schemeClr val="accent1"/>
                </a:solidFill>
              </a:rPr>
              <a:t>Cinsiyet ve yaş</a:t>
            </a:r>
            <a:endParaRPr lang="en-US" sz="2200" dirty="0"/>
          </a:p>
          <a:p>
            <a:pPr algn="just" marL="279400" indent="-279400">
              <a:spcAft>
                <a:spcPts val="1000"/>
              </a:spcAft>
              <a:buSzPct val="100000"/>
              <a:buChar char="•"/>
            </a:pPr>
            <a:r>
              <a:rPr lang="en-US" sz="2200" dirty="0">
                <a:solidFill>
                  <a:schemeClr val="accent1"/>
                </a:solidFill>
              </a:rPr>
              <a:t>Medeni ve eğitim durumu</a:t>
            </a:r>
            <a:endParaRPr lang="en-US" sz="2200" dirty="0"/>
          </a:p>
          <a:p>
            <a:pPr algn="just" marL="279400" indent="-279400">
              <a:spcAft>
                <a:spcPts val="1000"/>
              </a:spcAft>
              <a:buSzPct val="100000"/>
              <a:buChar char="•"/>
            </a:pPr>
            <a:r>
              <a:rPr lang="en-US" sz="2200" dirty="0">
                <a:solidFill>
                  <a:schemeClr val="accent1"/>
                </a:solidFill>
              </a:rPr>
              <a:t>Yerleşim yeri</a:t>
            </a:r>
            <a:endParaRPr lang="en-US" sz="2200" dirty="0"/>
          </a:p>
          <a:p>
            <a:pPr algn="just" marL="279400" indent="-279400">
              <a:spcAft>
                <a:spcPts val="1000"/>
              </a:spcAft>
              <a:buSzPct val="100000"/>
              <a:buChar char="•"/>
            </a:pPr>
            <a:r>
              <a:rPr lang="en-US" sz="2200" dirty="0">
                <a:solidFill>
                  <a:schemeClr val="accent1"/>
                </a:solidFill>
              </a:rPr>
              <a:t>Çalışma durumu</a:t>
            </a:r>
            <a:endParaRPr lang="en-US" sz="2200" dirty="0"/>
          </a:p>
          <a:p>
            <a:pPr algn="just" marL="279400" indent="-279400">
              <a:spcAft>
                <a:spcPts val="1000"/>
              </a:spcAft>
              <a:buSzPct val="100000"/>
              <a:buChar char="•"/>
            </a:pPr>
            <a:r>
              <a:rPr lang="en-US" sz="2200" dirty="0">
                <a:solidFill>
                  <a:schemeClr val="accent1"/>
                </a:solidFill>
              </a:rPr>
              <a:t>Alkol kullanımı</a:t>
            </a:r>
            <a:endParaRPr lang="en-US" sz="2200" dirty="0"/>
          </a:p>
        </p:txBody>
      </p:sp>
      <p:sp>
        <p:nvSpPr>
          <p:cNvPr id="10" name="Kaynak"/>
          <p:cNvSpPr txBox="1"/>
          <p:nvPr/>
        </p:nvSpPr>
        <p:spPr>
          <a:xfrm>
            <a:off x="548640" y="6382512"/>
            <a:ext cx="10424160" cy="292608"/>
          </a:xfrm>
          <a:prstGeom prst="rect">
            <a:avLst/>
          </a:prstGeom>
          <a:noFill/>
          <a:ln/>
        </p:spPr>
        <p:txBody>
          <a:bodyPr wrap="square" lIns="0" tIns="0" rIns="0" bIns="0" rtlCol="0" anchor="ctr"/>
          <a:lstStyle/>
          <a:p>
            <a:pPr indent="0" marL="0">
              <a:buNone/>
            </a:pPr>
            <a:r>
              <a:rPr lang="en-US" sz="1200" i="1" dirty="0">
                <a:solidFill>
                  <a:schemeClr val="accent3"/>
                </a:solidFill>
              </a:rPr>
              <a:t>Kaynak: Cenberlitaş E, Gökçe A, Öztürk O. Turk J Fam Pract. 2026;30(2):97-106. Tablo 2.</a:t>
            </a:r>
            <a:endParaRPr lang="en-US" sz="1200" dirty="0"/>
          </a:p>
        </p:txBody>
      </p:sp>
      <p:sp>
        <p:nvSpPr>
          <p:cNvPr id="25" name="Slide Number Placeholder 0"/>
          <p:cNvSpPr>
            <a:spLocks noGrp="1"/>
          </p:cNvSpPr>
          <p:nvPr>
            <p:ph type="sldNum" sz="quarter" idx="4294967295"/>
          </p:nvPr>
        </p:nvSpPr>
        <p:spPr>
          <a:xfrm>
            <a:off x="11201400" y="6382512"/>
            <a:ext cx="548640" cy="292608"/>
          </a:xfrm>
          <a:prstGeom prst="rect">
            <a:avLst/>
          </a:prstGeom>
          <a:extLst>
            <a:ext uri="{C572A759-6A51-4108-AA02-DFA0A04FC94B}">
              <ma14:wrappingTextBoxFlag xmlns:ma14="http://schemas.microsoft.com/office/mac/drawingml/2011/main" val="0"/>
            </a:ext>
          </a:extLst>
        </p:spPr>
        <p:txBody>
          <a:bodyPr/>
          <a:lstStyle>
            <a:lvl1pPr>
              <a:defRPr sz="1400">
                <a:solidFill>
                  <a:srgbClr val="7A8C94"/>
                </a:solidFill>
              </a:defRPr>
            </a:lvl1pPr>
          </a:lstStyle>
          <a:p>
            <a:pPr algn="r"/>
            <a:fld id="{F7021451-1387-4CA6-816F-3879F97B5CBC}" type="slidenum">
              <a:rPr b="0" lang="en-US"/>
              <a:t>14</a:t>
            </a:fld>
            <a:endParaRPr lang="en-US"/>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sp>
        <p:nvSpPr>
          <p:cNvPr id="3" name="Text 0"/>
          <p:cNvSpPr/>
          <p:nvPr>
            <p:ph idx="100" type="title" hasCustomPrompt="1"/>
          </p:nvPr>
        </p:nvSpPr>
        <p:spPr>
          <a:xfrm>
            <a:off x="548640" y="320040"/>
            <a:ext cx="10607040" cy="868680"/>
          </a:xfrm>
          <a:prstGeom prst="rect">
            <a:avLst/>
          </a:prstGeom>
          <a:noFill/>
          <a:ln/>
        </p:spPr>
        <p:txBody>
          <a:bodyPr wrap="square" lIns="0" tIns="0" rIns="0" bIns="0" rtlCol="0" anchor="ctr"/>
          <a:lstStyle/>
          <a:p>
            <a:pPr algn="l" indent="0" marL="0">
              <a:buNone/>
            </a:pPr>
            <a:r>
              <a:rPr lang="en-US" sz="3600" b="1" dirty="0">
                <a:solidFill>
                  <a:schemeClr val="accent1"/>
                </a:solidFill>
              </a:rPr>
              <a:t>En sık kombine tedavi uygulanmıştır</a:t>
            </a:r>
            <a:endParaRPr lang="en-US" sz="3600" dirty="0"/>
          </a:p>
        </p:txBody>
      </p:sp>
      <p:graphicFrame>
        <p:nvGraphicFramePr>
          <p:cNvPr id="4" name="Tedavi dağılımı" descr=""/>
          <p:cNvGraphicFramePr/>
          <p:nvPr/>
        </p:nvGraphicFramePr>
        <p:xfrm>
          <a:off x="548640" y="1325880"/>
          <a:ext cx="6949440" cy="4754880"/>
        </p:xfrm>
        <a:graphic xmlns:a="http://schemas.openxmlformats.org/drawingml/2006/main">
          <a:graphicData uri="http://schemas.openxmlformats.org/drawingml/2006/chart">
            <c:chart xmlns:c="http://schemas.openxmlformats.org/drawingml/2006/chart" r:id="rId1"/>
          </a:graphicData>
        </a:graphic>
      </p:graphicFrame>
      <p:sp>
        <p:nvSpPr>
          <p:cNvPr id="5" name="Kart"/>
          <p:cNvSpPr/>
          <p:nvPr/>
        </p:nvSpPr>
        <p:spPr>
          <a:xfrm>
            <a:off x="7863840" y="1463040"/>
            <a:ext cx="3749040" cy="4480560"/>
          </a:xfrm>
          <a:prstGeom prst="roundRect">
            <a:avLst>
              <a:gd name="adj" fmla="val 2927"/>
            </a:avLst>
          </a:prstGeom>
          <a:solidFill>
            <a:schemeClr val="accent1"/>
          </a:solidFill>
          <a:ln w="12700">
            <a:solidFill>
              <a:schemeClr val="accent1"/>
            </a:solidFill>
            <a:prstDash val="solid"/>
          </a:ln>
        </p:spPr>
      </p:sp>
      <p:sp>
        <p:nvSpPr>
          <p:cNvPr id="6" name="Text 2"/>
          <p:cNvSpPr txBox="1"/>
          <p:nvPr/>
        </p:nvSpPr>
        <p:spPr>
          <a:xfrm>
            <a:off x="8092440" y="1691640"/>
            <a:ext cx="3291840" cy="2377440"/>
          </a:xfrm>
          <a:prstGeom prst="rect">
            <a:avLst/>
          </a:prstGeom>
          <a:noFill/>
          <a:ln/>
        </p:spPr>
        <p:txBody>
          <a:bodyPr wrap="square" lIns="0" tIns="0" rIns="0" bIns="0" rtlCol="0" anchor="t"/>
          <a:lstStyle/>
          <a:p>
            <a:pPr indent="0" marL="0">
              <a:buNone/>
            </a:pPr>
            <a:r>
              <a:rPr lang="en-US" sz="4400" b="1" dirty="0">
                <a:solidFill>
                  <a:schemeClr val="bg1"/>
                </a:solidFill>
              </a:rPr>
              <a:t>125 / 141</a:t>
            </a:r>
            <a:endParaRPr lang="en-US" sz="4400" dirty="0"/>
          </a:p>
          <a:p>
            <a:pPr indent="0" marL="0">
              <a:buNone/>
            </a:pPr>
            <a:r>
              <a:rPr lang="en-US" sz="2200" dirty="0">
                <a:solidFill>
                  <a:schemeClr val="bg1"/>
                </a:solidFill>
              </a:rPr>
              <a:t>kombine tedavi hastası bupropion + NRT almıştır</a:t>
            </a:r>
            <a:endParaRPr lang="en-US" sz="4400" dirty="0"/>
          </a:p>
        </p:txBody>
      </p:sp>
      <p:sp>
        <p:nvSpPr>
          <p:cNvPr id="7" name="Text 3"/>
          <p:cNvSpPr txBox="1"/>
          <p:nvPr/>
        </p:nvSpPr>
        <p:spPr>
          <a:xfrm>
            <a:off x="8092440" y="4206240"/>
            <a:ext cx="3291840" cy="1554480"/>
          </a:xfrm>
          <a:prstGeom prst="rect">
            <a:avLst/>
          </a:prstGeom>
          <a:noFill/>
          <a:ln/>
        </p:spPr>
        <p:txBody>
          <a:bodyPr wrap="square" lIns="0" tIns="0" rIns="0" bIns="0" rtlCol="0" anchor="t"/>
          <a:lstStyle/>
          <a:p>
            <a:pPr indent="0" marL="0">
              <a:buNone/>
            </a:pPr>
            <a:r>
              <a:rPr lang="en-US" sz="2000" i="1" dirty="0">
                <a:solidFill>
                  <a:schemeClr val="bg2"/>
                </a:solidFill>
              </a:rPr>
              <a:t>Vareniklin, piyasadan çekildiği için az kullanılmıştır.</a:t>
            </a:r>
            <a:endParaRPr lang="en-US" sz="2000" dirty="0"/>
          </a:p>
        </p:txBody>
      </p:sp>
      <p:sp>
        <p:nvSpPr>
          <p:cNvPr id="8" name="Kaynak"/>
          <p:cNvSpPr txBox="1"/>
          <p:nvPr/>
        </p:nvSpPr>
        <p:spPr>
          <a:xfrm>
            <a:off x="548640" y="6382512"/>
            <a:ext cx="10424160" cy="292608"/>
          </a:xfrm>
          <a:prstGeom prst="rect">
            <a:avLst/>
          </a:prstGeom>
          <a:noFill/>
          <a:ln/>
        </p:spPr>
        <p:txBody>
          <a:bodyPr wrap="square" lIns="0" tIns="0" rIns="0" bIns="0" rtlCol="0" anchor="ctr"/>
          <a:lstStyle/>
          <a:p>
            <a:pPr indent="0" marL="0">
              <a:buNone/>
            </a:pPr>
            <a:r>
              <a:rPr lang="en-US" sz="1200" i="1" dirty="0">
                <a:solidFill>
                  <a:schemeClr val="accent3"/>
                </a:solidFill>
              </a:rPr>
              <a:t>Kaynak: Cenberlitaş E, Gökçe A, Öztürk O. Turk J Fam Pract. 2026;30(2):97-106. Tablo 3.</a:t>
            </a:r>
            <a:endParaRPr lang="en-US" sz="1200" dirty="0"/>
          </a:p>
        </p:txBody>
      </p:sp>
      <p:sp>
        <p:nvSpPr>
          <p:cNvPr id="25" name="Slide Number Placeholder 0"/>
          <p:cNvSpPr>
            <a:spLocks noGrp="1"/>
          </p:cNvSpPr>
          <p:nvPr>
            <p:ph type="sldNum" sz="quarter" idx="4294967295"/>
          </p:nvPr>
        </p:nvSpPr>
        <p:spPr>
          <a:xfrm>
            <a:off x="11201400" y="6382512"/>
            <a:ext cx="548640" cy="292608"/>
          </a:xfrm>
          <a:prstGeom prst="rect">
            <a:avLst/>
          </a:prstGeom>
          <a:extLst>
            <a:ext uri="{C572A759-6A51-4108-AA02-DFA0A04FC94B}">
              <ma14:wrappingTextBoxFlag xmlns:ma14="http://schemas.microsoft.com/office/mac/drawingml/2011/main" val="0"/>
            </a:ext>
          </a:extLst>
        </p:spPr>
        <p:txBody>
          <a:bodyPr/>
          <a:lstStyle>
            <a:lvl1pPr>
              <a:defRPr sz="1400">
                <a:solidFill>
                  <a:srgbClr val="7A8C94"/>
                </a:solidFill>
              </a:defRPr>
            </a:lvl1pPr>
          </a:lstStyle>
          <a:p>
            <a:pPr algn="r"/>
            <a:fld id="{F7021451-1387-4CA6-816F-3879F97B5CBC}" type="slidenum">
              <a:rPr b="0" lang="en-US"/>
              <a:t>15</a:t>
            </a:fld>
            <a:endParaRPr lang="en-US"/>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sp>
        <p:nvSpPr>
          <p:cNvPr id="3" name="Text 0"/>
          <p:cNvSpPr/>
          <p:nvPr>
            <p:ph idx="100" type="title" hasCustomPrompt="1"/>
          </p:nvPr>
        </p:nvSpPr>
        <p:spPr>
          <a:xfrm>
            <a:off x="548640" y="320040"/>
            <a:ext cx="10607040" cy="868680"/>
          </a:xfrm>
          <a:prstGeom prst="rect">
            <a:avLst/>
          </a:prstGeom>
          <a:noFill/>
          <a:ln/>
        </p:spPr>
        <p:txBody>
          <a:bodyPr wrap="square" lIns="0" tIns="0" rIns="0" bIns="0" rtlCol="0" anchor="ctr"/>
          <a:lstStyle/>
          <a:p>
            <a:pPr algn="l" indent="0" marL="0">
              <a:buNone/>
            </a:pPr>
            <a:r>
              <a:rPr lang="en-US" sz="3600" b="1" dirty="0">
                <a:solidFill>
                  <a:schemeClr val="accent1"/>
                </a:solidFill>
              </a:rPr>
              <a:t>En düşük başarı bupropion monoterapisinde</a:t>
            </a:r>
            <a:endParaRPr lang="en-US" sz="3600" dirty="0"/>
          </a:p>
        </p:txBody>
      </p:sp>
      <p:graphicFrame>
        <p:nvGraphicFramePr>
          <p:cNvPr id="4" name="Tedaviye göre bırakma" descr=""/>
          <p:cNvGraphicFramePr/>
          <p:nvPr/>
        </p:nvGraphicFramePr>
        <p:xfrm>
          <a:off x="548640" y="1325880"/>
          <a:ext cx="6949440" cy="4754880"/>
        </p:xfrm>
        <a:graphic xmlns:a="http://schemas.openxmlformats.org/drawingml/2006/main">
          <a:graphicData uri="http://schemas.openxmlformats.org/drawingml/2006/chart">
            <c:chart xmlns:c="http://schemas.openxmlformats.org/drawingml/2006/chart" r:id="rId1"/>
          </a:graphicData>
        </a:graphic>
      </p:graphicFrame>
      <p:sp>
        <p:nvSpPr>
          <p:cNvPr id="5" name="Kart"/>
          <p:cNvSpPr/>
          <p:nvPr/>
        </p:nvSpPr>
        <p:spPr>
          <a:xfrm>
            <a:off x="7863840" y="1463040"/>
            <a:ext cx="3749040" cy="2057400"/>
          </a:xfrm>
          <a:prstGeom prst="roundRect">
            <a:avLst>
              <a:gd name="adj" fmla="val 5333"/>
            </a:avLst>
          </a:prstGeom>
          <a:solidFill>
            <a:schemeClr val="bg2"/>
          </a:solidFill>
          <a:ln w="12700">
            <a:solidFill>
              <a:schemeClr val="bg2"/>
            </a:solidFill>
            <a:prstDash val="solid"/>
          </a:ln>
        </p:spPr>
      </p:sp>
      <p:sp>
        <p:nvSpPr>
          <p:cNvPr id="6" name="Text 2"/>
          <p:cNvSpPr txBox="1"/>
          <p:nvPr/>
        </p:nvSpPr>
        <p:spPr>
          <a:xfrm>
            <a:off x="8046720" y="1554480"/>
            <a:ext cx="3383280" cy="1874520"/>
          </a:xfrm>
          <a:prstGeom prst="rect">
            <a:avLst/>
          </a:prstGeom>
          <a:noFill/>
          <a:ln/>
        </p:spPr>
        <p:txBody>
          <a:bodyPr wrap="square" lIns="0" tIns="0" rIns="0" bIns="0" rtlCol="0" anchor="ctr"/>
          <a:lstStyle/>
          <a:p>
            <a:pPr algn="ctr" indent="0" marL="0">
              <a:buNone/>
            </a:pPr>
            <a:r>
              <a:rPr lang="en-US" sz="4400" b="1" dirty="0">
                <a:solidFill>
                  <a:schemeClr val="accent2"/>
                </a:solidFill>
              </a:rPr>
              <a:t>%34,1</a:t>
            </a:r>
            <a:endParaRPr lang="en-US" sz="4400" dirty="0"/>
          </a:p>
          <a:p>
            <a:pPr algn="ctr" indent="0" marL="0">
              <a:buNone/>
            </a:pPr>
            <a:r>
              <a:rPr lang="en-US" sz="2000" dirty="0">
                <a:solidFill>
                  <a:schemeClr val="accent1"/>
                </a:solidFill>
              </a:rPr>
              <a:t>genel bırakma oranı (136/399)</a:t>
            </a:r>
            <a:endParaRPr lang="en-US" sz="4400" dirty="0"/>
          </a:p>
        </p:txBody>
      </p:sp>
      <p:sp>
        <p:nvSpPr>
          <p:cNvPr id="7" name="Kart"/>
          <p:cNvSpPr/>
          <p:nvPr/>
        </p:nvSpPr>
        <p:spPr>
          <a:xfrm>
            <a:off x="7863840" y="3749040"/>
            <a:ext cx="3749040" cy="2194560"/>
          </a:xfrm>
          <a:prstGeom prst="roundRect">
            <a:avLst>
              <a:gd name="adj" fmla="val 5000"/>
            </a:avLst>
          </a:prstGeom>
          <a:solidFill>
            <a:schemeClr val="bg2"/>
          </a:solidFill>
          <a:ln w="12700">
            <a:solidFill>
              <a:schemeClr val="bg2"/>
            </a:solidFill>
            <a:prstDash val="solid"/>
          </a:ln>
        </p:spPr>
      </p:sp>
      <p:sp>
        <p:nvSpPr>
          <p:cNvPr id="8" name="Text 4"/>
          <p:cNvSpPr txBox="1"/>
          <p:nvPr/>
        </p:nvSpPr>
        <p:spPr>
          <a:xfrm>
            <a:off x="8046720" y="3840480"/>
            <a:ext cx="3383280" cy="2011680"/>
          </a:xfrm>
          <a:prstGeom prst="rect">
            <a:avLst/>
          </a:prstGeom>
          <a:noFill/>
          <a:ln/>
        </p:spPr>
        <p:txBody>
          <a:bodyPr wrap="square" lIns="0" tIns="0" rIns="0" bIns="0" rtlCol="0" anchor="ctr"/>
          <a:lstStyle/>
          <a:p>
            <a:pPr algn="ctr" indent="0" marL="0">
              <a:buNone/>
            </a:pPr>
            <a:r>
              <a:rPr lang="en-US" sz="3600" b="1" dirty="0">
                <a:solidFill>
                  <a:schemeClr val="accent1"/>
                </a:solidFill>
              </a:rPr>
              <a:t>p &lt; 0,001</a:t>
            </a:r>
            <a:endParaRPr lang="en-US" sz="3600" dirty="0"/>
          </a:p>
          <a:p>
            <a:pPr algn="ctr" indent="0" marL="0">
              <a:buNone/>
            </a:pPr>
            <a:r>
              <a:rPr lang="en-US" sz="2000" dirty="0">
                <a:solidFill>
                  <a:schemeClr val="accent1"/>
                </a:solidFill>
              </a:rPr>
              <a:t>altı grup arasında (ki-kare)</a:t>
            </a:r>
            <a:endParaRPr lang="en-US" sz="3600" dirty="0"/>
          </a:p>
        </p:txBody>
      </p:sp>
      <p:sp>
        <p:nvSpPr>
          <p:cNvPr id="9" name="Kaynak"/>
          <p:cNvSpPr txBox="1"/>
          <p:nvPr/>
        </p:nvSpPr>
        <p:spPr>
          <a:xfrm>
            <a:off x="548640" y="6382512"/>
            <a:ext cx="10424160" cy="292608"/>
          </a:xfrm>
          <a:prstGeom prst="rect">
            <a:avLst/>
          </a:prstGeom>
          <a:noFill/>
          <a:ln/>
        </p:spPr>
        <p:txBody>
          <a:bodyPr wrap="square" lIns="0" tIns="0" rIns="0" bIns="0" rtlCol="0" anchor="ctr"/>
          <a:lstStyle/>
          <a:p>
            <a:pPr indent="0" marL="0">
              <a:buNone/>
            </a:pPr>
            <a:r>
              <a:rPr lang="en-US" sz="1200" i="1" dirty="0">
                <a:solidFill>
                  <a:schemeClr val="accent3"/>
                </a:solidFill>
              </a:rPr>
              <a:t>Kaynak: Cenberlitaş E, Gökçe A, Öztürk O. Turk J Fam Pract. 2026;30(2):97-106. Tablo 5.</a:t>
            </a:r>
            <a:endParaRPr lang="en-US" sz="1200" dirty="0"/>
          </a:p>
        </p:txBody>
      </p:sp>
      <p:sp>
        <p:nvSpPr>
          <p:cNvPr id="25" name="Slide Number Placeholder 0"/>
          <p:cNvSpPr>
            <a:spLocks noGrp="1"/>
          </p:cNvSpPr>
          <p:nvPr>
            <p:ph type="sldNum" sz="quarter" idx="4294967295"/>
          </p:nvPr>
        </p:nvSpPr>
        <p:spPr>
          <a:xfrm>
            <a:off x="11201400" y="6382512"/>
            <a:ext cx="548640" cy="292608"/>
          </a:xfrm>
          <a:prstGeom prst="rect">
            <a:avLst/>
          </a:prstGeom>
          <a:extLst>
            <a:ext uri="{C572A759-6A51-4108-AA02-DFA0A04FC94B}">
              <ma14:wrappingTextBoxFlag xmlns:ma14="http://schemas.microsoft.com/office/mac/drawingml/2011/main" val="0"/>
            </a:ext>
          </a:extLst>
        </p:spPr>
        <p:txBody>
          <a:bodyPr/>
          <a:lstStyle>
            <a:lvl1pPr>
              <a:defRPr sz="1400">
                <a:solidFill>
                  <a:srgbClr val="7A8C94"/>
                </a:solidFill>
              </a:defRPr>
            </a:lvl1pPr>
          </a:lstStyle>
          <a:p>
            <a:pPr algn="r"/>
            <a:fld id="{F7021451-1387-4CA6-816F-3879F97B5CBC}" type="slidenum">
              <a:rPr b="0" lang="en-US"/>
              <a:t>16</a:t>
            </a:fld>
            <a:endParaRPr lang="en-US"/>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sp>
        <p:nvSpPr>
          <p:cNvPr id="3" name="Text 0"/>
          <p:cNvSpPr/>
          <p:nvPr>
            <p:ph idx="100" type="title" hasCustomPrompt="1"/>
          </p:nvPr>
        </p:nvSpPr>
        <p:spPr>
          <a:xfrm>
            <a:off x="548640" y="320040"/>
            <a:ext cx="10607040" cy="868680"/>
          </a:xfrm>
          <a:prstGeom prst="rect">
            <a:avLst/>
          </a:prstGeom>
          <a:noFill/>
          <a:ln/>
        </p:spPr>
        <p:txBody>
          <a:bodyPr wrap="square" lIns="0" tIns="0" rIns="0" bIns="0" rtlCol="0" anchor="ctr"/>
          <a:lstStyle/>
          <a:p>
            <a:pPr algn="l" indent="0" marL="0">
              <a:buNone/>
            </a:pPr>
            <a:r>
              <a:rPr lang="en-US" sz="3600" b="1" dirty="0">
                <a:solidFill>
                  <a:schemeClr val="accent1"/>
                </a:solidFill>
              </a:rPr>
              <a:t>Başarı görüşme sayısıyla artmaktadır</a:t>
            </a:r>
            <a:endParaRPr lang="en-US" sz="3600" dirty="0"/>
          </a:p>
        </p:txBody>
      </p:sp>
      <p:sp>
        <p:nvSpPr>
          <p:cNvPr id="4" name="Text 1"/>
          <p:cNvSpPr txBox="1"/>
          <p:nvPr/>
        </p:nvSpPr>
        <p:spPr>
          <a:xfrm>
            <a:off x="4663440" y="1371600"/>
            <a:ext cx="2377440" cy="502920"/>
          </a:xfrm>
          <a:prstGeom prst="rect">
            <a:avLst/>
          </a:prstGeom>
          <a:noFill/>
          <a:ln/>
        </p:spPr>
        <p:txBody>
          <a:bodyPr wrap="square" lIns="0" tIns="0" rIns="0" bIns="0" rtlCol="0" anchor="ctr"/>
          <a:lstStyle/>
          <a:p>
            <a:pPr algn="ctr" indent="0" marL="0">
              <a:buNone/>
            </a:pPr>
            <a:r>
              <a:rPr lang="en-US" sz="2200" b="1" dirty="0">
                <a:solidFill>
                  <a:schemeClr val="accent3"/>
                </a:solidFill>
              </a:rPr>
              <a:t>Başarısız</a:t>
            </a:r>
            <a:endParaRPr lang="en-US" sz="2200" dirty="0"/>
          </a:p>
        </p:txBody>
      </p:sp>
      <p:sp>
        <p:nvSpPr>
          <p:cNvPr id="5" name="Text 2"/>
          <p:cNvSpPr txBox="1"/>
          <p:nvPr/>
        </p:nvSpPr>
        <p:spPr>
          <a:xfrm>
            <a:off x="7223760" y="1371600"/>
            <a:ext cx="2377440" cy="502920"/>
          </a:xfrm>
          <a:prstGeom prst="rect">
            <a:avLst/>
          </a:prstGeom>
          <a:noFill/>
          <a:ln/>
        </p:spPr>
        <p:txBody>
          <a:bodyPr wrap="square" lIns="0" tIns="0" rIns="0" bIns="0" rtlCol="0" anchor="ctr"/>
          <a:lstStyle/>
          <a:p>
            <a:pPr algn="ctr" indent="0" marL="0">
              <a:buNone/>
            </a:pPr>
            <a:r>
              <a:rPr lang="en-US" sz="2200" b="1" dirty="0">
                <a:solidFill>
                  <a:schemeClr val="accent2"/>
                </a:solidFill>
              </a:rPr>
              <a:t>Başarılı</a:t>
            </a:r>
            <a:endParaRPr lang="en-US" sz="2200" dirty="0"/>
          </a:p>
        </p:txBody>
      </p:sp>
      <p:sp>
        <p:nvSpPr>
          <p:cNvPr id="6" name="Text 3"/>
          <p:cNvSpPr txBox="1"/>
          <p:nvPr/>
        </p:nvSpPr>
        <p:spPr>
          <a:xfrm>
            <a:off x="9784080" y="1371600"/>
            <a:ext cx="1828800" cy="502920"/>
          </a:xfrm>
          <a:prstGeom prst="rect">
            <a:avLst/>
          </a:prstGeom>
          <a:noFill/>
          <a:ln/>
        </p:spPr>
        <p:txBody>
          <a:bodyPr wrap="square" lIns="0" tIns="0" rIns="0" bIns="0" rtlCol="0" anchor="ctr"/>
          <a:lstStyle/>
          <a:p>
            <a:pPr algn="ctr" indent="0" marL="0">
              <a:buNone/>
            </a:pPr>
            <a:r>
              <a:rPr lang="en-US" sz="2200" b="1" dirty="0">
                <a:solidFill>
                  <a:schemeClr val="accent1"/>
                </a:solidFill>
              </a:rPr>
              <a:t>p</a:t>
            </a:r>
            <a:endParaRPr lang="en-US" sz="2200" dirty="0"/>
          </a:p>
        </p:txBody>
      </p:sp>
      <p:sp>
        <p:nvSpPr>
          <p:cNvPr id="7" name="Kart"/>
          <p:cNvSpPr/>
          <p:nvPr/>
        </p:nvSpPr>
        <p:spPr>
          <a:xfrm>
            <a:off x="548640" y="2011680"/>
            <a:ext cx="11064240" cy="1143000"/>
          </a:xfrm>
          <a:prstGeom prst="roundRect">
            <a:avLst>
              <a:gd name="adj" fmla="val 9600"/>
            </a:avLst>
          </a:prstGeom>
          <a:solidFill>
            <a:schemeClr val="bg2"/>
          </a:solidFill>
          <a:ln w="12700">
            <a:solidFill>
              <a:schemeClr val="bg2"/>
            </a:solidFill>
            <a:prstDash val="solid"/>
          </a:ln>
        </p:spPr>
      </p:sp>
      <p:sp>
        <p:nvSpPr>
          <p:cNvPr id="8" name="Text 5"/>
          <p:cNvSpPr txBox="1"/>
          <p:nvPr/>
        </p:nvSpPr>
        <p:spPr>
          <a:xfrm>
            <a:off x="822960" y="2011680"/>
            <a:ext cx="3749040" cy="1143000"/>
          </a:xfrm>
          <a:prstGeom prst="rect">
            <a:avLst/>
          </a:prstGeom>
          <a:noFill/>
          <a:ln/>
        </p:spPr>
        <p:txBody>
          <a:bodyPr wrap="square" lIns="0" tIns="0" rIns="0" bIns="0" rtlCol="0" anchor="ctr"/>
          <a:lstStyle/>
          <a:p>
            <a:pPr indent="0" marL="0">
              <a:buNone/>
            </a:pPr>
            <a:r>
              <a:rPr lang="en-US" sz="2600" b="1" dirty="0">
                <a:solidFill>
                  <a:schemeClr val="accent1"/>
                </a:solidFill>
              </a:rPr>
              <a:t>Görüşme sayısı</a:t>
            </a:r>
            <a:endParaRPr lang="en-US" sz="2600" dirty="0"/>
          </a:p>
        </p:txBody>
      </p:sp>
      <p:sp>
        <p:nvSpPr>
          <p:cNvPr id="9" name="Text 6"/>
          <p:cNvSpPr txBox="1"/>
          <p:nvPr/>
        </p:nvSpPr>
        <p:spPr>
          <a:xfrm>
            <a:off x="4663440" y="2011680"/>
            <a:ext cx="2377440" cy="1143000"/>
          </a:xfrm>
          <a:prstGeom prst="rect">
            <a:avLst/>
          </a:prstGeom>
          <a:noFill/>
          <a:ln/>
        </p:spPr>
        <p:txBody>
          <a:bodyPr wrap="square" lIns="0" tIns="0" rIns="0" bIns="0" rtlCol="0" anchor="ctr"/>
          <a:lstStyle/>
          <a:p>
            <a:pPr algn="ctr" indent="0" marL="0">
              <a:buNone/>
            </a:pPr>
            <a:r>
              <a:rPr lang="en-US" sz="3600" dirty="0">
                <a:solidFill>
                  <a:schemeClr val="accent3"/>
                </a:solidFill>
              </a:rPr>
              <a:t>1,96</a:t>
            </a:r>
            <a:endParaRPr lang="en-US" sz="3600" dirty="0"/>
          </a:p>
        </p:txBody>
      </p:sp>
      <p:sp>
        <p:nvSpPr>
          <p:cNvPr id="10" name="Text 7"/>
          <p:cNvSpPr txBox="1"/>
          <p:nvPr/>
        </p:nvSpPr>
        <p:spPr>
          <a:xfrm>
            <a:off x="7223760" y="2011680"/>
            <a:ext cx="2377440" cy="1143000"/>
          </a:xfrm>
          <a:prstGeom prst="rect">
            <a:avLst/>
          </a:prstGeom>
          <a:noFill/>
          <a:ln/>
        </p:spPr>
        <p:txBody>
          <a:bodyPr wrap="square" lIns="0" tIns="0" rIns="0" bIns="0" rtlCol="0" anchor="ctr"/>
          <a:lstStyle/>
          <a:p>
            <a:pPr algn="ctr" indent="0" marL="0">
              <a:buNone/>
            </a:pPr>
            <a:r>
              <a:rPr lang="en-US" sz="3600" b="1" dirty="0">
                <a:solidFill>
                  <a:schemeClr val="accent2"/>
                </a:solidFill>
              </a:rPr>
              <a:t>2,83</a:t>
            </a:r>
            <a:endParaRPr lang="en-US" sz="3600" dirty="0"/>
          </a:p>
        </p:txBody>
      </p:sp>
      <p:sp>
        <p:nvSpPr>
          <p:cNvPr id="11" name="Text 8"/>
          <p:cNvSpPr txBox="1"/>
          <p:nvPr/>
        </p:nvSpPr>
        <p:spPr>
          <a:xfrm>
            <a:off x="9784080" y="2011680"/>
            <a:ext cx="1828800" cy="1143000"/>
          </a:xfrm>
          <a:prstGeom prst="rect">
            <a:avLst/>
          </a:prstGeom>
          <a:noFill/>
          <a:ln/>
        </p:spPr>
        <p:txBody>
          <a:bodyPr wrap="square" lIns="0" tIns="0" rIns="0" bIns="0" rtlCol="0" anchor="ctr"/>
          <a:lstStyle/>
          <a:p>
            <a:pPr algn="ctr" indent="0" marL="0">
              <a:buNone/>
            </a:pPr>
            <a:r>
              <a:rPr lang="en-US" sz="2600" b="1" dirty="0">
                <a:solidFill>
                  <a:schemeClr val="accent1"/>
                </a:solidFill>
              </a:rPr>
              <a:t>&lt;0,001</a:t>
            </a:r>
            <a:endParaRPr lang="en-US" sz="2600" dirty="0"/>
          </a:p>
        </p:txBody>
      </p:sp>
      <p:sp>
        <p:nvSpPr>
          <p:cNvPr id="12" name="Kart"/>
          <p:cNvSpPr/>
          <p:nvPr/>
        </p:nvSpPr>
        <p:spPr>
          <a:xfrm>
            <a:off x="548640" y="3337560"/>
            <a:ext cx="11064240" cy="1143000"/>
          </a:xfrm>
          <a:prstGeom prst="roundRect">
            <a:avLst>
              <a:gd name="adj" fmla="val 9600"/>
            </a:avLst>
          </a:prstGeom>
          <a:solidFill>
            <a:schemeClr val="bg2"/>
          </a:solidFill>
          <a:ln w="12700">
            <a:solidFill>
              <a:schemeClr val="bg2"/>
            </a:solidFill>
            <a:prstDash val="solid"/>
          </a:ln>
        </p:spPr>
      </p:sp>
      <p:sp>
        <p:nvSpPr>
          <p:cNvPr id="13" name="Text 10"/>
          <p:cNvSpPr txBox="1"/>
          <p:nvPr/>
        </p:nvSpPr>
        <p:spPr>
          <a:xfrm>
            <a:off x="822960" y="3337560"/>
            <a:ext cx="3749040" cy="1143000"/>
          </a:xfrm>
          <a:prstGeom prst="rect">
            <a:avLst/>
          </a:prstGeom>
          <a:noFill/>
          <a:ln/>
        </p:spPr>
        <p:txBody>
          <a:bodyPr wrap="square" lIns="0" tIns="0" rIns="0" bIns="0" rtlCol="0" anchor="ctr"/>
          <a:lstStyle/>
          <a:p>
            <a:pPr indent="0" marL="0">
              <a:buNone/>
            </a:pPr>
            <a:r>
              <a:rPr lang="en-US" sz="2600" b="1" dirty="0">
                <a:solidFill>
                  <a:schemeClr val="accent1"/>
                </a:solidFill>
              </a:rPr>
              <a:t>FNBT puanı</a:t>
            </a:r>
            <a:endParaRPr lang="en-US" sz="2600" dirty="0"/>
          </a:p>
        </p:txBody>
      </p:sp>
      <p:sp>
        <p:nvSpPr>
          <p:cNvPr id="14" name="Text 11"/>
          <p:cNvSpPr txBox="1"/>
          <p:nvPr/>
        </p:nvSpPr>
        <p:spPr>
          <a:xfrm>
            <a:off x="4663440" y="3337560"/>
            <a:ext cx="2377440" cy="1143000"/>
          </a:xfrm>
          <a:prstGeom prst="rect">
            <a:avLst/>
          </a:prstGeom>
          <a:noFill/>
          <a:ln/>
        </p:spPr>
        <p:txBody>
          <a:bodyPr wrap="square" lIns="0" tIns="0" rIns="0" bIns="0" rtlCol="0" anchor="ctr"/>
          <a:lstStyle/>
          <a:p>
            <a:pPr algn="ctr" indent="0" marL="0">
              <a:buNone/>
            </a:pPr>
            <a:r>
              <a:rPr lang="en-US" sz="3600" dirty="0">
                <a:solidFill>
                  <a:schemeClr val="accent3"/>
                </a:solidFill>
              </a:rPr>
              <a:t>5,85</a:t>
            </a:r>
            <a:endParaRPr lang="en-US" sz="3600" dirty="0"/>
          </a:p>
        </p:txBody>
      </p:sp>
      <p:sp>
        <p:nvSpPr>
          <p:cNvPr id="15" name="Text 12"/>
          <p:cNvSpPr txBox="1"/>
          <p:nvPr/>
        </p:nvSpPr>
        <p:spPr>
          <a:xfrm>
            <a:off x="7223760" y="3337560"/>
            <a:ext cx="2377440" cy="1143000"/>
          </a:xfrm>
          <a:prstGeom prst="rect">
            <a:avLst/>
          </a:prstGeom>
          <a:noFill/>
          <a:ln/>
        </p:spPr>
        <p:txBody>
          <a:bodyPr wrap="square" lIns="0" tIns="0" rIns="0" bIns="0" rtlCol="0" anchor="ctr"/>
          <a:lstStyle/>
          <a:p>
            <a:pPr algn="ctr" indent="0" marL="0">
              <a:buNone/>
            </a:pPr>
            <a:r>
              <a:rPr lang="en-US" sz="3600" b="1" dirty="0">
                <a:solidFill>
                  <a:schemeClr val="accent2"/>
                </a:solidFill>
              </a:rPr>
              <a:t>5,26</a:t>
            </a:r>
            <a:endParaRPr lang="en-US" sz="3600" dirty="0"/>
          </a:p>
        </p:txBody>
      </p:sp>
      <p:sp>
        <p:nvSpPr>
          <p:cNvPr id="16" name="Text 13"/>
          <p:cNvSpPr txBox="1"/>
          <p:nvPr/>
        </p:nvSpPr>
        <p:spPr>
          <a:xfrm>
            <a:off x="9784080" y="3337560"/>
            <a:ext cx="1828800" cy="1143000"/>
          </a:xfrm>
          <a:prstGeom prst="rect">
            <a:avLst/>
          </a:prstGeom>
          <a:noFill/>
          <a:ln/>
        </p:spPr>
        <p:txBody>
          <a:bodyPr wrap="square" lIns="0" tIns="0" rIns="0" bIns="0" rtlCol="0" anchor="ctr"/>
          <a:lstStyle/>
          <a:p>
            <a:pPr algn="ctr" indent="0" marL="0">
              <a:buNone/>
            </a:pPr>
            <a:r>
              <a:rPr lang="en-US" sz="2600" b="1" dirty="0">
                <a:solidFill>
                  <a:schemeClr val="accent1"/>
                </a:solidFill>
              </a:rPr>
              <a:t>0,024</a:t>
            </a:r>
            <a:endParaRPr lang="en-US" sz="2600" dirty="0"/>
          </a:p>
        </p:txBody>
      </p:sp>
      <p:sp>
        <p:nvSpPr>
          <p:cNvPr id="17" name="Kart"/>
          <p:cNvSpPr/>
          <p:nvPr/>
        </p:nvSpPr>
        <p:spPr>
          <a:xfrm>
            <a:off x="548640" y="4663440"/>
            <a:ext cx="11064240" cy="1143000"/>
          </a:xfrm>
          <a:prstGeom prst="roundRect">
            <a:avLst>
              <a:gd name="adj" fmla="val 9600"/>
            </a:avLst>
          </a:prstGeom>
          <a:solidFill>
            <a:schemeClr val="bg2"/>
          </a:solidFill>
          <a:ln w="12700">
            <a:solidFill>
              <a:schemeClr val="bg2"/>
            </a:solidFill>
            <a:prstDash val="solid"/>
          </a:ln>
        </p:spPr>
      </p:sp>
      <p:sp>
        <p:nvSpPr>
          <p:cNvPr id="18" name="Text 15"/>
          <p:cNvSpPr txBox="1"/>
          <p:nvPr/>
        </p:nvSpPr>
        <p:spPr>
          <a:xfrm>
            <a:off x="822960" y="4663440"/>
            <a:ext cx="3749040" cy="1143000"/>
          </a:xfrm>
          <a:prstGeom prst="rect">
            <a:avLst/>
          </a:prstGeom>
          <a:noFill/>
          <a:ln/>
        </p:spPr>
        <p:txBody>
          <a:bodyPr wrap="square" lIns="0" tIns="0" rIns="0" bIns="0" rtlCol="0" anchor="ctr"/>
          <a:lstStyle/>
          <a:p>
            <a:pPr indent="0" marL="0">
              <a:buNone/>
            </a:pPr>
            <a:r>
              <a:rPr lang="en-US" sz="2600" b="1" dirty="0">
                <a:solidFill>
                  <a:schemeClr val="accent1"/>
                </a:solidFill>
              </a:rPr>
              <a:t>Paket-yıl</a:t>
            </a:r>
            <a:endParaRPr lang="en-US" sz="2600" dirty="0"/>
          </a:p>
        </p:txBody>
      </p:sp>
      <p:sp>
        <p:nvSpPr>
          <p:cNvPr id="19" name="Text 16"/>
          <p:cNvSpPr txBox="1"/>
          <p:nvPr/>
        </p:nvSpPr>
        <p:spPr>
          <a:xfrm>
            <a:off x="4663440" y="4663440"/>
            <a:ext cx="2377440" cy="1143000"/>
          </a:xfrm>
          <a:prstGeom prst="rect">
            <a:avLst/>
          </a:prstGeom>
          <a:noFill/>
          <a:ln/>
        </p:spPr>
        <p:txBody>
          <a:bodyPr wrap="square" lIns="0" tIns="0" rIns="0" bIns="0" rtlCol="0" anchor="ctr"/>
          <a:lstStyle/>
          <a:p>
            <a:pPr algn="ctr" indent="0" marL="0">
              <a:buNone/>
            </a:pPr>
            <a:r>
              <a:rPr lang="en-US" sz="3600" dirty="0">
                <a:solidFill>
                  <a:schemeClr val="accent3"/>
                </a:solidFill>
              </a:rPr>
              <a:t>28,12</a:t>
            </a:r>
            <a:endParaRPr lang="en-US" sz="3600" dirty="0"/>
          </a:p>
        </p:txBody>
      </p:sp>
      <p:sp>
        <p:nvSpPr>
          <p:cNvPr id="20" name="Text 17"/>
          <p:cNvSpPr txBox="1"/>
          <p:nvPr/>
        </p:nvSpPr>
        <p:spPr>
          <a:xfrm>
            <a:off x="7223760" y="4663440"/>
            <a:ext cx="2377440" cy="1143000"/>
          </a:xfrm>
          <a:prstGeom prst="rect">
            <a:avLst/>
          </a:prstGeom>
          <a:noFill/>
          <a:ln/>
        </p:spPr>
        <p:txBody>
          <a:bodyPr wrap="square" lIns="0" tIns="0" rIns="0" bIns="0" rtlCol="0" anchor="ctr"/>
          <a:lstStyle/>
          <a:p>
            <a:pPr algn="ctr" indent="0" marL="0">
              <a:buNone/>
            </a:pPr>
            <a:r>
              <a:rPr lang="en-US" sz="3600" b="1" dirty="0">
                <a:solidFill>
                  <a:schemeClr val="accent2"/>
                </a:solidFill>
              </a:rPr>
              <a:t>26,66</a:t>
            </a:r>
            <a:endParaRPr lang="en-US" sz="3600" dirty="0"/>
          </a:p>
        </p:txBody>
      </p:sp>
      <p:sp>
        <p:nvSpPr>
          <p:cNvPr id="21" name="Text 18"/>
          <p:cNvSpPr txBox="1"/>
          <p:nvPr/>
        </p:nvSpPr>
        <p:spPr>
          <a:xfrm>
            <a:off x="9784080" y="4663440"/>
            <a:ext cx="1828800" cy="1143000"/>
          </a:xfrm>
          <a:prstGeom prst="rect">
            <a:avLst/>
          </a:prstGeom>
          <a:noFill/>
          <a:ln/>
        </p:spPr>
        <p:txBody>
          <a:bodyPr wrap="square" lIns="0" tIns="0" rIns="0" bIns="0" rtlCol="0" anchor="ctr"/>
          <a:lstStyle/>
          <a:p>
            <a:pPr algn="ctr" indent="0" marL="0">
              <a:buNone/>
            </a:pPr>
            <a:r>
              <a:rPr lang="en-US" sz="2600" dirty="0">
                <a:solidFill>
                  <a:schemeClr val="accent3"/>
                </a:solidFill>
              </a:rPr>
              <a:t>0,550</a:t>
            </a:r>
            <a:endParaRPr lang="en-US" sz="2600" dirty="0"/>
          </a:p>
        </p:txBody>
      </p:sp>
      <p:sp>
        <p:nvSpPr>
          <p:cNvPr id="22" name="Text 19"/>
          <p:cNvSpPr txBox="1"/>
          <p:nvPr/>
        </p:nvSpPr>
        <p:spPr>
          <a:xfrm>
            <a:off x="548640" y="5852160"/>
            <a:ext cx="11064240" cy="411480"/>
          </a:xfrm>
          <a:prstGeom prst="rect">
            <a:avLst/>
          </a:prstGeom>
          <a:noFill/>
          <a:ln/>
        </p:spPr>
        <p:txBody>
          <a:bodyPr wrap="square" lIns="0" tIns="0" rIns="0" bIns="0" rtlCol="0" anchor="ctr"/>
          <a:lstStyle/>
          <a:p>
            <a:pPr indent="0" marL="0">
              <a:buNone/>
            </a:pPr>
            <a:r>
              <a:rPr lang="en-US" sz="1600" i="1" dirty="0">
                <a:solidFill>
                  <a:schemeClr val="accent3"/>
                </a:solidFill>
              </a:rPr>
              <a:t>Ortalama değerler; Mann–Whitney U testi. Tabloda p değerleri “24” ve “550” olarak basılmıştır.</a:t>
            </a:r>
            <a:endParaRPr lang="en-US" sz="1600" dirty="0"/>
          </a:p>
        </p:txBody>
      </p:sp>
      <p:sp>
        <p:nvSpPr>
          <p:cNvPr id="23" name="Kaynak"/>
          <p:cNvSpPr txBox="1"/>
          <p:nvPr/>
        </p:nvSpPr>
        <p:spPr>
          <a:xfrm>
            <a:off x="548640" y="6382512"/>
            <a:ext cx="10424160" cy="292608"/>
          </a:xfrm>
          <a:prstGeom prst="rect">
            <a:avLst/>
          </a:prstGeom>
          <a:noFill/>
          <a:ln/>
        </p:spPr>
        <p:txBody>
          <a:bodyPr wrap="square" lIns="0" tIns="0" rIns="0" bIns="0" rtlCol="0" anchor="ctr"/>
          <a:lstStyle/>
          <a:p>
            <a:pPr indent="0" marL="0">
              <a:buNone/>
            </a:pPr>
            <a:r>
              <a:rPr lang="en-US" sz="1200" i="1" dirty="0">
                <a:solidFill>
                  <a:schemeClr val="accent3"/>
                </a:solidFill>
              </a:rPr>
              <a:t>Kaynak: Cenberlitaş E, Gökçe A, Öztürk O. Turk J Fam Pract. 2026;30(2):97-106. Tablo 4.</a:t>
            </a:r>
            <a:endParaRPr lang="en-US" sz="1200" dirty="0"/>
          </a:p>
        </p:txBody>
      </p:sp>
      <p:sp>
        <p:nvSpPr>
          <p:cNvPr id="25" name="Slide Number Placeholder 0"/>
          <p:cNvSpPr>
            <a:spLocks noGrp="1"/>
          </p:cNvSpPr>
          <p:nvPr>
            <p:ph type="sldNum" sz="quarter" idx="4294967295"/>
          </p:nvPr>
        </p:nvSpPr>
        <p:spPr>
          <a:xfrm>
            <a:off x="11201400" y="6382512"/>
            <a:ext cx="548640" cy="292608"/>
          </a:xfrm>
          <a:prstGeom prst="rect">
            <a:avLst/>
          </a:prstGeom>
          <a:extLst>
            <a:ext uri="{C572A759-6A51-4108-AA02-DFA0A04FC94B}">
              <ma14:wrappingTextBoxFlag xmlns:ma14="http://schemas.microsoft.com/office/mac/drawingml/2011/main" val="0"/>
            </a:ext>
          </a:extLst>
        </p:spPr>
        <p:txBody>
          <a:bodyPr/>
          <a:lstStyle>
            <a:lvl1pPr>
              <a:defRPr sz="1400">
                <a:solidFill>
                  <a:srgbClr val="7A8C94"/>
                </a:solidFill>
              </a:defRPr>
            </a:lvl1pPr>
          </a:lstStyle>
          <a:p>
            <a:pPr algn="r"/>
            <a:fld id="{F7021451-1387-4CA6-816F-3879F97B5CBC}" type="slidenum">
              <a:rPr b="0" lang="en-US"/>
              <a:t>17</a:t>
            </a:fld>
            <a:endParaRPr lang="en-US"/>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spTree>
      <p:nvGrpSpPr>
        <p:cNvPr id="1" name=""/>
        <p:cNvGrpSpPr/>
        <p:nvPr/>
      </p:nvGrpSpPr>
      <p:grpSpPr>
        <a:xfrm>
          <a:off x="0" y="0"/>
          <a:ext cx="0" cy="0"/>
          <a:chOff x="0" y="0"/>
          <a:chExt cx="0" cy="0"/>
        </a:xfrm>
      </p:grpSpPr>
      <p:sp>
        <p:nvSpPr>
          <p:cNvPr id="3" name="Text 0"/>
          <p:cNvSpPr/>
          <p:nvPr>
            <p:ph idx="100" type="title" hasCustomPrompt="1"/>
          </p:nvPr>
        </p:nvSpPr>
        <p:spPr>
          <a:xfrm>
            <a:off x="548640" y="320040"/>
            <a:ext cx="10607040" cy="868680"/>
          </a:xfrm>
          <a:prstGeom prst="rect">
            <a:avLst/>
          </a:prstGeom>
          <a:noFill/>
          <a:ln/>
        </p:spPr>
        <p:txBody>
          <a:bodyPr wrap="square" lIns="0" tIns="0" rIns="0" bIns="0" rtlCol="0" anchor="ctr"/>
          <a:lstStyle/>
          <a:p>
            <a:pPr algn="l" indent="0" marL="0">
              <a:buNone/>
            </a:pPr>
            <a:r>
              <a:rPr lang="en-US" sz="3600" b="1" dirty="0">
                <a:solidFill>
                  <a:schemeClr val="accent1"/>
                </a:solidFill>
              </a:rPr>
              <a:t>Bağımsız belirleyiciler: lojistik regresyon</a:t>
            </a:r>
            <a:endParaRPr lang="en-US" sz="3600" dirty="0"/>
          </a:p>
        </p:txBody>
      </p:sp>
      <p:sp>
        <p:nvSpPr>
          <p:cNvPr id="4" name="Görsel çerçeve"/>
          <p:cNvSpPr/>
          <p:nvPr/>
        </p:nvSpPr>
        <p:spPr>
          <a:xfrm>
            <a:off x="548640" y="1325880"/>
            <a:ext cx="7680357" cy="4800600"/>
          </a:xfrm>
          <a:prstGeom prst="rect">
            <a:avLst/>
          </a:prstGeom>
          <a:solidFill>
            <a:schemeClr val="bg1"/>
          </a:solidFill>
          <a:ln w="12700">
            <a:solidFill>
              <a:srgbClr val="C9DCDF"/>
            </a:solidFill>
            <a:prstDash val="solid"/>
          </a:ln>
        </p:spPr>
      </p:sp>
      <p:pic>
        <p:nvPicPr>
          <p:cNvPr id="5" name="Tablo 6" descr="Makalenin Tablo 6'sı: lojistik regresyon sonuçları">    </p:cNvPr>
          <p:cNvPicPr>
            <a:picLocks noChangeAspect="1"/>
          </p:cNvPicPr>
          <p:nvPr/>
        </p:nvPicPr>
        <p:blipFill>
          <a:blip r:embed="rId1"/>
          <a:stretch>
            <a:fillRect/>
          </a:stretch>
        </p:blipFill>
        <p:spPr>
          <a:xfrm>
            <a:off x="548640" y="1325880"/>
            <a:ext cx="7680357" cy="4800600"/>
          </a:xfrm>
          <a:prstGeom prst="rect">
            <a:avLst/>
          </a:prstGeom>
        </p:spPr>
      </p:pic>
      <p:sp>
        <p:nvSpPr>
          <p:cNvPr id="6" name="Kart"/>
          <p:cNvSpPr/>
          <p:nvPr/>
        </p:nvSpPr>
        <p:spPr>
          <a:xfrm>
            <a:off x="8549037" y="1325880"/>
            <a:ext cx="3091275" cy="4800600"/>
          </a:xfrm>
          <a:prstGeom prst="roundRect">
            <a:avLst>
              <a:gd name="adj" fmla="val 3550"/>
            </a:avLst>
          </a:prstGeom>
          <a:solidFill>
            <a:schemeClr val="accent1"/>
          </a:solidFill>
          <a:ln w="12700">
            <a:solidFill>
              <a:schemeClr val="accent1"/>
            </a:solidFill>
            <a:prstDash val="solid"/>
          </a:ln>
        </p:spPr>
      </p:sp>
      <p:sp>
        <p:nvSpPr>
          <p:cNvPr id="7" name="Text 3"/>
          <p:cNvSpPr txBox="1"/>
          <p:nvPr/>
        </p:nvSpPr>
        <p:spPr>
          <a:xfrm>
            <a:off x="8777637" y="1508760"/>
            <a:ext cx="2634075" cy="4434840"/>
          </a:xfrm>
          <a:prstGeom prst="rect">
            <a:avLst/>
          </a:prstGeom>
          <a:noFill/>
          <a:ln/>
        </p:spPr>
        <p:txBody>
          <a:bodyPr wrap="square" lIns="0" tIns="0" rIns="0" bIns="0" rtlCol="0" anchor="t"/>
          <a:lstStyle/>
          <a:p>
            <a:pPr indent="0" marL="0">
              <a:buNone/>
            </a:pPr>
            <a:r>
              <a:rPr lang="en-US" sz="2000" dirty="0">
                <a:solidFill>
                  <a:schemeClr val="bg1"/>
                </a:solidFill>
              </a:rPr>
              <a:t>Bonferroni eşiği</a:t>
            </a:r>
            <a:endParaRPr lang="en-US" sz="2000" dirty="0"/>
          </a:p>
          <a:p>
            <a:pPr indent="0" marL="0">
              <a:buNone/>
            </a:pPr>
            <a:r>
              <a:rPr lang="en-US" sz="3200" b="1" dirty="0">
                <a:solidFill>
                  <a:schemeClr val="bg1"/>
                </a:solidFill>
              </a:rPr>
              <a:t>p &lt; 0,003</a:t>
            </a:r>
            <a:endParaRPr lang="en-US" sz="2000" dirty="0"/>
          </a:p>
          <a:p>
            <a:pPr indent="0" marL="0">
              <a:buNone/>
            </a:pPr>
            <a:r>
              <a:rPr lang="en-US" sz="1000" dirty="0">
                <a:solidFill>
                  <a:schemeClr val="bg1"/>
                </a:solidFill>
              </a:rPr>
              <a:t> </a:t>
            </a:r>
            <a:endParaRPr lang="en-US" sz="2000" dirty="0"/>
          </a:p>
          <a:p>
            <a:pPr indent="0" marL="0">
              <a:buNone/>
            </a:pPr>
            <a:r>
              <a:rPr lang="en-US" sz="2000" b="1" dirty="0">
                <a:solidFill>
                  <a:schemeClr val="bg1"/>
                </a:solidFill>
              </a:rPr>
              <a:t>Eşiği geçen:</a:t>
            </a:r>
            <a:endParaRPr lang="en-US" sz="2000" dirty="0"/>
          </a:p>
          <a:p>
            <a:pPr indent="0" marL="0">
              <a:buNone/>
            </a:pPr>
            <a:r>
              <a:rPr lang="en-US" sz="2000" dirty="0">
                <a:solidFill>
                  <a:schemeClr val="bg1"/>
                </a:solidFill>
              </a:rPr>
              <a:t>NRT, kombine tedavi</a:t>
            </a:r>
            <a:endParaRPr lang="en-US" sz="2000" dirty="0"/>
          </a:p>
          <a:p>
            <a:pPr indent="0" marL="0">
              <a:buNone/>
            </a:pPr>
            <a:r>
              <a:rPr lang="en-US" sz="1000" dirty="0">
                <a:solidFill>
                  <a:schemeClr val="bg1"/>
                </a:solidFill>
              </a:rPr>
              <a:t> </a:t>
            </a:r>
            <a:endParaRPr lang="en-US" sz="2000" dirty="0"/>
          </a:p>
          <a:p>
            <a:pPr indent="0" marL="0">
              <a:buNone/>
            </a:pPr>
            <a:r>
              <a:rPr lang="en-US" sz="2000" b="1" dirty="0">
                <a:solidFill>
                  <a:schemeClr val="bg1"/>
                </a:solidFill>
              </a:rPr>
              <a:t>Sınırda:</a:t>
            </a:r>
            <a:endParaRPr lang="en-US" sz="2000" dirty="0"/>
          </a:p>
          <a:p>
            <a:pPr indent="0" marL="0">
              <a:buNone/>
            </a:pPr>
            <a:r>
              <a:rPr lang="en-US" sz="2000" dirty="0">
                <a:solidFill>
                  <a:schemeClr val="bg1"/>
                </a:solidFill>
              </a:rPr>
              <a:t>hanede sigara içen olmaması</a:t>
            </a:r>
            <a:endParaRPr lang="en-US" sz="2000" dirty="0"/>
          </a:p>
        </p:txBody>
      </p:sp>
      <p:sp>
        <p:nvSpPr>
          <p:cNvPr id="8" name="Kaynak"/>
          <p:cNvSpPr txBox="1"/>
          <p:nvPr/>
        </p:nvSpPr>
        <p:spPr>
          <a:xfrm>
            <a:off x="548640" y="6382512"/>
            <a:ext cx="10424160" cy="292608"/>
          </a:xfrm>
          <a:prstGeom prst="rect">
            <a:avLst/>
          </a:prstGeom>
          <a:noFill/>
          <a:ln/>
        </p:spPr>
        <p:txBody>
          <a:bodyPr wrap="square" lIns="0" tIns="0" rIns="0" bIns="0" rtlCol="0" anchor="ctr"/>
          <a:lstStyle/>
          <a:p>
            <a:pPr indent="0" marL="0">
              <a:buNone/>
            </a:pPr>
            <a:r>
              <a:rPr lang="en-US" sz="1200" i="1" dirty="0">
                <a:solidFill>
                  <a:schemeClr val="accent3"/>
                </a:solidFill>
              </a:rPr>
              <a:t>Görsel: Cenberlitaş E, Gökçe A, Öztürk O. Turk J Fam Pract. 2026;30(2):97-106, Tablo 6. Referans: bupropion monoterapisi.</a:t>
            </a:r>
            <a:endParaRPr lang="en-US" sz="1200" dirty="0"/>
          </a:p>
        </p:txBody>
      </p:sp>
      <p:sp>
        <p:nvSpPr>
          <p:cNvPr id="25" name="Slide Number Placeholder 0"/>
          <p:cNvSpPr>
            <a:spLocks noGrp="1"/>
          </p:cNvSpPr>
          <p:nvPr>
            <p:ph type="sldNum" sz="quarter" idx="4294967295"/>
          </p:nvPr>
        </p:nvSpPr>
        <p:spPr>
          <a:xfrm>
            <a:off x="11201400" y="6382512"/>
            <a:ext cx="548640" cy="292608"/>
          </a:xfrm>
          <a:prstGeom prst="rect">
            <a:avLst/>
          </a:prstGeom>
          <a:extLst>
            <a:ext uri="{C572A759-6A51-4108-AA02-DFA0A04FC94B}">
              <ma14:wrappingTextBoxFlag xmlns:ma14="http://schemas.microsoft.com/office/mac/drawingml/2011/main" val="0"/>
            </a:ext>
          </a:extLst>
        </p:spPr>
        <p:txBody>
          <a:bodyPr/>
          <a:lstStyle>
            <a:lvl1pPr>
              <a:defRPr sz="1400">
                <a:solidFill>
                  <a:srgbClr val="7A8C94"/>
                </a:solidFill>
              </a:defRPr>
            </a:lvl1pPr>
          </a:lstStyle>
          <a:p>
            <a:pPr algn="r"/>
            <a:fld id="{F7021451-1387-4CA6-816F-3879F97B5CBC}" type="slidenum">
              <a:rPr b="0" lang="en-US"/>
              <a:t>18</a:t>
            </a:fld>
            <a:endParaRPr lang="en-US"/>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spTree>
      <p:nvGrpSpPr>
        <p:cNvPr id="1" name=""/>
        <p:cNvGrpSpPr/>
        <p:nvPr/>
      </p:nvGrpSpPr>
      <p:grpSpPr>
        <a:xfrm>
          <a:off x="0" y="0"/>
          <a:ext cx="0" cy="0"/>
          <a:chOff x="0" y="0"/>
          <a:chExt cx="0" cy="0"/>
        </a:xfrm>
      </p:grpSpPr>
      <p:sp>
        <p:nvSpPr>
          <p:cNvPr id="3" name="Text 0"/>
          <p:cNvSpPr/>
          <p:nvPr>
            <p:ph idx="100" type="title" hasCustomPrompt="1"/>
          </p:nvPr>
        </p:nvSpPr>
        <p:spPr>
          <a:xfrm>
            <a:off x="548640" y="320040"/>
            <a:ext cx="10607040" cy="868680"/>
          </a:xfrm>
          <a:prstGeom prst="rect">
            <a:avLst/>
          </a:prstGeom>
          <a:noFill/>
          <a:ln/>
        </p:spPr>
        <p:txBody>
          <a:bodyPr wrap="square" lIns="0" tIns="0" rIns="0" bIns="0" rtlCol="0" anchor="ctr"/>
          <a:lstStyle/>
          <a:p>
            <a:pPr algn="l" indent="0" marL="0">
              <a:buNone/>
            </a:pPr>
            <a:r>
              <a:rPr lang="en-US" sz="3600" b="1" dirty="0">
                <a:solidFill>
                  <a:schemeClr val="accent1"/>
                </a:solidFill>
              </a:rPr>
              <a:t>Odds oranı, risk oranı değildir</a:t>
            </a:r>
            <a:endParaRPr lang="en-US" sz="3600" dirty="0"/>
          </a:p>
        </p:txBody>
      </p:sp>
      <p:sp>
        <p:nvSpPr>
          <p:cNvPr id="4" name="Text 1"/>
          <p:cNvSpPr txBox="1"/>
          <p:nvPr/>
        </p:nvSpPr>
        <p:spPr>
          <a:xfrm>
            <a:off x="548640" y="1325880"/>
            <a:ext cx="10972800" cy="457200"/>
          </a:xfrm>
          <a:prstGeom prst="rect">
            <a:avLst/>
          </a:prstGeom>
          <a:noFill/>
          <a:ln/>
        </p:spPr>
        <p:txBody>
          <a:bodyPr wrap="square" lIns="0" tIns="0" rIns="0" bIns="0" rtlCol="0" anchor="ctr"/>
          <a:lstStyle/>
          <a:p>
            <a:pPr indent="0" marL="0">
              <a:buNone/>
            </a:pPr>
            <a:r>
              <a:rPr lang="en-US" sz="2200" b="1" dirty="0">
                <a:solidFill>
                  <a:schemeClr val="accent2"/>
                </a:solidFill>
              </a:rPr>
              <a:t>Kombine tedavi ve bupropion monoterapisi</a:t>
            </a:r>
            <a:endParaRPr lang="en-US" sz="2200" dirty="0"/>
          </a:p>
        </p:txBody>
      </p:sp>
      <p:graphicFrame>
        <p:nvGraphicFramePr>
          <p:cNvPr id="5" name="Bırakma oranları" descr=""/>
          <p:cNvGraphicFramePr/>
          <p:nvPr/>
        </p:nvGraphicFramePr>
        <p:xfrm>
          <a:off x="548640" y="1828800"/>
          <a:ext cx="4754880" cy="4023360"/>
        </p:xfrm>
        <a:graphic xmlns:a="http://schemas.openxmlformats.org/drawingml/2006/main">
          <a:graphicData uri="http://schemas.openxmlformats.org/drawingml/2006/chart">
            <c:chart xmlns:c="http://schemas.openxmlformats.org/drawingml/2006/chart" r:id="rId1"/>
          </a:graphicData>
        </a:graphic>
      </p:graphicFrame>
      <p:sp>
        <p:nvSpPr>
          <p:cNvPr id="6" name="Kart"/>
          <p:cNvSpPr/>
          <p:nvPr/>
        </p:nvSpPr>
        <p:spPr>
          <a:xfrm>
            <a:off x="5760720" y="1828800"/>
            <a:ext cx="2788920" cy="3108960"/>
          </a:xfrm>
          <a:prstGeom prst="roundRect">
            <a:avLst>
              <a:gd name="adj" fmla="val 3934"/>
            </a:avLst>
          </a:prstGeom>
          <a:solidFill>
            <a:schemeClr val="bg2"/>
          </a:solidFill>
          <a:ln w="12700">
            <a:solidFill>
              <a:schemeClr val="bg2"/>
            </a:solidFill>
            <a:prstDash val="solid"/>
          </a:ln>
        </p:spPr>
      </p:sp>
      <p:sp>
        <p:nvSpPr>
          <p:cNvPr id="7" name="Text 3"/>
          <p:cNvSpPr txBox="1"/>
          <p:nvPr/>
        </p:nvSpPr>
        <p:spPr>
          <a:xfrm>
            <a:off x="5760720" y="1828800"/>
            <a:ext cx="2788920" cy="3108960"/>
          </a:xfrm>
          <a:prstGeom prst="rect">
            <a:avLst/>
          </a:prstGeom>
          <a:noFill/>
          <a:ln/>
        </p:spPr>
        <p:txBody>
          <a:bodyPr wrap="square" lIns="0" tIns="0" rIns="0" bIns="0" rtlCol="0" anchor="ctr"/>
          <a:lstStyle/>
          <a:p>
            <a:pPr algn="ctr" indent="0" marL="0">
              <a:buNone/>
            </a:pPr>
            <a:r>
              <a:rPr lang="en-US" sz="2200" b="1" dirty="0">
                <a:solidFill>
                  <a:schemeClr val="accent1"/>
                </a:solidFill>
              </a:rPr>
              <a:t>Risk oranı</a:t>
            </a:r>
            <a:endParaRPr lang="en-US" sz="2200" dirty="0"/>
          </a:p>
          <a:p>
            <a:pPr algn="ctr" indent="0" marL="0">
              <a:buNone/>
            </a:pPr>
            <a:r>
              <a:rPr lang="en-US" sz="6000" b="1" dirty="0">
                <a:solidFill>
                  <a:schemeClr val="accent2"/>
                </a:solidFill>
              </a:rPr>
              <a:t>2,7</a:t>
            </a:r>
            <a:endParaRPr lang="en-US" sz="2200" dirty="0"/>
          </a:p>
          <a:p>
            <a:pPr algn="ctr" indent="0" marL="0">
              <a:buNone/>
            </a:pPr>
            <a:r>
              <a:rPr lang="en-US" sz="1800" dirty="0">
                <a:solidFill>
                  <a:schemeClr val="accent1"/>
                </a:solidFill>
              </a:rPr>
              <a:t>%44,0 ÷ %16,5</a:t>
            </a:r>
            <a:endParaRPr lang="en-US" sz="2200" dirty="0"/>
          </a:p>
        </p:txBody>
      </p:sp>
      <p:sp>
        <p:nvSpPr>
          <p:cNvPr id="8" name="Kart"/>
          <p:cNvSpPr/>
          <p:nvPr/>
        </p:nvSpPr>
        <p:spPr>
          <a:xfrm>
            <a:off x="8823960" y="1828800"/>
            <a:ext cx="2788920" cy="3108960"/>
          </a:xfrm>
          <a:prstGeom prst="roundRect">
            <a:avLst>
              <a:gd name="adj" fmla="val 3934"/>
            </a:avLst>
          </a:prstGeom>
          <a:solidFill>
            <a:schemeClr val="accent1"/>
          </a:solidFill>
          <a:ln w="12700">
            <a:solidFill>
              <a:schemeClr val="accent1"/>
            </a:solidFill>
            <a:prstDash val="solid"/>
          </a:ln>
        </p:spPr>
      </p:sp>
      <p:sp>
        <p:nvSpPr>
          <p:cNvPr id="9" name="Text 5"/>
          <p:cNvSpPr txBox="1"/>
          <p:nvPr/>
        </p:nvSpPr>
        <p:spPr>
          <a:xfrm>
            <a:off x="8823960" y="1828800"/>
            <a:ext cx="2788920" cy="3108960"/>
          </a:xfrm>
          <a:prstGeom prst="rect">
            <a:avLst/>
          </a:prstGeom>
          <a:noFill/>
          <a:ln/>
        </p:spPr>
        <p:txBody>
          <a:bodyPr wrap="square" lIns="0" tIns="0" rIns="0" bIns="0" rtlCol="0" anchor="ctr"/>
          <a:lstStyle/>
          <a:p>
            <a:pPr algn="ctr" indent="0" marL="0">
              <a:buNone/>
            </a:pPr>
            <a:r>
              <a:rPr lang="en-US" sz="2200" b="1" dirty="0">
                <a:solidFill>
                  <a:schemeClr val="bg1"/>
                </a:solidFill>
              </a:rPr>
              <a:t>Odds oranı</a:t>
            </a:r>
            <a:endParaRPr lang="en-US" sz="2200" dirty="0"/>
          </a:p>
          <a:p>
            <a:pPr algn="ctr" indent="0" marL="0">
              <a:buNone/>
            </a:pPr>
            <a:r>
              <a:rPr lang="en-US" sz="6000" b="1" dirty="0">
                <a:solidFill>
                  <a:schemeClr val="bg1"/>
                </a:solidFill>
              </a:rPr>
              <a:t>4,0</a:t>
            </a:r>
            <a:endParaRPr lang="en-US" sz="2200" dirty="0"/>
          </a:p>
          <a:p>
            <a:pPr algn="ctr" indent="0" marL="0">
              <a:buNone/>
            </a:pPr>
            <a:r>
              <a:rPr lang="en-US" sz="1800" dirty="0">
                <a:solidFill>
                  <a:schemeClr val="bg1"/>
                </a:solidFill>
              </a:rPr>
              <a:t>0,78 ÷ 0,20</a:t>
            </a:r>
            <a:endParaRPr lang="en-US" sz="2200" dirty="0"/>
          </a:p>
        </p:txBody>
      </p:sp>
      <p:sp>
        <p:nvSpPr>
          <p:cNvPr id="10" name="Text 6"/>
          <p:cNvSpPr txBox="1"/>
          <p:nvPr/>
        </p:nvSpPr>
        <p:spPr>
          <a:xfrm>
            <a:off x="5760720" y="5166360"/>
            <a:ext cx="5852160" cy="731520"/>
          </a:xfrm>
          <a:prstGeom prst="rect">
            <a:avLst/>
          </a:prstGeom>
          <a:noFill/>
          <a:ln/>
        </p:spPr>
        <p:txBody>
          <a:bodyPr wrap="square" lIns="0" tIns="0" rIns="0" bIns="0" rtlCol="0" anchor="t"/>
          <a:lstStyle/>
          <a:p>
            <a:pPr indent="0" marL="0">
              <a:buNone/>
            </a:pPr>
            <a:r>
              <a:rPr lang="en-US" sz="2000" b="1" i="1" dirty="0">
                <a:solidFill>
                  <a:schemeClr val="accent1"/>
                </a:solidFill>
              </a:rPr>
              <a:t>Sık görülen sonuçlarda odds oranı etkiyi büyük göstermektedir.</a:t>
            </a:r>
            <a:endParaRPr lang="en-US" sz="2000" dirty="0"/>
          </a:p>
        </p:txBody>
      </p:sp>
      <p:sp>
        <p:nvSpPr>
          <p:cNvPr id="11" name="Kaynak"/>
          <p:cNvSpPr txBox="1"/>
          <p:nvPr/>
        </p:nvSpPr>
        <p:spPr>
          <a:xfrm>
            <a:off x="548640" y="6382512"/>
            <a:ext cx="10424160" cy="292608"/>
          </a:xfrm>
          <a:prstGeom prst="rect">
            <a:avLst/>
          </a:prstGeom>
          <a:noFill/>
          <a:ln/>
        </p:spPr>
        <p:txBody>
          <a:bodyPr wrap="square" lIns="0" tIns="0" rIns="0" bIns="0" rtlCol="0" anchor="ctr"/>
          <a:lstStyle/>
          <a:p>
            <a:pPr indent="0" marL="0">
              <a:buNone/>
            </a:pPr>
            <a:r>
              <a:rPr lang="en-US" sz="1200" i="1" dirty="0">
                <a:solidFill>
                  <a:schemeClr val="accent3"/>
                </a:solidFill>
              </a:rPr>
              <a:t>Hesaplama makalenin Tablo 5 verilerinden yapılmıştır. Kaynak: Cenberlitaş E, Gökçe A, Öztürk O. Turk J Fam Pract. 2026;30(2):97-106.</a:t>
            </a:r>
            <a:endParaRPr lang="en-US" sz="1200" dirty="0"/>
          </a:p>
        </p:txBody>
      </p:sp>
      <p:sp>
        <p:nvSpPr>
          <p:cNvPr id="25" name="Slide Number Placeholder 0"/>
          <p:cNvSpPr>
            <a:spLocks noGrp="1"/>
          </p:cNvSpPr>
          <p:nvPr>
            <p:ph type="sldNum" sz="quarter" idx="4294967295"/>
          </p:nvPr>
        </p:nvSpPr>
        <p:spPr>
          <a:xfrm>
            <a:off x="11201400" y="6382512"/>
            <a:ext cx="548640" cy="292608"/>
          </a:xfrm>
          <a:prstGeom prst="rect">
            <a:avLst/>
          </a:prstGeom>
          <a:extLst>
            <a:ext uri="{C572A759-6A51-4108-AA02-DFA0A04FC94B}">
              <ma14:wrappingTextBoxFlag xmlns:ma14="http://schemas.microsoft.com/office/mac/drawingml/2011/main" val="0"/>
            </a:ext>
          </a:extLst>
        </p:spPr>
        <p:txBody>
          <a:bodyPr/>
          <a:lstStyle>
            <a:lvl1pPr>
              <a:defRPr sz="1400">
                <a:solidFill>
                  <a:srgbClr val="7A8C94"/>
                </a:solidFill>
              </a:defRPr>
            </a:lvl1pPr>
          </a:lstStyle>
          <a:p>
            <a:pPr algn="r"/>
            <a:fld id="{F7021451-1387-4CA6-816F-3879F97B5CBC}" type="slidenum">
              <a:rPr b="0" lang="en-US"/>
              <a:t>19</a:t>
            </a:fld>
            <a:endParaRPr lang="en-US"/>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spTree>
      <p:nvGrpSpPr>
        <p:cNvPr id="1" name=""/>
        <p:cNvGrpSpPr/>
        <p:nvPr/>
      </p:nvGrpSpPr>
      <p:grpSpPr>
        <a:xfrm>
          <a:off x="0" y="0"/>
          <a:ext cx="0" cy="0"/>
          <a:chOff x="0" y="0"/>
          <a:chExt cx="0" cy="0"/>
        </a:xfrm>
      </p:grpSpPr>
      <p:sp>
        <p:nvSpPr>
          <p:cNvPr id="3" name="Text 0"/>
          <p:cNvSpPr/>
          <p:nvPr>
            <p:ph idx="100" type="title" hasCustomPrompt="1"/>
          </p:nvPr>
        </p:nvSpPr>
        <p:spPr>
          <a:xfrm>
            <a:off x="548640" y="320040"/>
            <a:ext cx="10607040" cy="868680"/>
          </a:xfrm>
          <a:prstGeom prst="rect">
            <a:avLst/>
          </a:prstGeom>
          <a:noFill/>
          <a:ln/>
        </p:spPr>
        <p:txBody>
          <a:bodyPr wrap="square" lIns="0" tIns="0" rIns="0" bIns="0" rtlCol="0" anchor="ctr"/>
          <a:lstStyle/>
          <a:p>
            <a:pPr algn="l" indent="0" marL="0">
              <a:buNone/>
            </a:pPr>
            <a:r>
              <a:rPr lang="en-US" sz="3600" b="1" dirty="0">
                <a:solidFill>
                  <a:schemeClr val="accent1"/>
                </a:solidFill>
              </a:rPr>
              <a:t>Tartışma: literatürle uyum</a:t>
            </a:r>
            <a:endParaRPr lang="en-US" sz="3600" dirty="0"/>
          </a:p>
        </p:txBody>
      </p:sp>
      <p:sp>
        <p:nvSpPr>
          <p:cNvPr id="4" name="Ikon zemini"/>
          <p:cNvSpPr/>
          <p:nvPr/>
        </p:nvSpPr>
        <p:spPr>
          <a:xfrm>
            <a:off x="548640" y="1444752"/>
            <a:ext cx="868680" cy="868680"/>
          </a:xfrm>
          <a:prstGeom prst="ellipse">
            <a:avLst/>
          </a:prstGeom>
          <a:solidFill>
            <a:schemeClr val="accent2"/>
          </a:solidFill>
          <a:ln w="12700">
            <a:solidFill>
              <a:schemeClr val="accent2"/>
            </a:solidFill>
            <a:prstDash val="solid"/>
          </a:ln>
        </p:spPr>
      </p:sp>
      <p:pic>
        <p:nvPicPr>
          <p:cNvPr id="5" name="Ikon" descr="FaPills">    </p:cNvPr>
          <p:cNvPicPr>
            <a:picLocks noChangeAspect="1"/>
          </p:cNvPicPr>
          <p:nvPr/>
        </p:nvPicPr>
        <p:blipFill>
          <a:blip r:embed="rId1"/>
          <a:stretch>
            <a:fillRect/>
          </a:stretch>
        </p:blipFill>
        <p:spPr>
          <a:xfrm>
            <a:off x="774497" y="1670609"/>
            <a:ext cx="416966" cy="416966"/>
          </a:xfrm>
          <a:prstGeom prst="rect">
            <a:avLst/>
          </a:prstGeom>
        </p:spPr>
      </p:pic>
      <p:sp>
        <p:nvSpPr>
          <p:cNvPr id="6" name="Text 2"/>
          <p:cNvSpPr txBox="1"/>
          <p:nvPr/>
        </p:nvSpPr>
        <p:spPr>
          <a:xfrm>
            <a:off x="1691640" y="1371600"/>
            <a:ext cx="3200400" cy="1005840"/>
          </a:xfrm>
          <a:prstGeom prst="rect">
            <a:avLst/>
          </a:prstGeom>
          <a:noFill/>
          <a:ln/>
        </p:spPr>
        <p:txBody>
          <a:bodyPr wrap="square" lIns="0" tIns="0" rIns="0" bIns="0" rtlCol="0" anchor="ctr"/>
          <a:lstStyle/>
          <a:p>
            <a:pPr indent="0" marL="0">
              <a:buNone/>
            </a:pPr>
            <a:r>
              <a:rPr lang="en-US" sz="2600" b="1" dirty="0">
                <a:solidFill>
                  <a:schemeClr val="accent1"/>
                </a:solidFill>
              </a:rPr>
              <a:t>Vareniklin</a:t>
            </a:r>
            <a:endParaRPr lang="en-US" sz="2600" dirty="0"/>
          </a:p>
        </p:txBody>
      </p:sp>
      <p:sp>
        <p:nvSpPr>
          <p:cNvPr id="7" name="Text 3"/>
          <p:cNvSpPr txBox="1"/>
          <p:nvPr/>
        </p:nvSpPr>
        <p:spPr>
          <a:xfrm>
            <a:off x="4937760" y="1371600"/>
            <a:ext cx="6675120" cy="1005840"/>
          </a:xfrm>
          <a:prstGeom prst="rect">
            <a:avLst/>
          </a:prstGeom>
          <a:noFill/>
          <a:ln/>
        </p:spPr>
        <p:txBody>
          <a:bodyPr wrap="square" lIns="0" tIns="0" rIns="0" bIns="0" rtlCol="0" anchor="ctr"/>
          <a:lstStyle/>
          <a:p>
            <a:pPr indent="0" marL="0">
              <a:buNone/>
            </a:pPr>
            <a:r>
              <a:rPr lang="en-US" sz="2200" dirty="0">
                <a:solidFill>
                  <a:schemeClr val="accent1"/>
                </a:solidFill>
              </a:rPr>
              <a:t>Bupropiona üstün; meta-analiz ve EAGLES ile uyumlu</a:t>
            </a:r>
            <a:pPr indent="0" marL="0">
              <a:buNone/>
            </a:pPr>
            <a:r>
              <a:rPr lang="en-US" sz="1800" dirty="0">
                <a:solidFill>
                  <a:schemeClr val="accent3"/>
                </a:solidFill>
              </a:rPr>
              <a:t>  [8, 9]</a:t>
            </a:r>
            <a:endParaRPr lang="en-US" sz="2200" dirty="0"/>
          </a:p>
        </p:txBody>
      </p:sp>
      <p:sp>
        <p:nvSpPr>
          <p:cNvPr id="8" name="Ikon zemini"/>
          <p:cNvSpPr/>
          <p:nvPr/>
        </p:nvSpPr>
        <p:spPr>
          <a:xfrm>
            <a:off x="548640" y="2651760"/>
            <a:ext cx="868680" cy="868680"/>
          </a:xfrm>
          <a:prstGeom prst="ellipse">
            <a:avLst/>
          </a:prstGeom>
          <a:solidFill>
            <a:schemeClr val="accent1"/>
          </a:solidFill>
          <a:ln w="12700">
            <a:solidFill>
              <a:schemeClr val="accent1"/>
            </a:solidFill>
            <a:prstDash val="solid"/>
          </a:ln>
        </p:spPr>
      </p:sp>
      <p:pic>
        <p:nvPicPr>
          <p:cNvPr id="9" name="Ikon" descr="FaLeaf">    </p:cNvPr>
          <p:cNvPicPr>
            <a:picLocks noChangeAspect="1"/>
          </p:cNvPicPr>
          <p:nvPr/>
        </p:nvPicPr>
        <p:blipFill>
          <a:blip r:embed="rId2"/>
          <a:stretch>
            <a:fillRect/>
          </a:stretch>
        </p:blipFill>
        <p:spPr>
          <a:xfrm>
            <a:off x="774497" y="2877617"/>
            <a:ext cx="416966" cy="416966"/>
          </a:xfrm>
          <a:prstGeom prst="rect">
            <a:avLst/>
          </a:prstGeom>
        </p:spPr>
      </p:pic>
      <p:sp>
        <p:nvSpPr>
          <p:cNvPr id="10" name="Text 5"/>
          <p:cNvSpPr txBox="1"/>
          <p:nvPr/>
        </p:nvSpPr>
        <p:spPr>
          <a:xfrm>
            <a:off x="1691640" y="2578608"/>
            <a:ext cx="3200400" cy="1005840"/>
          </a:xfrm>
          <a:prstGeom prst="rect">
            <a:avLst/>
          </a:prstGeom>
          <a:noFill/>
          <a:ln/>
        </p:spPr>
        <p:txBody>
          <a:bodyPr wrap="square" lIns="0" tIns="0" rIns="0" bIns="0" rtlCol="0" anchor="ctr"/>
          <a:lstStyle/>
          <a:p>
            <a:pPr indent="0" marL="0">
              <a:buNone/>
            </a:pPr>
            <a:r>
              <a:rPr lang="en-US" sz="2600" b="1" dirty="0">
                <a:solidFill>
                  <a:schemeClr val="accent1"/>
                </a:solidFill>
              </a:rPr>
              <a:t>Sitizin</a:t>
            </a:r>
            <a:endParaRPr lang="en-US" sz="2600" dirty="0"/>
          </a:p>
        </p:txBody>
      </p:sp>
      <p:sp>
        <p:nvSpPr>
          <p:cNvPr id="11" name="Text 6"/>
          <p:cNvSpPr txBox="1"/>
          <p:nvPr/>
        </p:nvSpPr>
        <p:spPr>
          <a:xfrm>
            <a:off x="4937760" y="2578608"/>
            <a:ext cx="6675120" cy="1005840"/>
          </a:xfrm>
          <a:prstGeom prst="rect">
            <a:avLst/>
          </a:prstGeom>
          <a:noFill/>
          <a:ln/>
        </p:spPr>
        <p:txBody>
          <a:bodyPr wrap="square" lIns="0" tIns="0" rIns="0" bIns="0" rtlCol="0" anchor="ctr"/>
          <a:lstStyle/>
          <a:p>
            <a:pPr indent="0" marL="0">
              <a:buNone/>
            </a:pPr>
            <a:r>
              <a:rPr lang="en-US" sz="2200" dirty="0">
                <a:solidFill>
                  <a:schemeClr val="accent1"/>
                </a:solidFill>
              </a:rPr>
              <a:t>Plaseboya üstün; NRT ve vareniklinle benzer</a:t>
            </a:r>
            <a:pPr indent="0" marL="0">
              <a:buNone/>
            </a:pPr>
            <a:r>
              <a:rPr lang="en-US" sz="1800" dirty="0">
                <a:solidFill>
                  <a:schemeClr val="accent3"/>
                </a:solidFill>
              </a:rPr>
              <a:t>  [10, 11]</a:t>
            </a:r>
            <a:endParaRPr lang="en-US" sz="2200" dirty="0"/>
          </a:p>
        </p:txBody>
      </p:sp>
      <p:sp>
        <p:nvSpPr>
          <p:cNvPr id="12" name="Ikon zemini"/>
          <p:cNvSpPr/>
          <p:nvPr/>
        </p:nvSpPr>
        <p:spPr>
          <a:xfrm>
            <a:off x="548640" y="3858768"/>
            <a:ext cx="868680" cy="868680"/>
          </a:xfrm>
          <a:prstGeom prst="ellipse">
            <a:avLst/>
          </a:prstGeom>
          <a:solidFill>
            <a:schemeClr val="accent2"/>
          </a:solidFill>
          <a:ln w="12700">
            <a:solidFill>
              <a:schemeClr val="accent2"/>
            </a:solidFill>
            <a:prstDash val="solid"/>
          </a:ln>
        </p:spPr>
      </p:sp>
      <p:pic>
        <p:nvPicPr>
          <p:cNvPr id="13" name="Ikon" descr="FaExchangeAlt">    </p:cNvPr>
          <p:cNvPicPr>
            <a:picLocks noChangeAspect="1"/>
          </p:cNvPicPr>
          <p:nvPr/>
        </p:nvPicPr>
        <p:blipFill>
          <a:blip r:embed="rId3"/>
          <a:stretch>
            <a:fillRect/>
          </a:stretch>
        </p:blipFill>
        <p:spPr>
          <a:xfrm>
            <a:off x="774497" y="4084625"/>
            <a:ext cx="416966" cy="416966"/>
          </a:xfrm>
          <a:prstGeom prst="rect">
            <a:avLst/>
          </a:prstGeom>
        </p:spPr>
      </p:pic>
      <p:sp>
        <p:nvSpPr>
          <p:cNvPr id="14" name="Text 8"/>
          <p:cNvSpPr txBox="1"/>
          <p:nvPr/>
        </p:nvSpPr>
        <p:spPr>
          <a:xfrm>
            <a:off x="1691640" y="3785616"/>
            <a:ext cx="3200400" cy="1005840"/>
          </a:xfrm>
          <a:prstGeom prst="rect">
            <a:avLst/>
          </a:prstGeom>
          <a:noFill/>
          <a:ln/>
        </p:spPr>
        <p:txBody>
          <a:bodyPr wrap="square" lIns="0" tIns="0" rIns="0" bIns="0" rtlCol="0" anchor="ctr"/>
          <a:lstStyle/>
          <a:p>
            <a:pPr indent="0" marL="0">
              <a:buNone/>
            </a:pPr>
            <a:r>
              <a:rPr lang="en-US" sz="2600" b="1" dirty="0">
                <a:solidFill>
                  <a:schemeClr val="accent1"/>
                </a:solidFill>
              </a:rPr>
              <a:t>Kombine tedavi</a:t>
            </a:r>
            <a:endParaRPr lang="en-US" sz="2600" dirty="0"/>
          </a:p>
        </p:txBody>
      </p:sp>
      <p:sp>
        <p:nvSpPr>
          <p:cNvPr id="15" name="Text 9"/>
          <p:cNvSpPr txBox="1"/>
          <p:nvPr/>
        </p:nvSpPr>
        <p:spPr>
          <a:xfrm>
            <a:off x="4937760" y="3785616"/>
            <a:ext cx="6675120" cy="1005840"/>
          </a:xfrm>
          <a:prstGeom prst="rect">
            <a:avLst/>
          </a:prstGeom>
          <a:noFill/>
          <a:ln/>
        </p:spPr>
        <p:txBody>
          <a:bodyPr wrap="square" lIns="0" tIns="0" rIns="0" bIns="0" rtlCol="0" anchor="ctr"/>
          <a:lstStyle/>
          <a:p>
            <a:pPr indent="0" marL="0">
              <a:buNone/>
            </a:pPr>
            <a:r>
              <a:rPr lang="en-US" sz="2200" dirty="0">
                <a:solidFill>
                  <a:schemeClr val="accent1"/>
                </a:solidFill>
              </a:rPr>
              <a:t>Kılavuz önerileriyle uyumlu</a:t>
            </a:r>
            <a:pPr indent="0" marL="0">
              <a:buNone/>
            </a:pPr>
            <a:r>
              <a:rPr lang="en-US" sz="1800" dirty="0">
                <a:solidFill>
                  <a:schemeClr val="accent3"/>
                </a:solidFill>
              </a:rPr>
              <a:t>  [12]</a:t>
            </a:r>
            <a:endParaRPr lang="en-US" sz="2200" dirty="0"/>
          </a:p>
        </p:txBody>
      </p:sp>
      <p:sp>
        <p:nvSpPr>
          <p:cNvPr id="16" name="Ikon zemini"/>
          <p:cNvSpPr/>
          <p:nvPr/>
        </p:nvSpPr>
        <p:spPr>
          <a:xfrm>
            <a:off x="548640" y="5065776"/>
            <a:ext cx="868680" cy="868680"/>
          </a:xfrm>
          <a:prstGeom prst="ellipse">
            <a:avLst/>
          </a:prstGeom>
          <a:solidFill>
            <a:schemeClr val="accent1"/>
          </a:solidFill>
          <a:ln w="12700">
            <a:solidFill>
              <a:schemeClr val="accent1"/>
            </a:solidFill>
            <a:prstDash val="solid"/>
          </a:ln>
        </p:spPr>
      </p:sp>
      <p:pic>
        <p:nvPicPr>
          <p:cNvPr id="17" name="Ikon" descr="FaHandsHelping">    </p:cNvPr>
          <p:cNvPicPr>
            <a:picLocks noChangeAspect="1"/>
          </p:cNvPicPr>
          <p:nvPr/>
        </p:nvPicPr>
        <p:blipFill>
          <a:blip r:embed="rId4"/>
          <a:stretch>
            <a:fillRect/>
          </a:stretch>
        </p:blipFill>
        <p:spPr>
          <a:xfrm>
            <a:off x="774497" y="5291633"/>
            <a:ext cx="416966" cy="416966"/>
          </a:xfrm>
          <a:prstGeom prst="rect">
            <a:avLst/>
          </a:prstGeom>
        </p:spPr>
      </p:pic>
      <p:sp>
        <p:nvSpPr>
          <p:cNvPr id="18" name="Text 11"/>
          <p:cNvSpPr txBox="1"/>
          <p:nvPr/>
        </p:nvSpPr>
        <p:spPr>
          <a:xfrm>
            <a:off x="1691640" y="4992624"/>
            <a:ext cx="3200400" cy="1005840"/>
          </a:xfrm>
          <a:prstGeom prst="rect">
            <a:avLst/>
          </a:prstGeom>
          <a:noFill/>
          <a:ln/>
        </p:spPr>
        <p:txBody>
          <a:bodyPr wrap="square" lIns="0" tIns="0" rIns="0" bIns="0" rtlCol="0" anchor="ctr"/>
          <a:lstStyle/>
          <a:p>
            <a:pPr indent="0" marL="0">
              <a:buNone/>
            </a:pPr>
            <a:r>
              <a:rPr lang="en-US" sz="2600" b="1" dirty="0">
                <a:solidFill>
                  <a:schemeClr val="accent1"/>
                </a:solidFill>
              </a:rPr>
              <a:t>Hane ve eş desteği</a:t>
            </a:r>
            <a:endParaRPr lang="en-US" sz="2600" dirty="0"/>
          </a:p>
        </p:txBody>
      </p:sp>
      <p:sp>
        <p:nvSpPr>
          <p:cNvPr id="19" name="Text 12"/>
          <p:cNvSpPr txBox="1"/>
          <p:nvPr/>
        </p:nvSpPr>
        <p:spPr>
          <a:xfrm>
            <a:off x="4937760" y="4992624"/>
            <a:ext cx="6675120" cy="1005840"/>
          </a:xfrm>
          <a:prstGeom prst="rect">
            <a:avLst/>
          </a:prstGeom>
          <a:noFill/>
          <a:ln/>
        </p:spPr>
        <p:txBody>
          <a:bodyPr wrap="square" lIns="0" tIns="0" rIns="0" bIns="0" rtlCol="0" anchor="ctr"/>
          <a:lstStyle/>
          <a:p>
            <a:pPr indent="0" marL="0">
              <a:buNone/>
            </a:pPr>
            <a:r>
              <a:rPr lang="en-US" sz="2200" dirty="0">
                <a:solidFill>
                  <a:schemeClr val="accent1"/>
                </a:solidFill>
              </a:rPr>
              <a:t>Cochrane derlemesiyle uyumlu</a:t>
            </a:r>
            <a:pPr indent="0" marL="0">
              <a:buNone/>
            </a:pPr>
            <a:r>
              <a:rPr lang="en-US" sz="1800" dirty="0">
                <a:solidFill>
                  <a:schemeClr val="accent3"/>
                </a:solidFill>
              </a:rPr>
              <a:t>  [13]</a:t>
            </a:r>
            <a:endParaRPr lang="en-US" sz="2200" dirty="0"/>
          </a:p>
        </p:txBody>
      </p:sp>
      <p:sp>
        <p:nvSpPr>
          <p:cNvPr id="20" name="Kaynak"/>
          <p:cNvSpPr txBox="1"/>
          <p:nvPr/>
        </p:nvSpPr>
        <p:spPr>
          <a:xfrm>
            <a:off x="548640" y="6382512"/>
            <a:ext cx="10424160" cy="292608"/>
          </a:xfrm>
          <a:prstGeom prst="rect">
            <a:avLst/>
          </a:prstGeom>
          <a:noFill/>
          <a:ln/>
        </p:spPr>
        <p:txBody>
          <a:bodyPr wrap="square" lIns="0" tIns="0" rIns="0" bIns="0" rtlCol="0" anchor="ctr"/>
          <a:lstStyle/>
          <a:p>
            <a:pPr indent="0" marL="0">
              <a:buNone/>
            </a:pPr>
            <a:r>
              <a:rPr lang="en-US" sz="1200" i="1" dirty="0">
                <a:solidFill>
                  <a:schemeClr val="accent3"/>
                </a:solidFill>
              </a:rPr>
              <a:t>Kaynak: 8–13</a:t>
            </a:r>
            <a:endParaRPr lang="en-US" sz="1200" dirty="0"/>
          </a:p>
        </p:txBody>
      </p:sp>
      <p:sp>
        <p:nvSpPr>
          <p:cNvPr id="25" name="Slide Number Placeholder 0"/>
          <p:cNvSpPr>
            <a:spLocks noGrp="1"/>
          </p:cNvSpPr>
          <p:nvPr>
            <p:ph type="sldNum" sz="quarter" idx="4294967295"/>
          </p:nvPr>
        </p:nvSpPr>
        <p:spPr>
          <a:xfrm>
            <a:off x="11201400" y="6382512"/>
            <a:ext cx="548640" cy="292608"/>
          </a:xfrm>
          <a:prstGeom prst="rect">
            <a:avLst/>
          </a:prstGeom>
          <a:extLst>
            <a:ext uri="{C572A759-6A51-4108-AA02-DFA0A04FC94B}">
              <ma14:wrappingTextBoxFlag xmlns:ma14="http://schemas.microsoft.com/office/mac/drawingml/2011/main" val="0"/>
            </a:ext>
          </a:extLst>
        </p:spPr>
        <p:txBody>
          <a:bodyPr/>
          <a:lstStyle>
            <a:lvl1pPr>
              <a:defRPr sz="1400">
                <a:solidFill>
                  <a:srgbClr val="7A8C94"/>
                </a:solidFill>
              </a:defRPr>
            </a:lvl1pPr>
          </a:lstStyle>
          <a:p>
            <a:pPr algn="r"/>
            <a:fld id="{F7021451-1387-4CA6-816F-3879F97B5CBC}" type="slidenum">
              <a:rPr b="0" lang="en-US"/>
              <a:t>20</a:t>
            </a:fld>
            <a:endParaRPr lang="en-US"/>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spTree>
      <p:nvGrpSpPr>
        <p:cNvPr id="1" name=""/>
        <p:cNvGrpSpPr/>
        <p:nvPr/>
      </p:nvGrpSpPr>
      <p:grpSpPr>
        <a:xfrm>
          <a:off x="0" y="0"/>
          <a:ext cx="0" cy="0"/>
          <a:chOff x="0" y="0"/>
          <a:chExt cx="0" cy="0"/>
        </a:xfrm>
      </p:grpSpPr>
      <p:sp>
        <p:nvSpPr>
          <p:cNvPr id="3" name="Text 0"/>
          <p:cNvSpPr/>
          <p:nvPr>
            <p:ph idx="100" type="title" hasCustomPrompt="1"/>
          </p:nvPr>
        </p:nvSpPr>
        <p:spPr>
          <a:xfrm>
            <a:off x="548640" y="320040"/>
            <a:ext cx="10607040" cy="868680"/>
          </a:xfrm>
          <a:prstGeom prst="rect">
            <a:avLst/>
          </a:prstGeom>
          <a:noFill/>
          <a:ln/>
        </p:spPr>
        <p:txBody>
          <a:bodyPr wrap="square" lIns="0" tIns="0" rIns="0" bIns="0" rtlCol="0" anchor="ctr"/>
          <a:lstStyle/>
          <a:p>
            <a:pPr algn="l" indent="0" marL="0">
              <a:buNone/>
            </a:pPr>
            <a:r>
              <a:rPr lang="en-US" sz="3600" b="1" dirty="0">
                <a:solidFill>
                  <a:schemeClr val="accent1"/>
                </a:solidFill>
              </a:rPr>
              <a:t>Yazarların bildirdiği kısıtlılıklar</a:t>
            </a:r>
            <a:endParaRPr lang="en-US" sz="3600" dirty="0"/>
          </a:p>
        </p:txBody>
      </p:sp>
      <p:sp>
        <p:nvSpPr>
          <p:cNvPr id="4" name="Kart"/>
          <p:cNvSpPr/>
          <p:nvPr/>
        </p:nvSpPr>
        <p:spPr>
          <a:xfrm>
            <a:off x="548640" y="1417320"/>
            <a:ext cx="3566160" cy="4480560"/>
          </a:xfrm>
          <a:prstGeom prst="roundRect">
            <a:avLst>
              <a:gd name="adj" fmla="val 3077"/>
            </a:avLst>
          </a:prstGeom>
          <a:solidFill>
            <a:schemeClr val="bg2"/>
          </a:solidFill>
          <a:ln w="12700">
            <a:solidFill>
              <a:schemeClr val="bg2"/>
            </a:solidFill>
            <a:prstDash val="solid"/>
          </a:ln>
        </p:spPr>
      </p:sp>
      <p:sp>
        <p:nvSpPr>
          <p:cNvPr id="5" name="Ikon zemini"/>
          <p:cNvSpPr/>
          <p:nvPr/>
        </p:nvSpPr>
        <p:spPr>
          <a:xfrm>
            <a:off x="1783080" y="1691640"/>
            <a:ext cx="1097280" cy="1097280"/>
          </a:xfrm>
          <a:prstGeom prst="ellipse">
            <a:avLst/>
          </a:prstGeom>
          <a:solidFill>
            <a:schemeClr val="accent2"/>
          </a:solidFill>
          <a:ln w="12700">
            <a:solidFill>
              <a:schemeClr val="accent2"/>
            </a:solidFill>
            <a:prstDash val="solid"/>
          </a:ln>
        </p:spPr>
      </p:sp>
      <p:pic>
        <p:nvPicPr>
          <p:cNvPr id="6" name="Ikon" descr="FaUserMd">    </p:cNvPr>
          <p:cNvPicPr>
            <a:picLocks noChangeAspect="1"/>
          </p:cNvPicPr>
          <p:nvPr/>
        </p:nvPicPr>
        <p:blipFill>
          <a:blip r:embed="rId1"/>
          <a:stretch>
            <a:fillRect/>
          </a:stretch>
        </p:blipFill>
        <p:spPr>
          <a:xfrm>
            <a:off x="2068373" y="1976933"/>
            <a:ext cx="526694" cy="526694"/>
          </a:xfrm>
          <a:prstGeom prst="rect">
            <a:avLst/>
          </a:prstGeom>
        </p:spPr>
      </p:pic>
      <p:sp>
        <p:nvSpPr>
          <p:cNvPr id="7" name="Text 3"/>
          <p:cNvSpPr txBox="1"/>
          <p:nvPr/>
        </p:nvSpPr>
        <p:spPr>
          <a:xfrm>
            <a:off x="777240" y="2971800"/>
            <a:ext cx="3108960" cy="1005840"/>
          </a:xfrm>
          <a:prstGeom prst="rect">
            <a:avLst/>
          </a:prstGeom>
          <a:noFill/>
          <a:ln/>
        </p:spPr>
        <p:txBody>
          <a:bodyPr wrap="square" lIns="0" tIns="0" rIns="0" bIns="0" rtlCol="0" anchor="ctr"/>
          <a:lstStyle/>
          <a:p>
            <a:pPr algn="ctr" indent="0" marL="0">
              <a:buNone/>
            </a:pPr>
            <a:r>
              <a:rPr lang="en-US" sz="2400" b="1" dirty="0">
                <a:solidFill>
                  <a:schemeClr val="accent1"/>
                </a:solidFill>
              </a:rPr>
              <a:t>Asistan rotasyonu</a:t>
            </a:r>
            <a:endParaRPr lang="en-US" sz="2400" dirty="0"/>
          </a:p>
        </p:txBody>
      </p:sp>
      <p:sp>
        <p:nvSpPr>
          <p:cNvPr id="8" name="Text 4"/>
          <p:cNvSpPr txBox="1"/>
          <p:nvPr/>
        </p:nvSpPr>
        <p:spPr>
          <a:xfrm>
            <a:off x="822960" y="4023360"/>
            <a:ext cx="3017520" cy="1645920"/>
          </a:xfrm>
          <a:prstGeom prst="rect">
            <a:avLst/>
          </a:prstGeom>
          <a:noFill/>
          <a:ln/>
        </p:spPr>
        <p:txBody>
          <a:bodyPr wrap="square" lIns="0" tIns="0" rIns="0" bIns="0" rtlCol="0" anchor="t"/>
          <a:lstStyle/>
          <a:p>
            <a:pPr algn="ctr" indent="0" marL="0">
              <a:buNone/>
            </a:pPr>
            <a:r>
              <a:rPr lang="en-US" sz="2000" dirty="0">
                <a:solidFill>
                  <a:schemeClr val="accent1"/>
                </a:solidFill>
              </a:rPr>
              <a:t>Takip sürekliliği ve öz bildirim etkilenmiş olabilir</a:t>
            </a:r>
            <a:endParaRPr lang="en-US" sz="2000" dirty="0"/>
          </a:p>
        </p:txBody>
      </p:sp>
      <p:sp>
        <p:nvSpPr>
          <p:cNvPr id="9" name="Kart"/>
          <p:cNvSpPr/>
          <p:nvPr/>
        </p:nvSpPr>
        <p:spPr>
          <a:xfrm>
            <a:off x="4297680" y="1417320"/>
            <a:ext cx="3566160" cy="4480560"/>
          </a:xfrm>
          <a:prstGeom prst="roundRect">
            <a:avLst>
              <a:gd name="adj" fmla="val 3077"/>
            </a:avLst>
          </a:prstGeom>
          <a:solidFill>
            <a:schemeClr val="bg2"/>
          </a:solidFill>
          <a:ln w="12700">
            <a:solidFill>
              <a:schemeClr val="bg2"/>
            </a:solidFill>
            <a:prstDash val="solid"/>
          </a:ln>
        </p:spPr>
      </p:sp>
      <p:sp>
        <p:nvSpPr>
          <p:cNvPr id="10" name="Ikon zemini"/>
          <p:cNvSpPr/>
          <p:nvPr/>
        </p:nvSpPr>
        <p:spPr>
          <a:xfrm>
            <a:off x="5532120" y="1691640"/>
            <a:ext cx="1097280" cy="1097280"/>
          </a:xfrm>
          <a:prstGeom prst="ellipse">
            <a:avLst/>
          </a:prstGeom>
          <a:solidFill>
            <a:schemeClr val="accent1"/>
          </a:solidFill>
          <a:ln w="12700">
            <a:solidFill>
              <a:schemeClr val="accent1"/>
            </a:solidFill>
            <a:prstDash val="solid"/>
          </a:ln>
        </p:spPr>
      </p:sp>
      <p:pic>
        <p:nvPicPr>
          <p:cNvPr id="11" name="Ikon" descr="FaComments">    </p:cNvPr>
          <p:cNvPicPr>
            <a:picLocks noChangeAspect="1"/>
          </p:cNvPicPr>
          <p:nvPr/>
        </p:nvPicPr>
        <p:blipFill>
          <a:blip r:embed="rId2"/>
          <a:stretch>
            <a:fillRect/>
          </a:stretch>
        </p:blipFill>
        <p:spPr>
          <a:xfrm>
            <a:off x="5817413" y="1976933"/>
            <a:ext cx="526694" cy="526694"/>
          </a:xfrm>
          <a:prstGeom prst="rect">
            <a:avLst/>
          </a:prstGeom>
        </p:spPr>
      </p:pic>
      <p:sp>
        <p:nvSpPr>
          <p:cNvPr id="12" name="Text 7"/>
          <p:cNvSpPr txBox="1"/>
          <p:nvPr/>
        </p:nvSpPr>
        <p:spPr>
          <a:xfrm>
            <a:off x="4526280" y="2971800"/>
            <a:ext cx="3108960" cy="1005840"/>
          </a:xfrm>
          <a:prstGeom prst="rect">
            <a:avLst/>
          </a:prstGeom>
          <a:noFill/>
          <a:ln/>
        </p:spPr>
        <p:txBody>
          <a:bodyPr wrap="square" lIns="0" tIns="0" rIns="0" bIns="0" rtlCol="0" anchor="ctr"/>
          <a:lstStyle/>
          <a:p>
            <a:pPr algn="ctr" indent="0" marL="0">
              <a:buNone/>
            </a:pPr>
            <a:r>
              <a:rPr lang="en-US" sz="2400" b="1" dirty="0">
                <a:solidFill>
                  <a:schemeClr val="accent1"/>
                </a:solidFill>
              </a:rPr>
              <a:t>Telefonla tamamlanan veri</a:t>
            </a:r>
            <a:endParaRPr lang="en-US" sz="2400" dirty="0"/>
          </a:p>
        </p:txBody>
      </p:sp>
      <p:sp>
        <p:nvSpPr>
          <p:cNvPr id="13" name="Text 8"/>
          <p:cNvSpPr txBox="1"/>
          <p:nvPr/>
        </p:nvSpPr>
        <p:spPr>
          <a:xfrm>
            <a:off x="4572000" y="4023360"/>
            <a:ext cx="3017520" cy="1645920"/>
          </a:xfrm>
          <a:prstGeom prst="rect">
            <a:avLst/>
          </a:prstGeom>
          <a:noFill/>
          <a:ln/>
        </p:spPr>
        <p:txBody>
          <a:bodyPr wrap="square" lIns="0" tIns="0" rIns="0" bIns="0" rtlCol="0" anchor="t"/>
          <a:lstStyle/>
          <a:p>
            <a:pPr algn="ctr" indent="0" marL="0">
              <a:buNone/>
            </a:pPr>
            <a:r>
              <a:rPr lang="en-US" sz="2000" dirty="0">
                <a:solidFill>
                  <a:schemeClr val="accent1"/>
                </a:solidFill>
              </a:rPr>
              <a:t>Eksik veriler hasta beyanına dayanmaktadır</a:t>
            </a:r>
            <a:endParaRPr lang="en-US" sz="2000" dirty="0"/>
          </a:p>
        </p:txBody>
      </p:sp>
      <p:sp>
        <p:nvSpPr>
          <p:cNvPr id="14" name="Kart"/>
          <p:cNvSpPr/>
          <p:nvPr/>
        </p:nvSpPr>
        <p:spPr>
          <a:xfrm>
            <a:off x="8046720" y="1417320"/>
            <a:ext cx="3566160" cy="4480560"/>
          </a:xfrm>
          <a:prstGeom prst="roundRect">
            <a:avLst>
              <a:gd name="adj" fmla="val 3077"/>
            </a:avLst>
          </a:prstGeom>
          <a:solidFill>
            <a:schemeClr val="bg2"/>
          </a:solidFill>
          <a:ln w="12700">
            <a:solidFill>
              <a:schemeClr val="bg2"/>
            </a:solidFill>
            <a:prstDash val="solid"/>
          </a:ln>
        </p:spPr>
      </p:sp>
      <p:sp>
        <p:nvSpPr>
          <p:cNvPr id="15" name="Ikon zemini"/>
          <p:cNvSpPr/>
          <p:nvPr/>
        </p:nvSpPr>
        <p:spPr>
          <a:xfrm>
            <a:off x="9281160" y="1691640"/>
            <a:ext cx="1097280" cy="1097280"/>
          </a:xfrm>
          <a:prstGeom prst="ellipse">
            <a:avLst/>
          </a:prstGeom>
          <a:solidFill>
            <a:schemeClr val="accent2"/>
          </a:solidFill>
          <a:ln w="12700">
            <a:solidFill>
              <a:schemeClr val="accent2"/>
            </a:solidFill>
            <a:prstDash val="solid"/>
          </a:ln>
        </p:spPr>
      </p:sp>
      <p:pic>
        <p:nvPicPr>
          <p:cNvPr id="16" name="Ikon" descr="FaPills">    </p:cNvPr>
          <p:cNvPicPr>
            <a:picLocks noChangeAspect="1"/>
          </p:cNvPicPr>
          <p:nvPr/>
        </p:nvPicPr>
        <p:blipFill>
          <a:blip r:embed="rId3"/>
          <a:stretch>
            <a:fillRect/>
          </a:stretch>
        </p:blipFill>
        <p:spPr>
          <a:xfrm>
            <a:off x="9566453" y="1976933"/>
            <a:ext cx="526694" cy="526694"/>
          </a:xfrm>
          <a:prstGeom prst="rect">
            <a:avLst/>
          </a:prstGeom>
        </p:spPr>
      </p:pic>
      <p:sp>
        <p:nvSpPr>
          <p:cNvPr id="17" name="Text 11"/>
          <p:cNvSpPr txBox="1"/>
          <p:nvPr/>
        </p:nvSpPr>
        <p:spPr>
          <a:xfrm>
            <a:off x="8275320" y="2971800"/>
            <a:ext cx="3108960" cy="1005840"/>
          </a:xfrm>
          <a:prstGeom prst="rect">
            <a:avLst/>
          </a:prstGeom>
          <a:noFill/>
          <a:ln/>
        </p:spPr>
        <p:txBody>
          <a:bodyPr wrap="square" lIns="0" tIns="0" rIns="0" bIns="0" rtlCol="0" anchor="ctr"/>
          <a:lstStyle/>
          <a:p>
            <a:pPr algn="ctr" indent="0" marL="0">
              <a:buNone/>
            </a:pPr>
            <a:r>
              <a:rPr lang="en-US" sz="2400" b="1" dirty="0">
                <a:solidFill>
                  <a:schemeClr val="accent1"/>
                </a:solidFill>
              </a:rPr>
              <a:t>Vareniklinin piyasadan çekilmesi</a:t>
            </a:r>
            <a:endParaRPr lang="en-US" sz="2400" dirty="0"/>
          </a:p>
        </p:txBody>
      </p:sp>
      <p:sp>
        <p:nvSpPr>
          <p:cNvPr id="18" name="Text 12"/>
          <p:cNvSpPr txBox="1"/>
          <p:nvPr/>
        </p:nvSpPr>
        <p:spPr>
          <a:xfrm>
            <a:off x="8321040" y="4023360"/>
            <a:ext cx="3017520" cy="1645920"/>
          </a:xfrm>
          <a:prstGeom prst="rect">
            <a:avLst/>
          </a:prstGeom>
          <a:noFill/>
          <a:ln/>
        </p:spPr>
        <p:txBody>
          <a:bodyPr wrap="square" lIns="0" tIns="0" rIns="0" bIns="0" rtlCol="0" anchor="t"/>
          <a:lstStyle/>
          <a:p>
            <a:pPr algn="ctr" indent="0" marL="0">
              <a:buNone/>
            </a:pPr>
            <a:r>
              <a:rPr lang="en-US" sz="2000" dirty="0">
                <a:solidFill>
                  <a:schemeClr val="accent1"/>
                </a:solidFill>
              </a:rPr>
              <a:t>İlaç seçimi dönem içinde değişmiştir</a:t>
            </a:r>
            <a:endParaRPr lang="en-US" sz="2000" dirty="0"/>
          </a:p>
        </p:txBody>
      </p:sp>
      <p:sp>
        <p:nvSpPr>
          <p:cNvPr id="19" name="Kaynak"/>
          <p:cNvSpPr txBox="1"/>
          <p:nvPr/>
        </p:nvSpPr>
        <p:spPr>
          <a:xfrm>
            <a:off x="548640" y="6382512"/>
            <a:ext cx="10424160" cy="292608"/>
          </a:xfrm>
          <a:prstGeom prst="rect">
            <a:avLst/>
          </a:prstGeom>
          <a:noFill/>
          <a:ln/>
        </p:spPr>
        <p:txBody>
          <a:bodyPr wrap="square" lIns="0" tIns="0" rIns="0" bIns="0" rtlCol="0" anchor="ctr"/>
          <a:lstStyle/>
          <a:p>
            <a:pPr indent="0" marL="0">
              <a:buNone/>
            </a:pPr>
            <a:r>
              <a:rPr lang="en-US" sz="1200" i="1" dirty="0">
                <a:solidFill>
                  <a:schemeClr val="accent3"/>
                </a:solidFill>
              </a:rPr>
              <a:t>Kaynak: Cenberlitaş E, Gökçe A, Öztürk O. Turk J Fam Pract. 2026;30(2):97-106.</a:t>
            </a:r>
            <a:endParaRPr lang="en-US" sz="1200" dirty="0"/>
          </a:p>
        </p:txBody>
      </p:sp>
      <p:sp>
        <p:nvSpPr>
          <p:cNvPr id="25" name="Slide Number Placeholder 0"/>
          <p:cNvSpPr>
            <a:spLocks noGrp="1"/>
          </p:cNvSpPr>
          <p:nvPr>
            <p:ph type="sldNum" sz="quarter" idx="4294967295"/>
          </p:nvPr>
        </p:nvSpPr>
        <p:spPr>
          <a:xfrm>
            <a:off x="11201400" y="6382512"/>
            <a:ext cx="548640" cy="292608"/>
          </a:xfrm>
          <a:prstGeom prst="rect">
            <a:avLst/>
          </a:prstGeom>
          <a:extLst>
            <a:ext uri="{C572A759-6A51-4108-AA02-DFA0A04FC94B}">
              <ma14:wrappingTextBoxFlag xmlns:ma14="http://schemas.microsoft.com/office/mac/drawingml/2011/main" val="0"/>
            </a:ext>
          </a:extLst>
        </p:spPr>
        <p:txBody>
          <a:bodyPr/>
          <a:lstStyle>
            <a:lvl1pPr>
              <a:defRPr sz="1400">
                <a:solidFill>
                  <a:srgbClr val="7A8C94"/>
                </a:solidFill>
              </a:defRPr>
            </a:lvl1pPr>
          </a:lstStyle>
          <a:p>
            <a:pPr algn="r"/>
            <a:fld id="{F7021451-1387-4CA6-816F-3879F97B5CBC}" type="slidenum">
              <a:rPr b="0" lang="en-US"/>
              <a:t>21</a:t>
            </a:fld>
            <a:endParaRPr lang="en-US"/>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spTree>
      <p:nvGrpSpPr>
        <p:cNvPr id="1" name=""/>
        <p:cNvGrpSpPr/>
        <p:nvPr/>
      </p:nvGrpSpPr>
      <p:grpSpPr>
        <a:xfrm>
          <a:off x="0" y="0"/>
          <a:ext cx="0" cy="0"/>
          <a:chOff x="0" y="0"/>
          <a:chExt cx="0" cy="0"/>
        </a:xfrm>
      </p:grpSpPr>
      <p:sp>
        <p:nvSpPr>
          <p:cNvPr id="3" name="Text 0"/>
          <p:cNvSpPr/>
          <p:nvPr>
            <p:ph idx="100" type="title" hasCustomPrompt="1"/>
          </p:nvPr>
        </p:nvSpPr>
        <p:spPr>
          <a:xfrm>
            <a:off x="548640" y="320040"/>
            <a:ext cx="10607040" cy="868680"/>
          </a:xfrm>
          <a:prstGeom prst="rect">
            <a:avLst/>
          </a:prstGeom>
          <a:noFill/>
          <a:ln/>
        </p:spPr>
        <p:txBody>
          <a:bodyPr wrap="square" lIns="0" tIns="0" rIns="0" bIns="0" rtlCol="0" anchor="ctr"/>
          <a:lstStyle/>
          <a:p>
            <a:pPr algn="l" indent="0" marL="0">
              <a:buNone/>
            </a:pPr>
            <a:r>
              <a:rPr lang="en-US" sz="3600" b="1" dirty="0">
                <a:solidFill>
                  <a:schemeClr val="accent1"/>
                </a:solidFill>
              </a:rPr>
              <a:t>Eleştirel değerlendirme: yöntem</a:t>
            </a:r>
            <a:endParaRPr lang="en-US" sz="3600" dirty="0"/>
          </a:p>
        </p:txBody>
      </p:sp>
      <p:sp>
        <p:nvSpPr>
          <p:cNvPr id="4" name="Kart"/>
          <p:cNvSpPr/>
          <p:nvPr/>
        </p:nvSpPr>
        <p:spPr>
          <a:xfrm>
            <a:off x="548640" y="1371600"/>
            <a:ext cx="5440680" cy="4572000"/>
          </a:xfrm>
          <a:prstGeom prst="roundRect">
            <a:avLst>
              <a:gd name="adj" fmla="val 2400"/>
            </a:avLst>
          </a:prstGeom>
          <a:solidFill>
            <a:schemeClr val="bg2"/>
          </a:solidFill>
          <a:ln w="12700">
            <a:solidFill>
              <a:schemeClr val="bg2"/>
            </a:solidFill>
            <a:prstDash val="solid"/>
          </a:ln>
        </p:spPr>
      </p:sp>
      <p:sp>
        <p:nvSpPr>
          <p:cNvPr id="5" name="Ikon zemini"/>
          <p:cNvSpPr/>
          <p:nvPr/>
        </p:nvSpPr>
        <p:spPr>
          <a:xfrm>
            <a:off x="822960" y="1572768"/>
            <a:ext cx="822960" cy="822960"/>
          </a:xfrm>
          <a:prstGeom prst="ellipse">
            <a:avLst/>
          </a:prstGeom>
          <a:solidFill>
            <a:schemeClr val="accent2"/>
          </a:solidFill>
          <a:ln w="12700">
            <a:solidFill>
              <a:schemeClr val="accent2"/>
            </a:solidFill>
            <a:prstDash val="solid"/>
          </a:ln>
        </p:spPr>
      </p:sp>
      <p:pic>
        <p:nvPicPr>
          <p:cNvPr id="6" name="Ikon" descr="FaCheck">    </p:cNvPr>
          <p:cNvPicPr>
            <a:picLocks noChangeAspect="1"/>
          </p:cNvPicPr>
          <p:nvPr/>
        </p:nvPicPr>
        <p:blipFill>
          <a:blip r:embed="rId1"/>
          <a:stretch>
            <a:fillRect/>
          </a:stretch>
        </p:blipFill>
        <p:spPr>
          <a:xfrm>
            <a:off x="1036930" y="1786738"/>
            <a:ext cx="395021" cy="395021"/>
          </a:xfrm>
          <a:prstGeom prst="rect">
            <a:avLst/>
          </a:prstGeom>
        </p:spPr>
      </p:pic>
      <p:sp>
        <p:nvSpPr>
          <p:cNvPr id="7" name="Text 3"/>
          <p:cNvSpPr txBox="1"/>
          <p:nvPr/>
        </p:nvSpPr>
        <p:spPr>
          <a:xfrm>
            <a:off x="1828800" y="1572768"/>
            <a:ext cx="4023360" cy="822960"/>
          </a:xfrm>
          <a:prstGeom prst="rect">
            <a:avLst/>
          </a:prstGeom>
          <a:noFill/>
          <a:ln/>
        </p:spPr>
        <p:txBody>
          <a:bodyPr wrap="square" lIns="0" tIns="0" rIns="0" bIns="0" rtlCol="0" anchor="ctr"/>
          <a:lstStyle/>
          <a:p>
            <a:pPr indent="0" marL="0">
              <a:buNone/>
            </a:pPr>
            <a:r>
              <a:rPr lang="en-US" sz="2800" b="1" dirty="0">
                <a:solidFill>
                  <a:schemeClr val="accent2"/>
                </a:solidFill>
              </a:rPr>
              <a:t>Güçlü yönler</a:t>
            </a:r>
            <a:endParaRPr lang="en-US" sz="2800" dirty="0"/>
          </a:p>
        </p:txBody>
      </p:sp>
      <p:sp>
        <p:nvSpPr>
          <p:cNvPr id="8" name="Text 4"/>
          <p:cNvSpPr txBox="1"/>
          <p:nvPr/>
        </p:nvSpPr>
        <p:spPr>
          <a:xfrm>
            <a:off x="914400" y="2651760"/>
            <a:ext cx="4846320" cy="3154680"/>
          </a:xfrm>
          <a:prstGeom prst="rect">
            <a:avLst/>
          </a:prstGeom>
          <a:noFill/>
          <a:ln/>
        </p:spPr>
        <p:txBody>
          <a:bodyPr wrap="square" lIns="0" tIns="0" rIns="0" bIns="0" rtlCol="0" anchor="t"/>
          <a:lstStyle/>
          <a:p>
            <a:pPr algn="just" marL="279400" indent="-279400">
              <a:spcAft>
                <a:spcPts val="1400"/>
              </a:spcAft>
              <a:buSzPct val="100000"/>
              <a:buChar char="•"/>
            </a:pPr>
            <a:r>
              <a:rPr lang="en-US" sz="2200" dirty="0">
                <a:solidFill>
                  <a:schemeClr val="accent1"/>
                </a:solidFill>
              </a:rPr>
              <a:t>Gerçek yaşam verisi</a:t>
            </a:r>
            <a:endParaRPr lang="en-US" sz="2200" dirty="0"/>
          </a:p>
          <a:p>
            <a:pPr algn="just" marL="279400" indent="-279400">
              <a:spcAft>
                <a:spcPts val="1400"/>
              </a:spcAft>
              <a:buSzPct val="100000"/>
              <a:buChar char="•"/>
            </a:pPr>
            <a:r>
              <a:rPr lang="en-US" sz="2200" dirty="0">
                <a:solidFill>
                  <a:schemeClr val="accent1"/>
                </a:solidFill>
              </a:rPr>
              <a:t>Beş tedavi seçeneği bir arada</a:t>
            </a:r>
            <a:endParaRPr lang="en-US" sz="2200" dirty="0"/>
          </a:p>
          <a:p>
            <a:pPr algn="just" marL="279400" indent="-279400">
              <a:spcAft>
                <a:spcPts val="1400"/>
              </a:spcAft>
              <a:buSzPct val="100000"/>
              <a:buChar char="•"/>
            </a:pPr>
            <a:r>
              <a:rPr lang="en-US" sz="2200" dirty="0">
                <a:solidFill>
                  <a:schemeClr val="accent1"/>
                </a:solidFill>
              </a:rPr>
              <a:t>Sitizin ile güncel veri</a:t>
            </a:r>
            <a:endParaRPr lang="en-US" sz="2200" dirty="0"/>
          </a:p>
          <a:p>
            <a:pPr algn="just" marL="279400" indent="-279400">
              <a:spcAft>
                <a:spcPts val="1400"/>
              </a:spcAft>
              <a:buSzPct val="100000"/>
              <a:buChar char="•"/>
            </a:pPr>
            <a:r>
              <a:rPr lang="en-US" sz="2200" dirty="0">
                <a:solidFill>
                  <a:schemeClr val="accent1"/>
                </a:solidFill>
              </a:rPr>
              <a:t>Bir yıllık takip</a:t>
            </a:r>
            <a:endParaRPr lang="en-US" sz="2200" dirty="0"/>
          </a:p>
        </p:txBody>
      </p:sp>
      <p:sp>
        <p:nvSpPr>
          <p:cNvPr id="9" name="Kart"/>
          <p:cNvSpPr/>
          <p:nvPr/>
        </p:nvSpPr>
        <p:spPr>
          <a:xfrm>
            <a:off x="6172200" y="1371600"/>
            <a:ext cx="5440680" cy="4572000"/>
          </a:xfrm>
          <a:prstGeom prst="roundRect">
            <a:avLst>
              <a:gd name="adj" fmla="val 2400"/>
            </a:avLst>
          </a:prstGeom>
          <a:solidFill>
            <a:schemeClr val="bg2"/>
          </a:solidFill>
          <a:ln w="12700">
            <a:solidFill>
              <a:schemeClr val="bg2"/>
            </a:solidFill>
            <a:prstDash val="solid"/>
          </a:ln>
        </p:spPr>
      </p:sp>
      <p:sp>
        <p:nvSpPr>
          <p:cNvPr id="10" name="Ikon zemini"/>
          <p:cNvSpPr/>
          <p:nvPr/>
        </p:nvSpPr>
        <p:spPr>
          <a:xfrm>
            <a:off x="6446520" y="1572768"/>
            <a:ext cx="822960" cy="822960"/>
          </a:xfrm>
          <a:prstGeom prst="ellipse">
            <a:avLst/>
          </a:prstGeom>
          <a:solidFill>
            <a:schemeClr val="accent1"/>
          </a:solidFill>
          <a:ln w="12700">
            <a:solidFill>
              <a:schemeClr val="accent1"/>
            </a:solidFill>
            <a:prstDash val="solid"/>
          </a:ln>
        </p:spPr>
      </p:sp>
      <p:pic>
        <p:nvPicPr>
          <p:cNvPr id="11" name="Ikon" descr="FaLightbulb">    </p:cNvPr>
          <p:cNvPicPr>
            <a:picLocks noChangeAspect="1"/>
          </p:cNvPicPr>
          <p:nvPr/>
        </p:nvPicPr>
        <p:blipFill>
          <a:blip r:embed="rId2"/>
          <a:stretch>
            <a:fillRect/>
          </a:stretch>
        </p:blipFill>
        <p:spPr>
          <a:xfrm>
            <a:off x="6660490" y="1786738"/>
            <a:ext cx="395021" cy="395021"/>
          </a:xfrm>
          <a:prstGeom prst="rect">
            <a:avLst/>
          </a:prstGeom>
        </p:spPr>
      </p:pic>
      <p:sp>
        <p:nvSpPr>
          <p:cNvPr id="12" name="Text 7"/>
          <p:cNvSpPr txBox="1"/>
          <p:nvPr/>
        </p:nvSpPr>
        <p:spPr>
          <a:xfrm>
            <a:off x="7452360" y="1572768"/>
            <a:ext cx="4023360" cy="822960"/>
          </a:xfrm>
          <a:prstGeom prst="rect">
            <a:avLst/>
          </a:prstGeom>
          <a:noFill/>
          <a:ln/>
        </p:spPr>
        <p:txBody>
          <a:bodyPr wrap="square" lIns="0" tIns="0" rIns="0" bIns="0" rtlCol="0" anchor="ctr"/>
          <a:lstStyle/>
          <a:p>
            <a:pPr indent="0" marL="0">
              <a:buNone/>
            </a:pPr>
            <a:r>
              <a:rPr lang="en-US" sz="2800" b="1" dirty="0">
                <a:solidFill>
                  <a:schemeClr val="accent1"/>
                </a:solidFill>
              </a:rPr>
              <a:t>Geliştirilebilir yönler</a:t>
            </a:r>
            <a:endParaRPr lang="en-US" sz="2800" dirty="0"/>
          </a:p>
        </p:txBody>
      </p:sp>
      <p:sp>
        <p:nvSpPr>
          <p:cNvPr id="13" name="Text 8"/>
          <p:cNvSpPr txBox="1"/>
          <p:nvPr/>
        </p:nvSpPr>
        <p:spPr>
          <a:xfrm>
            <a:off x="6537960" y="2651760"/>
            <a:ext cx="4846320" cy="3154680"/>
          </a:xfrm>
          <a:prstGeom prst="rect">
            <a:avLst/>
          </a:prstGeom>
          <a:noFill/>
          <a:ln/>
        </p:spPr>
        <p:txBody>
          <a:bodyPr wrap="square" lIns="0" tIns="0" rIns="0" bIns="0" rtlCol="0" anchor="t"/>
          <a:lstStyle/>
          <a:p>
            <a:pPr algn="just" marL="279400" indent="-279400">
              <a:spcAft>
                <a:spcPts val="1400"/>
              </a:spcAft>
              <a:buSzPct val="100000"/>
              <a:buChar char="•"/>
            </a:pPr>
            <a:r>
              <a:rPr lang="en-US" sz="2200" dirty="0">
                <a:solidFill>
                  <a:schemeClr val="accent1"/>
                </a:solidFill>
              </a:rPr>
              <a:t>Randomizasyon yok: seçim yanlılığı</a:t>
            </a:r>
            <a:endParaRPr lang="en-US" sz="2200" dirty="0"/>
          </a:p>
          <a:p>
            <a:pPr algn="just" marL="279400" indent="-279400">
              <a:spcAft>
                <a:spcPts val="1400"/>
              </a:spcAft>
              <a:buSzPct val="100000"/>
              <a:buChar char="•"/>
            </a:pPr>
            <a:r>
              <a:rPr lang="en-US" sz="2200" dirty="0">
                <a:solidFill>
                  <a:schemeClr val="accent1"/>
                </a:solidFill>
              </a:rPr>
              <a:t>Bırakma biyokimyasal doğrulanmamış</a:t>
            </a:r>
            <a:endParaRPr lang="en-US" sz="2200" dirty="0"/>
          </a:p>
          <a:p>
            <a:pPr algn="just" marL="279400" indent="-279400">
              <a:spcAft>
                <a:spcPts val="1400"/>
              </a:spcAft>
              <a:buSzPct val="100000"/>
              <a:buChar char="•"/>
            </a:pPr>
            <a:r>
              <a:rPr lang="en-US" sz="2200" dirty="0">
                <a:solidFill>
                  <a:schemeClr val="accent1"/>
                </a:solidFill>
              </a:rPr>
              <a:t>İlaç ücretinin etkisi incelenmemiş</a:t>
            </a:r>
            <a:endParaRPr lang="en-US" sz="2200" dirty="0"/>
          </a:p>
          <a:p>
            <a:pPr algn="just" marL="279400" indent="-279400">
              <a:spcAft>
                <a:spcPts val="1400"/>
              </a:spcAft>
              <a:buSzPct val="100000"/>
              <a:buChar char="•"/>
            </a:pPr>
            <a:r>
              <a:rPr lang="en-US" sz="2200" dirty="0">
                <a:solidFill>
                  <a:schemeClr val="accent1"/>
                </a:solidFill>
              </a:rPr>
              <a:t>Tasarım retrospektif kohorta daha yakın</a:t>
            </a:r>
            <a:endParaRPr lang="en-US" sz="2200" dirty="0"/>
          </a:p>
        </p:txBody>
      </p:sp>
      <p:sp>
        <p:nvSpPr>
          <p:cNvPr id="14" name="Kaynak"/>
          <p:cNvSpPr txBox="1"/>
          <p:nvPr/>
        </p:nvSpPr>
        <p:spPr>
          <a:xfrm>
            <a:off x="548640" y="6382512"/>
            <a:ext cx="10424160" cy="292608"/>
          </a:xfrm>
          <a:prstGeom prst="rect">
            <a:avLst/>
          </a:prstGeom>
          <a:noFill/>
          <a:ln/>
        </p:spPr>
        <p:txBody>
          <a:bodyPr wrap="square" lIns="0" tIns="0" rIns="0" bIns="0" rtlCol="0" anchor="ctr"/>
          <a:lstStyle/>
          <a:p>
            <a:pPr indent="0" marL="0">
              <a:buNone/>
            </a:pPr>
            <a:r>
              <a:rPr lang="en-US" sz="1200" i="1" dirty="0">
                <a:solidFill>
                  <a:schemeClr val="accent3"/>
                </a:solidFill>
              </a:rPr>
              <a:t>Kaynak: Cenberlitaş E, Gökçe A, Öztürk O. Turk J Fam Pract. 2026;30(2):97-106.</a:t>
            </a:r>
            <a:endParaRPr lang="en-US" sz="1200" dirty="0"/>
          </a:p>
        </p:txBody>
      </p:sp>
      <p:sp>
        <p:nvSpPr>
          <p:cNvPr id="25" name="Slide Number Placeholder 0"/>
          <p:cNvSpPr>
            <a:spLocks noGrp="1"/>
          </p:cNvSpPr>
          <p:nvPr>
            <p:ph type="sldNum" sz="quarter" idx="4294967295"/>
          </p:nvPr>
        </p:nvSpPr>
        <p:spPr>
          <a:xfrm>
            <a:off x="11201400" y="6382512"/>
            <a:ext cx="548640" cy="292608"/>
          </a:xfrm>
          <a:prstGeom prst="rect">
            <a:avLst/>
          </a:prstGeom>
          <a:extLst>
            <a:ext uri="{C572A759-6A51-4108-AA02-DFA0A04FC94B}">
              <ma14:wrappingTextBoxFlag xmlns:ma14="http://schemas.microsoft.com/office/mac/drawingml/2011/main" val="0"/>
            </a:ext>
          </a:extLst>
        </p:spPr>
        <p:txBody>
          <a:bodyPr/>
          <a:lstStyle>
            <a:lvl1pPr>
              <a:defRPr sz="1400">
                <a:solidFill>
                  <a:srgbClr val="7A8C94"/>
                </a:solidFill>
              </a:defRPr>
            </a:lvl1pPr>
          </a:lstStyle>
          <a:p>
            <a:pPr algn="r"/>
            <a:fld id="{F7021451-1387-4CA6-816F-3879F97B5CBC}" type="slidenum">
              <a:rPr b="0" lang="en-US"/>
              <a:t>22</a:t>
            </a:fld>
            <a:endParaRPr lang="en-US"/>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spTree>
      <p:nvGrpSpPr>
        <p:cNvPr id="1" name=""/>
        <p:cNvGrpSpPr/>
        <p:nvPr/>
      </p:nvGrpSpPr>
      <p:grpSpPr>
        <a:xfrm>
          <a:off x="0" y="0"/>
          <a:ext cx="0" cy="0"/>
          <a:chOff x="0" y="0"/>
          <a:chExt cx="0" cy="0"/>
        </a:xfrm>
      </p:grpSpPr>
      <p:sp>
        <p:nvSpPr>
          <p:cNvPr id="3" name="Text 0"/>
          <p:cNvSpPr/>
          <p:nvPr>
            <p:ph idx="100" type="title" hasCustomPrompt="1"/>
          </p:nvPr>
        </p:nvSpPr>
        <p:spPr>
          <a:xfrm>
            <a:off x="548640" y="320040"/>
            <a:ext cx="10607040" cy="868680"/>
          </a:xfrm>
          <a:prstGeom prst="rect">
            <a:avLst/>
          </a:prstGeom>
          <a:noFill/>
          <a:ln/>
        </p:spPr>
        <p:txBody>
          <a:bodyPr wrap="square" lIns="0" tIns="0" rIns="0" bIns="0" rtlCol="0" anchor="ctr"/>
          <a:lstStyle/>
          <a:p>
            <a:pPr algn="l" indent="0" marL="0">
              <a:buNone/>
            </a:pPr>
            <a:r>
              <a:rPr lang="en-US" sz="3600" b="1" dirty="0">
                <a:solidFill>
                  <a:schemeClr val="accent1"/>
                </a:solidFill>
              </a:rPr>
              <a:t>Eleştirel değerlendirme: raporlama</a:t>
            </a:r>
            <a:endParaRPr lang="en-US" sz="3600" dirty="0"/>
          </a:p>
        </p:txBody>
      </p:sp>
      <p:sp>
        <p:nvSpPr>
          <p:cNvPr id="4" name="Ikon zemini"/>
          <p:cNvSpPr/>
          <p:nvPr/>
        </p:nvSpPr>
        <p:spPr>
          <a:xfrm>
            <a:off x="548640" y="1508760"/>
            <a:ext cx="1371600" cy="1371600"/>
          </a:xfrm>
          <a:prstGeom prst="ellipse">
            <a:avLst/>
          </a:prstGeom>
          <a:solidFill>
            <a:schemeClr val="accent2"/>
          </a:solidFill>
          <a:ln w="12700">
            <a:solidFill>
              <a:schemeClr val="accent2"/>
            </a:solidFill>
            <a:prstDash val="solid"/>
          </a:ln>
        </p:spPr>
      </p:sp>
      <p:pic>
        <p:nvPicPr>
          <p:cNvPr id="5" name="Ikon" descr="FaSearch">    </p:cNvPr>
          <p:cNvPicPr>
            <a:picLocks noChangeAspect="1"/>
          </p:cNvPicPr>
          <p:nvPr/>
        </p:nvPicPr>
        <p:blipFill>
          <a:blip r:embed="rId1"/>
          <a:stretch>
            <a:fillRect/>
          </a:stretch>
        </p:blipFill>
        <p:spPr>
          <a:xfrm>
            <a:off x="905256" y="1865376"/>
            <a:ext cx="658368" cy="658368"/>
          </a:xfrm>
          <a:prstGeom prst="rect">
            <a:avLst/>
          </a:prstGeom>
        </p:spPr>
      </p:pic>
      <p:sp>
        <p:nvSpPr>
          <p:cNvPr id="6" name="Text 2"/>
          <p:cNvSpPr txBox="1"/>
          <p:nvPr/>
        </p:nvSpPr>
        <p:spPr>
          <a:xfrm>
            <a:off x="2377440" y="1417320"/>
            <a:ext cx="9235440" cy="4572000"/>
          </a:xfrm>
          <a:prstGeom prst="rect">
            <a:avLst/>
          </a:prstGeom>
          <a:noFill/>
          <a:ln/>
        </p:spPr>
        <p:txBody>
          <a:bodyPr wrap="square" lIns="0" tIns="0" rIns="0" bIns="0" rtlCol="0" anchor="t"/>
          <a:lstStyle/>
          <a:p>
            <a:pPr algn="just" marL="279400" indent="-279400">
              <a:spcAft>
                <a:spcPts val="1200"/>
              </a:spcAft>
              <a:buSzPct val="100000"/>
              <a:buChar char="•"/>
            </a:pPr>
            <a:r>
              <a:rPr lang="en-US" sz="2400" dirty="0">
                <a:solidFill>
                  <a:schemeClr val="accent1"/>
                </a:solidFill>
              </a:rPr>
              <a:t>Bonferroni eşiği yorumda uygulanmamış</a:t>
            </a:r>
            <a:endParaRPr lang="en-US" sz="2400" dirty="0"/>
          </a:p>
          <a:p>
            <a:pPr algn="just" marL="279400" indent="-279400">
              <a:spcAft>
                <a:spcPts val="1200"/>
              </a:spcAft>
              <a:buSzPct val="100000"/>
              <a:buChar char="•"/>
            </a:pPr>
            <a:r>
              <a:rPr lang="en-US" sz="2400" dirty="0">
                <a:solidFill>
                  <a:schemeClr val="accent1"/>
                </a:solidFill>
              </a:rPr>
              <a:t>Kruskal–Wallis sonrası Duncan testi</a:t>
            </a:r>
            <a:endParaRPr lang="en-US" sz="2400" dirty="0"/>
          </a:p>
          <a:p>
            <a:pPr algn="just" marL="279400" indent="-279400">
              <a:spcAft>
                <a:spcPts val="1200"/>
              </a:spcAft>
              <a:buSzPct val="100000"/>
              <a:buChar char="•"/>
            </a:pPr>
            <a:r>
              <a:rPr lang="en-US" sz="2400" dirty="0">
                <a:solidFill>
                  <a:schemeClr val="accent1"/>
                </a:solidFill>
              </a:rPr>
              <a:t>Paydalar tutarsız: 432 ve 399</a:t>
            </a:r>
            <a:endParaRPr lang="en-US" sz="2400" dirty="0"/>
          </a:p>
          <a:p>
            <a:pPr algn="just" marL="279400" indent="-279400">
              <a:spcAft>
                <a:spcPts val="1200"/>
              </a:spcAft>
              <a:buSzPct val="100000"/>
              <a:buChar char="•"/>
            </a:pPr>
            <a:r>
              <a:rPr lang="en-US" sz="2400" dirty="0">
                <a:solidFill>
                  <a:schemeClr val="accent1"/>
                </a:solidFill>
              </a:rPr>
              <a:t>Özet ile tablolar arasında farklılıklar</a:t>
            </a:r>
            <a:endParaRPr lang="en-US" sz="2400" dirty="0"/>
          </a:p>
          <a:p>
            <a:pPr algn="just" marL="279400" indent="-279400">
              <a:spcAft>
                <a:spcPts val="1200"/>
              </a:spcAft>
              <a:buSzPct val="100000"/>
              <a:buChar char="•"/>
            </a:pPr>
            <a:r>
              <a:rPr lang="en-US" sz="2400" dirty="0">
                <a:solidFill>
                  <a:schemeClr val="accent1"/>
                </a:solidFill>
              </a:rPr>
              <a:t>Dışlama ölçütü bulgularla çelişkili</a:t>
            </a:r>
            <a:endParaRPr lang="en-US" sz="2400" dirty="0"/>
          </a:p>
          <a:p>
            <a:pPr algn="just" marL="279400" indent="-279400">
              <a:spcAft>
                <a:spcPts val="1200"/>
              </a:spcAft>
              <a:buSzPct val="100000"/>
              <a:buChar char="•"/>
            </a:pPr>
            <a:r>
              <a:rPr lang="en-US" sz="2400" dirty="0">
                <a:solidFill>
                  <a:schemeClr val="accent1"/>
                </a:solidFill>
              </a:rPr>
              <a:t>Tablo 4 ve 6'da basım hataları</a:t>
            </a:r>
            <a:endParaRPr lang="en-US" sz="2400" dirty="0"/>
          </a:p>
        </p:txBody>
      </p:sp>
      <p:sp>
        <p:nvSpPr>
          <p:cNvPr id="7" name="Kaynak"/>
          <p:cNvSpPr txBox="1"/>
          <p:nvPr/>
        </p:nvSpPr>
        <p:spPr>
          <a:xfrm>
            <a:off x="548640" y="6382512"/>
            <a:ext cx="10424160" cy="292608"/>
          </a:xfrm>
          <a:prstGeom prst="rect">
            <a:avLst/>
          </a:prstGeom>
          <a:noFill/>
          <a:ln/>
        </p:spPr>
        <p:txBody>
          <a:bodyPr wrap="square" lIns="0" tIns="0" rIns="0" bIns="0" rtlCol="0" anchor="ctr"/>
          <a:lstStyle/>
          <a:p>
            <a:pPr indent="0" marL="0">
              <a:buNone/>
            </a:pPr>
            <a:r>
              <a:rPr lang="en-US" sz="1200" i="1" dirty="0">
                <a:solidFill>
                  <a:schemeClr val="accent3"/>
                </a:solidFill>
              </a:rPr>
              <a:t>Kaynak: Cenberlitaş E, Gökçe A, Öztürk O. Turk J Fam Pract. 2026;30(2):97-106.</a:t>
            </a:r>
            <a:endParaRPr lang="en-US" sz="1200" dirty="0"/>
          </a:p>
        </p:txBody>
      </p:sp>
      <p:sp>
        <p:nvSpPr>
          <p:cNvPr id="25" name="Slide Number Placeholder 0"/>
          <p:cNvSpPr>
            <a:spLocks noGrp="1"/>
          </p:cNvSpPr>
          <p:nvPr>
            <p:ph type="sldNum" sz="quarter" idx="4294967295"/>
          </p:nvPr>
        </p:nvSpPr>
        <p:spPr>
          <a:xfrm>
            <a:off x="11201400" y="6382512"/>
            <a:ext cx="548640" cy="292608"/>
          </a:xfrm>
          <a:prstGeom prst="rect">
            <a:avLst/>
          </a:prstGeom>
          <a:extLst>
            <a:ext uri="{C572A759-6A51-4108-AA02-DFA0A04FC94B}">
              <ma14:wrappingTextBoxFlag xmlns:ma14="http://schemas.microsoft.com/office/mac/drawingml/2011/main" val="0"/>
            </a:ext>
          </a:extLst>
        </p:spPr>
        <p:txBody>
          <a:bodyPr/>
          <a:lstStyle>
            <a:lvl1pPr>
              <a:defRPr sz="1400">
                <a:solidFill>
                  <a:srgbClr val="7A8C94"/>
                </a:solidFill>
              </a:defRPr>
            </a:lvl1pPr>
          </a:lstStyle>
          <a:p>
            <a:pPr algn="r"/>
            <a:fld id="{F7021451-1387-4CA6-816F-3879F97B5CBC}" type="slidenum">
              <a:rPr b="0" lang="en-US"/>
              <a:t>23</a:t>
            </a:fld>
            <a:endParaRPr lang="en-US"/>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spTree>
      <p:nvGrpSpPr>
        <p:cNvPr id="1" name=""/>
        <p:cNvGrpSpPr/>
        <p:nvPr/>
      </p:nvGrpSpPr>
      <p:grpSpPr>
        <a:xfrm>
          <a:off x="0" y="0"/>
          <a:ext cx="0" cy="0"/>
          <a:chOff x="0" y="0"/>
          <a:chExt cx="0" cy="0"/>
        </a:xfrm>
      </p:grpSpPr>
      <p:sp>
        <p:nvSpPr>
          <p:cNvPr id="3" name="Text 0"/>
          <p:cNvSpPr/>
          <p:nvPr>
            <p:ph idx="100" type="title" hasCustomPrompt="1"/>
          </p:nvPr>
        </p:nvSpPr>
        <p:spPr>
          <a:xfrm>
            <a:off x="548640" y="320040"/>
            <a:ext cx="10607040" cy="868680"/>
          </a:xfrm>
          <a:prstGeom prst="rect">
            <a:avLst/>
          </a:prstGeom>
          <a:noFill/>
          <a:ln/>
        </p:spPr>
        <p:txBody>
          <a:bodyPr wrap="square" lIns="0" tIns="0" rIns="0" bIns="0" rtlCol="0" anchor="ctr"/>
          <a:lstStyle/>
          <a:p>
            <a:pPr algn="l" indent="0" marL="0">
              <a:buNone/>
            </a:pPr>
            <a:r>
              <a:rPr lang="en-US" sz="3600" b="1" dirty="0">
                <a:solidFill>
                  <a:schemeClr val="accent1"/>
                </a:solidFill>
              </a:rPr>
              <a:t>Yazarların sonucu</a:t>
            </a:r>
            <a:endParaRPr lang="en-US" sz="3600" dirty="0"/>
          </a:p>
        </p:txBody>
      </p:sp>
      <p:sp>
        <p:nvSpPr>
          <p:cNvPr id="4" name="Kart"/>
          <p:cNvSpPr/>
          <p:nvPr/>
        </p:nvSpPr>
        <p:spPr>
          <a:xfrm>
            <a:off x="548640" y="1508760"/>
            <a:ext cx="3566160" cy="3291840"/>
          </a:xfrm>
          <a:prstGeom prst="roundRect">
            <a:avLst>
              <a:gd name="adj" fmla="val 3333"/>
            </a:avLst>
          </a:prstGeom>
          <a:solidFill>
            <a:schemeClr val="bg2"/>
          </a:solidFill>
          <a:ln w="12700">
            <a:solidFill>
              <a:schemeClr val="bg2"/>
            </a:solidFill>
            <a:prstDash val="solid"/>
          </a:ln>
        </p:spPr>
      </p:sp>
      <p:sp>
        <p:nvSpPr>
          <p:cNvPr id="5" name="Text 2"/>
          <p:cNvSpPr txBox="1"/>
          <p:nvPr/>
        </p:nvSpPr>
        <p:spPr>
          <a:xfrm>
            <a:off x="548640" y="1828800"/>
            <a:ext cx="3566160" cy="1097280"/>
          </a:xfrm>
          <a:prstGeom prst="rect">
            <a:avLst/>
          </a:prstGeom>
          <a:noFill/>
          <a:ln/>
        </p:spPr>
        <p:txBody>
          <a:bodyPr wrap="square" lIns="0" tIns="0" rIns="0" bIns="0" rtlCol="0" anchor="ctr"/>
          <a:lstStyle/>
          <a:p>
            <a:pPr algn="ctr" indent="0" marL="0">
              <a:buNone/>
            </a:pPr>
            <a:r>
              <a:rPr lang="en-US" sz="4400" b="1" dirty="0">
                <a:solidFill>
                  <a:schemeClr val="accent2"/>
                </a:solidFill>
              </a:rPr>
              <a:t>Üçte bir</a:t>
            </a:r>
            <a:endParaRPr lang="en-US" sz="4400" dirty="0"/>
          </a:p>
        </p:txBody>
      </p:sp>
      <p:sp>
        <p:nvSpPr>
          <p:cNvPr id="6" name="Text 3"/>
          <p:cNvSpPr txBox="1"/>
          <p:nvPr/>
        </p:nvSpPr>
        <p:spPr>
          <a:xfrm>
            <a:off x="822960" y="3017520"/>
            <a:ext cx="3017520" cy="1554480"/>
          </a:xfrm>
          <a:prstGeom prst="rect">
            <a:avLst/>
          </a:prstGeom>
          <a:noFill/>
          <a:ln/>
        </p:spPr>
        <p:txBody>
          <a:bodyPr wrap="square" lIns="0" tIns="0" rIns="0" bIns="0" rtlCol="0" anchor="t"/>
          <a:lstStyle/>
          <a:p>
            <a:pPr algn="ctr" indent="0" marL="0">
              <a:buNone/>
            </a:pPr>
            <a:r>
              <a:rPr lang="en-US" sz="2200" dirty="0">
                <a:solidFill>
                  <a:schemeClr val="accent1"/>
                </a:solidFill>
              </a:rPr>
              <a:t>hasta sigarayı bırakmıştır</a:t>
            </a:r>
            <a:endParaRPr lang="en-US" sz="2200" dirty="0"/>
          </a:p>
        </p:txBody>
      </p:sp>
      <p:sp>
        <p:nvSpPr>
          <p:cNvPr id="7" name="Kart"/>
          <p:cNvSpPr/>
          <p:nvPr/>
        </p:nvSpPr>
        <p:spPr>
          <a:xfrm>
            <a:off x="4297680" y="1508760"/>
            <a:ext cx="3566160" cy="3291840"/>
          </a:xfrm>
          <a:prstGeom prst="roundRect">
            <a:avLst>
              <a:gd name="adj" fmla="val 3333"/>
            </a:avLst>
          </a:prstGeom>
          <a:solidFill>
            <a:schemeClr val="accent1"/>
          </a:solidFill>
          <a:ln w="12700">
            <a:solidFill>
              <a:schemeClr val="accent1"/>
            </a:solidFill>
            <a:prstDash val="solid"/>
          </a:ln>
        </p:spPr>
      </p:sp>
      <p:sp>
        <p:nvSpPr>
          <p:cNvPr id="8" name="Text 5"/>
          <p:cNvSpPr txBox="1"/>
          <p:nvPr/>
        </p:nvSpPr>
        <p:spPr>
          <a:xfrm>
            <a:off x="4297680" y="1828800"/>
            <a:ext cx="3566160" cy="1097280"/>
          </a:xfrm>
          <a:prstGeom prst="rect">
            <a:avLst/>
          </a:prstGeom>
          <a:noFill/>
          <a:ln/>
        </p:spPr>
        <p:txBody>
          <a:bodyPr wrap="square" lIns="0" tIns="0" rIns="0" bIns="0" rtlCol="0" anchor="ctr"/>
          <a:lstStyle/>
          <a:p>
            <a:pPr algn="ctr" indent="0" marL="0">
              <a:buNone/>
            </a:pPr>
            <a:r>
              <a:rPr lang="en-US" sz="4400" b="1" dirty="0">
                <a:solidFill>
                  <a:schemeClr val="bg1"/>
                </a:solidFill>
              </a:rPr>
              <a:t>Kombine</a:t>
            </a:r>
            <a:endParaRPr lang="en-US" sz="4400" dirty="0"/>
          </a:p>
        </p:txBody>
      </p:sp>
      <p:sp>
        <p:nvSpPr>
          <p:cNvPr id="9" name="Text 6"/>
          <p:cNvSpPr txBox="1"/>
          <p:nvPr/>
        </p:nvSpPr>
        <p:spPr>
          <a:xfrm>
            <a:off x="4572000" y="3017520"/>
            <a:ext cx="3017520" cy="1554480"/>
          </a:xfrm>
          <a:prstGeom prst="rect">
            <a:avLst/>
          </a:prstGeom>
          <a:noFill/>
          <a:ln/>
        </p:spPr>
        <p:txBody>
          <a:bodyPr wrap="square" lIns="0" tIns="0" rIns="0" bIns="0" rtlCol="0" anchor="t"/>
          <a:lstStyle/>
          <a:p>
            <a:pPr algn="ctr" indent="0" marL="0">
              <a:buNone/>
            </a:pPr>
            <a:r>
              <a:rPr lang="en-US" sz="2200" dirty="0">
                <a:solidFill>
                  <a:schemeClr val="bg1"/>
                </a:solidFill>
              </a:rPr>
              <a:t>tedavide bırakma oranı daha yüksektir</a:t>
            </a:r>
            <a:endParaRPr lang="en-US" sz="2200" dirty="0"/>
          </a:p>
        </p:txBody>
      </p:sp>
      <p:sp>
        <p:nvSpPr>
          <p:cNvPr id="10" name="Kart"/>
          <p:cNvSpPr/>
          <p:nvPr/>
        </p:nvSpPr>
        <p:spPr>
          <a:xfrm>
            <a:off x="8046720" y="1508760"/>
            <a:ext cx="3566160" cy="3291840"/>
          </a:xfrm>
          <a:prstGeom prst="roundRect">
            <a:avLst>
              <a:gd name="adj" fmla="val 3333"/>
            </a:avLst>
          </a:prstGeom>
          <a:solidFill>
            <a:schemeClr val="bg2"/>
          </a:solidFill>
          <a:ln w="12700">
            <a:solidFill>
              <a:schemeClr val="bg2"/>
            </a:solidFill>
            <a:prstDash val="solid"/>
          </a:ln>
        </p:spPr>
      </p:sp>
      <p:sp>
        <p:nvSpPr>
          <p:cNvPr id="11" name="Text 8"/>
          <p:cNvSpPr txBox="1"/>
          <p:nvPr/>
        </p:nvSpPr>
        <p:spPr>
          <a:xfrm>
            <a:off x="8046720" y="1828800"/>
            <a:ext cx="3566160" cy="1097280"/>
          </a:xfrm>
          <a:prstGeom prst="rect">
            <a:avLst/>
          </a:prstGeom>
          <a:noFill/>
          <a:ln/>
        </p:spPr>
        <p:txBody>
          <a:bodyPr wrap="square" lIns="0" tIns="0" rIns="0" bIns="0" rtlCol="0" anchor="ctr"/>
          <a:lstStyle/>
          <a:p>
            <a:pPr algn="ctr" indent="0" marL="0">
              <a:buNone/>
            </a:pPr>
            <a:r>
              <a:rPr lang="en-US" sz="4400" b="1" dirty="0">
                <a:solidFill>
                  <a:schemeClr val="accent2"/>
                </a:solidFill>
              </a:rPr>
              <a:t>Uyum</a:t>
            </a:r>
            <a:endParaRPr lang="en-US" sz="4400" dirty="0"/>
          </a:p>
        </p:txBody>
      </p:sp>
      <p:sp>
        <p:nvSpPr>
          <p:cNvPr id="12" name="Text 9"/>
          <p:cNvSpPr txBox="1"/>
          <p:nvPr/>
        </p:nvSpPr>
        <p:spPr>
          <a:xfrm>
            <a:off x="8321040" y="3017520"/>
            <a:ext cx="3017520" cy="1554480"/>
          </a:xfrm>
          <a:prstGeom prst="rect">
            <a:avLst/>
          </a:prstGeom>
          <a:noFill/>
          <a:ln/>
        </p:spPr>
        <p:txBody>
          <a:bodyPr wrap="square" lIns="0" tIns="0" rIns="0" bIns="0" rtlCol="0" anchor="t"/>
          <a:lstStyle/>
          <a:p>
            <a:pPr algn="ctr" indent="0" marL="0">
              <a:buNone/>
            </a:pPr>
            <a:r>
              <a:rPr lang="en-US" sz="2200" dirty="0">
                <a:solidFill>
                  <a:schemeClr val="accent1"/>
                </a:solidFill>
              </a:rPr>
              <a:t>arttıkça başarı artmaktadır</a:t>
            </a:r>
            <a:endParaRPr lang="en-US" sz="2200" dirty="0"/>
          </a:p>
        </p:txBody>
      </p:sp>
      <p:sp>
        <p:nvSpPr>
          <p:cNvPr id="13" name="Text 10"/>
          <p:cNvSpPr txBox="1"/>
          <p:nvPr/>
        </p:nvSpPr>
        <p:spPr>
          <a:xfrm>
            <a:off x="548640" y="5120640"/>
            <a:ext cx="11064240" cy="822960"/>
          </a:xfrm>
          <a:prstGeom prst="rect">
            <a:avLst/>
          </a:prstGeom>
          <a:noFill/>
          <a:ln/>
        </p:spPr>
        <p:txBody>
          <a:bodyPr wrap="square" lIns="0" tIns="0" rIns="0" bIns="0" rtlCol="0" anchor="ctr"/>
          <a:lstStyle/>
          <a:p>
            <a:pPr algn="just" indent="0" marL="0">
              <a:buNone/>
            </a:pPr>
            <a:r>
              <a:rPr lang="en-US" sz="2200" i="1" dirty="0">
                <a:solidFill>
                  <a:schemeClr val="accent1"/>
                </a:solidFill>
              </a:rPr>
              <a:t>Öneri: Tedavi seanslarında motivasyonu artırmaya yönelik çabalar yoğunlaştırılmalıdır.</a:t>
            </a:r>
            <a:endParaRPr lang="en-US" sz="2200" dirty="0"/>
          </a:p>
        </p:txBody>
      </p:sp>
      <p:sp>
        <p:nvSpPr>
          <p:cNvPr id="14" name="Kaynak"/>
          <p:cNvSpPr txBox="1"/>
          <p:nvPr/>
        </p:nvSpPr>
        <p:spPr>
          <a:xfrm>
            <a:off x="548640" y="6382512"/>
            <a:ext cx="10424160" cy="292608"/>
          </a:xfrm>
          <a:prstGeom prst="rect">
            <a:avLst/>
          </a:prstGeom>
          <a:noFill/>
          <a:ln/>
        </p:spPr>
        <p:txBody>
          <a:bodyPr wrap="square" lIns="0" tIns="0" rIns="0" bIns="0" rtlCol="0" anchor="ctr"/>
          <a:lstStyle/>
          <a:p>
            <a:pPr indent="0" marL="0">
              <a:buNone/>
            </a:pPr>
            <a:r>
              <a:rPr lang="en-US" sz="1200" i="1" dirty="0">
                <a:solidFill>
                  <a:schemeClr val="accent3"/>
                </a:solidFill>
              </a:rPr>
              <a:t>Kaynak: Cenberlitaş E, Gökçe A, Öztürk O. Turk J Fam Pract. 2026;30(2):97-106.</a:t>
            </a:r>
            <a:endParaRPr lang="en-US" sz="1200" dirty="0"/>
          </a:p>
        </p:txBody>
      </p:sp>
      <p:sp>
        <p:nvSpPr>
          <p:cNvPr id="25" name="Slide Number Placeholder 0"/>
          <p:cNvSpPr>
            <a:spLocks noGrp="1"/>
          </p:cNvSpPr>
          <p:nvPr>
            <p:ph type="sldNum" sz="quarter" idx="4294967295"/>
          </p:nvPr>
        </p:nvSpPr>
        <p:spPr>
          <a:xfrm>
            <a:off x="11201400" y="6382512"/>
            <a:ext cx="548640" cy="292608"/>
          </a:xfrm>
          <a:prstGeom prst="rect">
            <a:avLst/>
          </a:prstGeom>
          <a:extLst>
            <a:ext uri="{C572A759-6A51-4108-AA02-DFA0A04FC94B}">
              <ma14:wrappingTextBoxFlag xmlns:ma14="http://schemas.microsoft.com/office/mac/drawingml/2011/main" val="0"/>
            </a:ext>
          </a:extLst>
        </p:spPr>
        <p:txBody>
          <a:bodyPr/>
          <a:lstStyle>
            <a:lvl1pPr>
              <a:defRPr sz="1400">
                <a:solidFill>
                  <a:srgbClr val="7A8C94"/>
                </a:solidFill>
              </a:defRPr>
            </a:lvl1pPr>
          </a:lstStyle>
          <a:p>
            <a:pPr algn="r"/>
            <a:fld id="{F7021451-1387-4CA6-816F-3879F97B5CBC}" type="slidenum">
              <a:rPr b="0" lang="en-US"/>
              <a:t>24</a:t>
            </a:fld>
            <a:endParaRPr lang="en-US"/>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spTree>
      <p:nvGrpSpPr>
        <p:cNvPr id="1" name=""/>
        <p:cNvGrpSpPr/>
        <p:nvPr/>
      </p:nvGrpSpPr>
      <p:grpSpPr>
        <a:xfrm>
          <a:off x="0" y="0"/>
          <a:ext cx="0" cy="0"/>
          <a:chOff x="0" y="0"/>
          <a:chExt cx="0" cy="0"/>
        </a:xfrm>
      </p:grpSpPr>
      <p:sp>
        <p:nvSpPr>
          <p:cNvPr id="3" name="Text 0"/>
          <p:cNvSpPr/>
          <p:nvPr>
            <p:ph idx="100" type="title" hasCustomPrompt="1"/>
          </p:nvPr>
        </p:nvSpPr>
        <p:spPr>
          <a:xfrm>
            <a:off x="548640" y="320040"/>
            <a:ext cx="10607040" cy="868680"/>
          </a:xfrm>
          <a:prstGeom prst="rect">
            <a:avLst/>
          </a:prstGeom>
          <a:noFill/>
          <a:ln/>
        </p:spPr>
        <p:txBody>
          <a:bodyPr wrap="square" lIns="0" tIns="0" rIns="0" bIns="0" rtlCol="0" anchor="ctr"/>
          <a:lstStyle/>
          <a:p>
            <a:pPr algn="l" indent="0" marL="0">
              <a:buNone/>
            </a:pPr>
            <a:r>
              <a:rPr lang="en-US" sz="3600" b="1" dirty="0">
                <a:solidFill>
                  <a:schemeClr val="accent1"/>
                </a:solidFill>
              </a:rPr>
              <a:t>Olgu: Siz ne yapardınız?</a:t>
            </a:r>
            <a:endParaRPr lang="en-US" sz="3600" dirty="0"/>
          </a:p>
        </p:txBody>
      </p:sp>
      <p:sp>
        <p:nvSpPr>
          <p:cNvPr id="4" name="Kart"/>
          <p:cNvSpPr/>
          <p:nvPr/>
        </p:nvSpPr>
        <p:spPr>
          <a:xfrm>
            <a:off x="548640" y="1371600"/>
            <a:ext cx="5760720" cy="4572000"/>
          </a:xfrm>
          <a:prstGeom prst="roundRect">
            <a:avLst>
              <a:gd name="adj" fmla="val 2400"/>
            </a:avLst>
          </a:prstGeom>
          <a:solidFill>
            <a:schemeClr val="bg2"/>
          </a:solidFill>
          <a:ln w="12700">
            <a:solidFill>
              <a:schemeClr val="bg2"/>
            </a:solidFill>
            <a:prstDash val="solid"/>
          </a:ln>
        </p:spPr>
      </p:sp>
      <p:sp>
        <p:nvSpPr>
          <p:cNvPr id="5" name="Ikon zemini"/>
          <p:cNvSpPr/>
          <p:nvPr/>
        </p:nvSpPr>
        <p:spPr>
          <a:xfrm>
            <a:off x="822960" y="1600200"/>
            <a:ext cx="822960" cy="822960"/>
          </a:xfrm>
          <a:prstGeom prst="ellipse">
            <a:avLst/>
          </a:prstGeom>
          <a:solidFill>
            <a:schemeClr val="accent2"/>
          </a:solidFill>
          <a:ln w="12700">
            <a:solidFill>
              <a:schemeClr val="accent2"/>
            </a:solidFill>
            <a:prstDash val="solid"/>
          </a:ln>
        </p:spPr>
      </p:sp>
      <p:pic>
        <p:nvPicPr>
          <p:cNvPr id="6" name="Ikon" descr="FaUserMd">    </p:cNvPr>
          <p:cNvPicPr>
            <a:picLocks noChangeAspect="1"/>
          </p:cNvPicPr>
          <p:nvPr/>
        </p:nvPicPr>
        <p:blipFill>
          <a:blip r:embed="rId1"/>
          <a:stretch>
            <a:fillRect/>
          </a:stretch>
        </p:blipFill>
        <p:spPr>
          <a:xfrm>
            <a:off x="1036930" y="1814170"/>
            <a:ext cx="395021" cy="395021"/>
          </a:xfrm>
          <a:prstGeom prst="rect">
            <a:avLst/>
          </a:prstGeom>
        </p:spPr>
      </p:pic>
      <p:sp>
        <p:nvSpPr>
          <p:cNvPr id="7" name="Text 3"/>
          <p:cNvSpPr txBox="1"/>
          <p:nvPr/>
        </p:nvSpPr>
        <p:spPr>
          <a:xfrm>
            <a:off x="1828800" y="1600200"/>
            <a:ext cx="4297680" cy="822960"/>
          </a:xfrm>
          <a:prstGeom prst="rect">
            <a:avLst/>
          </a:prstGeom>
          <a:noFill/>
          <a:ln/>
        </p:spPr>
        <p:txBody>
          <a:bodyPr wrap="square" lIns="0" tIns="0" rIns="0" bIns="0" rtlCol="0" anchor="ctr"/>
          <a:lstStyle/>
          <a:p>
            <a:pPr indent="0" marL="0">
              <a:buNone/>
            </a:pPr>
            <a:r>
              <a:rPr lang="en-US" sz="2600" b="1" dirty="0">
                <a:solidFill>
                  <a:schemeClr val="accent1"/>
                </a:solidFill>
              </a:rPr>
              <a:t>52 yaşında erkek hasta</a:t>
            </a:r>
            <a:endParaRPr lang="en-US" sz="2600" dirty="0"/>
          </a:p>
        </p:txBody>
      </p:sp>
      <p:sp>
        <p:nvSpPr>
          <p:cNvPr id="8" name="Text 4"/>
          <p:cNvSpPr txBox="1"/>
          <p:nvPr/>
        </p:nvSpPr>
        <p:spPr>
          <a:xfrm>
            <a:off x="914400" y="2697480"/>
            <a:ext cx="5120640" cy="3017520"/>
          </a:xfrm>
          <a:prstGeom prst="rect">
            <a:avLst/>
          </a:prstGeom>
          <a:noFill/>
          <a:ln/>
        </p:spPr>
        <p:txBody>
          <a:bodyPr wrap="square" lIns="0" tIns="0" rIns="0" bIns="0" rtlCol="0" anchor="t"/>
          <a:lstStyle/>
          <a:p>
            <a:pPr algn="just" marL="279400" indent="-279400">
              <a:spcAft>
                <a:spcPts val="1400"/>
              </a:spcAft>
              <a:buSzPct val="100000"/>
              <a:buChar char="•"/>
            </a:pPr>
            <a:r>
              <a:rPr lang="en-US" sz="2200" dirty="0">
                <a:solidFill>
                  <a:schemeClr val="accent1"/>
                </a:solidFill>
              </a:rPr>
              <a:t>Günde 25 sigara, 30 paket-yıl</a:t>
            </a:r>
            <a:endParaRPr lang="en-US" sz="2200" dirty="0"/>
          </a:p>
          <a:p>
            <a:pPr algn="just" marL="279400" indent="-279400">
              <a:spcAft>
                <a:spcPts val="1400"/>
              </a:spcAft>
              <a:buSzPct val="100000"/>
              <a:buChar char="•"/>
            </a:pPr>
            <a:r>
              <a:rPr lang="en-US" sz="2200" dirty="0">
                <a:solidFill>
                  <a:schemeClr val="accent1"/>
                </a:solidFill>
              </a:rPr>
              <a:t>FNBT: 8 (yüksek bağımlılık)</a:t>
            </a:r>
            <a:endParaRPr lang="en-US" sz="2200" dirty="0"/>
          </a:p>
          <a:p>
            <a:pPr algn="just" marL="279400" indent="-279400">
              <a:spcAft>
                <a:spcPts val="1400"/>
              </a:spcAft>
              <a:buSzPct val="100000"/>
              <a:buChar char="•"/>
            </a:pPr>
            <a:r>
              <a:rPr lang="en-US" sz="2200" dirty="0">
                <a:solidFill>
                  <a:schemeClr val="accent1"/>
                </a:solidFill>
              </a:rPr>
              <a:t>Bupropion ile başarısız deneme</a:t>
            </a:r>
            <a:endParaRPr lang="en-US" sz="2200" dirty="0"/>
          </a:p>
          <a:p>
            <a:pPr algn="just" marL="279400" indent="-279400">
              <a:spcAft>
                <a:spcPts val="1400"/>
              </a:spcAft>
              <a:buSzPct val="100000"/>
              <a:buChar char="•"/>
            </a:pPr>
            <a:r>
              <a:rPr lang="en-US" sz="2200" dirty="0">
                <a:solidFill>
                  <a:schemeClr val="accent1"/>
                </a:solidFill>
              </a:rPr>
              <a:t>Eşi de sigara içiyor</a:t>
            </a:r>
            <a:endParaRPr lang="en-US" sz="2200" dirty="0"/>
          </a:p>
        </p:txBody>
      </p:sp>
      <p:sp>
        <p:nvSpPr>
          <p:cNvPr id="9" name="Kart"/>
          <p:cNvSpPr/>
          <p:nvPr/>
        </p:nvSpPr>
        <p:spPr>
          <a:xfrm>
            <a:off x="6583680" y="1371600"/>
            <a:ext cx="5029200" cy="4572000"/>
          </a:xfrm>
          <a:prstGeom prst="roundRect">
            <a:avLst>
              <a:gd name="adj" fmla="val 2400"/>
            </a:avLst>
          </a:prstGeom>
          <a:solidFill>
            <a:schemeClr val="accent1"/>
          </a:solidFill>
          <a:ln w="12700">
            <a:solidFill>
              <a:schemeClr val="accent1"/>
            </a:solidFill>
            <a:prstDash val="solid"/>
          </a:ln>
        </p:spPr>
      </p:sp>
      <p:sp>
        <p:nvSpPr>
          <p:cNvPr id="10" name="Ikon zemini"/>
          <p:cNvSpPr/>
          <p:nvPr/>
        </p:nvSpPr>
        <p:spPr>
          <a:xfrm>
            <a:off x="6858000" y="1600200"/>
            <a:ext cx="822960" cy="822960"/>
          </a:xfrm>
          <a:prstGeom prst="ellipse">
            <a:avLst/>
          </a:prstGeom>
          <a:solidFill>
            <a:schemeClr val="accent2"/>
          </a:solidFill>
          <a:ln w="12700">
            <a:solidFill>
              <a:schemeClr val="accent2"/>
            </a:solidFill>
            <a:prstDash val="solid"/>
          </a:ln>
        </p:spPr>
      </p:sp>
      <p:pic>
        <p:nvPicPr>
          <p:cNvPr id="11" name="Ikon" descr="FaQuestion">    </p:cNvPr>
          <p:cNvPicPr>
            <a:picLocks noChangeAspect="1"/>
          </p:cNvPicPr>
          <p:nvPr/>
        </p:nvPicPr>
        <p:blipFill>
          <a:blip r:embed="rId2"/>
          <a:stretch>
            <a:fillRect/>
          </a:stretch>
        </p:blipFill>
        <p:spPr>
          <a:xfrm>
            <a:off x="7071970" y="1814170"/>
            <a:ext cx="395021" cy="395021"/>
          </a:xfrm>
          <a:prstGeom prst="rect">
            <a:avLst/>
          </a:prstGeom>
        </p:spPr>
      </p:pic>
      <p:sp>
        <p:nvSpPr>
          <p:cNvPr id="12" name="Text 7"/>
          <p:cNvSpPr txBox="1"/>
          <p:nvPr/>
        </p:nvSpPr>
        <p:spPr>
          <a:xfrm>
            <a:off x="7863840" y="1600200"/>
            <a:ext cx="3566160" cy="822960"/>
          </a:xfrm>
          <a:prstGeom prst="rect">
            <a:avLst/>
          </a:prstGeom>
          <a:noFill/>
          <a:ln/>
        </p:spPr>
        <p:txBody>
          <a:bodyPr wrap="square" lIns="0" tIns="0" rIns="0" bIns="0" rtlCol="0" anchor="ctr"/>
          <a:lstStyle/>
          <a:p>
            <a:pPr indent="0" marL="0">
              <a:buNone/>
            </a:pPr>
            <a:r>
              <a:rPr lang="en-US" sz="2600" b="1" dirty="0">
                <a:solidFill>
                  <a:schemeClr val="bg1"/>
                </a:solidFill>
              </a:rPr>
              <a:t>Tartışalım</a:t>
            </a:r>
            <a:endParaRPr lang="en-US" sz="2600" dirty="0"/>
          </a:p>
        </p:txBody>
      </p:sp>
      <p:sp>
        <p:nvSpPr>
          <p:cNvPr id="13" name="Text 8"/>
          <p:cNvSpPr txBox="1"/>
          <p:nvPr/>
        </p:nvSpPr>
        <p:spPr>
          <a:xfrm>
            <a:off x="6949440" y="2697480"/>
            <a:ext cx="4389120" cy="3017520"/>
          </a:xfrm>
          <a:prstGeom prst="rect">
            <a:avLst/>
          </a:prstGeom>
          <a:noFill/>
          <a:ln/>
        </p:spPr>
        <p:txBody>
          <a:bodyPr wrap="square" lIns="0" tIns="0" rIns="0" bIns="0" rtlCol="0" anchor="t"/>
          <a:lstStyle/>
          <a:p>
            <a:pPr algn="just" marL="279400" indent="-279400">
              <a:spcAft>
                <a:spcPts val="1800"/>
              </a:spcAft>
              <a:buSzPct val="100000"/>
              <a:buChar char="•"/>
            </a:pPr>
            <a:r>
              <a:rPr lang="en-US" sz="2200" dirty="0">
                <a:solidFill>
                  <a:schemeClr val="bg1"/>
                </a:solidFill>
              </a:rPr>
              <a:t>Hangi tedaviyi seçerdiniz?</a:t>
            </a:r>
            <a:endParaRPr lang="en-US" sz="2200" dirty="0"/>
          </a:p>
          <a:p>
            <a:pPr algn="just" marL="279400" indent="-279400">
              <a:spcAft>
                <a:spcPts val="1800"/>
              </a:spcAft>
              <a:buSzPct val="100000"/>
              <a:buChar char="•"/>
            </a:pPr>
            <a:r>
              <a:rPr lang="en-US" sz="2200" dirty="0">
                <a:solidFill>
                  <a:schemeClr val="bg1"/>
                </a:solidFill>
              </a:rPr>
              <a:t>Takibi nasıl planlardınız?</a:t>
            </a:r>
            <a:endParaRPr lang="en-US" sz="2200" dirty="0"/>
          </a:p>
          <a:p>
            <a:pPr algn="just" marL="279400" indent="-279400">
              <a:spcAft>
                <a:spcPts val="1800"/>
              </a:spcAft>
              <a:buSzPct val="100000"/>
              <a:buChar char="•"/>
            </a:pPr>
            <a:r>
              <a:rPr lang="en-US" sz="2200" dirty="0">
                <a:solidFill>
                  <a:schemeClr val="bg1"/>
                </a:solidFill>
              </a:rPr>
              <a:t>Eşi sürece nasıl katılmalı?</a:t>
            </a:r>
            <a:endParaRPr lang="en-US" sz="2200" dirty="0"/>
          </a:p>
        </p:txBody>
      </p:sp>
      <p:sp>
        <p:nvSpPr>
          <p:cNvPr id="25" name="Slide Number Placeholder 0"/>
          <p:cNvSpPr>
            <a:spLocks noGrp="1"/>
          </p:cNvSpPr>
          <p:nvPr>
            <p:ph type="sldNum" sz="quarter" idx="4294967295"/>
          </p:nvPr>
        </p:nvSpPr>
        <p:spPr>
          <a:xfrm>
            <a:off x="11201400" y="6382512"/>
            <a:ext cx="548640" cy="292608"/>
          </a:xfrm>
          <a:prstGeom prst="rect">
            <a:avLst/>
          </a:prstGeom>
          <a:extLst>
            <a:ext uri="{C572A759-6A51-4108-AA02-DFA0A04FC94B}">
              <ma14:wrappingTextBoxFlag xmlns:ma14="http://schemas.microsoft.com/office/mac/drawingml/2011/main" val="0"/>
            </a:ext>
          </a:extLst>
        </p:spPr>
        <p:txBody>
          <a:bodyPr/>
          <a:lstStyle>
            <a:lvl1pPr>
              <a:defRPr sz="1400">
                <a:solidFill>
                  <a:srgbClr val="7A8C94"/>
                </a:solidFill>
              </a:defRPr>
            </a:lvl1pPr>
          </a:lstStyle>
          <a:p>
            <a:pPr algn="r"/>
            <a:fld id="{F7021451-1387-4CA6-816F-3879F97B5CBC}" type="slidenum">
              <a:rPr b="0" lang="en-US"/>
              <a:t>25</a:t>
            </a:fld>
            <a:endParaRPr lang="en-US"/>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spTree>
      <p:nvGrpSpPr>
        <p:cNvPr id="1" name=""/>
        <p:cNvGrpSpPr/>
        <p:nvPr/>
      </p:nvGrpSpPr>
      <p:grpSpPr>
        <a:xfrm>
          <a:off x="0" y="0"/>
          <a:ext cx="0" cy="0"/>
          <a:chOff x="0" y="0"/>
          <a:chExt cx="0" cy="0"/>
        </a:xfrm>
      </p:grpSpPr>
      <p:sp>
        <p:nvSpPr>
          <p:cNvPr id="3" name="Text 0"/>
          <p:cNvSpPr/>
          <p:nvPr>
            <p:ph idx="100" type="title" hasCustomPrompt="1"/>
          </p:nvPr>
        </p:nvSpPr>
        <p:spPr>
          <a:xfrm>
            <a:off x="548640" y="320040"/>
            <a:ext cx="10607040" cy="868680"/>
          </a:xfrm>
          <a:prstGeom prst="rect">
            <a:avLst/>
          </a:prstGeom>
          <a:noFill/>
          <a:ln/>
        </p:spPr>
        <p:txBody>
          <a:bodyPr wrap="square" lIns="0" tIns="0" rIns="0" bIns="0" rtlCol="0" anchor="ctr"/>
          <a:lstStyle/>
          <a:p>
            <a:pPr algn="l" indent="0" marL="0">
              <a:buNone/>
            </a:pPr>
            <a:r>
              <a:rPr lang="en-US" sz="3600" b="1" dirty="0">
                <a:solidFill>
                  <a:schemeClr val="accent1"/>
                </a:solidFill>
              </a:rPr>
              <a:t>Akılda kalacak mesajlar</a:t>
            </a:r>
            <a:endParaRPr lang="en-US" sz="3600" dirty="0"/>
          </a:p>
        </p:txBody>
      </p:sp>
      <p:sp>
        <p:nvSpPr>
          <p:cNvPr id="4" name="Onay zemini"/>
          <p:cNvSpPr/>
          <p:nvPr/>
        </p:nvSpPr>
        <p:spPr>
          <a:xfrm>
            <a:off x="548640" y="1463040"/>
            <a:ext cx="640080" cy="640080"/>
          </a:xfrm>
          <a:prstGeom prst="ellipse">
            <a:avLst/>
          </a:prstGeom>
          <a:solidFill>
            <a:schemeClr val="accent2"/>
          </a:solidFill>
          <a:ln w="12700">
            <a:solidFill>
              <a:schemeClr val="accent2"/>
            </a:solidFill>
            <a:prstDash val="solid"/>
          </a:ln>
        </p:spPr>
      </p:sp>
      <p:pic>
        <p:nvPicPr>
          <p:cNvPr id="5" name="Image 0" descr="onay">    </p:cNvPr>
          <p:cNvPicPr>
            <a:picLocks noChangeAspect="1"/>
          </p:cNvPicPr>
          <p:nvPr/>
        </p:nvPicPr>
        <p:blipFill>
          <a:blip r:embed="rId1"/>
          <a:stretch>
            <a:fillRect/>
          </a:stretch>
        </p:blipFill>
        <p:spPr>
          <a:xfrm>
            <a:off x="713232" y="1627632"/>
            <a:ext cx="310896" cy="310896"/>
          </a:xfrm>
          <a:prstGeom prst="rect">
            <a:avLst/>
          </a:prstGeom>
        </p:spPr>
      </p:pic>
      <p:sp>
        <p:nvSpPr>
          <p:cNvPr id="6" name="Text 2"/>
          <p:cNvSpPr txBox="1"/>
          <p:nvPr/>
        </p:nvSpPr>
        <p:spPr>
          <a:xfrm>
            <a:off x="1463040" y="1371600"/>
            <a:ext cx="10149840" cy="822960"/>
          </a:xfrm>
          <a:prstGeom prst="rect">
            <a:avLst/>
          </a:prstGeom>
          <a:noFill/>
          <a:ln/>
        </p:spPr>
        <p:txBody>
          <a:bodyPr wrap="square" lIns="0" tIns="0" rIns="0" bIns="0" rtlCol="0" anchor="ctr"/>
          <a:lstStyle/>
          <a:p>
            <a:pPr indent="0" marL="0">
              <a:buNone/>
            </a:pPr>
            <a:r>
              <a:rPr lang="en-US" sz="2600" dirty="0">
                <a:solidFill>
                  <a:schemeClr val="accent1"/>
                </a:solidFill>
              </a:rPr>
              <a:t>Bupropion tek başına en zayıf seçenektir</a:t>
            </a:r>
            <a:endParaRPr lang="en-US" sz="2600" dirty="0"/>
          </a:p>
        </p:txBody>
      </p:sp>
      <p:sp>
        <p:nvSpPr>
          <p:cNvPr id="7" name="Onay zemini"/>
          <p:cNvSpPr/>
          <p:nvPr/>
        </p:nvSpPr>
        <p:spPr>
          <a:xfrm>
            <a:off x="548640" y="2395728"/>
            <a:ext cx="640080" cy="640080"/>
          </a:xfrm>
          <a:prstGeom prst="ellipse">
            <a:avLst/>
          </a:prstGeom>
          <a:solidFill>
            <a:schemeClr val="accent2"/>
          </a:solidFill>
          <a:ln w="12700">
            <a:solidFill>
              <a:schemeClr val="accent2"/>
            </a:solidFill>
            <a:prstDash val="solid"/>
          </a:ln>
        </p:spPr>
      </p:sp>
      <p:pic>
        <p:nvPicPr>
          <p:cNvPr id="8" name="Image 1" descr="onay">    </p:cNvPr>
          <p:cNvPicPr>
            <a:picLocks noChangeAspect="1"/>
          </p:cNvPicPr>
          <p:nvPr/>
        </p:nvPicPr>
        <p:blipFill>
          <a:blip r:embed="rId2"/>
          <a:stretch>
            <a:fillRect/>
          </a:stretch>
        </p:blipFill>
        <p:spPr>
          <a:xfrm>
            <a:off x="713232" y="2560320"/>
            <a:ext cx="310896" cy="310896"/>
          </a:xfrm>
          <a:prstGeom prst="rect">
            <a:avLst/>
          </a:prstGeom>
        </p:spPr>
      </p:pic>
      <p:sp>
        <p:nvSpPr>
          <p:cNvPr id="9" name="Text 4"/>
          <p:cNvSpPr txBox="1"/>
          <p:nvPr/>
        </p:nvSpPr>
        <p:spPr>
          <a:xfrm>
            <a:off x="1463040" y="2304288"/>
            <a:ext cx="10149840" cy="822960"/>
          </a:xfrm>
          <a:prstGeom prst="rect">
            <a:avLst/>
          </a:prstGeom>
          <a:noFill/>
          <a:ln/>
        </p:spPr>
        <p:txBody>
          <a:bodyPr wrap="square" lIns="0" tIns="0" rIns="0" bIns="0" rtlCol="0" anchor="ctr"/>
          <a:lstStyle/>
          <a:p>
            <a:pPr indent="0" marL="0">
              <a:buNone/>
            </a:pPr>
            <a:r>
              <a:rPr lang="en-US" sz="2600" dirty="0">
                <a:solidFill>
                  <a:schemeClr val="accent1"/>
                </a:solidFill>
              </a:rPr>
              <a:t>Kombine tedavi ve NRT en güvenilir sonucu vermiştir</a:t>
            </a:r>
            <a:endParaRPr lang="en-US" sz="2600" dirty="0"/>
          </a:p>
        </p:txBody>
      </p:sp>
      <p:sp>
        <p:nvSpPr>
          <p:cNvPr id="10" name="Onay zemini"/>
          <p:cNvSpPr/>
          <p:nvPr/>
        </p:nvSpPr>
        <p:spPr>
          <a:xfrm>
            <a:off x="548640" y="3328416"/>
            <a:ext cx="640080" cy="640080"/>
          </a:xfrm>
          <a:prstGeom prst="ellipse">
            <a:avLst/>
          </a:prstGeom>
          <a:solidFill>
            <a:schemeClr val="accent2"/>
          </a:solidFill>
          <a:ln w="12700">
            <a:solidFill>
              <a:schemeClr val="accent2"/>
            </a:solidFill>
            <a:prstDash val="solid"/>
          </a:ln>
        </p:spPr>
      </p:sp>
      <p:pic>
        <p:nvPicPr>
          <p:cNvPr id="11" name="Image 2" descr="onay">    </p:cNvPr>
          <p:cNvPicPr>
            <a:picLocks noChangeAspect="1"/>
          </p:cNvPicPr>
          <p:nvPr/>
        </p:nvPicPr>
        <p:blipFill>
          <a:blip r:embed="rId3"/>
          <a:stretch>
            <a:fillRect/>
          </a:stretch>
        </p:blipFill>
        <p:spPr>
          <a:xfrm>
            <a:off x="713232" y="3493008"/>
            <a:ext cx="310896" cy="310896"/>
          </a:xfrm>
          <a:prstGeom prst="rect">
            <a:avLst/>
          </a:prstGeom>
        </p:spPr>
      </p:pic>
      <p:sp>
        <p:nvSpPr>
          <p:cNvPr id="12" name="Text 6"/>
          <p:cNvSpPr txBox="1"/>
          <p:nvPr/>
        </p:nvSpPr>
        <p:spPr>
          <a:xfrm>
            <a:off x="1463040" y="3236976"/>
            <a:ext cx="10149840" cy="822960"/>
          </a:xfrm>
          <a:prstGeom prst="rect">
            <a:avLst/>
          </a:prstGeom>
          <a:noFill/>
          <a:ln/>
        </p:spPr>
        <p:txBody>
          <a:bodyPr wrap="square" lIns="0" tIns="0" rIns="0" bIns="0" rtlCol="0" anchor="ctr"/>
          <a:lstStyle/>
          <a:p>
            <a:pPr indent="0" marL="0">
              <a:buNone/>
            </a:pPr>
            <a:r>
              <a:rPr lang="en-US" sz="2600" dirty="0">
                <a:solidFill>
                  <a:schemeClr val="accent1"/>
                </a:solidFill>
              </a:rPr>
              <a:t>Hanede sigara içen sorgulanmalıdır</a:t>
            </a:r>
            <a:endParaRPr lang="en-US" sz="2600" dirty="0"/>
          </a:p>
        </p:txBody>
      </p:sp>
      <p:sp>
        <p:nvSpPr>
          <p:cNvPr id="13" name="Onay zemini"/>
          <p:cNvSpPr/>
          <p:nvPr/>
        </p:nvSpPr>
        <p:spPr>
          <a:xfrm>
            <a:off x="548640" y="4261104"/>
            <a:ext cx="640080" cy="640080"/>
          </a:xfrm>
          <a:prstGeom prst="ellipse">
            <a:avLst/>
          </a:prstGeom>
          <a:solidFill>
            <a:schemeClr val="accent2"/>
          </a:solidFill>
          <a:ln w="12700">
            <a:solidFill>
              <a:schemeClr val="accent2"/>
            </a:solidFill>
            <a:prstDash val="solid"/>
          </a:ln>
        </p:spPr>
      </p:sp>
      <p:pic>
        <p:nvPicPr>
          <p:cNvPr id="14" name="Image 3" descr="onay">    </p:cNvPr>
          <p:cNvPicPr>
            <a:picLocks noChangeAspect="1"/>
          </p:cNvPicPr>
          <p:nvPr/>
        </p:nvPicPr>
        <p:blipFill>
          <a:blip r:embed="rId4"/>
          <a:stretch>
            <a:fillRect/>
          </a:stretch>
        </p:blipFill>
        <p:spPr>
          <a:xfrm>
            <a:off x="713232" y="4425696"/>
            <a:ext cx="310896" cy="310896"/>
          </a:xfrm>
          <a:prstGeom prst="rect">
            <a:avLst/>
          </a:prstGeom>
        </p:spPr>
      </p:pic>
      <p:sp>
        <p:nvSpPr>
          <p:cNvPr id="15" name="Text 8"/>
          <p:cNvSpPr txBox="1"/>
          <p:nvPr/>
        </p:nvSpPr>
        <p:spPr>
          <a:xfrm>
            <a:off x="1463040" y="4169664"/>
            <a:ext cx="10149840" cy="822960"/>
          </a:xfrm>
          <a:prstGeom prst="rect">
            <a:avLst/>
          </a:prstGeom>
          <a:noFill/>
          <a:ln/>
        </p:spPr>
        <p:txBody>
          <a:bodyPr wrap="square" lIns="0" tIns="0" rIns="0" bIns="0" rtlCol="0" anchor="ctr"/>
          <a:lstStyle/>
          <a:p>
            <a:pPr indent="0" marL="0">
              <a:buNone/>
            </a:pPr>
            <a:r>
              <a:rPr lang="en-US" sz="2600" dirty="0">
                <a:solidFill>
                  <a:schemeClr val="accent1"/>
                </a:solidFill>
              </a:rPr>
              <a:t>Sık takip başarıyla ilişkilidir</a:t>
            </a:r>
            <a:endParaRPr lang="en-US" sz="2600" dirty="0"/>
          </a:p>
        </p:txBody>
      </p:sp>
      <p:sp>
        <p:nvSpPr>
          <p:cNvPr id="16" name="Onay zemini"/>
          <p:cNvSpPr/>
          <p:nvPr/>
        </p:nvSpPr>
        <p:spPr>
          <a:xfrm>
            <a:off x="548640" y="5193792"/>
            <a:ext cx="640080" cy="640080"/>
          </a:xfrm>
          <a:prstGeom prst="ellipse">
            <a:avLst/>
          </a:prstGeom>
          <a:solidFill>
            <a:schemeClr val="accent1"/>
          </a:solidFill>
          <a:ln w="12700">
            <a:solidFill>
              <a:schemeClr val="accent1"/>
            </a:solidFill>
            <a:prstDash val="solid"/>
          </a:ln>
        </p:spPr>
      </p:sp>
      <p:pic>
        <p:nvPicPr>
          <p:cNvPr id="17" name="Image 4" descr="onay">    </p:cNvPr>
          <p:cNvPicPr>
            <a:picLocks noChangeAspect="1"/>
          </p:cNvPicPr>
          <p:nvPr/>
        </p:nvPicPr>
        <p:blipFill>
          <a:blip r:embed="rId5"/>
          <a:stretch>
            <a:fillRect/>
          </a:stretch>
        </p:blipFill>
        <p:spPr>
          <a:xfrm>
            <a:off x="713232" y="5358384"/>
            <a:ext cx="310896" cy="310896"/>
          </a:xfrm>
          <a:prstGeom prst="rect">
            <a:avLst/>
          </a:prstGeom>
        </p:spPr>
      </p:pic>
      <p:sp>
        <p:nvSpPr>
          <p:cNvPr id="18" name="Text 10"/>
          <p:cNvSpPr txBox="1"/>
          <p:nvPr/>
        </p:nvSpPr>
        <p:spPr>
          <a:xfrm>
            <a:off x="1463040" y="5102352"/>
            <a:ext cx="10149840" cy="822960"/>
          </a:xfrm>
          <a:prstGeom prst="rect">
            <a:avLst/>
          </a:prstGeom>
          <a:noFill/>
          <a:ln/>
        </p:spPr>
        <p:txBody>
          <a:bodyPr wrap="square" lIns="0" tIns="0" rIns="0" bIns="0" rtlCol="0" anchor="ctr"/>
          <a:lstStyle/>
          <a:p>
            <a:pPr indent="0" marL="0">
              <a:buNone/>
            </a:pPr>
            <a:r>
              <a:rPr lang="en-US" sz="2600" b="1" dirty="0">
                <a:solidFill>
                  <a:schemeClr val="accent1"/>
                </a:solidFill>
              </a:rPr>
              <a:t>Sonuçlar dikkatli yorumlanmalıdır</a:t>
            </a:r>
            <a:endParaRPr lang="en-US" sz="2600" dirty="0"/>
          </a:p>
        </p:txBody>
      </p:sp>
      <p:sp>
        <p:nvSpPr>
          <p:cNvPr id="19" name="Kaynak"/>
          <p:cNvSpPr txBox="1"/>
          <p:nvPr/>
        </p:nvSpPr>
        <p:spPr>
          <a:xfrm>
            <a:off x="548640" y="6382512"/>
            <a:ext cx="10424160" cy="292608"/>
          </a:xfrm>
          <a:prstGeom prst="rect">
            <a:avLst/>
          </a:prstGeom>
          <a:noFill/>
          <a:ln/>
        </p:spPr>
        <p:txBody>
          <a:bodyPr wrap="square" lIns="0" tIns="0" rIns="0" bIns="0" rtlCol="0" anchor="ctr"/>
          <a:lstStyle/>
          <a:p>
            <a:pPr indent="0" marL="0">
              <a:buNone/>
            </a:pPr>
            <a:r>
              <a:rPr lang="en-US" sz="1200" i="1" dirty="0">
                <a:solidFill>
                  <a:schemeClr val="accent3"/>
                </a:solidFill>
              </a:rPr>
              <a:t>Kaynak: Cenberlitaş E, Gökçe A, Öztürk O. Turk J Fam Pract. 2026;30(2):97-106.</a:t>
            </a:r>
            <a:endParaRPr lang="en-US" sz="1200" dirty="0"/>
          </a:p>
        </p:txBody>
      </p:sp>
      <p:sp>
        <p:nvSpPr>
          <p:cNvPr id="25" name="Slide Number Placeholder 0"/>
          <p:cNvSpPr>
            <a:spLocks noGrp="1"/>
          </p:cNvSpPr>
          <p:nvPr>
            <p:ph type="sldNum" sz="quarter" idx="4294967295"/>
          </p:nvPr>
        </p:nvSpPr>
        <p:spPr>
          <a:xfrm>
            <a:off x="11201400" y="6382512"/>
            <a:ext cx="548640" cy="292608"/>
          </a:xfrm>
          <a:prstGeom prst="rect">
            <a:avLst/>
          </a:prstGeom>
          <a:extLst>
            <a:ext uri="{C572A759-6A51-4108-AA02-DFA0A04FC94B}">
              <ma14:wrappingTextBoxFlag xmlns:ma14="http://schemas.microsoft.com/office/mac/drawingml/2011/main" val="0"/>
            </a:ext>
          </a:extLst>
        </p:spPr>
        <p:txBody>
          <a:bodyPr/>
          <a:lstStyle>
            <a:lvl1pPr>
              <a:defRPr sz="1400">
                <a:solidFill>
                  <a:srgbClr val="7A8C94"/>
                </a:solidFill>
              </a:defRPr>
            </a:lvl1pPr>
          </a:lstStyle>
          <a:p>
            <a:pPr algn="r"/>
            <a:fld id="{F7021451-1387-4CA6-816F-3879F97B5CBC}" type="slidenum">
              <a:rPr b="0" lang="en-US"/>
              <a:t>26</a:t>
            </a:fld>
            <a:endParaRPr lang="en-US"/>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spTree>
      <p:nvGrpSpPr>
        <p:cNvPr id="1" name=""/>
        <p:cNvGrpSpPr/>
        <p:nvPr/>
      </p:nvGrpSpPr>
      <p:grpSpPr>
        <a:xfrm>
          <a:off x="0" y="0"/>
          <a:ext cx="0" cy="0"/>
          <a:chOff x="0" y="0"/>
          <a:chExt cx="0" cy="0"/>
        </a:xfrm>
      </p:grpSpPr>
      <p:sp>
        <p:nvSpPr>
          <p:cNvPr id="3" name="Text 0"/>
          <p:cNvSpPr/>
          <p:nvPr>
            <p:ph idx="100" type="title" hasCustomPrompt="1"/>
          </p:nvPr>
        </p:nvSpPr>
        <p:spPr>
          <a:xfrm>
            <a:off x="548640" y="320040"/>
            <a:ext cx="10607040" cy="868680"/>
          </a:xfrm>
          <a:prstGeom prst="rect">
            <a:avLst/>
          </a:prstGeom>
          <a:noFill/>
          <a:ln/>
        </p:spPr>
        <p:txBody>
          <a:bodyPr wrap="square" lIns="0" tIns="0" rIns="0" bIns="0" rtlCol="0" anchor="ctr"/>
          <a:lstStyle/>
          <a:p>
            <a:pPr algn="l" indent="0" marL="0">
              <a:buNone/>
            </a:pPr>
            <a:r>
              <a:rPr lang="en-US" sz="3600" b="1" dirty="0">
                <a:solidFill>
                  <a:schemeClr val="accent1"/>
                </a:solidFill>
              </a:rPr>
              <a:t>Kaynaklar</a:t>
            </a:r>
            <a:endParaRPr lang="en-US" sz="3600" dirty="0"/>
          </a:p>
        </p:txBody>
      </p:sp>
      <p:sp>
        <p:nvSpPr>
          <p:cNvPr id="4" name="Kaynaklar 1-7"/>
          <p:cNvSpPr txBox="1"/>
          <p:nvPr/>
        </p:nvSpPr>
        <p:spPr>
          <a:xfrm>
            <a:off x="548640" y="1280160"/>
            <a:ext cx="5440680" cy="4983480"/>
          </a:xfrm>
          <a:prstGeom prst="rect">
            <a:avLst/>
          </a:prstGeom>
          <a:noFill/>
          <a:ln/>
        </p:spPr>
        <p:txBody>
          <a:bodyPr wrap="square" lIns="0" tIns="0" rIns="0" bIns="0" rtlCol="0" anchor="t"/>
          <a:lstStyle/>
          <a:p>
            <a:pPr algn="just" marL="342900" indent="-342900">
              <a:spcAft>
                <a:spcPts val="500"/>
              </a:spcAft>
              <a:buSzPct val="100000"/>
              <a:buFont typeface="+mj-lt"/>
              <a:buAutoNum type="arabicPeriod" startAt="1"/>
            </a:pPr>
            <a:r>
              <a:rPr lang="en-US" sz="1200" dirty="0">
                <a:solidFill>
                  <a:schemeClr val="accent1"/>
                </a:solidFill>
              </a:rPr>
              <a:t>Cenberlitaş E, Gökçe A, Öztürk O. Demographic and clinical characteristics of patients applying to a smoking cessation clinic affiliated with a university hospital and factors affecting their smoking cessation status. Turk J Fam Pract. 2026;30(2):97-106.</a:t>
            </a:r>
            <a:endParaRPr lang="en-US" sz="1200" dirty="0"/>
          </a:p>
          <a:p>
            <a:pPr algn="just" marL="342900" indent="-342900">
              <a:spcAft>
                <a:spcPts val="500"/>
              </a:spcAft>
              <a:buSzPct val="100000"/>
              <a:buFont typeface="+mj-lt"/>
              <a:buAutoNum type="arabicPeriod" startAt="1"/>
            </a:pPr>
            <a:r>
              <a:rPr lang="en-US" sz="1200" dirty="0">
                <a:solidFill>
                  <a:schemeClr val="accent1"/>
                </a:solidFill>
              </a:rPr>
              <a:t>Summers AD, Sirin H, Palipudi K, Erguder T, Ciobanu A, Ahluwalia IB. Changes in prevalence and predictors of tobacco smoking and interest in smoking cessation in Turkey: evidence from the Global Adult Tobacco Survey, 2008-2016. Tob Prev Cessat. 2022;8:35.</a:t>
            </a:r>
            <a:endParaRPr lang="en-US" sz="1200" dirty="0"/>
          </a:p>
          <a:p>
            <a:pPr algn="just" marL="342900" indent="-342900">
              <a:spcAft>
                <a:spcPts val="500"/>
              </a:spcAft>
              <a:buSzPct val="100000"/>
              <a:buFont typeface="+mj-lt"/>
              <a:buAutoNum type="arabicPeriod" startAt="1"/>
            </a:pPr>
            <a:r>
              <a:rPr lang="en-US" sz="1200" dirty="0">
                <a:solidFill>
                  <a:schemeClr val="accent1"/>
                </a:solidFill>
              </a:rPr>
              <a:t>Sigarayı bırakma polikliniklerinden 2,5 milyon kişi hizmet aldı [İnternet]. Anadolu Ajansı. Erişim: 25.09.2025. https://www.aa.com.tr/tr/saglik/sigarayi-birakma-polikliniklerinden-2-5-milyon-kisi-hizmet-aldi/1533870</a:t>
            </a:r>
            <a:endParaRPr lang="en-US" sz="1200" dirty="0"/>
          </a:p>
          <a:p>
            <a:pPr algn="just" marL="342900" indent="-342900">
              <a:spcAft>
                <a:spcPts val="500"/>
              </a:spcAft>
              <a:buSzPct val="100000"/>
              <a:buFont typeface="+mj-lt"/>
              <a:buAutoNum type="arabicPeriod" startAt="1"/>
            </a:pPr>
            <a:r>
              <a:rPr lang="en-US" sz="1200" dirty="0">
                <a:solidFill>
                  <a:schemeClr val="accent1"/>
                </a:solidFill>
              </a:rPr>
              <a:t>Fidanci I, Ozturk O, Unal M. Transtheoretic Model in smoking cessation. J Exp Clin Med. 2017;34(1):9-13.</a:t>
            </a:r>
            <a:endParaRPr lang="en-US" sz="1200" dirty="0"/>
          </a:p>
          <a:p>
            <a:pPr algn="just" marL="342900" indent="-342900">
              <a:spcAft>
                <a:spcPts val="500"/>
              </a:spcAft>
              <a:buSzPct val="100000"/>
              <a:buFont typeface="+mj-lt"/>
              <a:buAutoNum type="arabicPeriod" startAt="1"/>
            </a:pPr>
            <a:r>
              <a:rPr lang="en-US" sz="1200" dirty="0">
                <a:solidFill>
                  <a:schemeClr val="accent1"/>
                </a:solidFill>
              </a:rPr>
              <a:t>McDonough M. Update on medicines for smoking cessation. Aust Prescr. 2015;38(4):106-11.</a:t>
            </a:r>
            <a:endParaRPr lang="en-US" sz="1200" dirty="0"/>
          </a:p>
          <a:p>
            <a:pPr algn="just" marL="342900" indent="-342900">
              <a:spcAft>
                <a:spcPts val="500"/>
              </a:spcAft>
              <a:buSzPct val="100000"/>
              <a:buFont typeface="+mj-lt"/>
              <a:buAutoNum type="arabicPeriod" startAt="1"/>
            </a:pPr>
            <a:r>
              <a:rPr lang="en-US" sz="1200" dirty="0">
                <a:solidFill>
                  <a:schemeClr val="accent1"/>
                </a:solidFill>
              </a:rPr>
              <a:t>Heatherton TF, Kozlowski LT, Frecker RC, Fagerström KO. The Fagerström test for nicotine dependence: a revision of the Fagerström Tolerance Questionnaire. Br J Addict. 1991;86(9):1119-27.</a:t>
            </a:r>
            <a:endParaRPr lang="en-US" sz="1200" dirty="0"/>
          </a:p>
          <a:p>
            <a:pPr algn="just" marL="342900" indent="-342900">
              <a:spcAft>
                <a:spcPts val="500"/>
              </a:spcAft>
              <a:buSzPct val="100000"/>
              <a:buFont typeface="+mj-lt"/>
              <a:buAutoNum type="arabicPeriod" startAt="1"/>
            </a:pPr>
            <a:r>
              <a:rPr lang="en-US" sz="1200" dirty="0">
                <a:solidFill>
                  <a:schemeClr val="accent1"/>
                </a:solidFill>
              </a:rPr>
              <a:t>Uysal M, Kadakal F, Karşıdağ Ç, Bayram N, Uysal O, Yilmaz V. Fagerström test for nicotine dependence: reliability in a Turkish sample and factor analysis. Tuberk Toraks. 2004;52(2):175-82.</a:t>
            </a:r>
            <a:endParaRPr lang="en-US" sz="1200" dirty="0"/>
          </a:p>
        </p:txBody>
      </p:sp>
      <p:sp>
        <p:nvSpPr>
          <p:cNvPr id="5" name="Kaynaklar 8-13"/>
          <p:cNvSpPr txBox="1"/>
          <p:nvPr/>
        </p:nvSpPr>
        <p:spPr>
          <a:xfrm>
            <a:off x="6263640" y="1280160"/>
            <a:ext cx="5349240" cy="4983480"/>
          </a:xfrm>
          <a:prstGeom prst="rect">
            <a:avLst/>
          </a:prstGeom>
          <a:noFill/>
          <a:ln/>
        </p:spPr>
        <p:txBody>
          <a:bodyPr wrap="square" lIns="0" tIns="0" rIns="0" bIns="0" rtlCol="0" anchor="t"/>
          <a:lstStyle/>
          <a:p>
            <a:pPr algn="just" marL="342900" indent="-342900">
              <a:spcAft>
                <a:spcPts val="500"/>
              </a:spcAft>
              <a:buSzPct val="100000"/>
              <a:buFont typeface="+mj-lt"/>
              <a:buAutoNum type="arabicPeriod" startAt="8"/>
            </a:pPr>
            <a:r>
              <a:rPr lang="en-US" sz="1200" dirty="0">
                <a:solidFill>
                  <a:schemeClr val="accent1"/>
                </a:solidFill>
              </a:rPr>
              <a:t>Cahill K, Stevens S, Perera R, Lancaster T. Pharmacological interventions for smoking cessation: an overview and network meta-analysis. Cochrane Database Syst Rev. 2013;(5):CD009329.</a:t>
            </a:r>
            <a:endParaRPr lang="en-US" sz="1200" dirty="0"/>
          </a:p>
          <a:p>
            <a:pPr algn="just" marL="342900" indent="-342900">
              <a:spcAft>
                <a:spcPts val="500"/>
              </a:spcAft>
              <a:buSzPct val="100000"/>
              <a:buFont typeface="+mj-lt"/>
              <a:buAutoNum type="arabicPeriod" startAt="8"/>
            </a:pPr>
            <a:r>
              <a:rPr lang="en-US" sz="1200" dirty="0">
                <a:solidFill>
                  <a:schemeClr val="accent1"/>
                </a:solidFill>
              </a:rPr>
              <a:t>Anthenelli RM, Benowitz NL, West R, et al. Neuropsychiatric safety and efficacy of varenicline, bupropion, and nicotine patch in smokers with and without psychiatric disorders (EAGLES). Lancet. 2016;387(10037):2507-20.</a:t>
            </a:r>
            <a:endParaRPr lang="en-US" sz="1200" dirty="0"/>
          </a:p>
          <a:p>
            <a:pPr algn="just" marL="342900" indent="-342900">
              <a:spcAft>
                <a:spcPts val="500"/>
              </a:spcAft>
              <a:buSzPct val="100000"/>
              <a:buFont typeface="+mj-lt"/>
              <a:buAutoNum type="arabicPeriod" startAt="8"/>
            </a:pPr>
            <a:r>
              <a:rPr lang="en-US" sz="1200" dirty="0">
                <a:solidFill>
                  <a:schemeClr val="accent1"/>
                </a:solidFill>
              </a:rPr>
              <a:t>Walker N, Howe C, Glover M, et al. Cytisine versus nicotine for smoking cessation. N Engl J Med. 2014;371(25):2353-62.</a:t>
            </a:r>
            <a:endParaRPr lang="en-US" sz="1200" dirty="0"/>
          </a:p>
          <a:p>
            <a:pPr algn="just" marL="342900" indent="-342900">
              <a:spcAft>
                <a:spcPts val="500"/>
              </a:spcAft>
              <a:buSzPct val="100000"/>
              <a:buFont typeface="+mj-lt"/>
              <a:buAutoNum type="arabicPeriod" startAt="8"/>
            </a:pPr>
            <a:r>
              <a:rPr lang="en-US" sz="1200" dirty="0">
                <a:solidFill>
                  <a:schemeClr val="accent1"/>
                </a:solidFill>
              </a:rPr>
              <a:t>Courtney RJ, McRobbie H, Tutka P, et al. Effect of cytisine vs varenicline on smoking cessation: a randomized clinical trial. JAMA. 2021;326(1):56-64.</a:t>
            </a:r>
            <a:endParaRPr lang="en-US" sz="1200" dirty="0"/>
          </a:p>
          <a:p>
            <a:pPr algn="just" marL="342900" indent="-342900">
              <a:spcAft>
                <a:spcPts val="500"/>
              </a:spcAft>
              <a:buSzPct val="100000"/>
              <a:buFont typeface="+mj-lt"/>
              <a:buAutoNum type="arabicPeriod" startAt="8"/>
            </a:pPr>
            <a:r>
              <a:rPr lang="en-US" sz="1200" dirty="0">
                <a:solidFill>
                  <a:schemeClr val="accent1"/>
                </a:solidFill>
              </a:rPr>
              <a:t>Koegelenberg CFN, Noor F, Bateman ED, et al. Efficacy of varenicline combined with nicotine replacement therapy vs varenicline alone for smoking cessation: a randomized clinical trial. JAMA. 2014;312(2):155-61.</a:t>
            </a:r>
            <a:endParaRPr lang="en-US" sz="1200" dirty="0"/>
          </a:p>
          <a:p>
            <a:pPr algn="just" marL="342900" indent="-342900">
              <a:spcAft>
                <a:spcPts val="500"/>
              </a:spcAft>
              <a:buSzPct val="100000"/>
              <a:buFont typeface="+mj-lt"/>
              <a:buAutoNum type="arabicPeriod" startAt="8"/>
            </a:pPr>
            <a:r>
              <a:rPr lang="en-US" sz="1200" dirty="0">
                <a:solidFill>
                  <a:schemeClr val="accent1"/>
                </a:solidFill>
              </a:rPr>
              <a:t>Park EW, Schultz JK, Tudiver F, Campbell T, Becker L. Enhancing partner support to improve smoking cessation. Cochrane Database Syst Rev. 2004;(3):CD002928.</a:t>
            </a:r>
            <a:endParaRPr lang="en-US" sz="1200" dirty="0"/>
          </a:p>
        </p:txBody>
      </p:sp>
      <p:sp>
        <p:nvSpPr>
          <p:cNvPr id="25" name="Slide Number Placeholder 0"/>
          <p:cNvSpPr>
            <a:spLocks noGrp="1"/>
          </p:cNvSpPr>
          <p:nvPr>
            <p:ph type="sldNum" sz="quarter" idx="4294967295"/>
          </p:nvPr>
        </p:nvSpPr>
        <p:spPr>
          <a:xfrm>
            <a:off x="11201400" y="6382512"/>
            <a:ext cx="548640" cy="292608"/>
          </a:xfrm>
          <a:prstGeom prst="rect">
            <a:avLst/>
          </a:prstGeom>
          <a:extLst>
            <a:ext uri="{C572A759-6A51-4108-AA02-DFA0A04FC94B}">
              <ma14:wrappingTextBoxFlag xmlns:ma14="http://schemas.microsoft.com/office/mac/drawingml/2011/main" val="0"/>
            </a:ext>
          </a:extLst>
        </p:spPr>
        <p:txBody>
          <a:bodyPr/>
          <a:lstStyle>
            <a:lvl1pPr>
              <a:defRPr sz="1400">
                <a:solidFill>
                  <a:srgbClr val="7A8C94"/>
                </a:solidFill>
              </a:defRPr>
            </a:lvl1pPr>
          </a:lstStyle>
          <a:p>
            <a:pPr algn="r"/>
            <a:fld id="{F7021451-1387-4CA6-816F-3879F97B5CBC}" type="slidenum">
              <a:rPr b="0" lang="en-US"/>
              <a:t>27</a:t>
            </a:fld>
            <a:endParaRPr lang="en-US"/>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spTree>
      <p:nvGrpSpPr>
        <p:cNvPr id="1" name=""/>
        <p:cNvGrpSpPr/>
        <p:nvPr/>
      </p:nvGrpSpPr>
      <p:grpSpPr>
        <a:xfrm>
          <a:off x="0" y="0"/>
          <a:ext cx="0" cy="0"/>
          <a:chOff x="0" y="0"/>
          <a:chExt cx="0" cy="0"/>
        </a:xfrm>
      </p:grpSpPr>
      <p:sp>
        <p:nvSpPr>
          <p:cNvPr id="3" name="Text 0"/>
          <p:cNvSpPr/>
          <p:nvPr>
            <p:ph idx="100" type="title" hasCustomPrompt="1"/>
          </p:nvPr>
        </p:nvSpPr>
        <p:spPr>
          <a:xfrm>
            <a:off x="731520" y="914400"/>
            <a:ext cx="6949440" cy="2011680"/>
          </a:xfrm>
          <a:prstGeom prst="rect">
            <a:avLst/>
          </a:prstGeom>
          <a:noFill/>
          <a:ln/>
        </p:spPr>
        <p:txBody>
          <a:bodyPr wrap="square" lIns="0" tIns="0" rIns="0" bIns="0" rtlCol="0" anchor="t"/>
          <a:lstStyle/>
          <a:p>
            <a:pPr algn="l" indent="0" marL="0">
              <a:buNone/>
            </a:pPr>
            <a:r>
              <a:rPr lang="en-US" sz="4000" b="1" dirty="0">
                <a:solidFill>
                  <a:schemeClr val="bg1"/>
                </a:solidFill>
              </a:rPr>
              <a:t>İlginiz ve katkılarınız için teşekkür ederim</a:t>
            </a:r>
            <a:endParaRPr lang="en-US" sz="4000" dirty="0"/>
          </a:p>
        </p:txBody>
      </p:sp>
      <p:sp>
        <p:nvSpPr>
          <p:cNvPr id="4" name="Text 1"/>
          <p:cNvSpPr txBox="1"/>
          <p:nvPr/>
        </p:nvSpPr>
        <p:spPr>
          <a:xfrm>
            <a:off x="731520" y="3383280"/>
            <a:ext cx="6766560" cy="2377440"/>
          </a:xfrm>
          <a:prstGeom prst="rect">
            <a:avLst/>
          </a:prstGeom>
          <a:noFill/>
          <a:ln/>
        </p:spPr>
        <p:txBody>
          <a:bodyPr wrap="square" lIns="0" tIns="0" rIns="0" bIns="0" rtlCol="0" anchor="t"/>
          <a:lstStyle/>
          <a:p>
            <a:pPr indent="0" marL="0">
              <a:buNone/>
            </a:pPr>
            <a:r>
              <a:rPr lang="en-US" sz="2600" b="1" dirty="0">
                <a:solidFill>
                  <a:schemeClr val="bg2"/>
                </a:solidFill>
              </a:rPr>
              <a:t>Sorular ve tartışma</a:t>
            </a:r>
            <a:endParaRPr lang="en-US" sz="2600" dirty="0"/>
          </a:p>
          <a:p>
            <a:pPr indent="0" marL="0">
              <a:buNone/>
            </a:pPr>
            <a:r>
              <a:rPr lang="en-US" sz="1200" dirty="0">
                <a:solidFill>
                  <a:schemeClr val="bg2"/>
                </a:solidFill>
              </a:rPr>
              <a:t> </a:t>
            </a:r>
            <a:endParaRPr lang="en-US" sz="2600" dirty="0"/>
          </a:p>
          <a:p>
            <a:pPr indent="0" marL="0">
              <a:buNone/>
            </a:pPr>
            <a:r>
              <a:rPr lang="en-US" sz="2200" dirty="0">
                <a:solidFill>
                  <a:schemeClr val="bg2"/>
                </a:solidFill>
              </a:rPr>
              <a:t>Dr. [Ad Soyad]</a:t>
            </a:r>
            <a:endParaRPr lang="en-US" sz="2600" dirty="0"/>
          </a:p>
          <a:p>
            <a:pPr indent="0" marL="0">
              <a:buNone/>
            </a:pPr>
            <a:r>
              <a:rPr lang="en-US" sz="2200" dirty="0">
                <a:solidFill>
                  <a:schemeClr val="bg2"/>
                </a:solidFill>
              </a:rPr>
              <a:t>[e-posta adresi]</a:t>
            </a:r>
            <a:endParaRPr lang="en-US" sz="2600" dirty="0"/>
          </a:p>
        </p:txBody>
      </p:sp>
      <p:sp>
        <p:nvSpPr>
          <p:cNvPr id="5" name="Görsel zemini"/>
          <p:cNvSpPr/>
          <p:nvPr/>
        </p:nvSpPr>
        <p:spPr>
          <a:xfrm>
            <a:off x="8183880" y="1325880"/>
            <a:ext cx="3291840" cy="3291840"/>
          </a:xfrm>
          <a:prstGeom prst="ellipse">
            <a:avLst/>
          </a:prstGeom>
          <a:solidFill>
            <a:schemeClr val="bg2"/>
          </a:solidFill>
          <a:ln w="12700">
            <a:solidFill>
              <a:schemeClr val="bg2"/>
            </a:solidFill>
            <a:prstDash val="solid"/>
          </a:ln>
        </p:spPr>
      </p:sp>
      <p:pic>
        <p:nvPicPr>
          <p:cNvPr id="6" name="Dumansız simge" descr="Sigara içilmez simgesi">    </p:cNvPr>
          <p:cNvPicPr>
            <a:picLocks noChangeAspect="1"/>
          </p:cNvPicPr>
          <p:nvPr/>
        </p:nvPicPr>
        <p:blipFill>
          <a:blip r:embed="rId1"/>
          <a:stretch>
            <a:fillRect/>
          </a:stretch>
        </p:blipFill>
        <p:spPr>
          <a:xfrm>
            <a:off x="8915400" y="2057400"/>
            <a:ext cx="1828800" cy="1828800"/>
          </a:xfrm>
          <a:prstGeom prst="rect">
            <a:avLst/>
          </a:prstGeom>
        </p:spPr>
      </p:pic>
      <p:sp>
        <p:nvSpPr>
          <p:cNvPr id="7" name="Text 3"/>
          <p:cNvSpPr txBox="1"/>
          <p:nvPr/>
        </p:nvSpPr>
        <p:spPr>
          <a:xfrm>
            <a:off x="7726680" y="4846320"/>
            <a:ext cx="4206240" cy="548640"/>
          </a:xfrm>
          <a:prstGeom prst="rect">
            <a:avLst/>
          </a:prstGeom>
          <a:noFill/>
          <a:ln/>
        </p:spPr>
        <p:txBody>
          <a:bodyPr wrap="square" lIns="0" tIns="0" rIns="0" bIns="0" rtlCol="0" anchor="ctr"/>
          <a:lstStyle/>
          <a:p>
            <a:pPr algn="ctr" indent="0" marL="0">
              <a:buNone/>
            </a:pPr>
            <a:r>
              <a:rPr lang="en-US" sz="2200" i="1" dirty="0">
                <a:solidFill>
                  <a:schemeClr val="bg2"/>
                </a:solidFill>
              </a:rPr>
              <a:t>Dumansız bir gelecek için</a:t>
            </a:r>
            <a:endParaRPr lang="en-US" sz="2200" dirty="0"/>
          </a:p>
        </p:txBody>
      </p:sp>
      <p:sp>
        <p:nvSpPr>
          <p:cNvPr id="25" name="Slide Number Placeholder 0"/>
          <p:cNvSpPr>
            <a:spLocks noGrp="1"/>
          </p:cNvSpPr>
          <p:nvPr>
            <p:ph type="sldNum" sz="quarter" idx="4294967295"/>
          </p:nvPr>
        </p:nvSpPr>
        <p:spPr>
          <a:xfrm>
            <a:off x="11201400" y="6382512"/>
            <a:ext cx="548640" cy="292608"/>
          </a:xfrm>
          <a:prstGeom prst="rect">
            <a:avLst/>
          </a:prstGeom>
          <a:extLst>
            <a:ext uri="{C572A759-6A51-4108-AA02-DFA0A04FC94B}">
              <ma14:wrappingTextBoxFlag xmlns:ma14="http://schemas.microsoft.com/office/mac/drawingml/2011/main" val="0"/>
            </a:ext>
          </a:extLst>
        </p:spPr>
        <p:txBody>
          <a:bodyPr/>
          <a:lstStyle>
            <a:lvl1pPr>
              <a:defRPr sz="1400">
                <a:solidFill>
                  <a:srgbClr val="E6F0F1"/>
                </a:solidFill>
              </a:defRPr>
            </a:lvl1pPr>
          </a:lstStyle>
          <a:p>
            <a:pPr algn="r"/>
            <a:fld id="{F7021451-1387-4CA6-816F-3879F97B5CBC}" type="slidenum">
              <a:rPr b="0" lang="en-US"/>
              <a:t>28</a:t>
            </a:fld>
            <a:endParaRPr lang="en-US"/>
          </a:p>
        </p:txBody>
      </p:sp>
    </p:spTree>
  </p:cSld>
  <p:clrMapOvr>
    <a:masterClrMapping/>
  </p:clrMapOvr>
</p:sld>
</file>

<file path=ppt/theme/theme1.xml><?xml version="1.0" encoding="utf-8"?>
<a:theme xmlns:a="http://schemas.openxmlformats.org/drawingml/2006/main" name="Sigara Birakma Sunumu">
  <a:themeElements>
    <a:clrScheme name="Sigara Birakma Sunumu">
      <a:dk1>
        <a:srgbClr val="123A45"/>
      </a:dk1>
      <a:lt1>
        <a:srgbClr val="FFFFFF"/>
      </a:lt1>
      <a:dk2>
        <a:srgbClr val="0F4C5C"/>
      </a:dk2>
      <a:lt2>
        <a:srgbClr val="E6F0F1"/>
      </a:lt2>
      <a:accent1>
        <a:srgbClr val="0F4C5C"/>
      </a:accent1>
      <a:accent2>
        <a:srgbClr val="2A9D8F"/>
      </a:accent2>
      <a:accent3>
        <a:srgbClr val="7A8C94"/>
      </a:accent3>
      <a:accent4>
        <a:srgbClr val="5C8A93"/>
      </a:accent4>
      <a:accent5>
        <a:srgbClr val="B9D9D5"/>
      </a:accent5>
      <a:accent6>
        <a:srgbClr val="3D6B78"/>
      </a:accent6>
      <a:hlink>
        <a:srgbClr val="2A9D8F"/>
      </a:hlink>
      <a:folHlink>
        <a:srgbClr val="7A8C94"/>
      </a:folHlink>
    </a:clrScheme>
    <a:fontScheme name="Sigara Birakma Sunumu">
      <a:majorFont>
        <a:latin typeface="Calibri"/>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28</Slides>
  <Notes>28</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28</vt:i4>
      </vt:variant>
    </vt:vector>
  </HeadingPairs>
  <TitlesOfParts>
    <vt:vector size="31"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Sigara bırakma polikliniği: makale sunumu</dc:title>
  <dc:subject>Makale sunumu</dc:subject>
  <dc:creator>PptxGenJS</dc:creator>
  <cp:lastModifiedBy>PptxGenJS</cp:lastModifiedBy>
  <cp:revision>1</cp:revision>
  <dcterms:created xsi:type="dcterms:W3CDTF">2026-10-07T21:19:12Z</dcterms:created>
  <dcterms:modified xsi:type="dcterms:W3CDTF">2026-10-07T21:19:12Z</dcterms:modified>
</cp:coreProperties>
</file>